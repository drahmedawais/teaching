
<file path=[Content_Types].xml><?xml version="1.0" encoding="utf-8"?>
<Types xmlns="http://schemas.openxmlformats.org/package/2006/content-types">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58" r:id="rId6"/>
    <p:sldId id="259" r:id="rId7"/>
    <p:sldId id="260" r:id="rId8"/>
    <p:sldId id="261" r:id="rId9"/>
    <p:sldId id="262" r:id="rId10"/>
    <p:sldId id="263" r:id="rId11"/>
    <p:sldId id="264" r:id="rId12"/>
    <p:sldId id="265" r:id="rId13"/>
    <p:sldId id="266" r:id="rId14"/>
    <p:sldId id="267" r:id="rId15"/>
    <p:sldId id="268" r:id="rId16"/>
    <p:sldId id="269" r:id="rId17"/>
    <p:sldId id="271" r:id="rId18"/>
    <p:sldId id="272" r:id="rId19"/>
    <p:sldId id="273" r:id="rId20"/>
    <p:sldId id="274" r:id="rId21"/>
    <p:sldId id="275" r:id="rId22"/>
    <p:sldId id="276" r:id="rId23"/>
    <p:sldId id="277"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lvl1pPr eaLnBrk="0" hangingPunct="0">
              <a:defRPr sz="2400">
                <a:solidFill>
                  <a:schemeClr val="tx1"/>
                </a:solidFill>
                <a:latin typeface="Lucida Sans" panose="020B0602030504020204" charset="0"/>
                <a:ea typeface="MS PGothic" panose="020B0600070205080204" charset="-128"/>
                <a:cs typeface="MS PGothic" panose="020B0600070205080204" charset="-128"/>
              </a:defRPr>
            </a:lvl1pPr>
            <a:lvl2pPr marL="37931725" indent="-37474525" eaLnBrk="0" hangingPunct="0">
              <a:defRPr sz="2400">
                <a:solidFill>
                  <a:schemeClr val="tx1"/>
                </a:solidFill>
                <a:latin typeface="Lucida Sans" panose="020B0602030504020204" charset="0"/>
                <a:ea typeface="MS PGothic" panose="020B0600070205080204" charset="-128"/>
              </a:defRPr>
            </a:lvl2pPr>
            <a:lvl3pPr eaLnBrk="0" hangingPunct="0">
              <a:defRPr sz="2400">
                <a:solidFill>
                  <a:schemeClr val="tx1"/>
                </a:solidFill>
                <a:latin typeface="Lucida Sans" panose="020B0602030504020204" charset="0"/>
                <a:ea typeface="MS PGothic" panose="020B0600070205080204" charset="-128"/>
              </a:defRPr>
            </a:lvl3pPr>
            <a:lvl4pPr eaLnBrk="0" hangingPunct="0">
              <a:defRPr sz="2400">
                <a:solidFill>
                  <a:schemeClr val="tx1"/>
                </a:solidFill>
                <a:latin typeface="Lucida Sans" panose="020B0602030504020204" charset="0"/>
                <a:ea typeface="MS PGothic" panose="020B0600070205080204" charset="-128"/>
              </a:defRPr>
            </a:lvl4pPr>
            <a:lvl5pPr eaLnBrk="0" hangingPunct="0">
              <a:defRPr sz="2400">
                <a:solidFill>
                  <a:schemeClr val="tx1"/>
                </a:solidFill>
                <a:latin typeface="Lucida Sans" panose="020B0602030504020204" charset="0"/>
                <a:ea typeface="MS PGothic" panose="020B0600070205080204" charset="-128"/>
              </a:defRPr>
            </a:lvl5pPr>
            <a:lvl6pPr marL="4572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6pPr>
            <a:lvl7pPr marL="9144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7pPr>
            <a:lvl8pPr marL="13716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8pPr>
            <a:lvl9pPr marL="18288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E69DF897-5E92-F241-9A21-E64EA536231D}" type="slidenum">
              <a:rPr kumimoji="0" lang="en-US" sz="1200" b="0" i="0" u="none" strike="noStrike" kern="1200" cap="none" spc="0" normalizeH="0" baseline="0" noProof="0">
                <a:ln>
                  <a:noFill/>
                </a:ln>
                <a:solidFill>
                  <a:srgbClr val="000000"/>
                </a:solidFill>
                <a:effectLst/>
                <a:uLnTx/>
                <a:uFillTx/>
                <a:latin typeface="Lucida Sans" panose="020B0602030504020204" charset="0"/>
                <a:ea typeface="MS PGothic" panose="020B0600070205080204" charset="-128"/>
              </a:rPr>
            </a:fld>
            <a:endParaRPr kumimoji="0" lang="en-US" sz="1200" b="0" i="0" u="none" strike="noStrike" kern="1200" cap="none" spc="0" normalizeH="0" baseline="0" noProof="0">
              <a:ln>
                <a:noFill/>
              </a:ln>
              <a:solidFill>
                <a:srgbClr val="000000"/>
              </a:solidFill>
              <a:effectLst/>
              <a:uLnTx/>
              <a:uFillTx/>
              <a:latin typeface="Lucida Sans" panose="020B0602030504020204" charset="0"/>
              <a:ea typeface="MS PGothic" panose="020B0600070205080204" charset="-128"/>
            </a:endParaRPr>
          </a:p>
        </p:txBody>
      </p:sp>
      <p:sp>
        <p:nvSpPr>
          <p:cNvPr id="17411" name="Rectangle 2"/>
          <p:cNvSpPr>
            <a:spLocks noGrp="1" noRot="1" noChangeAspect="1" noChangeArrowheads="1" noTextEdit="1"/>
          </p:cNvSpPr>
          <p:nvPr>
            <p:ph type="sldImg"/>
          </p:nvPr>
        </p:nvSpPr>
        <p:spPr>
          <a:xfrm>
            <a:off x="290513" y="704850"/>
            <a:ext cx="6264275" cy="3524250"/>
          </a:xfrm>
        </p:spPr>
      </p:sp>
      <p:sp>
        <p:nvSpPr>
          <p:cNvPr id="17412" name="Rectangle 3"/>
          <p:cNvSpPr>
            <a:spLocks noGrp="1" noChangeArrowheads="1"/>
          </p:cNvSpPr>
          <p:nvPr>
            <p:ph type="body" idx="1"/>
          </p:nvPr>
        </p:nvSpPr>
        <p:spPr>
          <a:noFill/>
        </p:spPr>
        <p:txBody>
          <a:bodyPr/>
          <a:lstStyle/>
          <a:p>
            <a:r>
              <a:rPr lang="en-US" dirty="0">
                <a:latin typeface="Arial" panose="020B0604020202020204" pitchFamily="34" charset="0"/>
                <a:ea typeface="MS PGothic" panose="020B0600070205080204" charset="-128"/>
                <a:cs typeface="MS PGothic" panose="020B0600070205080204" charset="-128"/>
              </a:rPr>
              <a:t>In this lecture we introduce the concepts of precision and recall, and the F1 metric that combines them.  These concepts are central to the evaluation of classifiers, and we'll use them throughout NLP, not just for Naïve Bayes but also for logistic regression and neural models.</a:t>
            </a:r>
            <a:endParaRPr lang="en-US" dirty="0">
              <a:latin typeface="Arial" panose="020B0604020202020204" pitchFamily="34" charset="0"/>
              <a:ea typeface="MS PGothic" panose="020B0600070205080204" charset="-128"/>
              <a:cs typeface="MS PGothic" panose="020B060007020508020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first consider binary classifiers. So that might include a simple binary decision about email (spam or not-spam).  Or imagine that we are the proprietors of the Delicious Pie Company and we want to find out what people are saying about our pies on social media.  We want to know if a particular social media post is talking about our pies (positive) or isn't (negative).</a:t>
            </a:r>
            <a:br>
              <a:rPr lang="en-US" dirty="0"/>
            </a:br>
            <a:br>
              <a:rPr lang="en-US" dirty="0"/>
            </a:br>
            <a:r>
              <a:rPr lang="en-US" dirty="0"/>
              <a:t>To evaluate such a binary classifier, we'll need to know two things.  What our classifier said about each email or post, and what it should have said, i.e. the correct answer, usually as defined by human labelers.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EB9031F-EB71-7642-8F3C-6FDC1408CB92}" type="slidenum">
              <a:rPr kumimoji="0" lang="en-US" sz="1200" b="0" i="0" u="none" strike="noStrike" kern="1200" cap="none" spc="0" normalizeH="0" baseline="0" noProof="0" smtClean="0">
                <a:ln>
                  <a:noFill/>
                </a:ln>
                <a:solidFill>
                  <a:srgbClr val="000000"/>
                </a:solidFill>
                <a:effectLst/>
                <a:uLnTx/>
                <a:uFillTx/>
                <a:latin typeface="Lucida Sans" panose="020B0602030504020204" charset="0"/>
                <a:ea typeface="MS PGothic" panose="020B0600070205080204" charset="-128"/>
              </a:rPr>
            </a:fld>
            <a:endParaRPr kumimoji="0" lang="en-US" sz="1200" b="0" i="0" u="none" strike="noStrike" kern="1200" cap="none" spc="0" normalizeH="0" baseline="0" noProof="0">
              <a:ln>
                <a:noFill/>
              </a:ln>
              <a:solidFill>
                <a:srgbClr val="000000"/>
              </a:solidFill>
              <a:effectLst/>
              <a:uLnTx/>
              <a:uFillTx/>
              <a:latin typeface="Lucida Sans" panose="020B0602030504020204" charset="0"/>
              <a:ea typeface="MS PGothic" panose="020B060007020508020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sz="1800" dirty="0">
                <a:effectLst/>
                <a:latin typeface="NimbusRomNo9L"/>
              </a:rPr>
              <a:t>The first step is the confusion matrix a table for visualizing how an algorithm performs with respect to the human gold labels, We use two dimensions (system output and gold labels), and each cell labels a set of possible outcomes. </a:t>
            </a:r>
            <a:endParaRPr lang="en-US" sz="1800" dirty="0">
              <a:effectLst/>
              <a:latin typeface="NimbusRomNo9L"/>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sz="1800" dirty="0">
              <a:effectLst/>
              <a:latin typeface="NimbusRomNo9L"/>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sz="1800" dirty="0">
                <a:effectLst/>
                <a:latin typeface="NimbusRomNo9L"/>
              </a:rPr>
              <a:t>In the pie detection case, for example, true positives are posts that are indeed about Delicious Pie (indicated by human-created gold labels) that our system correctly said were about pie. False negatives are posts that are indeed about pie but our system incorrectly labeled as pie.   False positives are posts that aren't about pie but our system incorrectly said they were.  And true negatives are non-pie-posts that are system correctly said were not about pie</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EB9031F-EB71-7642-8F3C-6FDC1408CB92}" type="slidenum">
              <a:rPr kumimoji="0" lang="en-US" sz="1200" b="0" i="0" u="none" strike="noStrike" kern="1200" cap="none" spc="0" normalizeH="0" baseline="0" noProof="0" smtClean="0">
                <a:ln>
                  <a:noFill/>
                </a:ln>
                <a:solidFill>
                  <a:srgbClr val="000000"/>
                </a:solidFill>
                <a:effectLst/>
                <a:uLnTx/>
                <a:uFillTx/>
                <a:latin typeface="Lucida Sans" panose="020B0602030504020204" charset="0"/>
                <a:ea typeface="MS PGothic" panose="020B0600070205080204" charset="-128"/>
              </a:rPr>
            </a:fld>
            <a:endParaRPr kumimoji="0" lang="en-US" sz="1200" b="0" i="0" u="none" strike="noStrike" kern="1200" cap="none" spc="0" normalizeH="0" baseline="0" noProof="0">
              <a:ln>
                <a:noFill/>
              </a:ln>
              <a:solidFill>
                <a:srgbClr val="000000"/>
              </a:solidFill>
              <a:effectLst/>
              <a:uLnTx/>
              <a:uFillTx/>
              <a:latin typeface="Lucida Sans" panose="020B0602030504020204" charset="0"/>
              <a:ea typeface="MS PGothic" panose="020B060007020508020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sz="1800" dirty="0">
                <a:effectLst/>
                <a:latin typeface="NimbusRomNo9L"/>
              </a:rPr>
              <a:t>. Here is the equation for </a:t>
            </a:r>
            <a:r>
              <a:rPr lang="en-US" sz="1800" i="1" dirty="0">
                <a:effectLst/>
                <a:latin typeface="NimbusRomNo9L"/>
              </a:rPr>
              <a:t>accuracy: what </a:t>
            </a:r>
            <a:r>
              <a:rPr lang="en-US" sz="1800" dirty="0">
                <a:effectLst/>
                <a:latin typeface="NimbusRomNo9L"/>
              </a:rPr>
              <a:t>percentage of all the observations (for the spam or pie examples that means all emails or tweets) our system labeled correctly. Although accuracy might seem a natural metric, we generally don’t use it for text classification tasks.</a:t>
            </a:r>
            <a:endParaRPr lang="en-US" sz="1800" dirty="0">
              <a:effectLst/>
              <a:latin typeface="NimbusRomNo9L"/>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sz="1800" dirty="0">
              <a:effectLst/>
              <a:latin typeface="NimbusRomNo9L"/>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sz="1800" dirty="0">
                <a:effectLst/>
                <a:latin typeface="NimbusRomNo9L"/>
              </a:rPr>
              <a:t>Although accuracy might seem a natural metric, we generally don’t use it for text classification tasks.</a:t>
            </a:r>
            <a:endParaRPr lang="en-US" sz="1800" dirty="0"/>
          </a:p>
          <a:p>
            <a:pPr marL="0" marR="0" lvl="0" indent="0" algn="l" defTabSz="914400" rtl="0" eaLnBrk="0" fontAlgn="base" latinLnBrk="0" hangingPunct="0">
              <a:lnSpc>
                <a:spcPct val="100000"/>
              </a:lnSpc>
              <a:spcBef>
                <a:spcPct val="30000"/>
              </a:spcBef>
              <a:spcAft>
                <a:spcPct val="0"/>
              </a:spcAft>
              <a:buClrTx/>
              <a:buSzTx/>
              <a:buFontTx/>
              <a:buNone/>
              <a:defRPr/>
            </a:pP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EB9031F-EB71-7642-8F3C-6FDC1408CB92}" type="slidenum">
              <a:rPr kumimoji="0" lang="en-US" sz="1200" b="0" i="0" u="none" strike="noStrike" kern="1200" cap="none" spc="0" normalizeH="0" baseline="0" noProof="0" smtClean="0">
                <a:ln>
                  <a:noFill/>
                </a:ln>
                <a:solidFill>
                  <a:srgbClr val="000000"/>
                </a:solidFill>
                <a:effectLst/>
                <a:uLnTx/>
                <a:uFillTx/>
                <a:latin typeface="Lucida Sans" panose="020B0602030504020204" charset="0"/>
                <a:ea typeface="MS PGothic" panose="020B0600070205080204" charset="-128"/>
              </a:rPr>
            </a:fld>
            <a:endParaRPr kumimoji="0" lang="en-US" sz="1200" b="0" i="0" u="none" strike="noStrike" kern="1200" cap="none" spc="0" normalizeH="0" baseline="0" noProof="0">
              <a:ln>
                <a:noFill/>
              </a:ln>
              <a:solidFill>
                <a:srgbClr val="000000"/>
              </a:solidFill>
              <a:effectLst/>
              <a:uLnTx/>
              <a:uFillTx/>
              <a:latin typeface="Lucida Sans" panose="020B0602030504020204" charset="0"/>
              <a:ea typeface="MS PGothic" panose="020B060007020508020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sz="1800" dirty="0">
                <a:effectLst/>
                <a:latin typeface="NimbusRomNo9L"/>
              </a:rPr>
              <a:t>Why don't we use accuracy? …Accuracy doesn't work well when we're dealing with uncommon or imbalanced classes. Suppose we look at a million social media posts to find Delicious Pie-lovers.  Now most posts on the web are not about our pie, so let's imagine that only 100 posts are about our pie, and 999,900 are about something else.</a:t>
            </a:r>
            <a:endParaRPr lang="en-US" sz="1800" dirty="0">
              <a:effectLst/>
              <a:latin typeface="NimbusRomNo9L"/>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sz="1800" dirty="0">
              <a:effectLst/>
              <a:latin typeface="NimbusRomNo9L"/>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sz="1800" dirty="0">
                <a:effectLst/>
                <a:latin typeface="NimbusRomNo9L"/>
              </a:rPr>
              <a:t>Now imagine we have the following really simple classifier: Every post is "not about pie"</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EB9031F-EB71-7642-8F3C-6FDC1408CB92}" type="slidenum">
              <a:rPr kumimoji="0" lang="en-US" sz="1200" b="0" i="0" u="none" strike="noStrike" kern="1200" cap="none" spc="0" normalizeH="0" baseline="0" noProof="0" smtClean="0">
                <a:ln>
                  <a:noFill/>
                </a:ln>
                <a:solidFill>
                  <a:srgbClr val="000000"/>
                </a:solidFill>
                <a:effectLst/>
                <a:uLnTx/>
                <a:uFillTx/>
                <a:latin typeface="Lucida Sans" panose="020B0602030504020204" charset="0"/>
                <a:ea typeface="MS PGothic" panose="020B0600070205080204" charset="-128"/>
              </a:rPr>
            </a:fld>
            <a:endParaRPr kumimoji="0" lang="en-US" sz="1200" b="0" i="0" u="none" strike="noStrike" kern="1200" cap="none" spc="0" normalizeH="0" baseline="0" noProof="0">
              <a:ln>
                <a:noFill/>
              </a:ln>
              <a:solidFill>
                <a:srgbClr val="000000"/>
              </a:solidFill>
              <a:effectLst/>
              <a:uLnTx/>
              <a:uFillTx/>
              <a:latin typeface="Lucida Sans" panose="020B0602030504020204" charset="0"/>
              <a:ea typeface="MS PGothic" panose="020B060007020508020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sz="1800" dirty="0">
                <a:effectLst/>
                <a:latin typeface="NimbusRomNo9L"/>
              </a:rPr>
              <a:t>Let's see what happens.</a:t>
            </a: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EB9031F-EB71-7642-8F3C-6FDC1408CB92}" type="slidenum">
              <a:rPr kumimoji="0" lang="en-US" sz="1200" b="0" i="0" u="none" strike="noStrike" kern="1200" cap="none" spc="0" normalizeH="0" baseline="0" noProof="0" smtClean="0">
                <a:ln>
                  <a:noFill/>
                </a:ln>
                <a:solidFill>
                  <a:srgbClr val="000000"/>
                </a:solidFill>
                <a:effectLst/>
                <a:uLnTx/>
                <a:uFillTx/>
                <a:latin typeface="Lucida Sans" panose="020B0602030504020204" charset="0"/>
                <a:ea typeface="MS PGothic" panose="020B0600070205080204" charset="-128"/>
              </a:rPr>
            </a:fld>
            <a:endParaRPr kumimoji="0" lang="en-US" sz="1200" b="0" i="0" u="none" strike="noStrike" kern="1200" cap="none" spc="0" normalizeH="0" baseline="0" noProof="0">
              <a:ln>
                <a:noFill/>
              </a:ln>
              <a:solidFill>
                <a:srgbClr val="000000"/>
              </a:solidFill>
              <a:effectLst/>
              <a:uLnTx/>
              <a:uFillTx/>
              <a:latin typeface="Lucida Sans" panose="020B0602030504020204" charset="0"/>
              <a:ea typeface="MS PGothic" panose="020B060007020508020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sz="1800" dirty="0">
                <a:effectLst/>
                <a:latin typeface="NimbusRomNo9L"/>
              </a:rPr>
              <a:t>But this fabulous ‘no pie’ classifier would be completely useless, since it wouldn’t find a single one of the customer comments we are looking for. In other words, accuracy is not a good metric when the goal is to discover something that is rare, or at least not completely balanced in frequency, which is a very common situation in the world. </a:t>
            </a:r>
            <a:endParaRPr lang="en-US" dirty="0"/>
          </a:p>
          <a:p>
            <a:pPr marL="0" marR="0" lvl="0" indent="0" algn="l" defTabSz="914400" rtl="0" eaLnBrk="0" fontAlgn="base" latinLnBrk="0" hangingPunct="0">
              <a:lnSpc>
                <a:spcPct val="100000"/>
              </a:lnSpc>
              <a:spcBef>
                <a:spcPct val="30000"/>
              </a:spcBef>
              <a:spcAft>
                <a:spcPct val="0"/>
              </a:spcAft>
              <a:buClrTx/>
              <a:buSzTx/>
              <a:buFontTx/>
              <a:buNone/>
              <a:defRPr/>
            </a:pP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EB9031F-EB71-7642-8F3C-6FDC1408CB92}" type="slidenum">
              <a:rPr kumimoji="0" lang="en-US" sz="1200" b="0" i="0" u="none" strike="noStrike" kern="1200" cap="none" spc="0" normalizeH="0" baseline="0" noProof="0" smtClean="0">
                <a:ln>
                  <a:noFill/>
                </a:ln>
                <a:solidFill>
                  <a:srgbClr val="000000"/>
                </a:solidFill>
                <a:effectLst/>
                <a:uLnTx/>
                <a:uFillTx/>
                <a:latin typeface="Lucida Sans" panose="020B0602030504020204" charset="0"/>
                <a:ea typeface="MS PGothic" panose="020B0600070205080204" charset="-128"/>
              </a:rPr>
            </a:fld>
            <a:endParaRPr kumimoji="0" lang="en-US" sz="1200" b="0" i="0" u="none" strike="noStrike" kern="1200" cap="none" spc="0" normalizeH="0" baseline="0" noProof="0">
              <a:ln>
                <a:noFill/>
              </a:ln>
              <a:solidFill>
                <a:srgbClr val="000000"/>
              </a:solidFill>
              <a:effectLst/>
              <a:uLnTx/>
              <a:uFillTx/>
              <a:latin typeface="Lucida Sans" panose="020B0602030504020204" charset="0"/>
              <a:ea typeface="MS PGothic" panose="020B060007020508020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is out of the things the system  selected (the set of emails or tweets the </a:t>
            </a:r>
            <a:r>
              <a:rPr lang="en-US" dirty="0" err="1"/>
              <a:t>sytstem</a:t>
            </a:r>
            <a:r>
              <a:rPr lang="en-US" dirty="0"/>
              <a:t> claimed were positive, i.e. spam or pie-related), how many did it get right? how many were true positives, out of what I selected (true positives _ false positives). </a:t>
            </a:r>
            <a:br>
              <a:rPr lang="en-US" dirty="0"/>
            </a:br>
            <a:br>
              <a:rPr lang="en-US" dirty="0"/>
            </a:br>
            <a:r>
              <a:rPr lang="en-US" dirty="0"/>
              <a:t>Recall is out of all the correct items that should have been positive, what % of them did the system select?  So out of  all the things that are gold positive, how many did the system find as true positives?</a:t>
            </a:r>
            <a:br>
              <a:rPr lang="en-US" dirty="0"/>
            </a:br>
            <a:br>
              <a:rPr lang="en-US" dirty="0"/>
            </a:br>
            <a:r>
              <a:rPr lang="en-US" dirty="0"/>
              <a:t>So precision is about how much garbage we included in our findings; recall is more about making sure we didn't miss any treasure.</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EB9031F-EB71-7642-8F3C-6FDC1408CB92}" type="slidenum">
              <a:rPr kumimoji="0" lang="en-US" sz="1200" b="0" i="0" u="none" strike="noStrike" kern="1200" cap="none" spc="0" normalizeH="0" baseline="0" noProof="0" smtClean="0">
                <a:ln>
                  <a:noFill/>
                </a:ln>
                <a:solidFill>
                  <a:srgbClr val="000000"/>
                </a:solidFill>
                <a:effectLst/>
                <a:uLnTx/>
                <a:uFillTx/>
                <a:latin typeface="Lucida Sans" panose="020B0602030504020204" charset="0"/>
                <a:ea typeface="MS PGothic" panose="020B0600070205080204" charset="-128"/>
              </a:rPr>
            </a:fld>
            <a:endParaRPr kumimoji="0" lang="en-US" sz="1200" b="0" i="0" u="none" strike="noStrike" kern="1200" cap="none" spc="0" normalizeH="0" baseline="0" noProof="0">
              <a:ln>
                <a:noFill/>
              </a:ln>
              <a:solidFill>
                <a:srgbClr val="000000"/>
              </a:solidFill>
              <a:effectLst/>
              <a:uLnTx/>
              <a:uFillTx/>
              <a:latin typeface="Lucida Sans" panose="020B0602030504020204" charset="0"/>
              <a:ea typeface="MS PGothic" panose="020B060007020508020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NimbusRomNo9L"/>
              </a:rPr>
              <a:t>Recall and Precision will correctly evaluate our stupid "just say no" classifier as a bad classifier. The recall will be 0, since we returned no true positives out of the 100 true pie tweets (0 + 100).   Precision is similarly 0 or in fact undefined, since both the numerator and denominator are 0.  The metrics correctly assigns bad scores to our useless classifier. </a:t>
            </a:r>
            <a:endParaRPr lang="en-US" sz="1800" dirty="0">
              <a:effectLst/>
              <a:latin typeface="NimbusRomNo9L"/>
            </a:endParaRPr>
          </a:p>
          <a:p>
            <a:br>
              <a:rPr lang="en-US" sz="1800" dirty="0">
                <a:effectLst/>
                <a:latin typeface="NimbusRomNo9L"/>
              </a:rPr>
            </a:br>
            <a:r>
              <a:rPr lang="en-US" dirty="0">
                <a:latin typeface="Arial" panose="020B0604020202020204" pitchFamily="34" charset="0"/>
                <a:ea typeface="MS PGothic" panose="020B0600070205080204" charset="-128"/>
                <a:cs typeface="MS PGothic" panose="020B0600070205080204" charset="-128"/>
              </a:rPr>
              <a:t>[note that this is a particular egregious example, but in normal situations there  is typically a trade-off between precision and recall!]</a:t>
            </a:r>
            <a:endParaRPr lang="en-US" dirty="0">
              <a:latin typeface="Arial" panose="020B0604020202020204" pitchFamily="34" charset="0"/>
              <a:ea typeface="MS PGothic" panose="020B0600070205080204" charset="-128"/>
              <a:cs typeface="MS PGothic" panose="020B0600070205080204" charset="-128"/>
            </a:endParaRPr>
          </a:p>
          <a:p>
            <a:r>
              <a:rPr lang="en-US" dirty="0">
                <a:latin typeface="Arial" panose="020B0604020202020204" pitchFamily="34" charset="0"/>
                <a:ea typeface="MS PGothic" panose="020B0600070205080204" charset="-128"/>
                <a:cs typeface="MS PGothic" panose="020B0600070205080204" charset="-128"/>
              </a:rPr>
              <a:t>[to get high precision, a system should be very reluctant to guess – but then it may miss somethings and have poor recall]</a:t>
            </a:r>
            <a:endParaRPr lang="en-US" dirty="0">
              <a:latin typeface="Arial" panose="020B0604020202020204" pitchFamily="34" charset="0"/>
              <a:ea typeface="MS PGothic" panose="020B0600070205080204" charset="-128"/>
              <a:cs typeface="MS PGothic" panose="020B0600070205080204" charset="-128"/>
            </a:endParaRPr>
          </a:p>
          <a:p>
            <a:r>
              <a:rPr lang="en-US" dirty="0">
                <a:latin typeface="Arial" panose="020B0604020202020204" pitchFamily="34" charset="0"/>
                <a:ea typeface="MS PGothic" panose="020B0600070205080204" charset="-128"/>
                <a:cs typeface="MS PGothic" panose="020B0600070205080204" charset="-128"/>
              </a:rPr>
              <a:t>[to get high recall, a system </a:t>
            </a:r>
            <a:r>
              <a:rPr lang="en-US" dirty="0" err="1">
                <a:latin typeface="Arial" panose="020B0604020202020204" pitchFamily="34" charset="0"/>
                <a:ea typeface="MS PGothic" panose="020B0600070205080204" charset="-128"/>
                <a:cs typeface="MS PGothic" panose="020B0600070205080204" charset="-128"/>
              </a:rPr>
              <a:t>shoul</a:t>
            </a:r>
            <a:r>
              <a:rPr lang="en-US" dirty="0">
                <a:latin typeface="Arial" panose="020B0604020202020204" pitchFamily="34" charset="0"/>
                <a:ea typeface="MS PGothic" panose="020B0600070205080204" charset="-128"/>
                <a:cs typeface="MS PGothic" panose="020B0600070205080204" charset="-128"/>
              </a:rPr>
              <a:t> </a:t>
            </a:r>
            <a:r>
              <a:rPr lang="en-US" dirty="0" err="1">
                <a:latin typeface="Arial" panose="020B0604020202020204" pitchFamily="34" charset="0"/>
                <a:ea typeface="MS PGothic" panose="020B0600070205080204" charset="-128"/>
                <a:cs typeface="MS PGothic" panose="020B0600070205080204" charset="-128"/>
              </a:rPr>
              <a:t>dbe</a:t>
            </a:r>
            <a:r>
              <a:rPr lang="en-US" dirty="0">
                <a:latin typeface="Arial" panose="020B0604020202020204" pitchFamily="34" charset="0"/>
                <a:ea typeface="MS PGothic" panose="020B0600070205080204" charset="-128"/>
                <a:cs typeface="MS PGothic" panose="020B0600070205080204" charset="-128"/>
              </a:rPr>
              <a:t> very willing to guess– but then it may return some junk and have poor precision]</a:t>
            </a:r>
            <a:endParaRPr lang="en-US" dirty="0">
              <a:latin typeface="Arial" panose="020B0604020202020204" pitchFamily="34" charset="0"/>
              <a:ea typeface="MS PGothic" panose="020B0600070205080204" charset="-128"/>
              <a:cs typeface="MS PGothic" panose="020B060007020508020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EB9031F-EB71-7642-8F3C-6FDC1408CB92}" type="slidenum">
              <a:rPr kumimoji="0" lang="en-US" sz="1200" b="0" i="0" u="none" strike="noStrike" kern="1200" cap="none" spc="0" normalizeH="0" baseline="0" noProof="0" smtClean="0">
                <a:ln>
                  <a:noFill/>
                </a:ln>
                <a:solidFill>
                  <a:srgbClr val="000000"/>
                </a:solidFill>
                <a:effectLst/>
                <a:uLnTx/>
                <a:uFillTx/>
                <a:latin typeface="Lucida Sans" panose="020B0602030504020204" charset="0"/>
                <a:ea typeface="MS PGothic" panose="020B0600070205080204" charset="-128"/>
              </a:rPr>
            </a:fld>
            <a:endParaRPr kumimoji="0" lang="en-US" sz="1200" b="0" i="0" u="none" strike="noStrike" kern="1200" cap="none" spc="0" normalizeH="0" baseline="0" noProof="0">
              <a:ln>
                <a:noFill/>
              </a:ln>
              <a:solidFill>
                <a:srgbClr val="000000"/>
              </a:solidFill>
              <a:effectLst/>
              <a:uLnTx/>
              <a:uFillTx/>
              <a:latin typeface="Lucida Sans" panose="020B0602030504020204" charset="0"/>
              <a:ea typeface="MS PGothic" panose="020B060007020508020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a:spLocks noGrp="1" noChangeArrowheads="1"/>
          </p:cNvSpPr>
          <p:nvPr>
            <p:ph type="sldNum" sz="quarter" idx="5"/>
          </p:nvPr>
        </p:nvSpPr>
        <p:spPr>
          <a:noFill/>
        </p:spPr>
        <p:txBody>
          <a:bodyPr/>
          <a:lstStyle>
            <a:lvl1pPr eaLnBrk="0" hangingPunct="0">
              <a:defRPr sz="2400">
                <a:solidFill>
                  <a:schemeClr val="tx1"/>
                </a:solidFill>
                <a:latin typeface="Lucida Sans" panose="020B0602030504020204" charset="0"/>
                <a:ea typeface="MS PGothic" panose="020B0600070205080204" charset="-128"/>
                <a:cs typeface="MS PGothic" panose="020B0600070205080204" charset="-128"/>
              </a:defRPr>
            </a:lvl1pPr>
            <a:lvl2pPr marL="742950" indent="-285750" eaLnBrk="0" hangingPunct="0">
              <a:defRPr sz="2400">
                <a:solidFill>
                  <a:schemeClr val="tx1"/>
                </a:solidFill>
                <a:latin typeface="Lucida Sans" panose="020B0602030504020204" charset="0"/>
                <a:ea typeface="MS PGothic" panose="020B0600070205080204" charset="-128"/>
              </a:defRPr>
            </a:lvl2pPr>
            <a:lvl3pPr marL="1143000" indent="-228600" eaLnBrk="0" hangingPunct="0">
              <a:defRPr sz="2400">
                <a:solidFill>
                  <a:schemeClr val="tx1"/>
                </a:solidFill>
                <a:latin typeface="Lucida Sans" panose="020B0602030504020204" charset="0"/>
                <a:ea typeface="MS PGothic" panose="020B0600070205080204" charset="-128"/>
              </a:defRPr>
            </a:lvl3pPr>
            <a:lvl4pPr marL="1600200" indent="-228600" eaLnBrk="0" hangingPunct="0">
              <a:defRPr sz="2400">
                <a:solidFill>
                  <a:schemeClr val="tx1"/>
                </a:solidFill>
                <a:latin typeface="Lucida Sans" panose="020B0602030504020204" charset="0"/>
                <a:ea typeface="MS PGothic" panose="020B0600070205080204" charset="-128"/>
              </a:defRPr>
            </a:lvl4pPr>
            <a:lvl5pPr marL="2057400" indent="-228600" eaLnBrk="0" hangingPunct="0">
              <a:defRPr sz="2400">
                <a:solidFill>
                  <a:schemeClr val="tx1"/>
                </a:solidFill>
                <a:latin typeface="Lucida Sans" panose="020B0602030504020204" charset="0"/>
                <a:ea typeface="MS PGothic" panose="020B0600070205080204" charset="-128"/>
              </a:defRPr>
            </a:lvl5pPr>
            <a:lvl6pPr marL="2513965" indent="-2286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6pPr>
            <a:lvl7pPr marL="2971165" indent="-2286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7pPr>
            <a:lvl8pPr marL="3428365" indent="-2286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8pPr>
            <a:lvl9pPr marL="3885565" indent="-2286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9pPr>
          </a:lstStyle>
          <a:p>
            <a:pPr eaLnBrk="1" hangingPunct="1"/>
            <a:fld id="{CE933F43-4F06-6E4C-A88E-635F26D155D2}" type="slidenum">
              <a:rPr lang="en-US" sz="1200"/>
            </a:fld>
            <a:endParaRPr lang="en-US" sz="1200" dirty="0"/>
          </a:p>
        </p:txBody>
      </p:sp>
      <p:sp>
        <p:nvSpPr>
          <p:cNvPr id="68610" name="Rectangle 2"/>
          <p:cNvSpPr>
            <a:spLocks noGrp="1" noRot="1" noChangeAspect="1" noChangeArrowheads="1" noTextEdit="1"/>
          </p:cNvSpPr>
          <p:nvPr>
            <p:ph type="sldImg"/>
          </p:nvPr>
        </p:nvSpPr>
        <p:spPr/>
      </p:sp>
      <p:sp>
        <p:nvSpPr>
          <p:cNvPr id="68611" name="Rectangle 3"/>
          <p:cNvSpPr>
            <a:spLocks noGrp="1" noChangeArrowheads="1"/>
          </p:cNvSpPr>
          <p:nvPr>
            <p:ph type="body" idx="1"/>
          </p:nvPr>
        </p:nvSpPr>
        <p:spPr>
          <a:noFill/>
        </p:spPr>
        <p:txBody>
          <a:bodyPr/>
          <a:lstStyle/>
          <a:p>
            <a:r>
              <a:rPr lang="en-US" dirty="0">
                <a:latin typeface="Arial" panose="020B0604020202020204" pitchFamily="34" charset="0"/>
                <a:ea typeface="MS PGothic" panose="020B0600070205080204" charset="-128"/>
                <a:cs typeface="MS PGothic" panose="020B0600070205080204" charset="-128"/>
              </a:rPr>
              <a:t>a combined measure: F-1: </a:t>
            </a:r>
            <a:endParaRPr lang="en-US" dirty="0">
              <a:latin typeface="Arial" panose="020B0604020202020204" pitchFamily="34" charset="0"/>
              <a:ea typeface="MS PGothic" panose="020B0600070205080204" charset="-128"/>
              <a:cs typeface="MS PGothic" panose="020B0600070205080204" charset="-128"/>
            </a:endParaRPr>
          </a:p>
          <a:p>
            <a:endParaRPr lang="en-US" dirty="0">
              <a:latin typeface="Arial" panose="020B0604020202020204" pitchFamily="34" charset="0"/>
              <a:ea typeface="MS PGothic" panose="020B0600070205080204" charset="-128"/>
              <a:cs typeface="MS PGothic" panose="020B0600070205080204" charset="-128"/>
            </a:endParaRPr>
          </a:p>
          <a:p>
            <a:r>
              <a:rPr lang="en-US" dirty="0">
                <a:latin typeface="Arial" panose="020B0604020202020204" pitchFamily="34" charset="0"/>
                <a:ea typeface="MS PGothic" panose="020B0600070205080204" charset="-128"/>
                <a:cs typeface="MS PGothic" panose="020B0600070205080204" charset="-128"/>
              </a:rPr>
              <a:t>Why this function instead of just the arithmetic or geometric mean?  F1 turns out to be the harmonic mean between precision and recall</a:t>
            </a:r>
            <a:endParaRPr lang="en-US" dirty="0">
              <a:latin typeface="Arial" panose="020B0604020202020204" pitchFamily="34" charset="0"/>
              <a:ea typeface="MS PGothic" panose="020B0600070205080204" charset="-128"/>
              <a:cs typeface="MS PGothic" panose="020B0600070205080204" charset="-128"/>
            </a:endParaRPr>
          </a:p>
          <a:p>
            <a:endParaRPr lang="en-US" dirty="0">
              <a:latin typeface="Arial" panose="020B0604020202020204" pitchFamily="34" charset="0"/>
              <a:ea typeface="MS PGothic" panose="020B0600070205080204" charset="-128"/>
              <a:cs typeface="MS PGothic" panose="020B060007020508020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a:spLocks noGrp="1" noChangeArrowheads="1"/>
          </p:cNvSpPr>
          <p:nvPr>
            <p:ph type="sldNum" sz="quarter" idx="5"/>
          </p:nvPr>
        </p:nvSpPr>
        <p:spPr>
          <a:noFill/>
        </p:spPr>
        <p:txBody>
          <a:bodyPr/>
          <a:lstStyle>
            <a:lvl1pPr eaLnBrk="0" hangingPunct="0">
              <a:defRPr sz="2400">
                <a:solidFill>
                  <a:schemeClr val="tx1"/>
                </a:solidFill>
                <a:latin typeface="Lucida Sans" panose="020B0602030504020204" charset="0"/>
                <a:ea typeface="MS PGothic" panose="020B0600070205080204" charset="-128"/>
                <a:cs typeface="MS PGothic" panose="020B0600070205080204" charset="-128"/>
              </a:defRPr>
            </a:lvl1pPr>
            <a:lvl2pPr marL="742950" indent="-285750" eaLnBrk="0" hangingPunct="0">
              <a:defRPr sz="2400">
                <a:solidFill>
                  <a:schemeClr val="tx1"/>
                </a:solidFill>
                <a:latin typeface="Lucida Sans" panose="020B0602030504020204" charset="0"/>
                <a:ea typeface="MS PGothic" panose="020B0600070205080204" charset="-128"/>
              </a:defRPr>
            </a:lvl2pPr>
            <a:lvl3pPr marL="1143000" indent="-228600" eaLnBrk="0" hangingPunct="0">
              <a:defRPr sz="2400">
                <a:solidFill>
                  <a:schemeClr val="tx1"/>
                </a:solidFill>
                <a:latin typeface="Lucida Sans" panose="020B0602030504020204" charset="0"/>
                <a:ea typeface="MS PGothic" panose="020B0600070205080204" charset="-128"/>
              </a:defRPr>
            </a:lvl3pPr>
            <a:lvl4pPr marL="1600200" indent="-228600" eaLnBrk="0" hangingPunct="0">
              <a:defRPr sz="2400">
                <a:solidFill>
                  <a:schemeClr val="tx1"/>
                </a:solidFill>
                <a:latin typeface="Lucida Sans" panose="020B0602030504020204" charset="0"/>
                <a:ea typeface="MS PGothic" panose="020B0600070205080204" charset="-128"/>
              </a:defRPr>
            </a:lvl4pPr>
            <a:lvl5pPr marL="2057400" indent="-228600" eaLnBrk="0" hangingPunct="0">
              <a:defRPr sz="2400">
                <a:solidFill>
                  <a:schemeClr val="tx1"/>
                </a:solidFill>
                <a:latin typeface="Lucida Sans" panose="020B0602030504020204" charset="0"/>
                <a:ea typeface="MS PGothic" panose="020B0600070205080204" charset="-128"/>
              </a:defRPr>
            </a:lvl5pPr>
            <a:lvl6pPr marL="2513965" indent="-2286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6pPr>
            <a:lvl7pPr marL="2971165" indent="-2286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7pPr>
            <a:lvl8pPr marL="3428365" indent="-2286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8pPr>
            <a:lvl9pPr marL="3885565" indent="-2286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9pPr>
          </a:lstStyle>
          <a:p>
            <a:pPr eaLnBrk="1" hangingPunct="1"/>
            <a:fld id="{CE933F43-4F06-6E4C-A88E-635F26D155D2}" type="slidenum">
              <a:rPr lang="en-US" sz="1200"/>
            </a:fld>
            <a:endParaRPr lang="en-US" sz="1200" dirty="0"/>
          </a:p>
        </p:txBody>
      </p:sp>
      <p:sp>
        <p:nvSpPr>
          <p:cNvPr id="68610" name="Rectangle 2"/>
          <p:cNvSpPr>
            <a:spLocks noGrp="1" noRot="1" noChangeAspect="1" noChangeArrowheads="1" noTextEdit="1"/>
          </p:cNvSpPr>
          <p:nvPr>
            <p:ph type="sldImg"/>
          </p:nvPr>
        </p:nvSpPr>
        <p:spPr/>
      </p:sp>
      <p:sp>
        <p:nvSpPr>
          <p:cNvPr id="68611" name="Rectangle 3"/>
          <p:cNvSpPr>
            <a:spLocks noGrp="1" noChangeArrowheads="1"/>
          </p:cNvSpPr>
          <p:nvPr>
            <p:ph type="body" idx="1"/>
          </p:nvPr>
        </p:nvSpPr>
        <p:spPr>
          <a:noFill/>
        </p:spPr>
        <p:txBody>
          <a:bodyPr/>
          <a:lstStyle/>
          <a:p>
            <a:r>
              <a:rPr lang="en-US" dirty="0">
                <a:latin typeface="Arial" panose="020B0604020202020204" pitchFamily="34" charset="0"/>
                <a:ea typeface="MS PGothic" panose="020B0600070205080204" charset="-128"/>
                <a:cs typeface="MS PGothic" panose="020B0600070205080204" charset="-128"/>
              </a:rPr>
              <a:t>F1 is a special case of the F-measure: weighted harmonic mean of precision and recall.  </a:t>
            </a:r>
            <a:endParaRPr lang="en-US" dirty="0">
              <a:latin typeface="Arial" panose="020B0604020202020204" pitchFamily="34" charset="0"/>
              <a:ea typeface="MS PGothic" panose="020B0600070205080204" charset="-128"/>
              <a:cs typeface="MS PGothic" panose="020B0600070205080204" charset="-128"/>
            </a:endParaRPr>
          </a:p>
          <a:p>
            <a:r>
              <a:rPr lang="en-US" sz="1200" dirty="0">
                <a:effectLst/>
                <a:latin typeface="NimbusRomNo9L"/>
              </a:rPr>
              <a:t>The harmonic mean of a set of numbers is the reciprocal of the arithmetic mean of reciprocals. </a:t>
            </a:r>
            <a:endParaRPr lang="en-US" sz="1200" dirty="0">
              <a:effectLst/>
              <a:latin typeface="NimbusRomNo9L"/>
            </a:endParaRPr>
          </a:p>
          <a:p>
            <a:endParaRPr lang="en-US" sz="1200" dirty="0">
              <a:effectLst/>
              <a:latin typeface="NimbusRomNo9L"/>
            </a:endParaRPr>
          </a:p>
          <a:p>
            <a:r>
              <a:rPr lang="en-US" sz="1200" dirty="0">
                <a:effectLst/>
                <a:latin typeface="NimbusRomNo9L"/>
              </a:rPr>
              <a:t>You can see here that F score is the harmonic mean, if we replace alpha with ½ we get 2/ (1/p + 1/r).  </a:t>
            </a:r>
            <a:endParaRPr lang="en-US" sz="1200" dirty="0">
              <a:effectLst/>
              <a:latin typeface="NimbusRomNo9L"/>
            </a:endParaRPr>
          </a:p>
          <a:p>
            <a:r>
              <a:rPr lang="en-US" sz="1800" dirty="0">
                <a:effectLst/>
                <a:latin typeface="NimbusRomNo9L"/>
              </a:rPr>
              <a:t>The Harmonic mean of two values  is closer to the minimum of the two numbers than arithmetic or geometric mean, so it weighs the lower of the two numbers more heavily.  </a:t>
            </a:r>
            <a:r>
              <a:rPr lang="en-US" sz="1800" dirty="0">
                <a:effectLst/>
                <a:latin typeface="Arial" panose="020B0604020202020204" pitchFamily="34" charset="0"/>
                <a:ea typeface="MS PGothic" panose="020B0600070205080204" charset="-128"/>
              </a:rPr>
              <a:t>That is, </a:t>
            </a:r>
            <a:r>
              <a:rPr lang="en-US" dirty="0">
                <a:latin typeface="Arial" panose="020B0604020202020204" pitchFamily="34" charset="0"/>
                <a:ea typeface="MS PGothic" panose="020B0600070205080204" charset="-128"/>
                <a:cs typeface="MS PGothic" panose="020B0600070205080204" charset="-128"/>
              </a:rPr>
              <a:t>if P and R are far apart, F will be nearer the lower value, which makes it a kind of conservative mean in this situation.  Thus to do well on F1, you have to do well on BOTH P and R.</a:t>
            </a:r>
            <a:endParaRPr lang="en-US" dirty="0">
              <a:latin typeface="Arial" panose="020B0604020202020204" pitchFamily="34" charset="0"/>
              <a:ea typeface="MS PGothic" panose="020B0600070205080204" charset="-128"/>
              <a:cs typeface="MS PGothic" panose="020B060007020508020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dirty="0">
              <a:latin typeface="Arial" panose="020B0604020202020204" pitchFamily="34" charset="0"/>
              <a:ea typeface="MS PGothic" panose="020B0600070205080204" charset="-128"/>
              <a:cs typeface="MS PGothic" panose="020B0600070205080204" charset="-128"/>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dirty="0">
                <a:latin typeface="Arial" panose="020B0604020202020204" pitchFamily="34" charset="0"/>
                <a:ea typeface="MS PGothic" panose="020B0600070205080204" charset="-128"/>
                <a:cs typeface="MS PGothic" panose="020B0600070205080204" charset="-128"/>
              </a:rPr>
              <a:t>Why the weights? in some applications you may care more about P or R. In practice we mainly use the balanced measure with beta = 1 and alpha =1/2</a:t>
            </a:r>
            <a:endParaRPr lang="en-US" dirty="0">
              <a:latin typeface="Arial" panose="020B0604020202020204" pitchFamily="34" charset="0"/>
              <a:ea typeface="MS PGothic" panose="020B0600070205080204" charset="-128"/>
              <a:cs typeface="MS PGothic" panose="020B060007020508020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dirty="0">
              <a:latin typeface="Arial" panose="020B0604020202020204" pitchFamily="34" charset="0"/>
              <a:ea typeface="MS PGothic" panose="020B0600070205080204" charset="-128"/>
              <a:cs typeface="MS PGothic" panose="020B0600070205080204" charset="-128"/>
            </a:endParaRPr>
          </a:p>
          <a:p>
            <a:endParaRPr lang="en-US" dirty="0">
              <a:latin typeface="Arial" panose="020B0604020202020204" pitchFamily="34" charset="0"/>
              <a:ea typeface="MS PGothic" panose="020B0600070205080204" charset="-128"/>
              <a:cs typeface="MS PGothic" panose="020B060007020508020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sz="1800" dirty="0">
                <a:effectLst/>
                <a:latin typeface="NimbusRomNo9L"/>
              </a:rPr>
              <a:t>Lots of classification tasks have more than two classes, like sentiment could be 3-way. Consider the confusion matrix for a hypothetical 3-way</a:t>
            </a:r>
            <a:r>
              <a:rPr lang="en-US" sz="1800" i="1" dirty="0">
                <a:effectLst/>
                <a:latin typeface="NimbusRomNo9L"/>
              </a:rPr>
              <a:t> </a:t>
            </a:r>
            <a:r>
              <a:rPr lang="en-US" sz="1800" dirty="0">
                <a:effectLst/>
                <a:latin typeface="NimbusRomNo9L"/>
              </a:rPr>
              <a:t>email categorization decision (urgent, normal, spam). Notice that the system mistakenly labeled one spam document as urgent. We can compute distinct precision and recall values for each class.  For example, the precision of the urgent category is 8 (the true positive </a:t>
            </a:r>
            <a:r>
              <a:rPr lang="en-US" sz="1800" dirty="0" err="1">
                <a:effectLst/>
                <a:latin typeface="NimbusRomNo9L"/>
              </a:rPr>
              <a:t>urgents</a:t>
            </a:r>
            <a:r>
              <a:rPr lang="en-US" sz="1800" dirty="0">
                <a:effectLst/>
                <a:latin typeface="NimbusRomNo9L"/>
              </a:rPr>
              <a:t>) over the true positives + false positives (the 10 normal and that 1 spam).  The result, however, is 3 separate precision values and 3  </a:t>
            </a:r>
            <a:r>
              <a:rPr lang="en-US" sz="1800" dirty="0" err="1">
                <a:effectLst/>
                <a:latin typeface="NimbusRomNo9L"/>
              </a:rPr>
              <a:t>separaterecall</a:t>
            </a:r>
            <a:r>
              <a:rPr lang="en-US" sz="1800" dirty="0">
                <a:effectLst/>
                <a:latin typeface="NimbusRomNo9L"/>
              </a:rPr>
              <a:t> values!  </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EB9031F-EB71-7642-8F3C-6FDC1408CB92}" type="slidenum">
              <a:rPr kumimoji="0" lang="en-US" sz="1200" b="0" i="0" u="none" strike="noStrike" kern="1200" cap="none" spc="0" normalizeH="0" baseline="0" noProof="0" smtClean="0">
                <a:ln>
                  <a:noFill/>
                </a:ln>
                <a:solidFill>
                  <a:srgbClr val="000000"/>
                </a:solidFill>
                <a:effectLst/>
                <a:uLnTx/>
                <a:uFillTx/>
                <a:latin typeface="Lucida Sans" panose="020B0602030504020204" charset="0"/>
                <a:ea typeface="MS PGothic" panose="020B0600070205080204" charset="-128"/>
              </a:rPr>
            </a:fld>
            <a:endParaRPr kumimoji="0" lang="en-US" sz="1200" b="0" i="0" u="none" strike="noStrike" kern="1200" cap="none" spc="0" normalizeH="0" baseline="0" noProof="0">
              <a:ln>
                <a:noFill/>
              </a:ln>
              <a:solidFill>
                <a:srgbClr val="000000"/>
              </a:solidFill>
              <a:effectLst/>
              <a:uLnTx/>
              <a:uFillTx/>
              <a:latin typeface="Lucida Sans" panose="020B0602030504020204" charset="0"/>
              <a:ea typeface="MS PGothic" panose="020B060007020508020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000000"/>
                </a:solidFill>
                <a:effectLst/>
                <a:latin typeface="Monaco" pitchFamily="2" charset="77"/>
              </a:rPr>
              <a:t>To derive a single metric from these 3 sets of precisions and recalls, we can combine these in two ways.  In </a:t>
            </a:r>
            <a:r>
              <a:rPr lang="en-US" dirty="0" err="1">
                <a:solidFill>
                  <a:srgbClr val="000000"/>
                </a:solidFill>
                <a:effectLst/>
                <a:latin typeface="Monaco" pitchFamily="2" charset="77"/>
              </a:rPr>
              <a:t>macroaveraging</a:t>
            </a:r>
            <a:r>
              <a:rPr lang="en-US" dirty="0">
                <a:solidFill>
                  <a:srgbClr val="000000"/>
                </a:solidFill>
                <a:effectLst/>
                <a:latin typeface="Monaco" pitchFamily="2" charset="77"/>
              </a:rPr>
              <a:t>, we compute the performance for each class, and then average over classes.  That is, we take the same precisions and recalls we computed on the previsions slide, one set for Urgent, one set for Normal, and one set for spam, and we just average those precisions to get a single macro average.</a:t>
            </a:r>
            <a:endParaRPr lang="en-US" dirty="0">
              <a:solidFill>
                <a:srgbClr val="000000"/>
              </a:solidFill>
              <a:effectLst/>
              <a:latin typeface="Monaco" pitchFamily="2" charset="77"/>
            </a:endParaRPr>
          </a:p>
          <a:p>
            <a:endParaRPr lang="en-US" dirty="0">
              <a:solidFill>
                <a:srgbClr val="000000"/>
              </a:solidFill>
              <a:effectLst/>
              <a:latin typeface="Monaco" pitchFamily="2" charset="77"/>
            </a:endParaRPr>
          </a:p>
          <a:p>
            <a:r>
              <a:rPr lang="en-US" dirty="0">
                <a:solidFill>
                  <a:srgbClr val="000000"/>
                </a:solidFill>
                <a:effectLst/>
                <a:latin typeface="Monaco" pitchFamily="2" charset="77"/>
              </a:rPr>
              <a:t> In </a:t>
            </a:r>
            <a:r>
              <a:rPr lang="en-US" dirty="0" err="1">
                <a:solidFill>
                  <a:srgbClr val="000000"/>
                </a:solidFill>
                <a:effectLst/>
                <a:latin typeface="Monaco" pitchFamily="2" charset="77"/>
              </a:rPr>
              <a:t>microaveraging</a:t>
            </a:r>
            <a:r>
              <a:rPr lang="en-US" dirty="0">
                <a:solidFill>
                  <a:srgbClr val="000000"/>
                </a:solidFill>
                <a:effectLst/>
                <a:latin typeface="Monaco" pitchFamily="2" charset="77"/>
              </a:rPr>
              <a:t>, we instead first combine the decisions for all classes in a single confusion matrix, and then compute precision and recall from that table.</a:t>
            </a:r>
            <a:br>
              <a:rPr lang="en-US" dirty="0">
                <a:solidFill>
                  <a:srgbClr val="000000"/>
                </a:solidFill>
                <a:effectLst/>
                <a:latin typeface="Monaco" pitchFamily="2" charset="77"/>
              </a:rPr>
            </a:br>
            <a:endParaRPr lang="en-US" dirty="0">
              <a:solidFill>
                <a:srgbClr val="000000"/>
              </a:solidFill>
              <a:effectLst/>
              <a:latin typeface="Monaco" pitchFamily="2" charset="77"/>
            </a:endParaRPr>
          </a:p>
          <a:p>
            <a:r>
              <a:rPr lang="en-US" dirty="0">
                <a:solidFill>
                  <a:srgbClr val="000000"/>
                </a:solidFill>
                <a:effectLst/>
                <a:latin typeface="Monaco" pitchFamily="2" charset="77"/>
              </a:rPr>
              <a:t>Note that the </a:t>
            </a:r>
            <a:r>
              <a:rPr lang="en-US" dirty="0" err="1">
                <a:solidFill>
                  <a:srgbClr val="000000"/>
                </a:solidFill>
                <a:effectLst/>
                <a:latin typeface="Monaco" pitchFamily="2" charset="77"/>
              </a:rPr>
              <a:t>microaverage</a:t>
            </a:r>
            <a:r>
              <a:rPr lang="en-US" dirty="0">
                <a:solidFill>
                  <a:srgbClr val="000000"/>
                </a:solidFill>
                <a:effectLst/>
                <a:latin typeface="Monaco" pitchFamily="2" charset="77"/>
              </a:rPr>
              <a:t> is dominated by the more frequent class (in this case spam), since the counts are pooled and F1 is dominated by the count of true positives. The </a:t>
            </a:r>
            <a:r>
              <a:rPr lang="en-US" dirty="0" err="1">
                <a:solidFill>
                  <a:srgbClr val="000000"/>
                </a:solidFill>
                <a:effectLst/>
                <a:latin typeface="Monaco" pitchFamily="2" charset="77"/>
              </a:rPr>
              <a:t>macroaverage</a:t>
            </a:r>
            <a:r>
              <a:rPr lang="en-US" dirty="0">
                <a:solidFill>
                  <a:srgbClr val="000000"/>
                </a:solidFill>
                <a:effectLst/>
                <a:latin typeface="Monaco" pitchFamily="2" charset="77"/>
              </a:rPr>
              <a:t> better reflects the statistics of the smaller classes, and so is more appropriate when performance on all the classes is equally important. </a:t>
            </a:r>
            <a:endParaRPr lang="en-US" dirty="0">
              <a:solidFill>
                <a:srgbClr val="000000"/>
              </a:solidFill>
              <a:effectLst/>
              <a:latin typeface="Monaco" pitchFamily="2" charset="77"/>
            </a:endParaRPr>
          </a:p>
          <a:p>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lvl1pPr eaLnBrk="0" hangingPunct="0">
              <a:defRPr sz="2400">
                <a:solidFill>
                  <a:schemeClr val="tx1"/>
                </a:solidFill>
                <a:latin typeface="Lucida Sans" panose="020B0602030504020204" charset="0"/>
                <a:ea typeface="MS PGothic" panose="020B0600070205080204" charset="-128"/>
                <a:cs typeface="MS PGothic" panose="020B0600070205080204" charset="-128"/>
              </a:defRPr>
            </a:lvl1pPr>
            <a:lvl2pPr marL="37931725" indent="-37474525" eaLnBrk="0" hangingPunct="0">
              <a:defRPr sz="2400">
                <a:solidFill>
                  <a:schemeClr val="tx1"/>
                </a:solidFill>
                <a:latin typeface="Lucida Sans" panose="020B0602030504020204" charset="0"/>
                <a:ea typeface="MS PGothic" panose="020B0600070205080204" charset="-128"/>
              </a:defRPr>
            </a:lvl2pPr>
            <a:lvl3pPr eaLnBrk="0" hangingPunct="0">
              <a:defRPr sz="2400">
                <a:solidFill>
                  <a:schemeClr val="tx1"/>
                </a:solidFill>
                <a:latin typeface="Lucida Sans" panose="020B0602030504020204" charset="0"/>
                <a:ea typeface="MS PGothic" panose="020B0600070205080204" charset="-128"/>
              </a:defRPr>
            </a:lvl3pPr>
            <a:lvl4pPr eaLnBrk="0" hangingPunct="0">
              <a:defRPr sz="2400">
                <a:solidFill>
                  <a:schemeClr val="tx1"/>
                </a:solidFill>
                <a:latin typeface="Lucida Sans" panose="020B0602030504020204" charset="0"/>
                <a:ea typeface="MS PGothic" panose="020B0600070205080204" charset="-128"/>
              </a:defRPr>
            </a:lvl4pPr>
            <a:lvl5pPr eaLnBrk="0" hangingPunct="0">
              <a:defRPr sz="2400">
                <a:solidFill>
                  <a:schemeClr val="tx1"/>
                </a:solidFill>
                <a:latin typeface="Lucida Sans" panose="020B0602030504020204" charset="0"/>
                <a:ea typeface="MS PGothic" panose="020B0600070205080204" charset="-128"/>
              </a:defRPr>
            </a:lvl5pPr>
            <a:lvl6pPr marL="4572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6pPr>
            <a:lvl7pPr marL="9144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7pPr>
            <a:lvl8pPr marL="13716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8pPr>
            <a:lvl9pPr marL="18288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E69DF897-5E92-F241-9A21-E64EA536231D}" type="slidenum">
              <a:rPr kumimoji="0" lang="en-US" sz="1200" b="0" i="0" u="none" strike="noStrike" kern="1200" cap="none" spc="0" normalizeH="0" baseline="0" noProof="0">
                <a:ln>
                  <a:noFill/>
                </a:ln>
                <a:solidFill>
                  <a:srgbClr val="000000"/>
                </a:solidFill>
                <a:effectLst/>
                <a:uLnTx/>
                <a:uFillTx/>
                <a:latin typeface="Lucida Sans" panose="020B0602030504020204" charset="0"/>
                <a:ea typeface="MS PGothic" panose="020B0600070205080204" charset="-128"/>
              </a:rPr>
            </a:fld>
            <a:endParaRPr kumimoji="0" lang="en-US" sz="1200" b="0" i="0" u="none" strike="noStrike" kern="1200" cap="none" spc="0" normalizeH="0" baseline="0" noProof="0">
              <a:ln>
                <a:noFill/>
              </a:ln>
              <a:solidFill>
                <a:srgbClr val="000000"/>
              </a:solidFill>
              <a:effectLst/>
              <a:uLnTx/>
              <a:uFillTx/>
              <a:latin typeface="Lucida Sans" panose="020B0602030504020204" charset="0"/>
              <a:ea typeface="MS PGothic" panose="020B0600070205080204" charset="-128"/>
            </a:endParaRPr>
          </a:p>
        </p:txBody>
      </p:sp>
      <p:sp>
        <p:nvSpPr>
          <p:cNvPr id="17411" name="Rectangle 2"/>
          <p:cNvSpPr>
            <a:spLocks noGrp="1" noRot="1" noChangeAspect="1" noChangeArrowheads="1" noTextEdit="1"/>
          </p:cNvSpPr>
          <p:nvPr>
            <p:ph type="sldImg"/>
          </p:nvPr>
        </p:nvSpPr>
        <p:spPr>
          <a:xfrm>
            <a:off x="290513" y="704850"/>
            <a:ext cx="6264275" cy="3524250"/>
          </a:xfrm>
        </p:spPr>
      </p:sp>
      <p:sp>
        <p:nvSpPr>
          <p:cNvPr id="17412" name="Rectangle 3"/>
          <p:cNvSpPr>
            <a:spLocks noGrp="1" noChangeArrowheads="1"/>
          </p:cNvSpPr>
          <p:nvPr>
            <p:ph type="body" idx="1"/>
          </p:nvPr>
        </p:nvSpPr>
        <p:spPr>
          <a:noFill/>
        </p:spPr>
        <p:txBody>
          <a:bodyPr/>
          <a:lstStyle/>
          <a:p>
            <a:r>
              <a:rPr lang="en-US" dirty="0">
                <a:latin typeface="Arial" panose="020B0604020202020204" pitchFamily="34" charset="0"/>
                <a:ea typeface="MS PGothic" panose="020B0600070205080204" charset="-128"/>
                <a:cs typeface="MS PGothic" panose="020B0600070205080204" charset="-128"/>
              </a:rPr>
              <a:t>For any of our NLP tasks, we'll want to think about how to avoid doing harm.  Let's discuss some important considerations for classification.</a:t>
            </a:r>
            <a:endParaRPr lang="en-US" dirty="0">
              <a:latin typeface="Arial" panose="020B0604020202020204" pitchFamily="34" charset="0"/>
              <a:ea typeface="MS PGothic" panose="020B0600070205080204" charset="-128"/>
              <a:cs typeface="MS PGothic" panose="020B060007020508020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EB9031F-EB71-7642-8F3C-6FDC1408CB92}" type="slidenum">
              <a:rPr kumimoji="0" lang="en-US" sz="1200" b="0" i="0" u="none" strike="noStrike" kern="1200" cap="none" spc="0" normalizeH="0" baseline="0" noProof="0" smtClean="0">
                <a:ln>
                  <a:noFill/>
                </a:ln>
                <a:solidFill>
                  <a:srgbClr val="000000"/>
                </a:solidFill>
                <a:effectLst/>
                <a:uLnTx/>
                <a:uFillTx/>
                <a:latin typeface="Lucida Sans" panose="020B0602030504020204" charset="0"/>
                <a:ea typeface="MS PGothic" panose="020B0600070205080204" charset="-128"/>
              </a:rPr>
            </a:fld>
            <a:endParaRPr kumimoji="0" lang="en-US" sz="1200" b="0" i="0" u="none" strike="noStrike" kern="1200" cap="none" spc="0" normalizeH="0" baseline="0" noProof="0">
              <a:ln>
                <a:noFill/>
              </a:ln>
              <a:solidFill>
                <a:srgbClr val="000000"/>
              </a:solidFill>
              <a:effectLst/>
              <a:uLnTx/>
              <a:uFillTx/>
              <a:latin typeface="Lucida Sans" panose="020B0602030504020204" charset="0"/>
              <a:ea typeface="MS PGothic" panose="020B060007020508020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type of harm is called representational harm. These are harms that affect the representation of a group, for example demeaning them by perpetuating negative stereotypes about them.  For example, </a:t>
            </a:r>
            <a:r>
              <a:rPr lang="en-US" dirty="0" err="1"/>
              <a:t>Kititchenko</a:t>
            </a:r>
            <a:r>
              <a:rPr lang="en-US" dirty="0"/>
              <a:t> and Mohammad in 2018 looked at representational harms in 200 sentiment analysis systems. They did this by creating pairs of sentences that were </a:t>
            </a:r>
            <a:r>
              <a:rPr lang="en-US" dirty="0" err="1"/>
              <a:t>identicial</a:t>
            </a:r>
            <a:r>
              <a:rPr lang="en-US" dirty="0"/>
              <a:t> except for a name.  So a sentence might be "I talked to &lt;person&gt; yesterday".  Then they created two versions of this sentence, one with a common African American name (like Shaniqua), and one with a common European American name (like Stephanie).  </a:t>
            </a:r>
            <a:endParaRPr lang="en-US" dirty="0"/>
          </a:p>
          <a:p>
            <a:endParaRPr lang="en-US" dirty="0"/>
          </a:p>
          <a:p>
            <a:r>
              <a:rPr lang="en-US" dirty="0"/>
              <a:t>Then they ran all the sentences in these sets of sentence pairs through 200 sentiment analysis systems. </a:t>
            </a:r>
            <a:endParaRPr lang="en-US" dirty="0"/>
          </a:p>
          <a:p>
            <a:endParaRPr lang="en-US" dirty="0"/>
          </a:p>
          <a:p>
            <a:pPr marL="0" marR="0" lvl="0" indent="0" algn="l" defTabSz="914400" rtl="0" eaLnBrk="0" fontAlgn="base" latinLnBrk="0" hangingPunct="0">
              <a:lnSpc>
                <a:spcPct val="100000"/>
              </a:lnSpc>
              <a:spcBef>
                <a:spcPct val="30000"/>
              </a:spcBef>
              <a:spcAft>
                <a:spcPct val="0"/>
              </a:spcAft>
              <a:buClrTx/>
              <a:buSzTx/>
              <a:buFontTx/>
              <a:buNone/>
              <a:defRPr/>
            </a:pPr>
            <a:r>
              <a:rPr lang="en-US" dirty="0"/>
              <a:t>What they found is that systems assigned </a:t>
            </a:r>
            <a:r>
              <a:rPr lang="en-US" sz="1200" dirty="0">
                <a:solidFill>
                  <a:srgbClr val="0200FF"/>
                </a:solidFill>
                <a:effectLst/>
                <a:latin typeface="Calibri" panose="020F0502020204030204" charset="0"/>
                <a:cs typeface="Calibri" panose="020F0502020204030204" charset="0"/>
              </a:rPr>
              <a:t>lower sentiment </a:t>
            </a:r>
            <a:r>
              <a:rPr lang="en-US" sz="1200" dirty="0">
                <a:effectLst/>
                <a:latin typeface="Calibri" panose="020F0502020204030204" charset="0"/>
                <a:cs typeface="Calibri" panose="020F0502020204030204" charset="0"/>
              </a:rPr>
              <a:t>and more negative emotion to sentences with </a:t>
            </a:r>
            <a:r>
              <a:rPr lang="en-US" sz="1200" dirty="0">
                <a:solidFill>
                  <a:srgbClr val="0200FF"/>
                </a:solidFill>
                <a:effectLst/>
                <a:latin typeface="Calibri" panose="020F0502020204030204" charset="0"/>
                <a:cs typeface="Calibri" panose="020F0502020204030204" charset="0"/>
              </a:rPr>
              <a:t>African American names</a:t>
            </a:r>
            <a:br>
              <a:rPr lang="en-US" sz="1200" dirty="0">
                <a:solidFill>
                  <a:srgbClr val="0200FF"/>
                </a:solidFill>
                <a:effectLst/>
                <a:latin typeface="Calibri" panose="020F0502020204030204" charset="0"/>
                <a:cs typeface="Calibri" panose="020F0502020204030204" charset="0"/>
              </a:rPr>
            </a:br>
            <a:r>
              <a:rPr lang="en-US" sz="1200" dirty="0">
                <a:solidFill>
                  <a:srgbClr val="0200FF"/>
                </a:solidFill>
                <a:effectLst/>
                <a:latin typeface="Calibri" panose="020F0502020204030204" charset="0"/>
                <a:cs typeface="Calibri" panose="020F0502020204030204" charset="0"/>
              </a:rPr>
              <a:t>This not only perpetuates negative stereotypes about African Americans, but means that a standard NLP tool like sentiment, </a:t>
            </a:r>
            <a:r>
              <a:rPr lang="en-US" sz="1200" dirty="0" err="1">
                <a:solidFill>
                  <a:srgbClr val="0200FF"/>
                </a:solidFill>
                <a:effectLst/>
                <a:latin typeface="Calibri" panose="020F0502020204030204" charset="0"/>
                <a:cs typeface="Calibri" panose="020F0502020204030204" charset="0"/>
              </a:rPr>
              <a:t>widley</a:t>
            </a:r>
            <a:r>
              <a:rPr lang="en-US" sz="1200" dirty="0">
                <a:solidFill>
                  <a:srgbClr val="0200FF"/>
                </a:solidFill>
                <a:effectLst/>
                <a:latin typeface="Calibri" panose="020F0502020204030204" charset="0"/>
                <a:cs typeface="Calibri" panose="020F0502020204030204" charset="0"/>
              </a:rPr>
              <a:t> used in marketing research, mental health studies, and so on, is likely to treats African Americans differently.</a:t>
            </a:r>
            <a:endParaRPr lang="en-US" sz="1200" dirty="0">
              <a:solidFill>
                <a:srgbClr val="0200FF"/>
              </a:solidFill>
              <a:effectLst/>
              <a:latin typeface="Calibri" panose="020F0502020204030204" charset="0"/>
              <a:cs typeface="Calibri" panose="020F0502020204030204" charset="0"/>
            </a:endParaRPr>
          </a:p>
          <a:p>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causes these harms in text classification, and what can we do about it?   These harms are partly caused by biases in the data; classifiers are trained on text that contains bias already.  And research shows that NLP systems have a </a:t>
            </a:r>
            <a:r>
              <a:rPr lang="en-US" dirty="0" err="1"/>
              <a:t>tendancy</a:t>
            </a:r>
            <a:r>
              <a:rPr lang="en-US" dirty="0"/>
              <a:t> to amplify biases that already exist in the training data.</a:t>
            </a:r>
            <a:br>
              <a:rPr lang="en-US" dirty="0"/>
            </a:br>
            <a:br>
              <a:rPr lang="en-US" dirty="0"/>
            </a:br>
            <a:r>
              <a:rPr lang="en-US" dirty="0"/>
              <a:t>The bias can come from the labels.  Labels come from humans too, and humans have biases. And these harms can arise from the algorithms </a:t>
            </a:r>
            <a:r>
              <a:rPr lang="en-US" dirty="0" err="1"/>
              <a:t>thsemlves</a:t>
            </a:r>
            <a:endParaRPr lang="en-US" dirty="0"/>
          </a:p>
          <a:p>
            <a:endParaRPr lang="en-US" dirty="0"/>
          </a:p>
          <a:p>
            <a:r>
              <a:rPr lang="en-US" dirty="0"/>
              <a:t>These problems occur throughout NLP, even in the latest and most powerful neural models.  Indeed, some research suggests that the bigger more powerful NLP models may exhibit even greater examples of these harms.</a:t>
            </a:r>
            <a:endParaRPr lang="en-US" dirty="0"/>
          </a:p>
          <a:p>
            <a:br>
              <a:rPr lang="en-US" dirty="0"/>
            </a:br>
            <a:r>
              <a:rPr lang="en-US" dirty="0"/>
              <a:t>There are no general-purpose  mitigation algorithms or solutions.  But harm mitigation is an active area of research throughout NLP.</a:t>
            </a:r>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lvl1pPr eaLnBrk="0" hangingPunct="0">
              <a:defRPr sz="2400">
                <a:solidFill>
                  <a:schemeClr val="tx1"/>
                </a:solidFill>
                <a:latin typeface="Lucida Sans" panose="020B0602030504020204" charset="0"/>
                <a:ea typeface="MS PGothic" panose="020B0600070205080204" charset="-128"/>
                <a:cs typeface="MS PGothic" panose="020B0600070205080204" charset="-128"/>
              </a:defRPr>
            </a:lvl1pPr>
            <a:lvl2pPr marL="37931725" indent="-37474525" eaLnBrk="0" hangingPunct="0">
              <a:defRPr sz="2400">
                <a:solidFill>
                  <a:schemeClr val="tx1"/>
                </a:solidFill>
                <a:latin typeface="Lucida Sans" panose="020B0602030504020204" charset="0"/>
                <a:ea typeface="MS PGothic" panose="020B0600070205080204" charset="-128"/>
              </a:defRPr>
            </a:lvl2pPr>
            <a:lvl3pPr eaLnBrk="0" hangingPunct="0">
              <a:defRPr sz="2400">
                <a:solidFill>
                  <a:schemeClr val="tx1"/>
                </a:solidFill>
                <a:latin typeface="Lucida Sans" panose="020B0602030504020204" charset="0"/>
                <a:ea typeface="MS PGothic" panose="020B0600070205080204" charset="-128"/>
              </a:defRPr>
            </a:lvl3pPr>
            <a:lvl4pPr eaLnBrk="0" hangingPunct="0">
              <a:defRPr sz="2400">
                <a:solidFill>
                  <a:schemeClr val="tx1"/>
                </a:solidFill>
                <a:latin typeface="Lucida Sans" panose="020B0602030504020204" charset="0"/>
                <a:ea typeface="MS PGothic" panose="020B0600070205080204" charset="-128"/>
              </a:defRPr>
            </a:lvl4pPr>
            <a:lvl5pPr eaLnBrk="0" hangingPunct="0">
              <a:defRPr sz="2400">
                <a:solidFill>
                  <a:schemeClr val="tx1"/>
                </a:solidFill>
                <a:latin typeface="Lucida Sans" panose="020B0602030504020204" charset="0"/>
                <a:ea typeface="MS PGothic" panose="020B0600070205080204" charset="-128"/>
              </a:defRPr>
            </a:lvl5pPr>
            <a:lvl6pPr marL="4572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6pPr>
            <a:lvl7pPr marL="9144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7pPr>
            <a:lvl8pPr marL="13716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8pPr>
            <a:lvl9pPr marL="1828800" eaLnBrk="0" fontAlgn="base" hangingPunct="0">
              <a:spcBef>
                <a:spcPct val="0"/>
              </a:spcBef>
              <a:spcAft>
                <a:spcPct val="0"/>
              </a:spcAft>
              <a:defRPr sz="2400">
                <a:solidFill>
                  <a:schemeClr val="tx1"/>
                </a:solidFill>
                <a:latin typeface="Lucida Sans" panose="020B0602030504020204" charset="0"/>
                <a:ea typeface="MS PGothic" panose="020B0600070205080204" charset="-128"/>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E69DF897-5E92-F241-9A21-E64EA536231D}" type="slidenum">
              <a:rPr kumimoji="0" lang="en-US" sz="1200" b="0" i="0" u="none" strike="noStrike" kern="1200" cap="none" spc="0" normalizeH="0" baseline="0" noProof="0">
                <a:ln>
                  <a:noFill/>
                </a:ln>
                <a:solidFill>
                  <a:srgbClr val="000000"/>
                </a:solidFill>
                <a:effectLst/>
                <a:uLnTx/>
                <a:uFillTx/>
                <a:latin typeface="Lucida Sans" panose="020B0602030504020204" charset="0"/>
                <a:ea typeface="MS PGothic" panose="020B0600070205080204" charset="-128"/>
              </a:rPr>
            </a:fld>
            <a:endParaRPr kumimoji="0" lang="en-US" sz="1200" b="0" i="0" u="none" strike="noStrike" kern="1200" cap="none" spc="0" normalizeH="0" baseline="0" noProof="0">
              <a:ln>
                <a:noFill/>
              </a:ln>
              <a:solidFill>
                <a:srgbClr val="000000"/>
              </a:solidFill>
              <a:effectLst/>
              <a:uLnTx/>
              <a:uFillTx/>
              <a:latin typeface="Lucida Sans" panose="020B0602030504020204" charset="0"/>
              <a:ea typeface="MS PGothic" panose="020B0600070205080204" charset="-128"/>
            </a:endParaRPr>
          </a:p>
        </p:txBody>
      </p:sp>
      <p:sp>
        <p:nvSpPr>
          <p:cNvPr id="17411" name="Rectangle 2"/>
          <p:cNvSpPr>
            <a:spLocks noGrp="1" noRot="1" noChangeAspect="1" noChangeArrowheads="1" noTextEdit="1"/>
          </p:cNvSpPr>
          <p:nvPr>
            <p:ph type="sldImg"/>
          </p:nvPr>
        </p:nvSpPr>
        <p:spPr>
          <a:xfrm>
            <a:off x="290513" y="704850"/>
            <a:ext cx="6264275" cy="3524250"/>
          </a:xfrm>
        </p:spPr>
      </p:sp>
      <p:sp>
        <p:nvSpPr>
          <p:cNvPr id="17412" name="Rectangle 3"/>
          <p:cNvSpPr>
            <a:spLocks noGrp="1" noChangeArrowheads="1"/>
          </p:cNvSpPr>
          <p:nvPr>
            <p:ph type="body" idx="1"/>
          </p:nvPr>
        </p:nvSpPr>
        <p:spPr>
          <a:noFill/>
        </p:spPr>
        <p:txBody>
          <a:bodyPr/>
          <a:lstStyle/>
          <a:p>
            <a:r>
              <a:rPr lang="en-US" dirty="0">
                <a:latin typeface="Arial" panose="020B0604020202020204" pitchFamily="34" charset="0"/>
                <a:ea typeface="MS PGothic" panose="020B0600070205080204" charset="-128"/>
                <a:cs typeface="MS PGothic" panose="020B0600070205080204" charset="-128"/>
              </a:rPr>
              <a:t>Representational harms, censorship, and performance disparities, are just some of the harms that can be caused by text classification. It's important to examine our NLP tools for these harms and work to reduce them.</a:t>
            </a:r>
            <a:endParaRPr lang="en-US" dirty="0">
              <a:latin typeface="Arial" panose="020B0604020202020204" pitchFamily="34" charset="0"/>
              <a:ea typeface="MS PGothic" panose="020B0600070205080204" charset="-128"/>
              <a:cs typeface="MS PGothic" panose="020B060007020508020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9"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613651" y="731520"/>
            <a:ext cx="6679191" cy="5257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465513" y="6459787"/>
            <a:ext cx="2618511" cy="365125"/>
          </a:xfrm>
        </p:spPr>
        <p:txBody>
          <a:bodyPr/>
          <a:lstStyle>
            <a:lvl1pPr algn="l">
              <a:defRPr/>
            </a:lvl1pPr>
          </a:lstStyle>
          <a:p>
            <a:fld id="{240CDC23-E565-C848-9AF6-12BD09C53D91}" type="datetimeFigureOut">
              <a:rPr lang="en-US" smtClean="0"/>
            </a:fld>
            <a:endParaRPr lang="en-US"/>
          </a:p>
        </p:txBody>
      </p:sp>
      <p:sp>
        <p:nvSpPr>
          <p:cNvPr id="6" name="Footer Placeholder 5"/>
          <p:cNvSpPr>
            <a:spLocks noGrp="1"/>
          </p:cNvSpPr>
          <p:nvPr>
            <p:ph type="ftr" sz="quarter" idx="11"/>
          </p:nvPr>
        </p:nvSpPr>
        <p:spPr>
          <a:xfrm>
            <a:off x="4800600" y="6459787"/>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07771B2-D7F7-364E-B6F3-F7FE93606BCE}"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image" Target="../media/image7.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en-US" altLang="zh-CN"/>
              <a:t>Accuracy is a trap !!</a:t>
            </a:r>
            <a:endParaRPr lang="en-US"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title"/>
          </p:nvPr>
        </p:nvSpPr>
        <p:spPr>
          <a:xfrm>
            <a:off x="112395" y="594360"/>
            <a:ext cx="3907155" cy="2286000"/>
          </a:xfrm>
        </p:spPr>
        <p:txBody>
          <a:bodyPr>
            <a:noAutofit/>
          </a:bodyPr>
          <a:lstStyle/>
          <a:p>
            <a:r>
              <a:rPr lang="en-US" sz="4535">
                <a:latin typeface="Calibri (Headings)"/>
                <a:cs typeface="Calibri (Headings)"/>
              </a:rPr>
              <a:t>Classification</a:t>
            </a:r>
            <a:endParaRPr lang="en-US" sz="4535">
              <a:latin typeface="Calibri (Headings)"/>
              <a:ea typeface="MS PGothic" panose="020B0600070205080204" charset="-128"/>
              <a:cs typeface="Calibri (Headings)"/>
            </a:endParaRPr>
          </a:p>
        </p:txBody>
      </p:sp>
      <p:sp>
        <p:nvSpPr>
          <p:cNvPr id="16387" name="Rectangle 6"/>
          <p:cNvSpPr>
            <a:spLocks noGrp="1" noChangeArrowheads="1"/>
          </p:cNvSpPr>
          <p:nvPr>
            <p:ph idx="1"/>
          </p:nvPr>
        </p:nvSpPr>
        <p:spPr>
          <a:xfrm>
            <a:off x="4673600" y="251459"/>
            <a:ext cx="6679191" cy="5257800"/>
          </a:xfrm>
        </p:spPr>
        <p:txBody>
          <a:bodyPr>
            <a:normAutofit/>
          </a:bodyPr>
          <a:lstStyle/>
          <a:p>
            <a:pPr eaLnBrk="1" hangingPunct="1">
              <a:buFont typeface="Times" charset="0"/>
              <a:buNone/>
            </a:pPr>
            <a:r>
              <a:rPr lang="en-US" sz="4800" dirty="0">
                <a:solidFill>
                  <a:srgbClr val="A4001D"/>
                </a:solidFill>
                <a:latin typeface="Calibri" panose="020F0502020204030204"/>
                <a:ea typeface="MS PGothic" panose="020B0600070205080204" charset="-128"/>
                <a:cs typeface="Calibri" panose="020F0502020204030204"/>
              </a:rPr>
              <a:t>Precision, Recall, and F1</a:t>
            </a:r>
            <a:endParaRPr lang="en-US" sz="4800" dirty="0">
              <a:solidFill>
                <a:srgbClr val="A4001D"/>
              </a:solidFill>
              <a:latin typeface="Calibri" panose="020F0502020204030204"/>
              <a:ea typeface="MS PGothic" panose="020B0600070205080204" charset="-128"/>
              <a:cs typeface="Calibri" panose="020F0502020204030204"/>
            </a:endParaRPr>
          </a:p>
        </p:txBody>
      </p:sp>
      <p:sp>
        <p:nvSpPr>
          <p:cNvPr id="2" name="Text Placeholder 1"/>
          <p:cNvSpPr>
            <a:spLocks noGrp="1"/>
          </p:cNvSpPr>
          <p:nvPr>
            <p:ph type="body" sz="half" idx="2"/>
          </p:nvPr>
        </p:nvSpPr>
        <p:spPr/>
        <p:txBody>
          <a:bodyPr/>
          <a:lstStyle/>
          <a:p>
            <a:endParaRPr 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82600"/>
            <a:ext cx="10617200" cy="907196"/>
          </a:xfrm>
        </p:spPr>
        <p:txBody>
          <a:bodyPr>
            <a:normAutofit fontScale="90000"/>
          </a:bodyPr>
          <a:lstStyle/>
          <a:p>
            <a:r>
              <a:rPr lang="en-US" dirty="0"/>
              <a:t>Evaluating Classifiers: How well does our classifier work?</a:t>
            </a:r>
            <a:endParaRPr lang="en-US" dirty="0"/>
          </a:p>
        </p:txBody>
      </p:sp>
      <p:sp>
        <p:nvSpPr>
          <p:cNvPr id="3" name="Content Placeholder 2"/>
          <p:cNvSpPr>
            <a:spLocks noGrp="1"/>
          </p:cNvSpPr>
          <p:nvPr>
            <p:ph idx="1"/>
          </p:nvPr>
        </p:nvSpPr>
        <p:spPr>
          <a:xfrm>
            <a:off x="878840" y="1600200"/>
            <a:ext cx="10993120" cy="5080000"/>
          </a:xfrm>
        </p:spPr>
        <p:txBody>
          <a:bodyPr>
            <a:normAutofit fontScale="70000"/>
          </a:bodyPr>
          <a:lstStyle/>
          <a:p>
            <a:pPr marL="0" indent="0">
              <a:buNone/>
            </a:pPr>
            <a:r>
              <a:rPr lang="en-US" sz="3465" dirty="0"/>
              <a:t>Let's first address binary classifiers:</a:t>
            </a:r>
            <a:endParaRPr lang="en-US" sz="3465" dirty="0"/>
          </a:p>
          <a:p>
            <a:pPr marL="576580" lvl="1" indent="-179705">
              <a:buFont typeface="Arial" panose="020B0604020202020204" pitchFamily="34" charset="0"/>
              <a:buChar char="•"/>
            </a:pPr>
            <a:r>
              <a:rPr lang="en-US" sz="3465" dirty="0"/>
              <a:t>Is this email spam? </a:t>
            </a:r>
            <a:endParaRPr lang="en-US" sz="3465" dirty="0"/>
          </a:p>
          <a:p>
            <a:pPr marL="508000" lvl="2" indent="0">
              <a:buNone/>
            </a:pPr>
            <a:r>
              <a:rPr lang="en-US" sz="2535" dirty="0">
                <a:solidFill>
                  <a:srgbClr val="0200FF"/>
                </a:solidFill>
              </a:rPr>
              <a:t>spam (+)</a:t>
            </a:r>
            <a:r>
              <a:rPr lang="en-US" sz="2535" dirty="0"/>
              <a:t>     or   </a:t>
            </a:r>
            <a:r>
              <a:rPr lang="en-US" sz="2535" dirty="0">
                <a:solidFill>
                  <a:srgbClr val="0200FF"/>
                </a:solidFill>
              </a:rPr>
              <a:t>not spam (-)</a:t>
            </a:r>
            <a:endParaRPr lang="en-US" sz="2535" dirty="0">
              <a:solidFill>
                <a:srgbClr val="0200FF"/>
              </a:solidFill>
            </a:endParaRPr>
          </a:p>
          <a:p>
            <a:pPr marL="576580" lvl="1" indent="-179705">
              <a:buFont typeface="Arial" panose="020B0604020202020204" pitchFamily="34" charset="0"/>
              <a:buChar char="•"/>
            </a:pPr>
            <a:r>
              <a:rPr lang="en-US" sz="3465" dirty="0"/>
              <a:t>Is this post about Delicious Pie Company? </a:t>
            </a:r>
            <a:endParaRPr lang="en-US" sz="3465" dirty="0"/>
          </a:p>
          <a:p>
            <a:pPr marL="508000" lvl="2" indent="0">
              <a:buNone/>
            </a:pPr>
            <a:r>
              <a:rPr lang="en-US" sz="2535" dirty="0">
                <a:solidFill>
                  <a:srgbClr val="0200FF"/>
                </a:solidFill>
              </a:rPr>
              <a:t>about Del. Pie Co (+)   </a:t>
            </a:r>
            <a:r>
              <a:rPr lang="en-US" sz="2535" dirty="0"/>
              <a:t>or    </a:t>
            </a:r>
            <a:r>
              <a:rPr lang="en-US" sz="2535" dirty="0">
                <a:solidFill>
                  <a:srgbClr val="0200FF"/>
                </a:solidFill>
              </a:rPr>
              <a:t>not about Del. Pie Co(-)</a:t>
            </a:r>
            <a:endParaRPr lang="en-US" sz="2535" dirty="0">
              <a:solidFill>
                <a:srgbClr val="0200FF"/>
              </a:solidFill>
            </a:endParaRPr>
          </a:p>
          <a:p>
            <a:pPr marL="0" indent="0">
              <a:buNone/>
            </a:pPr>
            <a:r>
              <a:rPr lang="en-US" sz="3465" dirty="0"/>
              <a:t>We'll need to know</a:t>
            </a:r>
            <a:endParaRPr lang="en-US" sz="3465" dirty="0"/>
          </a:p>
          <a:p>
            <a:pPr marL="911225" lvl="1" indent="-514350">
              <a:buFont typeface="+mj-lt"/>
              <a:buAutoNum type="arabicPeriod"/>
            </a:pPr>
            <a:r>
              <a:rPr lang="en-US" sz="3465" dirty="0"/>
              <a:t>What did our classifier say about each email or post?</a:t>
            </a:r>
            <a:endParaRPr lang="en-US" sz="3465" dirty="0"/>
          </a:p>
          <a:p>
            <a:pPr marL="911225" lvl="1" indent="-514350">
              <a:buFont typeface="+mj-lt"/>
              <a:buAutoNum type="arabicPeriod"/>
            </a:pPr>
            <a:r>
              <a:rPr lang="en-US" sz="3465" dirty="0"/>
              <a:t>What should our classifier have said, i.e.,  the correct answer, usually as defined by humans ("gold label")</a:t>
            </a:r>
            <a:endParaRPr lang="en-US" sz="2535"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82600"/>
            <a:ext cx="10617200" cy="907196"/>
          </a:xfrm>
        </p:spPr>
        <p:txBody>
          <a:bodyPr>
            <a:normAutofit fontScale="90000"/>
          </a:bodyPr>
          <a:lstStyle/>
          <a:p>
            <a:r>
              <a:rPr lang="en-US" dirty="0"/>
              <a:t>First step in evaluation: The confusion matrix</a:t>
            </a:r>
            <a:endParaRPr lang="en-US" dirty="0"/>
          </a:p>
        </p:txBody>
      </p:sp>
      <p:sp>
        <p:nvSpPr>
          <p:cNvPr id="3" name="Content Placeholder 2"/>
          <p:cNvSpPr>
            <a:spLocks noGrp="1"/>
          </p:cNvSpPr>
          <p:nvPr>
            <p:ph idx="1"/>
          </p:nvPr>
        </p:nvSpPr>
        <p:spPr>
          <a:xfrm>
            <a:off x="878840" y="1701800"/>
            <a:ext cx="10993120" cy="4673600"/>
          </a:xfrm>
        </p:spPr>
        <p:txBody>
          <a:bodyPr>
            <a:normAutofit/>
          </a:bodyPr>
          <a:lstStyle/>
          <a:p>
            <a:endParaRPr lang="en-US" dirty="0"/>
          </a:p>
          <a:p>
            <a:endParaRPr lang="en-US" dirty="0"/>
          </a:p>
        </p:txBody>
      </p:sp>
      <p:pic>
        <p:nvPicPr>
          <p:cNvPr id="5" name="Picture 4"/>
          <p:cNvPicPr>
            <a:picLocks noChangeAspect="1"/>
          </p:cNvPicPr>
          <p:nvPr/>
        </p:nvPicPr>
        <p:blipFill>
          <a:blip r:embed="rId1"/>
          <a:srcRect/>
          <a:stretch>
            <a:fillRect/>
          </a:stretch>
        </p:blipFill>
        <p:spPr>
          <a:xfrm>
            <a:off x="711200" y="1913264"/>
            <a:ext cx="10363200" cy="3702323"/>
          </a:xfrm>
          <a:prstGeom prst="rect">
            <a:avLst/>
          </a:prstGeom>
        </p:spPr>
      </p:pic>
      <p:sp>
        <p:nvSpPr>
          <p:cNvPr id="4" name="Rectangle 3"/>
          <p:cNvSpPr/>
          <p:nvPr/>
        </p:nvSpPr>
        <p:spPr>
          <a:xfrm>
            <a:off x="2938780" y="4559808"/>
            <a:ext cx="8534400" cy="1320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ectangle 5"/>
          <p:cNvSpPr/>
          <p:nvPr/>
        </p:nvSpPr>
        <p:spPr>
          <a:xfrm>
            <a:off x="7607808" y="2597865"/>
            <a:ext cx="4028440" cy="23331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82600"/>
            <a:ext cx="10617200" cy="907196"/>
          </a:xfrm>
        </p:spPr>
        <p:txBody>
          <a:bodyPr>
            <a:normAutofit/>
          </a:bodyPr>
          <a:lstStyle/>
          <a:p>
            <a:r>
              <a:rPr lang="en-US" dirty="0"/>
              <a:t>Accuracy on the confusion matrix</a:t>
            </a:r>
            <a:endParaRPr lang="en-US" dirty="0"/>
          </a:p>
        </p:txBody>
      </p:sp>
      <p:sp>
        <p:nvSpPr>
          <p:cNvPr id="3" name="Content Placeholder 2"/>
          <p:cNvSpPr>
            <a:spLocks noGrp="1"/>
          </p:cNvSpPr>
          <p:nvPr>
            <p:ph idx="1"/>
          </p:nvPr>
        </p:nvSpPr>
        <p:spPr>
          <a:xfrm>
            <a:off x="878840" y="1701800"/>
            <a:ext cx="10993120" cy="4673600"/>
          </a:xfrm>
        </p:spPr>
        <p:txBody>
          <a:bodyPr>
            <a:normAutofit/>
          </a:bodyPr>
          <a:lstStyle/>
          <a:p>
            <a:endParaRPr lang="en-US" dirty="0"/>
          </a:p>
          <a:p>
            <a:endParaRPr lang="en-US" dirty="0"/>
          </a:p>
        </p:txBody>
      </p:sp>
      <p:pic>
        <p:nvPicPr>
          <p:cNvPr id="5" name="Picture 4"/>
          <p:cNvPicPr>
            <a:picLocks noChangeAspect="1"/>
          </p:cNvPicPr>
          <p:nvPr/>
        </p:nvPicPr>
        <p:blipFill>
          <a:blip r:embed="rId1"/>
          <a:srcRect/>
          <a:stretch>
            <a:fillRect/>
          </a:stretch>
        </p:blipFill>
        <p:spPr>
          <a:xfrm>
            <a:off x="711200" y="1913264"/>
            <a:ext cx="10363200" cy="3702323"/>
          </a:xfrm>
          <a:prstGeom prst="rect">
            <a:avLst/>
          </a:prstGeom>
        </p:spPr>
      </p:pic>
      <p:sp>
        <p:nvSpPr>
          <p:cNvPr id="4" name="Rectangle 3"/>
          <p:cNvSpPr/>
          <p:nvPr/>
        </p:nvSpPr>
        <p:spPr>
          <a:xfrm>
            <a:off x="2938780" y="4559808"/>
            <a:ext cx="4669028" cy="1320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ectangle 5"/>
          <p:cNvSpPr/>
          <p:nvPr/>
        </p:nvSpPr>
        <p:spPr>
          <a:xfrm>
            <a:off x="7607808" y="2597865"/>
            <a:ext cx="4028440" cy="1961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82600"/>
            <a:ext cx="10617200" cy="907196"/>
          </a:xfrm>
        </p:spPr>
        <p:txBody>
          <a:bodyPr>
            <a:normAutofit/>
          </a:bodyPr>
          <a:lstStyle/>
          <a:p>
            <a:r>
              <a:rPr lang="en-US" dirty="0"/>
              <a:t>Why don't we use accuracy?</a:t>
            </a:r>
            <a:endParaRPr lang="en-US" dirty="0"/>
          </a:p>
        </p:txBody>
      </p:sp>
      <p:sp>
        <p:nvSpPr>
          <p:cNvPr id="3" name="Content Placeholder 2"/>
          <p:cNvSpPr>
            <a:spLocks noGrp="1"/>
          </p:cNvSpPr>
          <p:nvPr>
            <p:ph idx="1"/>
          </p:nvPr>
        </p:nvSpPr>
        <p:spPr>
          <a:xfrm>
            <a:off x="878840" y="1600200"/>
            <a:ext cx="10993120" cy="5257800"/>
          </a:xfrm>
        </p:spPr>
        <p:txBody>
          <a:bodyPr>
            <a:normAutofit fontScale="90000" lnSpcReduction="20000"/>
          </a:bodyPr>
          <a:lstStyle/>
          <a:p>
            <a:pPr marL="0" indent="0">
              <a:buNone/>
            </a:pPr>
            <a:r>
              <a:rPr lang="en-US" sz="3465" dirty="0"/>
              <a:t>Accuracy doesn't work well when we're dealing with uncommon or imbalanced classes</a:t>
            </a:r>
            <a:endParaRPr lang="en-US" sz="3465" dirty="0"/>
          </a:p>
          <a:p>
            <a:pPr marL="0" indent="0">
              <a:buNone/>
            </a:pPr>
            <a:r>
              <a:rPr lang="en-US" sz="3465" dirty="0"/>
              <a:t>Suppose we look at 1,000,000 social media posts to find Delicious Pie-lovers (or haters)</a:t>
            </a:r>
            <a:endParaRPr lang="en-US" sz="3465" dirty="0"/>
          </a:p>
          <a:p>
            <a:pPr lvl="1">
              <a:buFont typeface="Arial" panose="020B0604020202020204" pitchFamily="34" charset="0"/>
              <a:buChar char="•"/>
            </a:pPr>
            <a:r>
              <a:rPr lang="en-US" sz="2935" dirty="0"/>
              <a:t>100 of them talk about our pie</a:t>
            </a:r>
            <a:endParaRPr lang="en-US" sz="2935" dirty="0"/>
          </a:p>
          <a:p>
            <a:pPr lvl="1">
              <a:buFont typeface="Arial" panose="020B0604020202020204" pitchFamily="34" charset="0"/>
              <a:buChar char="•"/>
            </a:pPr>
            <a:r>
              <a:rPr lang="en-US" sz="2935" dirty="0"/>
              <a:t>999,900 are posts about something unrelated</a:t>
            </a:r>
            <a:endParaRPr lang="en-US" sz="2935" dirty="0"/>
          </a:p>
          <a:p>
            <a:pPr marL="0" indent="0">
              <a:buNone/>
            </a:pPr>
            <a:r>
              <a:rPr lang="en-US" sz="3465" dirty="0"/>
              <a:t>Imagine the following simple classifier</a:t>
            </a:r>
            <a:endParaRPr lang="en-US" sz="3465" dirty="0"/>
          </a:p>
          <a:p>
            <a:pPr marL="0" indent="0">
              <a:buNone/>
            </a:pPr>
            <a:r>
              <a:rPr lang="en-US" sz="3465" dirty="0"/>
              <a:t>	</a:t>
            </a:r>
            <a:r>
              <a:rPr lang="en-US" sz="3465" dirty="0">
                <a:solidFill>
                  <a:srgbClr val="0200FF"/>
                </a:solidFill>
              </a:rPr>
              <a:t>Every post is "not about pie"</a:t>
            </a:r>
            <a:endParaRPr lang="en-US" sz="3465" dirty="0">
              <a:latin typeface="Calibri" panose="020F0502020204030204" charset="0"/>
              <a:cs typeface="Calibri" panose="020F0502020204030204" charset="0"/>
            </a:endParaRPr>
          </a:p>
          <a:p>
            <a:pPr marL="0" indent="0">
              <a:buNone/>
            </a:pPr>
            <a:endParaRPr lang="en-US" sz="3465" dirty="0"/>
          </a:p>
          <a:p>
            <a:pPr marL="0" indent="0">
              <a:buNone/>
            </a:pPr>
            <a:endParaRPr lang="en-US" sz="3465" dirty="0"/>
          </a:p>
          <a:p>
            <a:pPr marL="0" indent="0">
              <a:buNone/>
            </a:pPr>
            <a:endParaRPr lang="en-US" sz="2535"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82600"/>
            <a:ext cx="10617200" cy="907196"/>
          </a:xfrm>
        </p:spPr>
        <p:txBody>
          <a:bodyPr>
            <a:normAutofit/>
          </a:bodyPr>
          <a:lstStyle/>
          <a:p>
            <a:r>
              <a:rPr lang="en-US" dirty="0"/>
              <a:t>Accuracy re: pie posts</a:t>
            </a:r>
            <a:endParaRPr lang="en-US" dirty="0"/>
          </a:p>
        </p:txBody>
      </p:sp>
      <p:sp>
        <p:nvSpPr>
          <p:cNvPr id="3" name="Content Placeholder 2"/>
          <p:cNvSpPr>
            <a:spLocks noGrp="1"/>
          </p:cNvSpPr>
          <p:nvPr>
            <p:ph idx="1"/>
          </p:nvPr>
        </p:nvSpPr>
        <p:spPr>
          <a:xfrm>
            <a:off x="878840" y="1701800"/>
            <a:ext cx="10993120" cy="4673600"/>
          </a:xfrm>
        </p:spPr>
        <p:txBody>
          <a:bodyPr>
            <a:normAutofit/>
          </a:bodyPr>
          <a:lstStyle/>
          <a:p>
            <a:endParaRPr lang="en-US" dirty="0"/>
          </a:p>
          <a:p>
            <a:endParaRPr lang="en-US" dirty="0"/>
          </a:p>
        </p:txBody>
      </p:sp>
      <p:pic>
        <p:nvPicPr>
          <p:cNvPr id="5" name="Picture 4"/>
          <p:cNvPicPr>
            <a:picLocks noChangeAspect="1"/>
          </p:cNvPicPr>
          <p:nvPr/>
        </p:nvPicPr>
        <p:blipFill>
          <a:blip r:embed="rId1"/>
          <a:srcRect/>
          <a:stretch>
            <a:fillRect/>
          </a:stretch>
        </p:blipFill>
        <p:spPr>
          <a:xfrm>
            <a:off x="711200" y="1913264"/>
            <a:ext cx="10363200" cy="3702323"/>
          </a:xfrm>
          <a:prstGeom prst="rect">
            <a:avLst/>
          </a:prstGeom>
        </p:spPr>
      </p:pic>
      <p:sp>
        <p:nvSpPr>
          <p:cNvPr id="4" name="Rectangle 3"/>
          <p:cNvSpPr/>
          <p:nvPr/>
        </p:nvSpPr>
        <p:spPr>
          <a:xfrm>
            <a:off x="2938780" y="4559808"/>
            <a:ext cx="4669028" cy="1320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ectangle 5"/>
          <p:cNvSpPr/>
          <p:nvPr/>
        </p:nvSpPr>
        <p:spPr>
          <a:xfrm>
            <a:off x="7607808" y="2597865"/>
            <a:ext cx="4028440" cy="1961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TextBox 6"/>
          <p:cNvSpPr txBox="1"/>
          <p:nvPr/>
        </p:nvSpPr>
        <p:spPr>
          <a:xfrm>
            <a:off x="7028535" y="944336"/>
            <a:ext cx="5041265" cy="460375"/>
          </a:xfrm>
          <a:prstGeom prst="rect">
            <a:avLst/>
          </a:prstGeom>
          <a:noFill/>
        </p:spPr>
        <p:txBody>
          <a:bodyPr wrap="none" rtlCol="0">
            <a:spAutoFit/>
          </a:bodyPr>
          <a:lstStyle/>
          <a:p>
            <a:r>
              <a:rPr lang="en-US" sz="2400" dirty="0">
                <a:latin typeface="Calibri" panose="020F0502020204030204" charset="0"/>
                <a:cs typeface="Calibri" panose="020F0502020204030204" charset="0"/>
              </a:rPr>
              <a:t>100 posts are about pie; 999,900 aren't</a:t>
            </a:r>
            <a:endParaRPr lang="en-US" sz="2400" dirty="0">
              <a:latin typeface="Calibri" panose="020F0502020204030204" charset="0"/>
              <a:cs typeface="Calibri" panose="020F050202020403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82600"/>
            <a:ext cx="10617200" cy="907196"/>
          </a:xfrm>
        </p:spPr>
        <p:txBody>
          <a:bodyPr>
            <a:normAutofit/>
          </a:bodyPr>
          <a:lstStyle/>
          <a:p>
            <a:r>
              <a:rPr lang="en-US" dirty="0"/>
              <a:t>Why don't we use accuracy?</a:t>
            </a:r>
            <a:endParaRPr lang="en-US" dirty="0"/>
          </a:p>
        </p:txBody>
      </p:sp>
      <p:sp>
        <p:nvSpPr>
          <p:cNvPr id="3" name="Content Placeholder 2"/>
          <p:cNvSpPr>
            <a:spLocks noGrp="1"/>
          </p:cNvSpPr>
          <p:nvPr>
            <p:ph idx="1"/>
          </p:nvPr>
        </p:nvSpPr>
        <p:spPr>
          <a:xfrm>
            <a:off x="878840" y="1600200"/>
            <a:ext cx="10993120" cy="5257800"/>
          </a:xfrm>
        </p:spPr>
        <p:txBody>
          <a:bodyPr>
            <a:normAutofit fontScale="90000" lnSpcReduction="20000"/>
          </a:bodyPr>
          <a:lstStyle/>
          <a:p>
            <a:pPr marL="0" indent="0">
              <a:buNone/>
            </a:pPr>
            <a:r>
              <a:rPr lang="en-US" sz="3465" dirty="0"/>
              <a:t>Accuracy of our "nothing is pie" classifier</a:t>
            </a:r>
            <a:endParaRPr lang="en-US" sz="3465" dirty="0"/>
          </a:p>
          <a:p>
            <a:pPr marL="0" indent="0">
              <a:buNone/>
            </a:pPr>
            <a:r>
              <a:rPr lang="en-US" sz="3465" dirty="0"/>
              <a:t>	</a:t>
            </a:r>
            <a:r>
              <a:rPr lang="en-US" sz="3465" dirty="0">
                <a:latin typeface="Calibri" panose="020F0502020204030204" charset="0"/>
                <a:cs typeface="Calibri" panose="020F0502020204030204" charset="0"/>
              </a:rPr>
              <a:t>999,900 true negatives  and 100 false negatives</a:t>
            </a:r>
            <a:endParaRPr lang="en-US" sz="3465" dirty="0">
              <a:latin typeface="Calibri" panose="020F0502020204030204" charset="0"/>
              <a:cs typeface="Calibri" panose="020F0502020204030204" charset="0"/>
            </a:endParaRPr>
          </a:p>
          <a:p>
            <a:pPr marL="0" indent="0">
              <a:buNone/>
            </a:pPr>
            <a:r>
              <a:rPr lang="en-US" sz="3465" dirty="0">
                <a:effectLst/>
                <a:latin typeface="Calibri" panose="020F0502020204030204" charset="0"/>
                <a:cs typeface="Calibri" panose="020F0502020204030204" charset="0"/>
              </a:rPr>
              <a:t>	Accuracy is 999,900/1,000,000 = </a:t>
            </a:r>
            <a:r>
              <a:rPr lang="en-US" sz="3465" dirty="0">
                <a:solidFill>
                  <a:srgbClr val="0200FF"/>
                </a:solidFill>
                <a:effectLst/>
                <a:latin typeface="Calibri" panose="020F0502020204030204" charset="0"/>
                <a:cs typeface="Calibri" panose="020F0502020204030204" charset="0"/>
              </a:rPr>
              <a:t>99.99%</a:t>
            </a:r>
            <a:r>
              <a:rPr lang="en-US" sz="3465" dirty="0">
                <a:effectLst/>
                <a:latin typeface="Calibri" panose="020F0502020204030204" charset="0"/>
                <a:cs typeface="Calibri" panose="020F0502020204030204" charset="0"/>
              </a:rPr>
              <a:t>!</a:t>
            </a:r>
            <a:endParaRPr lang="en-US" sz="3465" dirty="0">
              <a:effectLst/>
              <a:latin typeface="Calibri" panose="020F0502020204030204" charset="0"/>
              <a:cs typeface="Calibri" panose="020F0502020204030204" charset="0"/>
            </a:endParaRPr>
          </a:p>
          <a:p>
            <a:pPr marL="0" indent="0">
              <a:buNone/>
            </a:pPr>
            <a:r>
              <a:rPr lang="en-US" sz="3465" dirty="0">
                <a:effectLst/>
                <a:latin typeface="Calibri" panose="020F0502020204030204" charset="0"/>
                <a:cs typeface="Calibri" panose="020F0502020204030204" charset="0"/>
              </a:rPr>
              <a:t>	But useless at finding pie-lovers (or haters)!!</a:t>
            </a:r>
            <a:endParaRPr lang="en-US" sz="3465" dirty="0">
              <a:effectLst/>
              <a:latin typeface="Calibri" panose="020F0502020204030204" charset="0"/>
              <a:cs typeface="Calibri" panose="020F0502020204030204" charset="0"/>
            </a:endParaRPr>
          </a:p>
          <a:p>
            <a:pPr marL="0" indent="0">
              <a:buNone/>
            </a:pPr>
            <a:r>
              <a:rPr lang="en-US" sz="3465" dirty="0">
                <a:effectLst/>
                <a:latin typeface="Calibri" panose="020F0502020204030204" charset="0"/>
                <a:cs typeface="Calibri" panose="020F0502020204030204" charset="0"/>
              </a:rPr>
              <a:t>	Which was our goal!</a:t>
            </a:r>
            <a:endParaRPr lang="en-US" sz="3465" dirty="0">
              <a:effectLst/>
              <a:latin typeface="Calibri" panose="020F0502020204030204" charset="0"/>
              <a:cs typeface="Calibri" panose="020F0502020204030204" charset="0"/>
            </a:endParaRPr>
          </a:p>
          <a:p>
            <a:pPr marL="0" indent="0">
              <a:buNone/>
            </a:pPr>
            <a:r>
              <a:rPr lang="en-US" sz="3465" dirty="0">
                <a:latin typeface="Calibri" panose="020F0502020204030204" charset="0"/>
                <a:cs typeface="Calibri" panose="020F0502020204030204" charset="0"/>
              </a:rPr>
              <a:t>Accuracy doesn't work well for unbalanced classes </a:t>
            </a:r>
            <a:endParaRPr lang="en-US" sz="3465" dirty="0">
              <a:latin typeface="Calibri" panose="020F0502020204030204" charset="0"/>
              <a:cs typeface="Calibri" panose="020F0502020204030204" charset="0"/>
            </a:endParaRPr>
          </a:p>
          <a:p>
            <a:pPr marL="0" indent="0">
              <a:buNone/>
            </a:pPr>
            <a:r>
              <a:rPr lang="en-US" sz="3465" dirty="0">
                <a:latin typeface="Calibri" panose="020F0502020204030204" charset="0"/>
                <a:cs typeface="Calibri" panose="020F0502020204030204" charset="0"/>
              </a:rPr>
              <a:t>	Most tweets are not about pie!</a:t>
            </a:r>
            <a:endParaRPr lang="en-US" sz="3465" dirty="0">
              <a:latin typeface="Calibri" panose="020F0502020204030204" charset="0"/>
              <a:cs typeface="Calibri" panose="020F0502020204030204" charset="0"/>
            </a:endParaRPr>
          </a:p>
          <a:p>
            <a:pPr marL="0" indent="0">
              <a:buNone/>
            </a:pPr>
            <a:endParaRPr lang="en-US" sz="3465" dirty="0"/>
          </a:p>
          <a:p>
            <a:pPr marL="0" indent="0">
              <a:buNone/>
            </a:pPr>
            <a:endParaRPr lang="en-US" sz="3465" dirty="0"/>
          </a:p>
          <a:p>
            <a:pPr marL="0" indent="0">
              <a:buNone/>
            </a:pPr>
            <a:endParaRPr lang="en-US" sz="2535"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82600"/>
            <a:ext cx="10617200" cy="907196"/>
          </a:xfrm>
        </p:spPr>
        <p:txBody>
          <a:bodyPr>
            <a:normAutofit fontScale="90000"/>
          </a:bodyPr>
          <a:lstStyle/>
          <a:p>
            <a:r>
              <a:rPr lang="en-US" dirty="0"/>
              <a:t>Instead of accuracy we use precision and recall</a:t>
            </a:r>
            <a:endParaRPr lang="en-US" dirty="0"/>
          </a:p>
        </p:txBody>
      </p:sp>
      <p:pic>
        <p:nvPicPr>
          <p:cNvPr id="5" name="Picture 4"/>
          <p:cNvPicPr>
            <a:picLocks noChangeAspect="1"/>
          </p:cNvPicPr>
          <p:nvPr/>
        </p:nvPicPr>
        <p:blipFill>
          <a:blip r:embed="rId1"/>
          <a:srcRect/>
          <a:stretch>
            <a:fillRect/>
          </a:stretch>
        </p:blipFill>
        <p:spPr>
          <a:xfrm>
            <a:off x="2235199" y="1396869"/>
            <a:ext cx="8869881" cy="3168824"/>
          </a:xfrm>
          <a:prstGeom prst="rect">
            <a:avLst/>
          </a:prstGeom>
        </p:spPr>
      </p:pic>
      <p:sp>
        <p:nvSpPr>
          <p:cNvPr id="10" name="Content Placeholder 2"/>
          <p:cNvSpPr>
            <a:spLocks noGrp="1"/>
          </p:cNvSpPr>
          <p:nvPr>
            <p:ph idx="1"/>
          </p:nvPr>
        </p:nvSpPr>
        <p:spPr>
          <a:xfrm>
            <a:off x="878840" y="4851400"/>
            <a:ext cx="10993120" cy="1320800"/>
          </a:xfrm>
        </p:spPr>
        <p:txBody>
          <a:bodyPr>
            <a:normAutofit fontScale="90000" lnSpcReduction="20000"/>
          </a:bodyPr>
          <a:lstStyle/>
          <a:p>
            <a:pPr marL="0" indent="0">
              <a:buNone/>
            </a:pPr>
            <a:r>
              <a:rPr lang="en-US" sz="3200" b="1" dirty="0">
                <a:latin typeface="Calibri" panose="020F0502020204030204" charset="0"/>
                <a:cs typeface="Calibri" panose="020F0502020204030204" charset="0"/>
              </a:rPr>
              <a:t>Precision</a:t>
            </a:r>
            <a:r>
              <a:rPr lang="en-US" sz="3200" dirty="0">
                <a:latin typeface="Calibri" panose="020F0502020204030204" charset="0"/>
                <a:cs typeface="Calibri" panose="020F0502020204030204" charset="0"/>
              </a:rPr>
              <a:t>: % of selected items that are correct</a:t>
            </a:r>
            <a:endParaRPr lang="en-US" sz="3200" dirty="0">
              <a:latin typeface="Calibri" panose="020F0502020204030204" charset="0"/>
              <a:cs typeface="Calibri" panose="020F0502020204030204" charset="0"/>
            </a:endParaRPr>
          </a:p>
          <a:p>
            <a:pPr marL="0" indent="0">
              <a:buNone/>
            </a:pPr>
            <a:r>
              <a:rPr lang="en-US" sz="3200" b="1" dirty="0">
                <a:latin typeface="Calibri" panose="020F0502020204030204" charset="0"/>
                <a:cs typeface="Calibri" panose="020F0502020204030204" charset="0"/>
              </a:rPr>
              <a:t>Recall</a:t>
            </a:r>
            <a:r>
              <a:rPr lang="en-US" sz="3200" dirty="0">
                <a:latin typeface="Calibri" panose="020F0502020204030204" charset="0"/>
                <a:cs typeface="Calibri" panose="020F0502020204030204" charset="0"/>
              </a:rPr>
              <a:t>: % of correct items that are selected</a:t>
            </a:r>
            <a:endParaRPr lang="en-US" sz="3200" dirty="0">
              <a:latin typeface="Calibri" panose="020F0502020204030204" charset="0"/>
              <a:cs typeface="Calibri" panose="020F0502020204030204" charset="0"/>
            </a:endParaRP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82600"/>
            <a:ext cx="10617200" cy="907196"/>
          </a:xfrm>
        </p:spPr>
        <p:txBody>
          <a:bodyPr>
            <a:normAutofit fontScale="90000"/>
          </a:bodyPr>
          <a:lstStyle/>
          <a:p>
            <a:r>
              <a:rPr lang="en-US" dirty="0"/>
              <a:t>Precision/Recall aren't fooled by </a:t>
            </a:r>
            <a:r>
              <a:rPr lang="en-US" dirty="0" err="1"/>
              <a:t>the"just</a:t>
            </a:r>
            <a:r>
              <a:rPr lang="en-US" dirty="0"/>
              <a:t> call everything negative" classifier!</a:t>
            </a:r>
            <a:endParaRPr lang="en-US" dirty="0"/>
          </a:p>
        </p:txBody>
      </p:sp>
      <p:sp>
        <p:nvSpPr>
          <p:cNvPr id="3" name="Content Placeholder 2"/>
          <p:cNvSpPr>
            <a:spLocks noGrp="1"/>
          </p:cNvSpPr>
          <p:nvPr>
            <p:ph idx="1"/>
          </p:nvPr>
        </p:nvSpPr>
        <p:spPr>
          <a:xfrm>
            <a:off x="878840" y="1600200"/>
            <a:ext cx="10993120" cy="5257800"/>
          </a:xfrm>
        </p:spPr>
        <p:txBody>
          <a:bodyPr>
            <a:normAutofit/>
          </a:bodyPr>
          <a:lstStyle/>
          <a:p>
            <a:pPr marL="0" indent="0">
              <a:buNone/>
            </a:pPr>
            <a:r>
              <a:rPr lang="en-US" sz="3465" dirty="0">
                <a:solidFill>
                  <a:schemeClr val="tx1"/>
                </a:solidFill>
                <a:latin typeface="Calibri" panose="020F0502020204030204" charset="0"/>
                <a:cs typeface="Calibri" panose="020F0502020204030204" charset="0"/>
              </a:rPr>
              <a:t>Stupid classifier: Just say no: every tweet is "not about pie"</a:t>
            </a:r>
            <a:endParaRPr lang="en-US" sz="3465" dirty="0">
              <a:solidFill>
                <a:schemeClr val="tx1"/>
              </a:solidFill>
              <a:latin typeface="Calibri" panose="020F0502020204030204" charset="0"/>
              <a:cs typeface="Calibri" panose="020F0502020204030204" charset="0"/>
            </a:endParaRPr>
          </a:p>
          <a:p>
            <a:pPr marL="180975" indent="-180975">
              <a:buFont typeface="Arial" panose="020B0604020202020204" pitchFamily="34" charset="0"/>
              <a:buChar char="•"/>
            </a:pPr>
            <a:r>
              <a:rPr lang="en-US" sz="3200" dirty="0">
                <a:solidFill>
                  <a:schemeClr val="tx1"/>
                </a:solidFill>
                <a:latin typeface="Calibri" panose="020F0502020204030204" charset="0"/>
                <a:cs typeface="Calibri" panose="020F0502020204030204" charset="0"/>
              </a:rPr>
              <a:t>100 tweets  talk about pie,   999,900 tweets don't</a:t>
            </a:r>
            <a:endParaRPr lang="en-US" sz="3200" dirty="0">
              <a:solidFill>
                <a:schemeClr val="tx1"/>
              </a:solidFill>
              <a:latin typeface="Calibri" panose="020F0502020204030204" charset="0"/>
              <a:cs typeface="Calibri" panose="020F0502020204030204" charset="0"/>
            </a:endParaRPr>
          </a:p>
          <a:p>
            <a:pPr marL="180975" indent="-180975">
              <a:buFont typeface="Arial" panose="020B0604020202020204" pitchFamily="34" charset="0"/>
              <a:buChar char="•"/>
            </a:pPr>
            <a:r>
              <a:rPr lang="en-US" sz="3200" dirty="0">
                <a:effectLst/>
                <a:latin typeface="Calibri" panose="020F0502020204030204" charset="0"/>
                <a:cs typeface="Calibri" panose="020F0502020204030204" charset="0"/>
              </a:rPr>
              <a:t>Accuracy = 999,900/1,000,000 = </a:t>
            </a:r>
            <a:r>
              <a:rPr lang="en-US" sz="3200" dirty="0">
                <a:solidFill>
                  <a:srgbClr val="0200FF"/>
                </a:solidFill>
                <a:effectLst/>
                <a:latin typeface="Calibri" panose="020F0502020204030204" charset="0"/>
                <a:cs typeface="Calibri" panose="020F0502020204030204" charset="0"/>
              </a:rPr>
              <a:t>99.99%</a:t>
            </a:r>
            <a:endParaRPr lang="en-US" sz="3200" dirty="0">
              <a:effectLst/>
              <a:latin typeface="Calibri" panose="020F0502020204030204" charset="0"/>
              <a:cs typeface="Calibri" panose="020F0502020204030204" charset="0"/>
            </a:endParaRPr>
          </a:p>
          <a:p>
            <a:pPr marL="0" indent="0">
              <a:buNone/>
            </a:pPr>
            <a:r>
              <a:rPr lang="en-US" sz="3465" dirty="0">
                <a:latin typeface="Calibri" panose="020F0502020204030204" charset="0"/>
                <a:cs typeface="Calibri" panose="020F0502020204030204" charset="0"/>
              </a:rPr>
              <a:t>But the Recall and Precision for this classifier are terrible:</a:t>
            </a:r>
            <a:endParaRPr lang="en-US" sz="3465" dirty="0">
              <a:effectLst/>
              <a:latin typeface="Calibri" panose="020F0502020204030204" charset="0"/>
              <a:cs typeface="Calibri" panose="020F0502020204030204" charset="0"/>
            </a:endParaRPr>
          </a:p>
          <a:p>
            <a:pPr marL="0" indent="0">
              <a:buNone/>
            </a:pPr>
            <a:endParaRPr lang="en-US" sz="3465" dirty="0"/>
          </a:p>
          <a:p>
            <a:pPr marL="0" indent="0">
              <a:buNone/>
            </a:pPr>
            <a:endParaRPr lang="en-US" sz="3465" dirty="0"/>
          </a:p>
          <a:p>
            <a:pPr marL="0" indent="0">
              <a:buNone/>
            </a:pPr>
            <a:endParaRPr lang="en-US" sz="2535" dirty="0"/>
          </a:p>
          <a:p>
            <a:endParaRPr lang="en-US" dirty="0"/>
          </a:p>
        </p:txBody>
      </p:sp>
      <p:pic>
        <p:nvPicPr>
          <p:cNvPr id="5" name="Picture 4"/>
          <p:cNvPicPr>
            <a:picLocks noChangeAspect="1"/>
          </p:cNvPicPr>
          <p:nvPr/>
        </p:nvPicPr>
        <p:blipFill>
          <a:blip r:embed="rId1"/>
          <a:stretch>
            <a:fillRect/>
          </a:stretch>
        </p:blipFill>
        <p:spPr>
          <a:xfrm>
            <a:off x="1727200" y="4326467"/>
            <a:ext cx="6268589" cy="931333"/>
          </a:xfrm>
          <a:prstGeom prst="rect">
            <a:avLst/>
          </a:prstGeom>
        </p:spPr>
      </p:pic>
      <p:pic>
        <p:nvPicPr>
          <p:cNvPr id="7" name="Picture 6"/>
          <p:cNvPicPr>
            <a:picLocks noChangeAspect="1"/>
          </p:cNvPicPr>
          <p:nvPr/>
        </p:nvPicPr>
        <p:blipFill>
          <a:blip r:embed="rId2"/>
          <a:stretch>
            <a:fillRect/>
          </a:stretch>
        </p:blipFill>
        <p:spPr>
          <a:xfrm>
            <a:off x="1625600" y="5562600"/>
            <a:ext cx="5960533" cy="9536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p:txBody>
          <a:bodyPr/>
          <a:lstStyle/>
          <a:p>
            <a:r>
              <a:rPr lang="en-US" dirty="0"/>
              <a:t>A combined measure: F1</a:t>
            </a:r>
            <a:endParaRPr lang="en-US" dirty="0"/>
          </a:p>
        </p:txBody>
      </p:sp>
      <p:sp>
        <p:nvSpPr>
          <p:cNvPr id="67586" name="Rectangle 3"/>
          <p:cNvSpPr>
            <a:spLocks noGrp="1" noChangeArrowheads="1"/>
          </p:cNvSpPr>
          <p:nvPr>
            <p:ph type="body" idx="1"/>
          </p:nvPr>
        </p:nvSpPr>
        <p:spPr/>
        <p:txBody>
          <a:bodyPr>
            <a:normAutofit/>
          </a:bodyPr>
          <a:lstStyle/>
          <a:p>
            <a:r>
              <a:rPr lang="en-US" dirty="0"/>
              <a:t>F1 is a  combination of precision and recall.</a:t>
            </a:r>
            <a:endParaRPr lang="en-US" dirty="0"/>
          </a:p>
          <a:p>
            <a:endParaRPr lang="en-US" dirty="0"/>
          </a:p>
          <a:p>
            <a:endParaRPr lang="en-US" dirty="0"/>
          </a:p>
          <a:p>
            <a:endParaRPr lang="en-US" dirty="0"/>
          </a:p>
        </p:txBody>
      </p:sp>
      <p:pic>
        <p:nvPicPr>
          <p:cNvPr id="3" name="Picture 2"/>
          <p:cNvPicPr>
            <a:picLocks noChangeAspect="1"/>
          </p:cNvPicPr>
          <p:nvPr/>
        </p:nvPicPr>
        <p:blipFill>
          <a:blip r:embed="rId1"/>
          <a:stretch>
            <a:fillRect/>
          </a:stretch>
        </p:blipFill>
        <p:spPr>
          <a:xfrm>
            <a:off x="3759200" y="2921000"/>
            <a:ext cx="3533912" cy="1625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p:txBody>
          <a:bodyPr>
            <a:normAutofit fontScale="90000"/>
          </a:bodyPr>
          <a:lstStyle/>
          <a:p>
            <a:r>
              <a:rPr lang="en-US" dirty="0"/>
              <a:t>F1 is a special case of the general "F-measure"</a:t>
            </a:r>
            <a:endParaRPr lang="en-US" dirty="0"/>
          </a:p>
        </p:txBody>
      </p:sp>
      <p:sp>
        <p:nvSpPr>
          <p:cNvPr id="67586" name="Rectangle 3"/>
          <p:cNvSpPr>
            <a:spLocks noGrp="1" noChangeArrowheads="1"/>
          </p:cNvSpPr>
          <p:nvPr>
            <p:ph type="body" idx="1"/>
          </p:nvPr>
        </p:nvSpPr>
        <p:spPr>
          <a:xfrm>
            <a:off x="1097280" y="1600200"/>
            <a:ext cx="10586720" cy="4876800"/>
          </a:xfrm>
        </p:spPr>
        <p:txBody>
          <a:bodyPr>
            <a:normAutofit/>
          </a:bodyPr>
          <a:lstStyle/>
          <a:p>
            <a:pPr marL="0" indent="0">
              <a:buNone/>
            </a:pPr>
            <a:r>
              <a:rPr lang="en-US" dirty="0"/>
              <a:t>F-measure is the (weighted) harmonic mean of precision and recall</a:t>
            </a: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F1 is a special case of F-measure with β=1, α=½</a:t>
            </a:r>
            <a:endParaRPr lang="en-US" dirty="0"/>
          </a:p>
        </p:txBody>
      </p:sp>
      <p:pic>
        <p:nvPicPr>
          <p:cNvPr id="3" name="Picture 2"/>
          <p:cNvPicPr>
            <a:picLocks noChangeAspect="1"/>
          </p:cNvPicPr>
          <p:nvPr/>
        </p:nvPicPr>
        <p:blipFill>
          <a:blip r:embed="rId1"/>
          <a:stretch>
            <a:fillRect/>
          </a:stretch>
        </p:blipFill>
        <p:spPr>
          <a:xfrm>
            <a:off x="1524000" y="4154589"/>
            <a:ext cx="8852096" cy="987223"/>
          </a:xfrm>
          <a:prstGeom prst="rect">
            <a:avLst/>
          </a:prstGeom>
        </p:spPr>
      </p:pic>
      <p:pic>
        <p:nvPicPr>
          <p:cNvPr id="5" name="Picture 4"/>
          <p:cNvPicPr>
            <a:picLocks noChangeAspect="1"/>
          </p:cNvPicPr>
          <p:nvPr/>
        </p:nvPicPr>
        <p:blipFill>
          <a:blip r:embed="rId2"/>
          <a:stretch>
            <a:fillRect/>
          </a:stretch>
        </p:blipFill>
        <p:spPr>
          <a:xfrm>
            <a:off x="1523999" y="2819401"/>
            <a:ext cx="8567695" cy="98722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Suppose we have more than 2 classes?</a:t>
            </a:r>
            <a:endParaRPr lang="en-US" dirty="0"/>
          </a:p>
        </p:txBody>
      </p:sp>
      <p:sp>
        <p:nvSpPr>
          <p:cNvPr id="3" name="Content Placeholder 2"/>
          <p:cNvSpPr>
            <a:spLocks noGrp="1"/>
          </p:cNvSpPr>
          <p:nvPr>
            <p:ph idx="1"/>
          </p:nvPr>
        </p:nvSpPr>
        <p:spPr>
          <a:xfrm>
            <a:off x="1097280" y="1600200"/>
            <a:ext cx="10586720" cy="4572000"/>
          </a:xfrm>
        </p:spPr>
        <p:txBody>
          <a:bodyPr>
            <a:normAutofit/>
          </a:bodyPr>
          <a:lstStyle/>
          <a:p>
            <a:r>
              <a:rPr lang="en-US" sz="2400" dirty="0">
                <a:latin typeface="NimbusRomNo9L"/>
              </a:rPr>
              <a:t>Lots of </a:t>
            </a:r>
            <a:r>
              <a:rPr lang="en-US" sz="2400" dirty="0">
                <a:effectLst/>
                <a:latin typeface="NimbusRomNo9L"/>
              </a:rPr>
              <a:t>text classification tasks have more than two classes.</a:t>
            </a:r>
            <a:endParaRPr lang="en-US" sz="2400" dirty="0">
              <a:effectLst/>
              <a:latin typeface="NimbusRomNo9L"/>
            </a:endParaRPr>
          </a:p>
          <a:p>
            <a:pPr lvl="1"/>
            <a:r>
              <a:rPr lang="en-US" sz="1865" dirty="0">
                <a:effectLst/>
                <a:latin typeface="NimbusRomNo9L"/>
              </a:rPr>
              <a:t>Sentiment analysis (positive, negative, neutral) , named entities (person, location, organization)</a:t>
            </a:r>
            <a:endParaRPr lang="en-US" sz="1865" dirty="0">
              <a:effectLst/>
              <a:latin typeface="NimbusRomNo9L"/>
            </a:endParaRPr>
          </a:p>
          <a:p>
            <a:r>
              <a:rPr lang="en-US" sz="2400" dirty="0">
                <a:latin typeface="NimbusRomNo9L"/>
              </a:rPr>
              <a:t>We can define precision and recall for multiple classes like this 3-way email task:</a:t>
            </a:r>
            <a:endParaRPr lang="en-US" sz="2400" dirty="0">
              <a:latin typeface="NimbusRomNo9L"/>
            </a:endParaRPr>
          </a:p>
          <a:p>
            <a:endParaRPr lang="en-US" dirty="0"/>
          </a:p>
        </p:txBody>
      </p:sp>
      <p:pic>
        <p:nvPicPr>
          <p:cNvPr id="5" name="Picture 4"/>
          <p:cNvPicPr>
            <a:picLocks noChangeAspect="1"/>
          </p:cNvPicPr>
          <p:nvPr/>
        </p:nvPicPr>
        <p:blipFill>
          <a:blip r:embed="rId1"/>
          <a:stretch>
            <a:fillRect/>
          </a:stretch>
        </p:blipFill>
        <p:spPr>
          <a:xfrm>
            <a:off x="4733925" y="1842770"/>
            <a:ext cx="6400800" cy="31721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482600"/>
            <a:ext cx="10789920" cy="907196"/>
          </a:xfrm>
        </p:spPr>
        <p:txBody>
          <a:bodyPr>
            <a:normAutofit fontScale="90000"/>
          </a:bodyPr>
          <a:lstStyle/>
          <a:p>
            <a:r>
              <a:rPr lang="en-US" dirty="0"/>
              <a:t>How to combine P/R values for different classes:</a:t>
            </a:r>
            <a:br>
              <a:rPr lang="en-US" dirty="0"/>
            </a:br>
            <a:r>
              <a:rPr lang="en-US" dirty="0" err="1"/>
              <a:t>Microaveraging</a:t>
            </a:r>
            <a:r>
              <a:rPr lang="en-US" dirty="0"/>
              <a:t> vs </a:t>
            </a:r>
            <a:r>
              <a:rPr lang="en-US" dirty="0" err="1"/>
              <a:t>Macroaveraging</a:t>
            </a:r>
            <a:endParaRPr lang="en-US" dirty="0"/>
          </a:p>
        </p:txBody>
      </p:sp>
      <p:pic>
        <p:nvPicPr>
          <p:cNvPr id="5" name="Content Placeholder 4"/>
          <p:cNvPicPr>
            <a:picLocks noGrp="1" noChangeAspect="1"/>
          </p:cNvPicPr>
          <p:nvPr>
            <p:ph idx="1"/>
          </p:nvPr>
        </p:nvPicPr>
        <p:blipFill>
          <a:blip r:embed="rId1"/>
          <a:stretch>
            <a:fillRect/>
          </a:stretch>
        </p:blipFill>
        <p:spPr>
          <a:xfrm>
            <a:off x="1096433" y="2145921"/>
            <a:ext cx="10058400" cy="3480557"/>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6"/>
          <p:cNvSpPr>
            <a:spLocks noGrp="1" noChangeArrowheads="1"/>
          </p:cNvSpPr>
          <p:nvPr>
            <p:ph idx="1"/>
          </p:nvPr>
        </p:nvSpPr>
        <p:spPr>
          <a:xfrm>
            <a:off x="4470400" y="251459"/>
            <a:ext cx="7721600" cy="5257800"/>
          </a:xfrm>
        </p:spPr>
        <p:txBody>
          <a:bodyPr>
            <a:normAutofit/>
          </a:bodyPr>
          <a:lstStyle/>
          <a:p>
            <a:pPr eaLnBrk="1" hangingPunct="1">
              <a:buFont typeface="Times" charset="0"/>
              <a:buNone/>
            </a:pPr>
            <a:r>
              <a:rPr lang="en-US" sz="4535" dirty="0">
                <a:solidFill>
                  <a:srgbClr val="A4001D"/>
                </a:solidFill>
                <a:latin typeface="Calibri" panose="020F0502020204030204"/>
                <a:ea typeface="MS PGothic" panose="020B0600070205080204" charset="-128"/>
                <a:cs typeface="Calibri" panose="020F0502020204030204"/>
              </a:rPr>
              <a:t>Avoiding Harms in Classification</a:t>
            </a:r>
            <a:endParaRPr lang="en-US" sz="4535" dirty="0">
              <a:solidFill>
                <a:srgbClr val="A4001D"/>
              </a:solidFill>
              <a:latin typeface="Calibri" panose="020F0502020204030204"/>
              <a:ea typeface="MS PGothic" panose="020B0600070205080204" charset="-128"/>
              <a:cs typeface="Calibri" panose="020F0502020204030204"/>
            </a:endParaRPr>
          </a:p>
        </p:txBody>
      </p:sp>
      <p:sp>
        <p:nvSpPr>
          <p:cNvPr id="2" name="Text Placeholder 1"/>
          <p:cNvSpPr>
            <a:spLocks noGrp="1"/>
          </p:cNvSpPr>
          <p:nvPr>
            <p:ph type="body" sz="half" idx="2"/>
          </p:nvPr>
        </p:nvSpPr>
        <p:spPr/>
        <p:txBody>
          <a:bodyPr/>
          <a:lstStyle/>
          <a:p>
            <a:endParaRPr lang="en-US"/>
          </a:p>
        </p:txBody>
      </p:sp>
      <p:sp>
        <p:nvSpPr>
          <p:cNvPr id="4" name="Rectangle 5"/>
          <p:cNvSpPr>
            <a:spLocks noGrp="1" noChangeArrowheads="1"/>
          </p:cNvSpPr>
          <p:nvPr>
            <p:ph type="title"/>
          </p:nvPr>
        </p:nvSpPr>
        <p:spPr>
          <a:xfrm>
            <a:off x="112395" y="594360"/>
            <a:ext cx="3907155" cy="2286000"/>
          </a:xfrm>
        </p:spPr>
        <p:txBody>
          <a:bodyPr>
            <a:noAutofit/>
          </a:bodyPr>
          <a:lstStyle/>
          <a:p>
            <a:r>
              <a:rPr lang="en-US" sz="4535">
                <a:latin typeface="Calibri (Headings)"/>
                <a:cs typeface="Calibri (Headings)"/>
              </a:rPr>
              <a:t>Classification</a:t>
            </a:r>
            <a:endParaRPr lang="en-US" sz="4535">
              <a:latin typeface="Calibri (Headings)"/>
              <a:ea typeface="MS PGothic" panose="020B0600070205080204" charset="-128"/>
              <a:cs typeface="Calibri (Headings)"/>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82600"/>
            <a:ext cx="10617200" cy="907196"/>
          </a:xfrm>
        </p:spPr>
        <p:txBody>
          <a:bodyPr>
            <a:normAutofit/>
          </a:bodyPr>
          <a:lstStyle/>
          <a:p>
            <a:r>
              <a:rPr lang="en-US" dirty="0"/>
              <a:t>Harms of classification</a:t>
            </a:r>
            <a:endParaRPr lang="en-US" dirty="0"/>
          </a:p>
        </p:txBody>
      </p:sp>
      <p:sp>
        <p:nvSpPr>
          <p:cNvPr id="3" name="Content Placeholder 2"/>
          <p:cNvSpPr>
            <a:spLocks noGrp="1"/>
          </p:cNvSpPr>
          <p:nvPr>
            <p:ph idx="1"/>
          </p:nvPr>
        </p:nvSpPr>
        <p:spPr>
          <a:xfrm>
            <a:off x="878840" y="1600200"/>
            <a:ext cx="10093960" cy="4267200"/>
          </a:xfrm>
        </p:spPr>
        <p:txBody>
          <a:bodyPr>
            <a:normAutofit/>
          </a:bodyPr>
          <a:lstStyle/>
          <a:p>
            <a:pPr marL="0" indent="0">
              <a:buNone/>
            </a:pPr>
            <a:r>
              <a:rPr lang="en-US" sz="3465" dirty="0">
                <a:solidFill>
                  <a:schemeClr val="tx1"/>
                </a:solidFill>
                <a:latin typeface="Calibri" panose="020F0502020204030204" charset="0"/>
                <a:cs typeface="Calibri" panose="020F0502020204030204" charset="0"/>
              </a:rPr>
              <a:t>Classifiers, like any NLP algorithm, can cause harms</a:t>
            </a:r>
            <a:endParaRPr lang="en-US" sz="3465" dirty="0">
              <a:solidFill>
                <a:schemeClr val="tx1"/>
              </a:solidFill>
              <a:latin typeface="Calibri" panose="020F0502020204030204" charset="0"/>
              <a:cs typeface="Calibri" panose="020F0502020204030204" charset="0"/>
            </a:endParaRPr>
          </a:p>
          <a:p>
            <a:pPr marL="0" indent="0">
              <a:buNone/>
            </a:pPr>
            <a:r>
              <a:rPr lang="en-US" sz="3465" dirty="0">
                <a:solidFill>
                  <a:schemeClr val="tx1"/>
                </a:solidFill>
                <a:latin typeface="Calibri" panose="020F0502020204030204" charset="0"/>
                <a:cs typeface="Calibri" panose="020F0502020204030204" charset="0"/>
              </a:rPr>
              <a:t>This is true for any classifier, whether Naive Bayes or other algorithms</a:t>
            </a:r>
            <a:endParaRPr lang="en-US" sz="3465" dirty="0">
              <a:solidFill>
                <a:schemeClr val="tx1"/>
              </a:solidFill>
              <a:latin typeface="Calibri" panose="020F0502020204030204" charset="0"/>
              <a:cs typeface="Calibri" panose="020F0502020204030204" charset="0"/>
            </a:endParaRPr>
          </a:p>
          <a:p>
            <a:pPr marL="0" indent="0">
              <a:buNone/>
            </a:pPr>
            <a:endParaRPr lang="en-US" sz="3465" dirty="0">
              <a:effectLst/>
              <a:latin typeface="Calibri" panose="020F0502020204030204" charset="0"/>
              <a:cs typeface="Calibri" panose="020F0502020204030204" charset="0"/>
            </a:endParaRPr>
          </a:p>
          <a:p>
            <a:pPr marL="0" indent="0">
              <a:buNone/>
            </a:pPr>
            <a:endParaRPr lang="en-US" sz="3465" dirty="0"/>
          </a:p>
          <a:p>
            <a:pPr marL="0" indent="0">
              <a:buNone/>
            </a:pPr>
            <a:endParaRPr lang="en-US" sz="3465" dirty="0"/>
          </a:p>
          <a:p>
            <a:pPr marL="0" indent="0">
              <a:buNone/>
            </a:pPr>
            <a:endParaRPr lang="en-US" sz="2535"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Representational Harms</a:t>
            </a:r>
            <a:endParaRPr lang="en-US" dirty="0"/>
          </a:p>
        </p:txBody>
      </p:sp>
      <p:sp>
        <p:nvSpPr>
          <p:cNvPr id="3" name="Content Placeholder 2"/>
          <p:cNvSpPr>
            <a:spLocks noGrp="1"/>
          </p:cNvSpPr>
          <p:nvPr>
            <p:ph idx="1"/>
          </p:nvPr>
        </p:nvSpPr>
        <p:spPr>
          <a:xfrm>
            <a:off x="1097280" y="1295400"/>
            <a:ext cx="10586720" cy="5689600"/>
          </a:xfrm>
        </p:spPr>
        <p:txBody>
          <a:bodyPr>
            <a:normAutofit fontScale="52500"/>
          </a:bodyPr>
          <a:lstStyle/>
          <a:p>
            <a:pPr marL="285750" indent="-285750">
              <a:buFont typeface="Arial" panose="020B0604020202020204" pitchFamily="34" charset="0"/>
              <a:buChar char="•"/>
            </a:pPr>
            <a:r>
              <a:rPr lang="en-US" sz="3200" dirty="0">
                <a:effectLst/>
                <a:latin typeface="Calibri" panose="020F0502020204030204" charset="0"/>
                <a:cs typeface="Calibri" panose="020F0502020204030204" charset="0"/>
              </a:rPr>
              <a:t>Harms caused by a system that demeans a social group</a:t>
            </a:r>
            <a:endParaRPr lang="en-US" sz="3200" dirty="0">
              <a:effectLst/>
              <a:latin typeface="Calibri" panose="020F0502020204030204" charset="0"/>
              <a:cs typeface="Calibri" panose="020F0502020204030204" charset="0"/>
            </a:endParaRPr>
          </a:p>
          <a:p>
            <a:pPr marL="682625" lvl="1" indent="-285750">
              <a:buFont typeface="Arial" panose="020B0604020202020204" pitchFamily="34" charset="0"/>
              <a:buChar char="•"/>
            </a:pPr>
            <a:r>
              <a:rPr lang="en-US" sz="2665" dirty="0">
                <a:effectLst/>
                <a:latin typeface="Calibri" panose="020F0502020204030204" charset="0"/>
                <a:cs typeface="Calibri" panose="020F0502020204030204" charset="0"/>
              </a:rPr>
              <a:t>Such as by perpetuating negative stereotypes about them. </a:t>
            </a:r>
            <a:endParaRPr lang="en-US" sz="2665" dirty="0">
              <a:effectLst/>
              <a:latin typeface="Calibri" panose="020F0502020204030204" charset="0"/>
              <a:cs typeface="Calibri" panose="020F0502020204030204" charset="0"/>
            </a:endParaRPr>
          </a:p>
          <a:p>
            <a:pPr marL="285750" indent="-285750">
              <a:buFont typeface="Arial" panose="020B0604020202020204" pitchFamily="34" charset="0"/>
              <a:buChar char="•"/>
            </a:pPr>
            <a:r>
              <a:rPr lang="en-US" sz="3200" dirty="0" err="1">
                <a:latin typeface="Calibri" panose="020F0502020204030204" charset="0"/>
                <a:cs typeface="Calibri" panose="020F0502020204030204" charset="0"/>
              </a:rPr>
              <a:t>Kiritchenko</a:t>
            </a:r>
            <a:r>
              <a:rPr lang="en-US" sz="3200" dirty="0">
                <a:latin typeface="Calibri" panose="020F0502020204030204" charset="0"/>
                <a:cs typeface="Calibri" panose="020F0502020204030204" charset="0"/>
              </a:rPr>
              <a:t> and Mohammad 2018 study</a:t>
            </a:r>
            <a:endParaRPr lang="en-US" sz="3200" dirty="0">
              <a:latin typeface="Calibri" panose="020F0502020204030204" charset="0"/>
              <a:cs typeface="Calibri" panose="020F0502020204030204" charset="0"/>
            </a:endParaRPr>
          </a:p>
          <a:p>
            <a:pPr marL="682625" lvl="1" indent="-285750">
              <a:buFont typeface="Arial" panose="020B0604020202020204" pitchFamily="34" charset="0"/>
              <a:buChar char="•"/>
            </a:pPr>
            <a:r>
              <a:rPr lang="en-US" sz="2665" dirty="0">
                <a:effectLst/>
                <a:latin typeface="Calibri" panose="020F0502020204030204" charset="0"/>
                <a:cs typeface="Calibri" panose="020F0502020204030204" charset="0"/>
              </a:rPr>
              <a:t>Examined 200 </a:t>
            </a:r>
            <a:r>
              <a:rPr lang="en-US" sz="2665" dirty="0">
                <a:solidFill>
                  <a:srgbClr val="0200FF"/>
                </a:solidFill>
                <a:effectLst/>
                <a:latin typeface="Calibri" panose="020F0502020204030204" charset="0"/>
                <a:cs typeface="Calibri" panose="020F0502020204030204" charset="0"/>
              </a:rPr>
              <a:t>sentiment </a:t>
            </a:r>
            <a:r>
              <a:rPr lang="en-US" sz="2665" dirty="0">
                <a:solidFill>
                  <a:srgbClr val="0200FF"/>
                </a:solidFill>
                <a:latin typeface="Calibri" panose="020F0502020204030204" charset="0"/>
                <a:cs typeface="Calibri" panose="020F0502020204030204" charset="0"/>
              </a:rPr>
              <a:t>analysis </a:t>
            </a:r>
            <a:r>
              <a:rPr lang="en-US" sz="2665" dirty="0">
                <a:latin typeface="Calibri" panose="020F0502020204030204" charset="0"/>
                <a:cs typeface="Calibri" panose="020F0502020204030204" charset="0"/>
              </a:rPr>
              <a:t>systems on pairs of sentences</a:t>
            </a:r>
            <a:endParaRPr lang="en-US" sz="2665" dirty="0">
              <a:latin typeface="Calibri" panose="020F0502020204030204" charset="0"/>
              <a:cs typeface="Calibri" panose="020F0502020204030204" charset="0"/>
            </a:endParaRPr>
          </a:p>
          <a:p>
            <a:pPr marL="682625" lvl="1" indent="-285750">
              <a:buFont typeface="Arial" panose="020B0604020202020204" pitchFamily="34" charset="0"/>
              <a:buChar char="•"/>
            </a:pPr>
            <a:r>
              <a:rPr lang="en-US" sz="2665" dirty="0">
                <a:solidFill>
                  <a:srgbClr val="0200FF"/>
                </a:solidFill>
                <a:latin typeface="Calibri" panose="020F0502020204030204" charset="0"/>
                <a:cs typeface="Calibri" panose="020F0502020204030204" charset="0"/>
              </a:rPr>
              <a:t>I</a:t>
            </a:r>
            <a:r>
              <a:rPr lang="en-US" sz="2665" dirty="0">
                <a:solidFill>
                  <a:srgbClr val="0200FF"/>
                </a:solidFill>
                <a:effectLst/>
                <a:latin typeface="Calibri" panose="020F0502020204030204" charset="0"/>
                <a:cs typeface="Calibri" panose="020F0502020204030204" charset="0"/>
              </a:rPr>
              <a:t>dentical</a:t>
            </a:r>
            <a:r>
              <a:rPr lang="en-US" sz="2665" dirty="0">
                <a:effectLst/>
                <a:latin typeface="Calibri" panose="020F0502020204030204" charset="0"/>
                <a:cs typeface="Calibri" panose="020F0502020204030204" charset="0"/>
              </a:rPr>
              <a:t> except for names:</a:t>
            </a:r>
            <a:endParaRPr lang="en-US" sz="2665" dirty="0">
              <a:effectLst/>
              <a:latin typeface="Calibri" panose="020F0502020204030204" charset="0"/>
              <a:cs typeface="Calibri" panose="020F0502020204030204" charset="0"/>
            </a:endParaRPr>
          </a:p>
          <a:p>
            <a:pPr marL="793750" lvl="2" indent="-285750">
              <a:buFont typeface="Arial" panose="020B0604020202020204" pitchFamily="34" charset="0"/>
              <a:buChar char="•"/>
            </a:pPr>
            <a:r>
              <a:rPr lang="en-US" sz="2400" dirty="0">
                <a:effectLst/>
                <a:latin typeface="Calibri" panose="020F0502020204030204" charset="0"/>
                <a:cs typeface="Calibri" panose="020F0502020204030204" charset="0"/>
              </a:rPr>
              <a:t>common African American (Shaniqua) or European American (Stephanie).</a:t>
            </a:r>
            <a:endParaRPr lang="en-US" sz="2400" dirty="0">
              <a:effectLst/>
              <a:latin typeface="Calibri" panose="020F0502020204030204" charset="0"/>
              <a:cs typeface="Calibri" panose="020F0502020204030204" charset="0"/>
            </a:endParaRPr>
          </a:p>
          <a:p>
            <a:pPr marL="793750" lvl="2" indent="-285750">
              <a:buFont typeface="Arial" panose="020B0604020202020204" pitchFamily="34" charset="0"/>
              <a:buChar char="•"/>
            </a:pPr>
            <a:r>
              <a:rPr lang="en-US" sz="2665" dirty="0">
                <a:latin typeface="Calibri" panose="020F0502020204030204" charset="0"/>
                <a:cs typeface="Calibri" panose="020F0502020204030204" charset="0"/>
              </a:rPr>
              <a:t>Like "</a:t>
            </a:r>
            <a:r>
              <a:rPr lang="en-US" sz="2400" dirty="0"/>
              <a:t>I talked to Shaniqua yesterday</a:t>
            </a:r>
            <a:r>
              <a:rPr lang="en-US" sz="2400" dirty="0">
                <a:latin typeface="Calibri" panose="020F0502020204030204" charset="0"/>
                <a:cs typeface="Calibri" panose="020F0502020204030204" charset="0"/>
              </a:rPr>
              <a:t>" vs "I talked to Stephanie yesterday"</a:t>
            </a:r>
            <a:endParaRPr lang="en-US" sz="2400" dirty="0">
              <a:effectLst/>
              <a:latin typeface="Calibri" panose="020F0502020204030204" charset="0"/>
              <a:cs typeface="Calibri" panose="020F0502020204030204" charset="0"/>
            </a:endParaRPr>
          </a:p>
          <a:p>
            <a:pPr marL="285750" indent="-285750">
              <a:buFont typeface="Arial" panose="020B0604020202020204" pitchFamily="34" charset="0"/>
              <a:buChar char="•"/>
            </a:pPr>
            <a:r>
              <a:rPr lang="en-US" sz="3200" dirty="0">
                <a:effectLst/>
                <a:latin typeface="Calibri" panose="020F0502020204030204" charset="0"/>
                <a:cs typeface="Calibri" panose="020F0502020204030204" charset="0"/>
              </a:rPr>
              <a:t>Result: systems assigned </a:t>
            </a:r>
            <a:r>
              <a:rPr lang="en-US" sz="3200" dirty="0">
                <a:solidFill>
                  <a:srgbClr val="0200FF"/>
                </a:solidFill>
                <a:effectLst/>
                <a:latin typeface="Calibri" panose="020F0502020204030204" charset="0"/>
                <a:cs typeface="Calibri" panose="020F0502020204030204" charset="0"/>
              </a:rPr>
              <a:t>lower sentiment </a:t>
            </a:r>
            <a:r>
              <a:rPr lang="en-US" sz="3200" dirty="0">
                <a:effectLst/>
                <a:latin typeface="Calibri" panose="020F0502020204030204" charset="0"/>
                <a:cs typeface="Calibri" panose="020F0502020204030204" charset="0"/>
              </a:rPr>
              <a:t>and more negative emotion to sentences with </a:t>
            </a:r>
            <a:r>
              <a:rPr lang="en-US" sz="3200" dirty="0">
                <a:solidFill>
                  <a:srgbClr val="0200FF"/>
                </a:solidFill>
                <a:effectLst/>
                <a:latin typeface="Calibri" panose="020F0502020204030204" charset="0"/>
                <a:cs typeface="Calibri" panose="020F0502020204030204" charset="0"/>
              </a:rPr>
              <a:t>African American names</a:t>
            </a:r>
            <a:endParaRPr lang="en-US" sz="3200" dirty="0">
              <a:solidFill>
                <a:srgbClr val="0200FF"/>
              </a:solidFill>
              <a:effectLst/>
              <a:latin typeface="Calibri" panose="020F0502020204030204" charset="0"/>
              <a:cs typeface="Calibri" panose="020F0502020204030204" charset="0"/>
            </a:endParaRPr>
          </a:p>
          <a:p>
            <a:pPr marL="285750" indent="-285750">
              <a:buFont typeface="Arial" panose="020B0604020202020204" pitchFamily="34" charset="0"/>
              <a:buChar char="•"/>
            </a:pPr>
            <a:r>
              <a:rPr lang="en-US" sz="3200" dirty="0">
                <a:solidFill>
                  <a:schemeClr val="tx1"/>
                </a:solidFill>
                <a:latin typeface="Calibri" panose="020F0502020204030204" charset="0"/>
                <a:cs typeface="Calibri" panose="020F0502020204030204" charset="0"/>
              </a:rPr>
              <a:t>Downstream harm: </a:t>
            </a:r>
            <a:endParaRPr lang="en-US" sz="3200" dirty="0">
              <a:solidFill>
                <a:schemeClr val="tx1"/>
              </a:solidFill>
              <a:latin typeface="Calibri" panose="020F0502020204030204" charset="0"/>
              <a:cs typeface="Calibri" panose="020F0502020204030204" charset="0"/>
            </a:endParaRPr>
          </a:p>
          <a:p>
            <a:pPr marL="682625" lvl="1" indent="-285750">
              <a:buFont typeface="Arial" panose="020B0604020202020204" pitchFamily="34" charset="0"/>
              <a:buChar char="•"/>
            </a:pPr>
            <a:r>
              <a:rPr lang="en-US" sz="2800" dirty="0">
                <a:solidFill>
                  <a:schemeClr val="tx1"/>
                </a:solidFill>
                <a:latin typeface="Calibri" panose="020F0502020204030204" charset="0"/>
                <a:cs typeface="Calibri" panose="020F0502020204030204" charset="0"/>
              </a:rPr>
              <a:t>Perpetuates stereotypes about African Americans </a:t>
            </a:r>
            <a:endParaRPr lang="en-US" sz="2800" dirty="0">
              <a:solidFill>
                <a:schemeClr val="tx1"/>
              </a:solidFill>
              <a:latin typeface="Calibri" panose="020F0502020204030204" charset="0"/>
              <a:cs typeface="Calibri" panose="020F0502020204030204" charset="0"/>
            </a:endParaRPr>
          </a:p>
          <a:p>
            <a:pPr marL="682625" lvl="1" indent="-285750">
              <a:buFont typeface="Arial" panose="020B0604020202020204" pitchFamily="34" charset="0"/>
              <a:buChar char="•"/>
            </a:pPr>
            <a:r>
              <a:rPr lang="en-US" sz="2800" dirty="0">
                <a:solidFill>
                  <a:schemeClr val="tx1"/>
                </a:solidFill>
                <a:latin typeface="Calibri" panose="020F0502020204030204" charset="0"/>
                <a:cs typeface="Calibri" panose="020F0502020204030204" charset="0"/>
              </a:rPr>
              <a:t>African Americans treated differently by NLP tools like sentiment (widely used in marketing research, mental health studies, etc.)</a:t>
            </a:r>
            <a:endParaRPr lang="en-US" sz="2800" dirty="0">
              <a:solidFill>
                <a:schemeClr val="tx1"/>
              </a:solidFill>
              <a:effectLst/>
              <a:latin typeface="Calibri" panose="020F0502020204030204" charset="0"/>
              <a:cs typeface="Calibri" panose="020F0502020204030204" charset="0"/>
            </a:endParaRPr>
          </a:p>
          <a:p>
            <a:endParaRPr lang="en-US"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Harms of Censorship</a:t>
            </a:r>
            <a:endParaRPr lang="en-US" dirty="0"/>
          </a:p>
        </p:txBody>
      </p:sp>
      <p:sp>
        <p:nvSpPr>
          <p:cNvPr id="3" name="Content Placeholder 2"/>
          <p:cNvSpPr>
            <a:spLocks noGrp="1"/>
          </p:cNvSpPr>
          <p:nvPr>
            <p:ph idx="1"/>
          </p:nvPr>
        </p:nvSpPr>
        <p:spPr>
          <a:xfrm>
            <a:off x="1097280" y="1397000"/>
            <a:ext cx="10586720" cy="5689600"/>
          </a:xfrm>
        </p:spPr>
        <p:txBody>
          <a:bodyPr>
            <a:normAutofit fontScale="60000"/>
          </a:bodyPr>
          <a:lstStyle/>
          <a:p>
            <a:pPr marL="285750" indent="-285750">
              <a:buFont typeface="Arial" panose="020B0604020202020204" pitchFamily="34" charset="0"/>
              <a:buChar char="•"/>
            </a:pPr>
            <a:r>
              <a:rPr lang="en-US" sz="2665" b="1" dirty="0">
                <a:solidFill>
                  <a:srgbClr val="0200FF"/>
                </a:solidFill>
                <a:effectLst/>
                <a:latin typeface="Calibri" panose="020F0502020204030204" charset="0"/>
                <a:cs typeface="Calibri" panose="020F0502020204030204" charset="0"/>
              </a:rPr>
              <a:t>Toxicity detection </a:t>
            </a:r>
            <a:r>
              <a:rPr lang="en-US" sz="2665" dirty="0">
                <a:solidFill>
                  <a:schemeClr val="tx1"/>
                </a:solidFill>
                <a:effectLst/>
                <a:latin typeface="Calibri" panose="020F0502020204030204" charset="0"/>
                <a:cs typeface="Calibri" panose="020F0502020204030204" charset="0"/>
              </a:rPr>
              <a:t>is the text classification task of detecting hate speech, abuse, harassment, or other kinds of toxic language.</a:t>
            </a:r>
            <a:endParaRPr lang="en-US" sz="2665" dirty="0">
              <a:solidFill>
                <a:schemeClr val="tx1"/>
              </a:solidFill>
              <a:effectLst/>
              <a:latin typeface="Calibri" panose="020F0502020204030204" charset="0"/>
              <a:cs typeface="Calibri" panose="020F0502020204030204" charset="0"/>
            </a:endParaRPr>
          </a:p>
          <a:p>
            <a:pPr marL="682625" lvl="1" indent="-285750">
              <a:buFont typeface="Arial" panose="020B0604020202020204" pitchFamily="34" charset="0"/>
              <a:buChar char="•"/>
            </a:pPr>
            <a:r>
              <a:rPr lang="en-US" sz="2400" dirty="0">
                <a:solidFill>
                  <a:schemeClr val="tx1"/>
                </a:solidFill>
                <a:latin typeface="Calibri" panose="020F0502020204030204" charset="0"/>
                <a:cs typeface="Calibri" panose="020F0502020204030204" charset="0"/>
              </a:rPr>
              <a:t>Widely used in online content moderation</a:t>
            </a:r>
            <a:endParaRPr lang="en-US" sz="2400" dirty="0">
              <a:solidFill>
                <a:schemeClr val="tx1"/>
              </a:solidFill>
              <a:effectLst/>
              <a:latin typeface="Calibri" panose="020F0502020204030204" charset="0"/>
              <a:cs typeface="Calibri" panose="020F0502020204030204" charset="0"/>
            </a:endParaRPr>
          </a:p>
          <a:p>
            <a:pPr marL="285750" indent="-285750">
              <a:buFont typeface="Arial" panose="020B0604020202020204" pitchFamily="34" charset="0"/>
              <a:buChar char="•"/>
            </a:pPr>
            <a:r>
              <a:rPr lang="en-US" sz="2665" dirty="0">
                <a:solidFill>
                  <a:schemeClr val="tx1"/>
                </a:solidFill>
                <a:latin typeface="Calibri" panose="020F0502020204030204" charset="0"/>
                <a:cs typeface="Calibri" panose="020F0502020204030204" charset="0"/>
              </a:rPr>
              <a:t>T</a:t>
            </a:r>
            <a:r>
              <a:rPr lang="en-US" sz="2665" dirty="0">
                <a:solidFill>
                  <a:schemeClr val="tx1"/>
                </a:solidFill>
                <a:effectLst/>
                <a:latin typeface="Calibri" panose="020F0502020204030204" charset="0"/>
                <a:cs typeface="Calibri" panose="020F0502020204030204" charset="0"/>
              </a:rPr>
              <a:t>oxicity classifiers incorrectly flag non-toxic sentences that simply mention minority identities (like the words "blind" or "gay")</a:t>
            </a:r>
            <a:endParaRPr lang="en-US" sz="2665" dirty="0">
              <a:solidFill>
                <a:schemeClr val="tx1"/>
              </a:solidFill>
              <a:effectLst/>
              <a:latin typeface="Calibri" panose="020F0502020204030204" charset="0"/>
              <a:cs typeface="Calibri" panose="020F0502020204030204" charset="0"/>
            </a:endParaRPr>
          </a:p>
          <a:p>
            <a:pPr marL="682625" lvl="1" indent="-285750">
              <a:buFont typeface="Arial" panose="020B0604020202020204" pitchFamily="34" charset="0"/>
              <a:buChar char="•"/>
            </a:pPr>
            <a:r>
              <a:rPr lang="en-US" sz="2665" dirty="0">
                <a:solidFill>
                  <a:schemeClr val="tx1"/>
                </a:solidFill>
                <a:effectLst/>
                <a:latin typeface="Calibri" panose="020F0502020204030204" charset="0"/>
                <a:cs typeface="Calibri" panose="020F0502020204030204" charset="0"/>
              </a:rPr>
              <a:t>women (Park et al., 2018), </a:t>
            </a:r>
            <a:endParaRPr lang="en-US" sz="2665" dirty="0">
              <a:solidFill>
                <a:schemeClr val="tx1"/>
              </a:solidFill>
              <a:effectLst/>
              <a:latin typeface="Calibri" panose="020F0502020204030204" charset="0"/>
              <a:cs typeface="Calibri" panose="020F0502020204030204" charset="0"/>
            </a:endParaRPr>
          </a:p>
          <a:p>
            <a:pPr marL="682625" lvl="1" indent="-285750">
              <a:buFont typeface="Arial" panose="020B0604020202020204" pitchFamily="34" charset="0"/>
              <a:buChar char="•"/>
            </a:pPr>
            <a:r>
              <a:rPr lang="en-US" sz="2665" dirty="0">
                <a:solidFill>
                  <a:schemeClr val="tx1"/>
                </a:solidFill>
                <a:effectLst/>
                <a:latin typeface="Calibri" panose="020F0502020204030204" charset="0"/>
                <a:cs typeface="Calibri" panose="020F0502020204030204" charset="0"/>
              </a:rPr>
              <a:t>disabled people (Hutchinson et al., 2020) </a:t>
            </a:r>
            <a:endParaRPr lang="en-US" sz="2665" dirty="0">
              <a:solidFill>
                <a:schemeClr val="tx1"/>
              </a:solidFill>
              <a:effectLst/>
              <a:latin typeface="Calibri" panose="020F0502020204030204" charset="0"/>
              <a:cs typeface="Calibri" panose="020F0502020204030204" charset="0"/>
            </a:endParaRPr>
          </a:p>
          <a:p>
            <a:pPr marL="682625" lvl="1" indent="-285750">
              <a:buFont typeface="Arial" panose="020B0604020202020204" pitchFamily="34" charset="0"/>
              <a:buChar char="•"/>
            </a:pPr>
            <a:r>
              <a:rPr lang="en-US" sz="2665" dirty="0">
                <a:solidFill>
                  <a:schemeClr val="tx1"/>
                </a:solidFill>
                <a:effectLst/>
                <a:latin typeface="Calibri" panose="020F0502020204030204" charset="0"/>
                <a:cs typeface="Calibri" panose="020F0502020204030204" charset="0"/>
              </a:rPr>
              <a:t>gay people (Dixon et al., 2018;</a:t>
            </a:r>
            <a:r>
              <a:rPr lang="en-US" sz="2665" dirty="0">
                <a:solidFill>
                  <a:schemeClr val="tx1"/>
                </a:solidFill>
                <a:latin typeface="Calibri" panose="020F0502020204030204" charset="0"/>
                <a:cs typeface="Calibri" panose="020F0502020204030204" charset="0"/>
              </a:rPr>
              <a:t> Oliva et al., 2021)</a:t>
            </a:r>
            <a:endParaRPr lang="en-US" sz="2665" dirty="0">
              <a:solidFill>
                <a:schemeClr val="tx1"/>
              </a:solidFill>
              <a:latin typeface="Calibri" panose="020F0502020204030204" charset="0"/>
              <a:cs typeface="Calibri" panose="020F0502020204030204" charset="0"/>
            </a:endParaRPr>
          </a:p>
          <a:p>
            <a:pPr marL="285750" indent="-285750">
              <a:buFont typeface="Arial" panose="020B0604020202020204" pitchFamily="34" charset="0"/>
              <a:buChar char="•"/>
            </a:pPr>
            <a:r>
              <a:rPr lang="en-US" sz="2665" dirty="0">
                <a:solidFill>
                  <a:schemeClr val="tx1"/>
                </a:solidFill>
                <a:latin typeface="Calibri" panose="020F0502020204030204" charset="0"/>
                <a:cs typeface="Calibri" panose="020F0502020204030204" charset="0"/>
              </a:rPr>
              <a:t>Downstream harms:</a:t>
            </a:r>
            <a:endParaRPr lang="en-US" sz="2665" dirty="0">
              <a:solidFill>
                <a:schemeClr val="tx1"/>
              </a:solidFill>
              <a:latin typeface="Calibri" panose="020F0502020204030204" charset="0"/>
              <a:cs typeface="Calibri" panose="020F0502020204030204" charset="0"/>
            </a:endParaRPr>
          </a:p>
          <a:p>
            <a:pPr marL="682625" lvl="1" indent="-285750">
              <a:buFont typeface="Arial" panose="020B0604020202020204" pitchFamily="34" charset="0"/>
              <a:buChar char="•"/>
            </a:pPr>
            <a:r>
              <a:rPr lang="en-US" sz="2665" dirty="0">
                <a:solidFill>
                  <a:schemeClr val="tx1"/>
                </a:solidFill>
                <a:latin typeface="Calibri" panose="020F0502020204030204" charset="0"/>
                <a:cs typeface="Calibri" panose="020F0502020204030204" charset="0"/>
              </a:rPr>
              <a:t>Censorship of speech by disabled people and other groups</a:t>
            </a:r>
            <a:endParaRPr lang="en-US" sz="2665" dirty="0">
              <a:solidFill>
                <a:schemeClr val="tx1"/>
              </a:solidFill>
              <a:latin typeface="Calibri" panose="020F0502020204030204" charset="0"/>
              <a:cs typeface="Calibri" panose="020F0502020204030204" charset="0"/>
            </a:endParaRPr>
          </a:p>
          <a:p>
            <a:pPr marL="682625" lvl="1" indent="-285750">
              <a:buFont typeface="Arial" panose="020B0604020202020204" pitchFamily="34" charset="0"/>
              <a:buChar char="•"/>
            </a:pPr>
            <a:r>
              <a:rPr lang="en-US" sz="2665" dirty="0">
                <a:solidFill>
                  <a:schemeClr val="tx1"/>
                </a:solidFill>
                <a:latin typeface="Calibri" panose="020F0502020204030204" charset="0"/>
                <a:cs typeface="Calibri" panose="020F0502020204030204" charset="0"/>
              </a:rPr>
              <a:t>Speech by these groups becomes less visible online</a:t>
            </a:r>
            <a:endParaRPr lang="en-US" sz="2665" dirty="0">
              <a:solidFill>
                <a:schemeClr val="tx1"/>
              </a:solidFill>
              <a:latin typeface="Calibri" panose="020F0502020204030204" charset="0"/>
              <a:cs typeface="Calibri" panose="020F0502020204030204" charset="0"/>
            </a:endParaRPr>
          </a:p>
          <a:p>
            <a:pPr marL="682625" lvl="1" indent="-285750">
              <a:buFont typeface="Arial" panose="020B0604020202020204" pitchFamily="34" charset="0"/>
              <a:buChar char="•"/>
            </a:pPr>
            <a:r>
              <a:rPr lang="en-US" sz="2665" dirty="0">
                <a:solidFill>
                  <a:schemeClr val="tx1"/>
                </a:solidFill>
                <a:latin typeface="Calibri" panose="020F0502020204030204" charset="0"/>
                <a:cs typeface="Calibri" panose="020F0502020204030204" charset="0"/>
              </a:rPr>
              <a:t>Writers might be nudged by these algorithms to avoid these words making people less likely to write about themselves or these groups.</a:t>
            </a:r>
            <a:endParaRPr lang="en-US" sz="2665" dirty="0">
              <a:solidFill>
                <a:schemeClr val="tx1"/>
              </a:solidFill>
              <a:latin typeface="Calibri" panose="020F0502020204030204" charset="0"/>
              <a:cs typeface="Calibri" panose="020F0502020204030204" charset="0"/>
            </a:endParaRPr>
          </a:p>
          <a:p>
            <a:pPr marL="682625" lvl="1" indent="-285750">
              <a:buFont typeface="Arial" panose="020B0604020202020204" pitchFamily="34" charset="0"/>
              <a:buChar char="•"/>
            </a:pPr>
            <a:endParaRPr lang="en-US" dirty="0">
              <a:solidFill>
                <a:schemeClr val="tx1"/>
              </a:solidFill>
              <a:latin typeface="Calibri" panose="020F0502020204030204" charset="0"/>
              <a:cs typeface="Calibri" panose="020F0502020204030204" charset="0"/>
            </a:endParaRPr>
          </a:p>
          <a:p>
            <a:endParaRPr lang="en-US" dirty="0">
              <a:solidFill>
                <a:schemeClr val="tx1"/>
              </a:solidFill>
              <a:latin typeface="Calibri" panose="020F0502020204030204" charset="0"/>
              <a:cs typeface="Calibri" panose="020F0502020204030204" charset="0"/>
            </a:endParaRP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Disparities</a:t>
            </a:r>
            <a:endParaRPr lang="en-US" dirty="0"/>
          </a:p>
        </p:txBody>
      </p:sp>
      <p:sp>
        <p:nvSpPr>
          <p:cNvPr id="3" name="Content Placeholder 2"/>
          <p:cNvSpPr>
            <a:spLocks noGrp="1"/>
          </p:cNvSpPr>
          <p:nvPr>
            <p:ph idx="1"/>
          </p:nvPr>
        </p:nvSpPr>
        <p:spPr>
          <a:xfrm>
            <a:off x="1097280" y="1600200"/>
            <a:ext cx="10058401" cy="4673600"/>
          </a:xfrm>
        </p:spPr>
        <p:txBody>
          <a:bodyPr>
            <a:normAutofit/>
          </a:bodyPr>
          <a:lstStyle/>
          <a:p>
            <a:pPr marL="514350" indent="-514350">
              <a:buFont typeface="+mj-lt"/>
              <a:buAutoNum type="arabicPeriod"/>
            </a:pPr>
            <a:r>
              <a:rPr lang="en-US" dirty="0"/>
              <a:t>Text classifiers perform worse on many </a:t>
            </a:r>
            <a:r>
              <a:rPr lang="en-US" b="1" dirty="0">
                <a:solidFill>
                  <a:srgbClr val="0200FF"/>
                </a:solidFill>
              </a:rPr>
              <a:t>languages</a:t>
            </a:r>
            <a:r>
              <a:rPr lang="en-US" dirty="0"/>
              <a:t> of the world due to lack of data or labels</a:t>
            </a:r>
            <a:endParaRPr lang="en-US" dirty="0"/>
          </a:p>
          <a:p>
            <a:pPr marL="514350" indent="-514350">
              <a:buFont typeface="+mj-lt"/>
              <a:buAutoNum type="arabicPeriod"/>
            </a:pPr>
            <a:r>
              <a:rPr lang="en-US" dirty="0"/>
              <a:t>Text classifiers perform worse on </a:t>
            </a:r>
            <a:r>
              <a:rPr lang="en-US" b="1" dirty="0">
                <a:solidFill>
                  <a:srgbClr val="0200FF"/>
                </a:solidFill>
              </a:rPr>
              <a:t>varieties</a:t>
            </a:r>
            <a:r>
              <a:rPr lang="en-US" dirty="0"/>
              <a:t> of even high-resource languages like English</a:t>
            </a:r>
            <a:endParaRPr lang="en-US" dirty="0"/>
          </a:p>
          <a:p>
            <a:pPr marL="854075" lvl="1" indent="-457200">
              <a:buFont typeface="Arial" panose="020B0604020202020204" pitchFamily="34" charset="0"/>
              <a:buChar char="•"/>
            </a:pPr>
            <a:r>
              <a:rPr lang="en-US" dirty="0"/>
              <a:t>Example task: </a:t>
            </a:r>
            <a:r>
              <a:rPr lang="en-US" dirty="0">
                <a:solidFill>
                  <a:srgbClr val="0200FF"/>
                </a:solidFill>
              </a:rPr>
              <a:t>language identification, </a:t>
            </a:r>
            <a:r>
              <a:rPr lang="en-US" dirty="0"/>
              <a:t>a first step in NLP pipeline ("Is this post in English or not?") </a:t>
            </a:r>
            <a:endParaRPr lang="en-US" dirty="0"/>
          </a:p>
          <a:p>
            <a:pPr marL="854075" lvl="1" indent="-457200">
              <a:buFont typeface="Arial" panose="020B0604020202020204" pitchFamily="34" charset="0"/>
              <a:buChar char="•"/>
            </a:pPr>
            <a:r>
              <a:rPr lang="en-US" dirty="0"/>
              <a:t>English language detection performance worse for writers who are African American (Blodgett and O'Connor 2017) or from India (Jurgens et al., 2017)</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Harms in text classification</a:t>
            </a:r>
            <a:endParaRPr lang="en-US" dirty="0"/>
          </a:p>
        </p:txBody>
      </p:sp>
      <p:sp>
        <p:nvSpPr>
          <p:cNvPr id="3" name="Content Placeholder 2"/>
          <p:cNvSpPr>
            <a:spLocks noGrp="1"/>
          </p:cNvSpPr>
          <p:nvPr>
            <p:ph idx="1"/>
          </p:nvPr>
        </p:nvSpPr>
        <p:spPr>
          <a:xfrm>
            <a:off x="1097280" y="1498600"/>
            <a:ext cx="10688320" cy="5359400"/>
          </a:xfrm>
        </p:spPr>
        <p:txBody>
          <a:bodyPr>
            <a:normAutofit/>
          </a:bodyPr>
          <a:lstStyle/>
          <a:p>
            <a:pPr marL="233680" indent="-233680">
              <a:buFont typeface="Arial" panose="020B0604020202020204" pitchFamily="34" charset="0"/>
              <a:buChar char="•"/>
            </a:pPr>
            <a:r>
              <a:rPr lang="en-US" b="1" dirty="0"/>
              <a:t>Causes:</a:t>
            </a:r>
            <a:endParaRPr lang="en-US" b="1" dirty="0"/>
          </a:p>
          <a:p>
            <a:pPr marL="630555" lvl="1" indent="-233680">
              <a:buFont typeface="Arial" panose="020B0604020202020204" pitchFamily="34" charset="0"/>
              <a:buChar char="•"/>
            </a:pPr>
            <a:r>
              <a:rPr lang="en-US" dirty="0"/>
              <a:t>Issues in the data; NLP systems amplify biases in training data</a:t>
            </a:r>
            <a:endParaRPr lang="en-US" dirty="0"/>
          </a:p>
          <a:p>
            <a:pPr marL="630555" lvl="1" indent="-233680">
              <a:buFont typeface="Arial" panose="020B0604020202020204" pitchFamily="34" charset="0"/>
              <a:buChar char="•"/>
            </a:pPr>
            <a:r>
              <a:rPr lang="en-US" dirty="0"/>
              <a:t>Problems in the labels</a:t>
            </a:r>
            <a:endParaRPr lang="en-US" dirty="0"/>
          </a:p>
          <a:p>
            <a:pPr marL="630555" lvl="1" indent="-233680">
              <a:buFont typeface="Arial" panose="020B0604020202020204" pitchFamily="34" charset="0"/>
              <a:buChar char="•"/>
            </a:pPr>
            <a:r>
              <a:rPr lang="en-US" dirty="0"/>
              <a:t>Problems in the algorithms (like what the model is trained to optimize) </a:t>
            </a:r>
            <a:endParaRPr lang="en-US" dirty="0"/>
          </a:p>
          <a:p>
            <a:pPr marL="233680" indent="-233680">
              <a:buFont typeface="Arial" panose="020B0604020202020204" pitchFamily="34" charset="0"/>
              <a:buChar char="•"/>
            </a:pPr>
            <a:r>
              <a:rPr lang="en-US" b="1" dirty="0"/>
              <a:t>Prevalence</a:t>
            </a:r>
            <a:r>
              <a:rPr lang="en-US" dirty="0"/>
              <a:t>: The same problems occur throughout NLP (including large language models)  </a:t>
            </a:r>
            <a:endParaRPr lang="en-US" dirty="0"/>
          </a:p>
          <a:p>
            <a:pPr marL="233680" indent="-233680">
              <a:buFont typeface="Arial" panose="020B0604020202020204" pitchFamily="34" charset="0"/>
              <a:buChar char="•"/>
            </a:pPr>
            <a:r>
              <a:rPr lang="en-US" b="1" dirty="0"/>
              <a:t>Solutions</a:t>
            </a:r>
            <a:r>
              <a:rPr lang="en-US" dirty="0"/>
              <a:t>: There are no general mitigations or solutions</a:t>
            </a:r>
            <a:endParaRPr lang="en-US" dirty="0"/>
          </a:p>
          <a:p>
            <a:pPr marL="630555" lvl="1" indent="-233680">
              <a:buFont typeface="Arial" panose="020B0604020202020204" pitchFamily="34" charset="0"/>
              <a:buChar char="•"/>
            </a:pPr>
            <a:r>
              <a:rPr lang="en-US" dirty="0"/>
              <a:t>But harm mitigation is an active area of research</a:t>
            </a:r>
            <a:endParaRPr lang="en-US" dirty="0"/>
          </a:p>
          <a:p>
            <a:pPr marL="630555" lvl="1" indent="-233680">
              <a:buFont typeface="Arial" panose="020B0604020202020204" pitchFamily="34" charset="0"/>
              <a:buChar char="•"/>
            </a:pPr>
            <a:r>
              <a:rPr lang="en-US" dirty="0"/>
              <a:t>And there are standard benchmarks and tools that we can use for measuring some of the harms</a:t>
            </a:r>
            <a:endParaRPr lang="en-US" dirty="0"/>
          </a:p>
          <a:p>
            <a:pPr marL="457200" indent="-457200">
              <a:buFont typeface="Arial" panose="020B0604020202020204" pitchFamily="34" charset="0"/>
              <a:buChar char="•"/>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title"/>
          </p:nvPr>
        </p:nvSpPr>
        <p:spPr/>
        <p:txBody>
          <a:bodyPr>
            <a:noAutofit/>
          </a:bodyPr>
          <a:lstStyle/>
          <a:p>
            <a:r>
              <a:rPr lang="en-US" sz="4535">
                <a:latin typeface="Calibri (Headings)"/>
                <a:cs typeface="Calibri (Headings)"/>
              </a:rPr>
              <a:t>Text Classification and Na</a:t>
            </a:r>
            <a:r>
              <a:rPr lang="fr-FR" sz="4535">
                <a:latin typeface="Calibri (Headings)"/>
                <a:cs typeface="Calibri (Headings)"/>
              </a:rPr>
              <a:t>i</a:t>
            </a:r>
            <a:r>
              <a:rPr lang="en-US" sz="4535" err="1">
                <a:latin typeface="Calibri (Headings)"/>
                <a:cs typeface="Calibri (Headings)"/>
              </a:rPr>
              <a:t>ve</a:t>
            </a:r>
            <a:r>
              <a:rPr lang="en-US" sz="4535">
                <a:latin typeface="Calibri (Headings)"/>
                <a:cs typeface="Calibri (Headings)"/>
              </a:rPr>
              <a:t> Bayes</a:t>
            </a:r>
            <a:endParaRPr lang="en-US" sz="4535">
              <a:latin typeface="Calibri (Headings)"/>
              <a:ea typeface="MS PGothic" panose="020B0600070205080204" charset="-128"/>
              <a:cs typeface="Calibri (Headings)"/>
            </a:endParaRPr>
          </a:p>
        </p:txBody>
      </p:sp>
      <p:sp>
        <p:nvSpPr>
          <p:cNvPr id="16387" name="Rectangle 6"/>
          <p:cNvSpPr>
            <a:spLocks noGrp="1" noChangeArrowheads="1"/>
          </p:cNvSpPr>
          <p:nvPr>
            <p:ph idx="1"/>
          </p:nvPr>
        </p:nvSpPr>
        <p:spPr>
          <a:xfrm>
            <a:off x="4470400" y="251459"/>
            <a:ext cx="7721600" cy="5257800"/>
          </a:xfrm>
        </p:spPr>
        <p:txBody>
          <a:bodyPr>
            <a:normAutofit/>
          </a:bodyPr>
          <a:lstStyle/>
          <a:p>
            <a:pPr eaLnBrk="1" hangingPunct="1">
              <a:buFont typeface="Times" charset="0"/>
              <a:buNone/>
            </a:pPr>
            <a:r>
              <a:rPr lang="en-US" sz="4535" dirty="0">
                <a:solidFill>
                  <a:srgbClr val="A4001D"/>
                </a:solidFill>
                <a:latin typeface="Calibri" panose="020F0502020204030204"/>
                <a:ea typeface="MS PGothic" panose="020B0600070205080204" charset="-128"/>
                <a:cs typeface="Calibri" panose="020F0502020204030204"/>
              </a:rPr>
              <a:t>Avoiding Harms in Classification</a:t>
            </a:r>
            <a:endParaRPr lang="en-US" sz="4535" dirty="0">
              <a:solidFill>
                <a:srgbClr val="A4001D"/>
              </a:solidFill>
              <a:latin typeface="Calibri" panose="020F0502020204030204"/>
              <a:ea typeface="MS PGothic" panose="020B0600070205080204" charset="-128"/>
              <a:cs typeface="Calibri" panose="020F0502020204030204"/>
            </a:endParaRPr>
          </a:p>
        </p:txBody>
      </p:sp>
      <p:sp>
        <p:nvSpPr>
          <p:cNvPr id="2" name="Text Placeholder 1"/>
          <p:cNvSpPr>
            <a:spLocks noGrp="1"/>
          </p:cNvSpPr>
          <p:nvPr>
            <p:ph type="body" sz="half" idx="2"/>
          </p:nvPr>
        </p:nvSpPr>
        <p:spPr/>
        <p:txBody>
          <a:bodyPr/>
          <a:lstStyle/>
          <a:p>
            <a:endParaRPr lang="en-US"/>
          </a:p>
        </p:txBody>
      </p:sp>
    </p:spTree>
  </p:cSld>
  <p:clrMapOvr>
    <a:masterClrMapping/>
  </p:clrMapOvr>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4861</Words>
  <Application>WPS 演示</Application>
  <PresentationFormat>宽屏</PresentationFormat>
  <Paragraphs>170</Paragraphs>
  <Slides>21</Slides>
  <Notes>4</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21</vt:i4>
      </vt:variant>
    </vt:vector>
  </HeadingPairs>
  <TitlesOfParts>
    <vt:vector size="37" baseType="lpstr">
      <vt:lpstr>Arial</vt:lpstr>
      <vt:lpstr>SimSun</vt:lpstr>
      <vt:lpstr>Wingdings</vt:lpstr>
      <vt:lpstr>Wingdings</vt:lpstr>
      <vt:lpstr>Calibri (Headings)</vt:lpstr>
      <vt:lpstr>Calibri</vt:lpstr>
      <vt:lpstr>MS PGothic</vt:lpstr>
      <vt:lpstr>Times</vt:lpstr>
      <vt:lpstr>Calibri</vt:lpstr>
      <vt:lpstr>Lucida Sans</vt:lpstr>
      <vt:lpstr>NimbusRomNo9L</vt:lpstr>
      <vt:lpstr>Segoe Print</vt:lpstr>
      <vt:lpstr>Microsoft YaHei</vt:lpstr>
      <vt:lpstr>Arial Unicode MS</vt:lpstr>
      <vt:lpstr>Monaco</vt:lpstr>
      <vt:lpstr>WPS</vt:lpstr>
      <vt:lpstr>PowerPoint 演示文稿</vt:lpstr>
      <vt:lpstr>Text Classification and Naive Bayes</vt:lpstr>
      <vt:lpstr>Evaluating Classifiers: How well does our classifier work?</vt:lpstr>
      <vt:lpstr>First step in evaluation: The confusion matrix</vt:lpstr>
      <vt:lpstr>Accuracy on the confusion matrix</vt:lpstr>
      <vt:lpstr>Why don't we use accuracy?</vt:lpstr>
      <vt:lpstr>Accuracy re: pie posts</vt:lpstr>
      <vt:lpstr>Why don't we use accuracy?</vt:lpstr>
      <vt:lpstr>Instead of accuracy we use precision and recall</vt:lpstr>
      <vt:lpstr>Precision/Recall aren't fooled by the"just call everything negative" classifier!</vt:lpstr>
      <vt:lpstr>A combined measure: F1</vt:lpstr>
      <vt:lpstr>F1 is a special case of the general "F-measure"</vt:lpstr>
      <vt:lpstr>Suppose we have more than 2 classes?</vt:lpstr>
      <vt:lpstr>How to combine P/R values for different classes: Microaveraging vs Macroaveraging</vt:lpstr>
      <vt:lpstr>Classification</vt:lpstr>
      <vt:lpstr>Harms of classification</vt:lpstr>
      <vt:lpstr>Representational Harms</vt:lpstr>
      <vt:lpstr>Harms of Censorship</vt:lpstr>
      <vt:lpstr>Performance Disparities</vt:lpstr>
      <vt:lpstr>Harms in text classification</vt:lpstr>
      <vt:lpstr>Text Classification and Naive Bayes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awais</dc:creator>
  <cp:lastModifiedBy>WPS_1671077781</cp:lastModifiedBy>
  <cp:revision>161</cp:revision>
  <dcterms:created xsi:type="dcterms:W3CDTF">2019-06-19T02:08:00Z</dcterms:created>
  <dcterms:modified xsi:type="dcterms:W3CDTF">2025-11-04T02:27:34Z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1DC69A7FC9E94E4386AED5CDD22A9B49_11</vt:lpwstr>
  </property>
</Properties>
</file>