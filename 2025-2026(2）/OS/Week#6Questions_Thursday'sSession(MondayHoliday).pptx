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63" r:id="rId5"/>
    <p:sldId id="264" r:id="rId6"/>
    <p:sldId id="258" r:id="rId7"/>
    <p:sldId id="259" r:id="rId9"/>
    <p:sldId id="260" r:id="rId10"/>
    <p:sldId id="261" r:id="rId11"/>
    <p:sldId id="262" r:id="rId12"/>
    <p:sldId id="265" r:id="rId13"/>
    <p:sldId id="267" r:id="rId14"/>
    <p:sldId id="266"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Practise Questions</a:t>
            </a:r>
            <a:endParaRPr lang="en-US" altLang="zh-CN"/>
          </a:p>
        </p:txBody>
      </p:sp>
      <p:sp>
        <p:nvSpPr>
          <p:cNvPr id="3" name="副标题 2"/>
          <p:cNvSpPr>
            <a:spLocks noGrp="1"/>
          </p:cNvSpPr>
          <p:nvPr>
            <p:ph type="subTitle" idx="1"/>
            <p:custDataLst>
              <p:tags r:id="rId2"/>
            </p:custDataLst>
          </p:nvPr>
        </p:nvSpPr>
        <p:spPr/>
        <p:txBody>
          <a:bodyPr/>
          <a:p>
            <a:r>
              <a:rPr lang="en-US" altLang="zh-CN"/>
              <a:t>Dr. Ahmed Awais</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Chapter#1,2</a:t>
            </a:r>
            <a:endParaRPr lang="zh-CN" altLang="en-US"/>
          </a:p>
        </p:txBody>
      </p:sp>
      <p:sp>
        <p:nvSpPr>
          <p:cNvPr id="3" name="内容占位符 2"/>
          <p:cNvSpPr>
            <a:spLocks noGrp="1"/>
          </p:cNvSpPr>
          <p:nvPr>
            <p:ph idx="1"/>
            <p:custDataLst>
              <p:tags r:id="rId2"/>
            </p:custDataLst>
          </p:nvPr>
        </p:nvSpPr>
        <p:spPr/>
        <p:txBody>
          <a:bodyPr/>
          <a:p>
            <a:r>
              <a:rPr lang="en-US" altLang="zh-CN"/>
              <a:t>List key functions that an operating system performs.</a:t>
            </a:r>
            <a:endParaRPr lang="en-US" altLang="zh-CN"/>
          </a:p>
          <a:p>
            <a:r>
              <a:rPr lang="en-US" altLang="zh-CN"/>
              <a:t>What is the difference between computer‑system organization and computer‑system architecture?</a:t>
            </a:r>
            <a:endParaRPr lang="en-US" altLang="zh-CN"/>
          </a:p>
          <a:p>
            <a:r>
              <a:rPr lang="en-US" altLang="zh-CN"/>
              <a:t>Explain the purpose of interrupts in an operating system.</a:t>
            </a:r>
            <a:endParaRPr lang="en-US" altLang="zh-CN"/>
          </a:p>
          <a:p>
            <a:r>
              <a:rPr lang="en-US" altLang="zh-CN"/>
              <a:t>What are the three main resources managed by an operating system?</a:t>
            </a:r>
            <a:endParaRPr lang="en-US" altLang="zh-CN"/>
          </a:p>
          <a:p>
            <a:r>
              <a:rPr lang="en-US" altLang="zh-CN"/>
              <a:t>List typical operating system services provided to user programs.</a:t>
            </a:r>
            <a:endParaRPr lang="en-US" altLang="zh-CN"/>
          </a:p>
          <a:p>
            <a:r>
              <a:rPr lang="en-US" altLang="zh-CN"/>
              <a:t>Why are some applications operating‑system specific (e.g., Windows vs. Linux)?</a:t>
            </a:r>
            <a:endParaRPr lang="en-US" altLang="zh-CN"/>
          </a:p>
          <a:p>
            <a:r>
              <a:rPr lang="en-US" altLang="zh-CN"/>
              <a:t>What is the difference between a system call and a library function?</a:t>
            </a:r>
            <a:endParaRPr lang="en-US" altLang="zh-CN"/>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Chapter#1,2 - Sol</a:t>
            </a:r>
            <a:endParaRPr lang="zh-CN" altLang="en-US"/>
          </a:p>
        </p:txBody>
      </p:sp>
      <p:sp>
        <p:nvSpPr>
          <p:cNvPr id="3" name="内容占位符 2"/>
          <p:cNvSpPr>
            <a:spLocks noGrp="1"/>
          </p:cNvSpPr>
          <p:nvPr>
            <p:ph idx="1"/>
            <p:custDataLst>
              <p:tags r:id="rId2"/>
            </p:custDataLst>
          </p:nvPr>
        </p:nvSpPr>
        <p:spPr/>
        <p:txBody>
          <a:bodyPr>
            <a:normAutofit fontScale="70000"/>
          </a:bodyPr>
          <a:p>
            <a:r>
              <a:rPr lang="en-US" altLang="zh-CN">
                <a:sym typeface="+mn-ea"/>
              </a:rPr>
              <a:t>List key functions that an operating system performs.</a:t>
            </a:r>
            <a:endParaRPr lang="en-US" altLang="zh-CN">
              <a:sym typeface="+mn-ea"/>
            </a:endParaRPr>
          </a:p>
          <a:p>
            <a:pPr lvl="1"/>
            <a:r>
              <a:rPr lang="en-US" altLang="zh-CN"/>
              <a:t>process management, memory management, file system management, I/O management, resource allocation, security &amp; protection, user interface, virtualization.</a:t>
            </a:r>
            <a:endParaRPr lang="en-US" altLang="zh-CN"/>
          </a:p>
          <a:p>
            <a:r>
              <a:rPr lang="en-US" altLang="zh-CN">
                <a:sym typeface="+mn-ea"/>
              </a:rPr>
              <a:t>What is the difference between computer‑system organization and computer‑system architecture?</a:t>
            </a:r>
            <a:endParaRPr lang="en-US" altLang="zh-CN">
              <a:sym typeface="+mn-ea"/>
            </a:endParaRPr>
          </a:p>
          <a:p>
            <a:pPr lvl="1"/>
            <a:r>
              <a:rPr lang="en-US" altLang="zh-CN"/>
              <a:t>Organization refers to how hardware components (CPU, memory, I/O devices) are interconnected and how they operate together (e.g., bus structure, interrupt handling).</a:t>
            </a:r>
            <a:endParaRPr lang="en-US" altLang="zh-CN"/>
          </a:p>
          <a:p>
            <a:pPr lvl="1"/>
            <a:r>
              <a:rPr lang="en-US" altLang="zh-CN"/>
              <a:t>Architecture refers to the instruction set, registers, memory addressing modes, and other features visible to the programmer (e.g., x86 vs ARM).</a:t>
            </a:r>
            <a:endParaRPr lang="en-US" altLang="zh-CN"/>
          </a:p>
          <a:p>
            <a:r>
              <a:rPr lang="en-US" altLang="zh-CN">
                <a:sym typeface="+mn-ea"/>
              </a:rPr>
              <a:t>Explain the purpose of interrupts in an operating system.</a:t>
            </a:r>
            <a:endParaRPr lang="en-US" altLang="zh-CN"/>
          </a:p>
          <a:p>
            <a:pPr lvl="1"/>
            <a:r>
              <a:rPr lang="en-US" altLang="zh-CN">
                <a:sym typeface="+mn-ea"/>
              </a:rPr>
              <a:t>Interrupts allow the CPU to stop its current execution and respond immediately to external events (I/O completion, timer, hardware error). This enables efficient, event‑driven operation without busy‑waiting.</a:t>
            </a:r>
            <a:endParaRPr lang="en-US" altLang="zh-CN">
              <a:sym typeface="+mn-ea"/>
            </a:endParaRPr>
          </a:p>
          <a:p>
            <a:r>
              <a:rPr lang="en-US" altLang="zh-CN">
                <a:sym typeface="+mn-ea"/>
              </a:rPr>
              <a:t>What are the three main resources managed by an operating system?</a:t>
            </a:r>
            <a:endParaRPr lang="en-US" altLang="zh-CN">
              <a:sym typeface="+mn-ea"/>
            </a:endParaRPr>
          </a:p>
          <a:p>
            <a:pPr lvl="1"/>
            <a:r>
              <a:rPr lang="en-US" altLang="zh-CN"/>
              <a:t>CPU – scheduling processes/threads.</a:t>
            </a:r>
            <a:endParaRPr lang="en-US" altLang="zh-CN"/>
          </a:p>
          <a:p>
            <a:pPr lvl="1"/>
            <a:r>
              <a:rPr lang="en-US" altLang="zh-CN"/>
              <a:t>Memory – allocating physical and virtual memory to processes.</a:t>
            </a:r>
            <a:endParaRPr lang="en-US" altLang="zh-CN"/>
          </a:p>
          <a:p>
            <a:pPr lvl="1"/>
            <a:r>
              <a:rPr lang="en-US" altLang="zh-CN"/>
              <a:t>I/O devices – managing disk, network, keyboard, etc.</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Chapter#1,2 - Sol</a:t>
            </a:r>
            <a:endParaRPr lang="zh-CN" altLang="en-US"/>
          </a:p>
        </p:txBody>
      </p:sp>
      <p:sp>
        <p:nvSpPr>
          <p:cNvPr id="3" name="内容占位符 2"/>
          <p:cNvSpPr>
            <a:spLocks noGrp="1"/>
          </p:cNvSpPr>
          <p:nvPr>
            <p:ph idx="1"/>
            <p:custDataLst>
              <p:tags r:id="rId2"/>
            </p:custDataLst>
          </p:nvPr>
        </p:nvSpPr>
        <p:spPr/>
        <p:txBody>
          <a:bodyPr>
            <a:normAutofit/>
          </a:bodyPr>
          <a:p>
            <a:r>
              <a:rPr lang="en-US" altLang="zh-CN"/>
              <a:t>List typical operating system services provided to user programs.</a:t>
            </a:r>
            <a:endParaRPr lang="en-US" altLang="zh-CN"/>
          </a:p>
          <a:p>
            <a:pPr lvl="1"/>
            <a:r>
              <a:rPr lang="en-US" altLang="zh-CN"/>
              <a:t>User interface, program execution, I/O operations, file system manipulation, communications, error detection, resource allocation, accounting, protection and security.</a:t>
            </a:r>
            <a:endParaRPr lang="en-US" altLang="zh-CN"/>
          </a:p>
          <a:p>
            <a:r>
              <a:rPr lang="en-US" altLang="zh-CN"/>
              <a:t>Why are some applications operating‑system specific (e.g., Windows vs. Linux)?</a:t>
            </a:r>
            <a:endParaRPr lang="en-US" altLang="zh-CN"/>
          </a:p>
          <a:p>
            <a:pPr lvl="1"/>
            <a:r>
              <a:rPr lang="en-US" altLang="zh-CN"/>
              <a:t>Because they rely on OS‑specific system calls, file paths, binary executable formats, or GUI APIs. Different OSes have different kernel interfaces and libraries, so an executable compiled for one OS will not run on another without emulation or recompilation.</a:t>
            </a:r>
            <a:endParaRPr lang="en-US" altLang="zh-CN"/>
          </a:p>
          <a:p>
            <a:r>
              <a:rPr lang="en-US" altLang="zh-CN"/>
              <a:t>What is the difference between a system call and a library function?</a:t>
            </a:r>
            <a:endParaRPr lang="en-US" altLang="zh-CN"/>
          </a:p>
          <a:p>
            <a:pPr lvl="1"/>
            <a:r>
              <a:rPr lang="en-US" altLang="zh-CN"/>
              <a:t>System call – a request from a user program to the OS kernel (e.g., read(), write(), fork()). It causes a trap into kernel mode.</a:t>
            </a:r>
            <a:endParaRPr lang="en-US" altLang="zh-CN"/>
          </a:p>
          <a:p>
            <a:pPr lvl="1"/>
            <a:r>
              <a:rPr lang="en-US" altLang="zh-CN"/>
              <a:t>Library function – a routine provided by a programming language library (e.g., printf(), strlen()). It may call system calls internally but runs in user mode.</a:t>
            </a:r>
            <a:endParaRPr lang="en-US" altLang="zh-CN"/>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Quick Questions</a:t>
            </a:r>
            <a:endParaRPr lang="zh-CN" altLang="en-US"/>
          </a:p>
        </p:txBody>
      </p:sp>
      <p:sp>
        <p:nvSpPr>
          <p:cNvPr id="3" name="内容占位符 2"/>
          <p:cNvSpPr>
            <a:spLocks noGrp="1"/>
          </p:cNvSpPr>
          <p:nvPr>
            <p:ph idx="1"/>
            <p:custDataLst>
              <p:tags r:id="rId2"/>
            </p:custDataLst>
          </p:nvPr>
        </p:nvSpPr>
        <p:spPr/>
        <p:txBody>
          <a:bodyPr>
            <a:normAutofit lnSpcReduction="10000"/>
          </a:bodyPr>
          <a:p>
            <a:pPr algn="just"/>
            <a:r>
              <a:rPr lang="en-US" altLang="zh-CN"/>
              <a:t>A database server processes transactions in batches. In 8 hours of operation, it completes 144,000 transactions. What is its average throughput in transactions per second?</a:t>
            </a:r>
            <a:endParaRPr lang="en-US" altLang="zh-CN"/>
          </a:p>
          <a:p>
            <a:pPr algn="just"/>
            <a:r>
              <a:rPr lang="en-US" altLang="zh-CN"/>
              <a:t>A multi‑threaded web server handles 250 requests per second with 5 worker threads. If the number of threads is increased to 8 (and each thread maintains the same individual throughput), what is the new total throughput? Assume no overhead from additional threading.</a:t>
            </a:r>
            <a:endParaRPr lang="en-US" altLang="zh-CN"/>
          </a:p>
          <a:p>
            <a:pPr algn="just"/>
            <a:r>
              <a:rPr lang="en-US" altLang="zh-CN"/>
              <a:t>A user clicks a link and the browser sends a request. The network takes 20 ms/side, the server processing time is 25 ms, and the client rendering time is 10 ms. What is the total latency experienced by the user from click to full page display?</a:t>
            </a:r>
            <a:endParaRPr lang="en-US" altLang="zh-CN"/>
          </a:p>
          <a:p>
            <a:pPr algn="just"/>
            <a:r>
              <a:rPr lang="en-US" altLang="zh-CN"/>
              <a:t>A disk read operation has the following components: seek time = 6 ms, rotational latency = 4 ms, transfer time = 2 ms, and controller overhead = 1 ms. What is the average latency for a single read?</a:t>
            </a:r>
            <a:endParaRPr lang="en-US" altLang="zh-CN"/>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Quick Questions</a:t>
            </a:r>
            <a:endParaRPr lang="zh-CN" altLang="en-US"/>
          </a:p>
        </p:txBody>
      </p:sp>
      <p:sp>
        <p:nvSpPr>
          <p:cNvPr id="3" name="内容占位符 2"/>
          <p:cNvSpPr>
            <a:spLocks noGrp="1"/>
          </p:cNvSpPr>
          <p:nvPr>
            <p:ph idx="1"/>
            <p:custDataLst>
              <p:tags r:id="rId2"/>
            </p:custDataLst>
          </p:nvPr>
        </p:nvSpPr>
        <p:spPr/>
        <p:txBody>
          <a:bodyPr>
            <a:normAutofit lnSpcReduction="10000"/>
          </a:bodyPr>
          <a:p>
            <a:pPr algn="just"/>
            <a:r>
              <a:rPr lang="en-US" altLang="zh-CN"/>
              <a:t>An e-commerce system handles 1,000 concurrent users on a single server. The architecture is perfectly scalable (linear). How many servers are needed to support 7,500 concurrent users? If the first server costs $10,000 and each additional server costs $7,000, what is the total hardware cost?</a:t>
            </a:r>
            <a:endParaRPr lang="en-US" altLang="zh-CN"/>
          </a:p>
          <a:p>
            <a:pPr algn="just"/>
            <a:r>
              <a:rPr lang="en-US" altLang="zh-CN"/>
              <a:t>A cloud‑based OS can auto‑scale: it adds one virtual machine (VM) every 2 minutes when CPU load exceeds 80%. Starting with 2 VMs at 9:00 AM, if load remains high, how many VMs will be running at 9:14 AM? (Assume no removal.)</a:t>
            </a:r>
            <a:endParaRPr lang="en-US" altLang="zh-CN"/>
          </a:p>
          <a:p>
            <a:pPr algn="just"/>
            <a:r>
              <a:rPr lang="en-US" altLang="zh-CN"/>
              <a:t>A RAID 1 (mirroring) system uses two hard drives. Each drive has a probability of failure during one year of 0.02 (2%). Failures are independent. What is the probability that the RAID system (both drives) fails during the year? (Both must fail for data loss.)</a:t>
            </a:r>
            <a:endParaRPr lang="en-US" altLang="zh-CN"/>
          </a:p>
          <a:p>
            <a:pPr algn="just"/>
            <a:r>
              <a:rPr lang="en-US" altLang="zh-CN"/>
              <a:t>A server has a Mean Time Between Failures (MTBF) of 500 hours and a Mean Time To Repair (MTTR) of 10 hours. Calculate its availability as a percentage.</a:t>
            </a:r>
            <a:endParaRPr lang="en-US" altLang="zh-CN"/>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Quick Questions</a:t>
            </a:r>
            <a:endParaRPr lang="zh-CN" altLang="en-US"/>
          </a:p>
        </p:txBody>
      </p:sp>
      <p:sp>
        <p:nvSpPr>
          <p:cNvPr id="3" name="内容占位符 2"/>
          <p:cNvSpPr>
            <a:spLocks noGrp="1"/>
          </p:cNvSpPr>
          <p:nvPr>
            <p:ph idx="1"/>
            <p:custDataLst>
              <p:tags r:id="rId2"/>
            </p:custDataLst>
          </p:nvPr>
        </p:nvSpPr>
        <p:spPr/>
        <p:txBody>
          <a:bodyPr>
            <a:normAutofit lnSpcReduction="10000"/>
          </a:bodyPr>
          <a:p>
            <a:pPr algn="just"/>
            <a:r>
              <a:rPr lang="en-US" altLang="zh-CN"/>
              <a:t>A data center has a fixed monthly cost of $5,000 plus a variable cost of $50 per server. If the data center runs 200 servers, what is the average cost per server? If it scales up to 800 servers, what is the new average cost? What is the percentage reduction?</a:t>
            </a:r>
            <a:endParaRPr lang="en-US" altLang="zh-CN"/>
          </a:p>
          <a:p>
            <a:pPr algn="just"/>
            <a:r>
              <a:rPr lang="en-US" altLang="zh-CN"/>
              <a:t>Explain how bulk purchasing of hardware (e.g., 1,000 identical servers) reduces the average cost per server compared to buying one server at a time. Provide a numerical example: a single server costs $2,500, but in bulk each server costs $1,800. What is the cost saving per server and total saving for 1,000 servers?</a:t>
            </a:r>
            <a:endParaRPr lang="en-US" altLang="zh-CN"/>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IncreasedThroughput</a:t>
            </a:r>
            <a:endParaRPr lang="zh-CN" altLang="en-US"/>
          </a:p>
        </p:txBody>
      </p:sp>
      <p:sp>
        <p:nvSpPr>
          <p:cNvPr id="3" name="内容占位符 2"/>
          <p:cNvSpPr>
            <a:spLocks noGrp="1"/>
          </p:cNvSpPr>
          <p:nvPr>
            <p:ph idx="1"/>
            <p:custDataLst>
              <p:tags r:id="rId2"/>
            </p:custDataLst>
          </p:nvPr>
        </p:nvSpPr>
        <p:spPr/>
        <p:txBody>
          <a:bodyPr/>
          <a:p>
            <a:r>
              <a:rPr lang="en-US" altLang="zh-CN"/>
              <a:t>Adding more processors should lead to a higher throughput, but the relationship is not necessarily linear. Correct/Wrong?</a:t>
            </a:r>
            <a:endParaRPr lang="en-US" altLang="zh-CN"/>
          </a:p>
          <a:p>
            <a:r>
              <a:rPr lang="en-US" altLang="zh-CN"/>
              <a:t>If an operating system has 16 cores instead of 8 cores, it will always process </a:t>
            </a:r>
            <a:r>
              <a:rPr lang="en-US" altLang="zh-CN"/>
              <a:t>propbably twice as many tasks per second. True/False?</a:t>
            </a:r>
            <a:endParaRPr lang="en-US" altLang="zh-CN"/>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Solution</a:t>
            </a:r>
            <a:endParaRPr lang="zh-CN" altLang="en-US"/>
          </a:p>
        </p:txBody>
      </p:sp>
      <p:sp>
        <p:nvSpPr>
          <p:cNvPr id="3" name="内容占位符 2"/>
          <p:cNvSpPr>
            <a:spLocks noGrp="1"/>
          </p:cNvSpPr>
          <p:nvPr>
            <p:ph idx="1"/>
            <p:custDataLst>
              <p:tags r:id="rId2"/>
            </p:custDataLst>
          </p:nvPr>
        </p:nvSpPr>
        <p:spPr/>
        <p:txBody>
          <a:bodyPr>
            <a:normAutofit/>
          </a:bodyPr>
          <a:p>
            <a:r>
              <a:rPr lang="en-US" altLang="zh-CN"/>
              <a:t>If an operating system has 16 cores instead of 8 cores, it will always process exactly twice as many tasks per second. True/False	</a:t>
            </a:r>
            <a:endParaRPr lang="en-US" altLang="zh-CN"/>
          </a:p>
          <a:p>
            <a:r>
              <a:rPr lang="en-US" altLang="zh-CN"/>
              <a:t>Doubling cores rarely doubles throughput because of:</a:t>
            </a:r>
            <a:endParaRPr lang="en-US" altLang="zh-CN"/>
          </a:p>
          <a:p>
            <a:pPr lvl="1"/>
            <a:r>
              <a:rPr lang="en-US" altLang="zh-CN"/>
              <a:t>Serial code sections (Amdahl’s Law)</a:t>
            </a:r>
            <a:endParaRPr lang="en-US" altLang="zh-CN"/>
          </a:p>
          <a:p>
            <a:pPr lvl="1"/>
            <a:r>
              <a:rPr lang="en-US" altLang="zh-CN"/>
              <a:t>Increased overhead (cache misses, lock contention, scheduling).</a:t>
            </a:r>
            <a:endParaRPr lang="en-US" altLang="zh-CN"/>
          </a:p>
          <a:p>
            <a:pPr lvl="1"/>
            <a:r>
              <a:rPr lang="en-US" altLang="zh-CN"/>
              <a:t>Memory bandwidth limits.</a:t>
            </a:r>
            <a:endParaRPr lang="en-US" altLang="zh-CN"/>
          </a:p>
          <a:p>
            <a:r>
              <a:rPr lang="en-US" altLang="zh-CN"/>
              <a:t>Thus throughput increases but sub‑linearly.</a:t>
            </a:r>
            <a:endParaRPr lang="en-US" altLang="zh-CN"/>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Questions</a:t>
            </a:r>
            <a:endParaRPr lang="en-US" altLang="zh-CN"/>
          </a:p>
        </p:txBody>
      </p:sp>
      <p:sp>
        <p:nvSpPr>
          <p:cNvPr id="3" name="内容占位符 2"/>
          <p:cNvSpPr>
            <a:spLocks noGrp="1"/>
          </p:cNvSpPr>
          <p:nvPr>
            <p:ph idx="1"/>
            <p:custDataLst>
              <p:tags r:id="rId2"/>
            </p:custDataLst>
          </p:nvPr>
        </p:nvSpPr>
        <p:spPr/>
        <p:txBody>
          <a:bodyPr/>
          <a:p>
            <a:pPr algn="just"/>
            <a:r>
              <a:rPr lang="en-US" altLang="zh-CN" sz="2800"/>
              <a:t>A printer prints 30 pages per minute. How many pages can it print in 2 hours?</a:t>
            </a:r>
            <a:endParaRPr lang="en-US" altLang="zh-CN" sz="2800"/>
          </a:p>
          <a:p>
            <a:pPr algn="just"/>
            <a:r>
              <a:rPr lang="en-US" altLang="zh-CN" sz="2800"/>
              <a:t>A network request takes 50 ms to travel from client to server, and the server takes 20 ms to process it. What is the total latency for the client to receive the response? (Assume the response travels the same time as the request.)</a:t>
            </a:r>
            <a:endParaRPr lang="en-US" altLang="zh-CN" sz="2800"/>
          </a:p>
          <a:p>
            <a:pPr algn="just"/>
            <a:endParaRPr lang="en-US" altLang="zh-CN" sz="2800"/>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Questions</a:t>
            </a:r>
            <a:endParaRPr lang="en-US" altLang="zh-CN"/>
          </a:p>
        </p:txBody>
      </p:sp>
      <p:sp>
        <p:nvSpPr>
          <p:cNvPr id="3" name="内容占位符 2"/>
          <p:cNvSpPr>
            <a:spLocks noGrp="1"/>
          </p:cNvSpPr>
          <p:nvPr>
            <p:ph idx="1"/>
            <p:custDataLst>
              <p:tags r:id="rId2"/>
            </p:custDataLst>
          </p:nvPr>
        </p:nvSpPr>
        <p:spPr/>
        <p:txBody>
          <a:bodyPr/>
          <a:p>
            <a:pPr algn="just"/>
            <a:r>
              <a:rPr lang="en-US" altLang="zh-CN" sz="2400">
                <a:sym typeface="+mn-ea"/>
              </a:rPr>
              <a:t>A web server handles 500 users simultaneously. How many such servers are needed to support 3,000 users? If each server costs $2,000, what is the total cost?</a:t>
            </a:r>
            <a:endParaRPr lang="en-US" altLang="zh-CN" sz="2400"/>
          </a:p>
          <a:p>
            <a:pPr algn="just"/>
            <a:r>
              <a:rPr lang="en-US" altLang="zh-CN" sz="2400">
                <a:sym typeface="+mn-ea"/>
              </a:rPr>
              <a:t>A disk drive has a 98% availability. In a 30‑day month, how many hours is it expected to be operational? How many hours of downtime?</a:t>
            </a:r>
            <a:endParaRPr lang="en-US" altLang="zh-CN" sz="2400"/>
          </a:p>
          <a:p>
            <a:pPr algn="just"/>
            <a:r>
              <a:rPr lang="en-US" altLang="zh-CN" sz="2400">
                <a:sym typeface="+mn-ea"/>
              </a:rPr>
              <a:t>A data center pays a fixed cost of $1,000 per month plus $30 per server. Find the average cost per server when there are 50 servers, and again when there are 200, and 300 servers and in total avg?.</a:t>
            </a:r>
            <a:endParaRPr lang="en-US" altLang="zh-CN" sz="2400">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pPr algn="just"/>
            <a:r>
              <a:rPr lang="en-US" altLang="zh-CN"/>
              <a:t>3600</a:t>
            </a:r>
            <a:endParaRPr lang="en-US" altLang="zh-CN"/>
          </a:p>
          <a:p>
            <a:pPr algn="just"/>
            <a:r>
              <a:rPr lang="en-US" altLang="zh-CN"/>
              <a:t>120</a:t>
            </a:r>
            <a:endParaRPr lang="en-US" altLang="zh-CN"/>
          </a:p>
          <a:p>
            <a:pPr algn="just"/>
            <a:r>
              <a:rPr lang="en-US" altLang="zh-CN"/>
              <a:t>12000</a:t>
            </a:r>
            <a:endParaRPr lang="en-US" altLang="zh-CN"/>
          </a:p>
          <a:p>
            <a:pPr algn="just"/>
            <a:r>
              <a:rPr lang="en-US" altLang="zh-CN"/>
              <a:t>14.4</a:t>
            </a:r>
            <a:endParaRPr lang="en-US" altLang="zh-CN"/>
          </a:p>
          <a:p>
            <a:pPr algn="just"/>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6438</Words>
  <Application>WPS 演示</Application>
  <PresentationFormat>宽屏</PresentationFormat>
  <Paragraphs>89</Paragraphs>
  <Slides>12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Wingdings</vt:lpstr>
      <vt:lpstr>Microsoft YaHei</vt:lpstr>
      <vt:lpstr>Arial Unicode MS</vt:lpstr>
      <vt:lpstr>Calibri</vt:lpstr>
      <vt:lpstr>WPS</vt:lpstr>
      <vt:lpstr>Practise Questions</vt:lpstr>
      <vt:lpstr>Chapter#1,2</vt:lpstr>
      <vt:lpstr>Chapter#1,2 - Sol</vt:lpstr>
      <vt:lpstr>Chapter#1,2 - Sol</vt:lpstr>
      <vt:lpstr>Quick Questions</vt:lpstr>
      <vt:lpstr>Quick Questions</vt:lpstr>
      <vt:lpstr>Quick Questions</vt:lpstr>
      <vt:lpstr>IncreasedThroughput</vt:lpstr>
      <vt:lpstr>Solution</vt:lpstr>
      <vt:lpstr>PowerPoint 演示文稿</vt:lpstr>
      <vt:lpstr>Questions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awais</dc:creator>
  <cp:lastModifiedBy>WPS_1671077781</cp:lastModifiedBy>
  <cp:revision>182</cp:revision>
  <dcterms:created xsi:type="dcterms:W3CDTF">2019-06-19T02:08:00Z</dcterms:created>
  <dcterms:modified xsi:type="dcterms:W3CDTF">2026-04-09T13:11:01Z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81EF89ADC00D400485814EF212A36B2B_11</vt:lpwstr>
  </property>
</Properties>
</file>