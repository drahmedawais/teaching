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83" r:id="rId2"/>
    <p:sldId id="288" r:id="rId3"/>
    <p:sldId id="289" r:id="rId4"/>
    <p:sldId id="290" r:id="rId5"/>
    <p:sldId id="291" r:id="rId6"/>
    <p:sldId id="292" r:id="rId7"/>
    <p:sldId id="284" r:id="rId8"/>
    <p:sldId id="285" r:id="rId9"/>
    <p:sldId id="286" r:id="rId10"/>
    <p:sldId id="287" r:id="rId11"/>
    <p:sldId id="265" r:id="rId12"/>
    <p:sldId id="277" r:id="rId13"/>
    <p:sldId id="276" r:id="rId14"/>
    <p:sldId id="278" r:id="rId15"/>
    <p:sldId id="280" r:id="rId16"/>
    <p:sldId id="281" r:id="rId17"/>
    <p:sldId id="271" r:id="rId18"/>
    <p:sldId id="270" r:id="rId19"/>
    <p:sldId id="269" r:id="rId20"/>
    <p:sldId id="282" r:id="rId21"/>
    <p:sldId id="312" r:id="rId22"/>
    <p:sldId id="311" r:id="rId23"/>
    <p:sldId id="297" r:id="rId24"/>
    <p:sldId id="298" r:id="rId25"/>
    <p:sldId id="295" r:id="rId26"/>
    <p:sldId id="296" r:id="rId27"/>
    <p:sldId id="268" r:id="rId28"/>
    <p:sldId id="299" r:id="rId29"/>
    <p:sldId id="300" r:id="rId30"/>
    <p:sldId id="301" r:id="rId31"/>
    <p:sldId id="304" r:id="rId32"/>
    <p:sldId id="305" r:id="rId33"/>
    <p:sldId id="306" r:id="rId34"/>
    <p:sldId id="302" r:id="rId35"/>
    <p:sldId id="303" r:id="rId36"/>
    <p:sldId id="308" r:id="rId37"/>
    <p:sldId id="309" r:id="rId38"/>
    <p:sldId id="267" r:id="rId39"/>
    <p:sldId id="272" r:id="rId40"/>
    <p:sldId id="273" r:id="rId41"/>
    <p:sldId id="274" r:id="rId42"/>
    <p:sldId id="275" r:id="rId43"/>
    <p:sldId id="266" r:id="rId44"/>
    <p:sldId id="258" r:id="rId45"/>
    <p:sldId id="259" r:id="rId46"/>
    <p:sldId id="260" r:id="rId47"/>
    <p:sldId id="261" r:id="rId48"/>
    <p:sldId id="262" r:id="rId49"/>
    <p:sldId id="263" r:id="rId50"/>
    <p:sldId id="264" r:id="rId51"/>
    <p:sldId id="293" r:id="rId52"/>
    <p:sldId id="294" r:id="rId53"/>
    <p:sldId id="310"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7" d="100"/>
          <a:sy n="57" d="100"/>
        </p:scale>
        <p:origin x="1143" y="2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9C5CFE-F168-4707-915B-97F41ACABD87}" type="datetimeFigureOut">
              <a:rPr lang="en-US" smtClean="0"/>
              <a:t>5/7/2026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75FC5-0389-42D4-A225-68A248F8DF5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virtual-labs.github.io/exp-context-switching-iiith/pretest.html"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Source:-</a:t>
            </a:r>
            <a:r>
              <a:rPr lang="en-US" altLang="zh-CN" dirty="0">
                <a:hlinkClick r:id="rId3"/>
              </a:rPr>
              <a:t>Virtual Labs</a:t>
            </a:r>
            <a:endParaRPr lang="zh-CN" altLang="en-US" dirty="0"/>
          </a:p>
        </p:txBody>
      </p:sp>
      <p:sp>
        <p:nvSpPr>
          <p:cNvPr id="4" name="Slide Number Placeholder 3"/>
          <p:cNvSpPr>
            <a:spLocks noGrp="1"/>
          </p:cNvSpPr>
          <p:nvPr>
            <p:ph type="sldNum" sz="quarter" idx="5"/>
          </p:nvPr>
        </p:nvSpPr>
        <p:spPr/>
        <p:txBody>
          <a:bodyPr/>
          <a:lstStyle/>
          <a:p>
            <a:fld id="{4CA4B6D3-9D1B-4899-A9CB-A5FCED6C9F00}"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8F8C4E8-9FDD-4F57-84FD-DA54E99E0DF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F8C4E8-9FDD-4F57-84FD-DA54E99E0DF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F8C4E8-9FDD-4F57-84FD-DA54E99E0DF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8F8C4E8-9FDD-4F57-84FD-DA54E99E0DFE}"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8F8C4E8-9FDD-4F57-84FD-DA54E99E0DFE}"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8F8C4E8-9FDD-4F57-84FD-DA54E99E0DFE}"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F8C4E8-9FDD-4F57-84FD-DA54E99E0DFE}"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F8C4E8-9FDD-4F57-84FD-DA54E99E0DFE}"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F8C4E8-9FDD-4F57-84FD-DA54E99E0DFE}"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F8C4E8-9FDD-4F57-84FD-DA54E99E0DF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F8C4E8-9FDD-4F57-84FD-DA54E99E0DF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06BB05-2F31-469E-8278-18D6C2B7B66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F8C4E8-9FDD-4F57-84FD-DA54E99E0DFE}" type="datetimeFigureOut">
              <a:rPr lang="en-US" smtClean="0"/>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06BB05-2F31-469E-8278-18D6C2B7B66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8400"/>
            <a:ext cx="8229600" cy="1143000"/>
          </a:xfrm>
        </p:spPr>
        <p:txBody>
          <a:bodyPr/>
          <a:lstStyle/>
          <a:p>
            <a:r>
              <a:rPr lang="en-US" altLang="zh-CN" dirty="0"/>
              <a:t>Chapter#4 Threads &amp; Concurrency</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MCQs</a:t>
            </a:r>
            <a:endParaRPr lang="zh-CN" altLang="en-US" dirty="0"/>
          </a:p>
        </p:txBody>
      </p:sp>
      <p:sp>
        <p:nvSpPr>
          <p:cNvPr id="6" name="TextBox 5"/>
          <p:cNvSpPr txBox="1"/>
          <p:nvPr/>
        </p:nvSpPr>
        <p:spPr>
          <a:xfrm>
            <a:off x="533400" y="1524000"/>
            <a:ext cx="7162800" cy="141577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Raleway" panose="020F0502020204030204" pitchFamily="2" charset="0"/>
              </a:rPr>
              <a:t>What is the primary purpose of the "Kernel Mode" in an operating system?</a:t>
            </a:r>
            <a:endParaRPr kumimoji="0" lang="zh-CN" altLang="zh-CN" sz="5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a: To execute user-level applications</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b: To display user instructions</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c: To run system-level tasks and interrupt handlers</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d: To manage hardware resources</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533400" y="3886200"/>
            <a:ext cx="7848600" cy="14478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Raleway" panose="020F0502020204030204" pitchFamily="2" charset="0"/>
              </a:rPr>
              <a:t>In a context switch, which of the following is NOT typically saved and restored?</a:t>
            </a:r>
            <a:endParaRPr kumimoji="0" lang="zh-CN" altLang="zh-CN" sz="5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a: Program counter (PC)</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b: Stack pointer (SP)</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c: General-purpose registers</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d: Cache memory</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MCQs</a:t>
            </a:r>
            <a:endParaRPr lang="zh-CN" altLang="en-US" dirty="0"/>
          </a:p>
        </p:txBody>
      </p:sp>
      <p:sp>
        <p:nvSpPr>
          <p:cNvPr id="3" name="Rectangle 1"/>
          <p:cNvSpPr>
            <a:spLocks noChangeArrowheads="1"/>
          </p:cNvSpPr>
          <p:nvPr/>
        </p:nvSpPr>
        <p:spPr bwMode="auto">
          <a:xfrm>
            <a:off x="457200" y="20574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Raleway" panose="020F0502020204030204" pitchFamily="2" charset="0"/>
              </a:rPr>
              <a:t>What is the role of the Process Control Block (PCB) in an operating system?</a:t>
            </a:r>
            <a:endParaRPr kumimoji="0" lang="zh-CN" altLang="zh-CN" sz="5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a: To display user instructions</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b: To manage hardware resources</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c: To store details of a process during its execution</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d: To execute interrupt handlers</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457200" y="39624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Raleway" panose="020F0502020204030204" pitchFamily="2" charset="0"/>
              </a:rPr>
              <a:t>Which component of a CPU is responsible for fetching and decoding instructions?</a:t>
            </a:r>
            <a:endParaRPr kumimoji="0" lang="zh-CN" altLang="zh-CN" sz="5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a: Control unit</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b: Arithmetic logic unit (ALU)</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c: Memory Unit</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d: Input/Output Unit (IOU)</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MCQs</a:t>
            </a:r>
            <a:endParaRPr lang="zh-CN" altLang="en-US" dirty="0"/>
          </a:p>
        </p:txBody>
      </p:sp>
      <p:sp>
        <p:nvSpPr>
          <p:cNvPr id="5" name="Rectangle 1"/>
          <p:cNvSpPr>
            <a:spLocks noChangeArrowheads="1"/>
          </p:cNvSpPr>
          <p:nvPr/>
        </p:nvSpPr>
        <p:spPr bwMode="auto">
          <a:xfrm>
            <a:off x="981113" y="1371600"/>
            <a:ext cx="7181774" cy="29546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Raleway" panose="020F0502020204030204" pitchFamily="2" charset="0"/>
              </a:rPr>
              <a:t>What is the purpose of a timer interrupt in a multitasking operating system?</a:t>
            </a:r>
            <a:endParaRPr kumimoji="0" lang="zh-CN" altLang="zh-CN" sz="5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a: To synchronize processes</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b: To initiate a context switch</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c: To handle user input</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d: To allocate memory</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lang="en-US" altLang="zh-CN" sz="1400" b="1" dirty="0">
              <a:solidFill>
                <a:srgbClr val="000000"/>
              </a:solidFill>
              <a:ea typeface="Raleway" panose="020F0502020204030204" pitchFamily="2"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Raleway" panose="020F0502020204030204" pitchFamily="2" charset="0"/>
              </a:rPr>
              <a:t>Which of the following is NOT typically a part of the Process Control Block (PCB)?</a:t>
            </a:r>
            <a:endParaRPr kumimoji="0" lang="zh-CN" altLang="zh-CN" sz="5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a: Process ID</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b: Program counter (PC)</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c: Cache memory</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d: Register values</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981113" y="4572000"/>
            <a:ext cx="7705687" cy="14157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Raleway" panose="020F0502020204030204" pitchFamily="2" charset="0"/>
              </a:rPr>
              <a:t>What is the primary purpose of a context switch in an operating system?</a:t>
            </a:r>
            <a:endParaRPr kumimoji="0" lang="zh-CN" altLang="zh-CN" sz="5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a: To save power</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b: To restart the computer</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c: To allow multitasking and switch between processes</a:t>
            </a: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000000"/>
                </a:solidFill>
                <a:effectLst/>
                <a:latin typeface="Arial" panose="020B0604020202020204" pitchFamily="34" charset="0"/>
                <a:ea typeface="Raleway" panose="020F0502020204030204" pitchFamily="2" charset="0"/>
              </a:rPr>
              <a:t> d: To update system documentation</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Correct Answers</a:t>
            </a:r>
            <a:endParaRPr lang="zh-CN" altLang="en-US" dirty="0"/>
          </a:p>
        </p:txBody>
      </p:sp>
      <p:sp>
        <p:nvSpPr>
          <p:cNvPr id="3" name="Content Placeholder 2"/>
          <p:cNvSpPr>
            <a:spLocks noGrp="1"/>
          </p:cNvSpPr>
          <p:nvPr>
            <p:ph idx="1"/>
          </p:nvPr>
        </p:nvSpPr>
        <p:spPr/>
        <p:txBody>
          <a:bodyPr>
            <a:normAutofit fontScale="62500" lnSpcReduction="20000"/>
          </a:bodyPr>
          <a:lstStyle/>
          <a:p>
            <a:pPr algn="just"/>
            <a:r>
              <a:rPr lang="en-US" altLang="zh-CN" dirty="0"/>
              <a:t>C</a:t>
            </a:r>
          </a:p>
          <a:p>
            <a:pPr marL="0" indent="0" algn="just">
              <a:buNone/>
            </a:pPr>
            <a:r>
              <a:rPr lang="en-US" altLang="zh-CN" dirty="0">
                <a:solidFill>
                  <a:srgbClr val="000000"/>
                </a:solidFill>
                <a:latin typeface="Raleway" panose="020F0502020204030204" pitchFamily="2" charset="0"/>
              </a:rPr>
              <a:t>I</a:t>
            </a:r>
            <a:r>
              <a:rPr lang="en-US" altLang="zh-CN" b="0" i="0" dirty="0">
                <a:solidFill>
                  <a:srgbClr val="000000"/>
                </a:solidFill>
                <a:effectLst/>
                <a:latin typeface="Raleway" panose="020F0502020204030204" pitchFamily="2" charset="0"/>
              </a:rPr>
              <a:t>n the kernel mode, the operating system manages system-level tasks such as memory management, device drivers, and interrupt handling. For example, it handles hardware interrupts generated by devices like disk drives or network cards</a:t>
            </a:r>
            <a:endParaRPr lang="en-US" altLang="zh-CN" dirty="0"/>
          </a:p>
          <a:p>
            <a:pPr algn="just"/>
            <a:r>
              <a:rPr lang="en-US" altLang="zh-CN" dirty="0"/>
              <a:t>D</a:t>
            </a:r>
          </a:p>
          <a:p>
            <a:pPr marL="0" indent="0" algn="just">
              <a:buNone/>
            </a:pPr>
            <a:r>
              <a:rPr lang="en-US" altLang="zh-CN" b="0" i="0" dirty="0">
                <a:solidFill>
                  <a:srgbClr val="000000"/>
                </a:solidFill>
                <a:effectLst/>
                <a:latin typeface="Raleway" panose="020F0502020204030204" pitchFamily="2" charset="0"/>
              </a:rPr>
              <a:t>During a context switch, the CPU typically saves and restores the program counter (PC), stack pointer (SP), and general-purpose registers. Cache memory is not saved and restored because it is part of the CPU's internal architecture and not directly related to the process state.</a:t>
            </a:r>
            <a:endParaRPr lang="en-US" altLang="zh-CN" dirty="0"/>
          </a:p>
          <a:p>
            <a:pPr algn="just"/>
            <a:r>
              <a:rPr lang="en-US" altLang="zh-CN" dirty="0"/>
              <a:t>C</a:t>
            </a:r>
          </a:p>
          <a:p>
            <a:pPr marL="0" indent="0" algn="just">
              <a:buNone/>
            </a:pPr>
            <a:r>
              <a:rPr lang="en-US" altLang="zh-CN" b="0" i="0" dirty="0">
                <a:solidFill>
                  <a:srgbClr val="000000"/>
                </a:solidFill>
                <a:effectLst/>
                <a:latin typeface="Raleway" panose="020F0502020204030204" pitchFamily="2" charset="0"/>
              </a:rPr>
              <a:t>the PCB stores details of a process during its execution. For example, it stores the process state, such as the program counter (PC), stack pointer (SP), and general-purpose registers.</a:t>
            </a: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lgn="just"/>
            <a:r>
              <a:rPr lang="en-US" altLang="zh-CN" dirty="0"/>
              <a:t>A</a:t>
            </a:r>
          </a:p>
          <a:p>
            <a:pPr marL="0" indent="0" algn="just">
              <a:buNone/>
            </a:pPr>
            <a:r>
              <a:rPr lang="en-US" altLang="zh-CN" b="0" i="0" dirty="0">
                <a:solidFill>
                  <a:srgbClr val="000000"/>
                </a:solidFill>
                <a:effectLst/>
                <a:latin typeface="Raleway" panose="020F0502020204030204" pitchFamily="2" charset="0"/>
              </a:rPr>
              <a:t>The control unit is responsible for fetching and decoding instructions.</a:t>
            </a:r>
            <a:endParaRPr lang="en-US" altLang="zh-CN" dirty="0"/>
          </a:p>
          <a:p>
            <a:pPr algn="just"/>
            <a:r>
              <a:rPr lang="en-US" altLang="zh-CN" dirty="0"/>
              <a:t>B</a:t>
            </a:r>
          </a:p>
          <a:p>
            <a:pPr marL="0" indent="0" algn="just">
              <a:buNone/>
            </a:pPr>
            <a:r>
              <a:rPr lang="en-US" altLang="zh-CN" dirty="0">
                <a:solidFill>
                  <a:srgbClr val="000000"/>
                </a:solidFill>
                <a:latin typeface="Raleway" panose="020F0502020204030204" pitchFamily="2" charset="0"/>
              </a:rPr>
              <a:t>A</a:t>
            </a:r>
            <a:r>
              <a:rPr lang="en-US" altLang="zh-CN" b="0" i="0" dirty="0">
                <a:solidFill>
                  <a:srgbClr val="000000"/>
                </a:solidFill>
                <a:effectLst/>
                <a:latin typeface="Raleway" panose="020F0502020204030204" pitchFamily="2" charset="0"/>
              </a:rPr>
              <a:t> timer interrupt is used to enforce time-sharing among multiple processes in a multitasking operating system. When a timer interrupt occurs, the system can perform a context switch to allow another process to execute, ensuring fair CPU time allocation.</a:t>
            </a:r>
            <a:endParaRPr lang="en-US" altLang="zh-CN" dirty="0"/>
          </a:p>
          <a:p>
            <a:pPr algn="just"/>
            <a:r>
              <a:rPr lang="en-US" altLang="zh-CN" dirty="0"/>
              <a:t>C</a:t>
            </a:r>
          </a:p>
          <a:p>
            <a:pPr marL="0" indent="0" algn="just">
              <a:buNone/>
            </a:pPr>
            <a:r>
              <a:rPr lang="en-US" altLang="zh-CN" b="0" i="0" dirty="0">
                <a:solidFill>
                  <a:srgbClr val="000000"/>
                </a:solidFill>
                <a:effectLst/>
                <a:latin typeface="Raleway" panose="020F0502020204030204" pitchFamily="2" charset="0"/>
              </a:rPr>
              <a:t>Simply, PCB does not store cache memory</a:t>
            </a:r>
            <a:endParaRPr lang="en-US" altLang="zh-CN" dirty="0"/>
          </a:p>
          <a:p>
            <a:pPr algn="just"/>
            <a:r>
              <a:rPr lang="en-US" altLang="zh-CN" dirty="0"/>
              <a:t>C</a:t>
            </a:r>
          </a:p>
          <a:p>
            <a:pPr marL="0" indent="0" algn="just">
              <a:buNone/>
            </a:pPr>
            <a:r>
              <a:rPr lang="en-US" altLang="zh-CN" dirty="0">
                <a:solidFill>
                  <a:srgbClr val="000000"/>
                </a:solidFill>
                <a:latin typeface="Raleway" panose="020F0502020204030204" pitchFamily="2" charset="0"/>
              </a:rPr>
              <a:t>A</a:t>
            </a:r>
            <a:r>
              <a:rPr lang="en-US" altLang="zh-CN" b="0" i="0" dirty="0">
                <a:solidFill>
                  <a:srgbClr val="000000"/>
                </a:solidFill>
                <a:effectLst/>
                <a:latin typeface="Raleway" panose="020F0502020204030204" pitchFamily="2" charset="0"/>
              </a:rPr>
              <a:t> context switch is used to allow multitasking and switch between processes.</a:t>
            </a:r>
            <a:endParaRPr lang="zh-CN" altLang="en-US" dirty="0"/>
          </a:p>
        </p:txBody>
      </p:sp>
      <p:sp>
        <p:nvSpPr>
          <p:cNvPr id="5" name="Title 1"/>
          <p:cNvSpPr>
            <a:spLocks noGrp="1"/>
          </p:cNvSpPr>
          <p:nvPr>
            <p:ph type="title"/>
          </p:nvPr>
        </p:nvSpPr>
        <p:spPr>
          <a:xfrm>
            <a:off x="457200" y="274638"/>
            <a:ext cx="8229600" cy="1143000"/>
          </a:xfrm>
        </p:spPr>
        <p:txBody>
          <a:bodyPr/>
          <a:lstStyle/>
          <a:p>
            <a:r>
              <a:rPr lang="en-US" altLang="zh-CN" dirty="0"/>
              <a:t>Correct Answers</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Questions !!</a:t>
            </a:r>
            <a:endParaRPr lang="zh-CN" altLang="en-US" dirty="0"/>
          </a:p>
        </p:txBody>
      </p:sp>
      <p:sp>
        <p:nvSpPr>
          <p:cNvPr id="3" name="Content Placeholder 2"/>
          <p:cNvSpPr>
            <a:spLocks noGrp="1"/>
          </p:cNvSpPr>
          <p:nvPr>
            <p:ph idx="1"/>
          </p:nvPr>
        </p:nvSpPr>
        <p:spPr>
          <a:xfrm>
            <a:off x="457200" y="1646237"/>
            <a:ext cx="8229600" cy="4525963"/>
          </a:xfrm>
        </p:spPr>
        <p:txBody>
          <a:bodyPr/>
          <a:lstStyle/>
          <a:p>
            <a:r>
              <a:rPr lang="en-US" altLang="zh-CN" dirty="0"/>
              <a:t>Describe the actions taken by the kernel to context-switch between two processes.</a:t>
            </a:r>
          </a:p>
          <a:p>
            <a:r>
              <a:rPr lang="en-US" altLang="zh-CN" dirty="0"/>
              <a:t>Briefly describe main differences between a process and a program.</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Questions !!</a:t>
            </a:r>
            <a:endParaRPr lang="zh-CN" altLang="en-US" dirty="0"/>
          </a:p>
        </p:txBody>
      </p:sp>
      <p:sp>
        <p:nvSpPr>
          <p:cNvPr id="3" name="Content Placeholder 2"/>
          <p:cNvSpPr>
            <a:spLocks noGrp="1"/>
          </p:cNvSpPr>
          <p:nvPr>
            <p:ph idx="1"/>
          </p:nvPr>
        </p:nvSpPr>
        <p:spPr/>
        <p:txBody>
          <a:bodyPr>
            <a:normAutofit lnSpcReduction="10000"/>
          </a:bodyPr>
          <a:lstStyle/>
          <a:p>
            <a:r>
              <a:rPr lang="en-US" altLang="zh-CN" dirty="0"/>
              <a:t>Describe the actions taken by the kernel to context-switch between two processes.</a:t>
            </a:r>
          </a:p>
          <a:p>
            <a:pPr lvl="1" algn="just"/>
            <a:r>
              <a:rPr lang="en-US" altLang="zh-CN" dirty="0"/>
              <a:t>In response to a clock interrupt, the OS saves the PC and user stack pointer of the currently executing process, and transfers control to the kernel clock interrupt handler.</a:t>
            </a:r>
          </a:p>
          <a:p>
            <a:pPr lvl="1" algn="just"/>
            <a:r>
              <a:rPr lang="en-US" altLang="zh-CN" dirty="0"/>
              <a:t>The clock interrupt handler saves the rest of the registers, as well as other machine state, such as the state of the floating point registers, in the process PCB.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Questions !!</a:t>
            </a:r>
            <a:endParaRPr lang="zh-CN" altLang="en-US" dirty="0"/>
          </a:p>
        </p:txBody>
      </p:sp>
      <p:sp>
        <p:nvSpPr>
          <p:cNvPr id="3" name="Content Placeholder 2"/>
          <p:cNvSpPr>
            <a:spLocks noGrp="1"/>
          </p:cNvSpPr>
          <p:nvPr>
            <p:ph idx="1"/>
          </p:nvPr>
        </p:nvSpPr>
        <p:spPr/>
        <p:txBody>
          <a:bodyPr>
            <a:normAutofit lnSpcReduction="10000"/>
          </a:bodyPr>
          <a:lstStyle/>
          <a:p>
            <a:r>
              <a:rPr lang="en-US" altLang="zh-CN" dirty="0"/>
              <a:t>Describe the actions taken by the kernel to context-switch between two processes.</a:t>
            </a:r>
          </a:p>
          <a:p>
            <a:pPr lvl="1" algn="just"/>
            <a:r>
              <a:rPr lang="en-US" altLang="zh-CN" dirty="0"/>
              <a:t>The OS invokes the scheduler to determine the next process to execute</a:t>
            </a:r>
          </a:p>
          <a:p>
            <a:pPr lvl="1" algn="just"/>
            <a:r>
              <a:rPr lang="en-US" altLang="zh-CN" dirty="0"/>
              <a:t>The OS then retrieves the state of the next process from its PCB, and </a:t>
            </a:r>
            <a:r>
              <a:rPr lang="en-US" altLang="zh-CN" dirty="0" err="1"/>
              <a:t>restoresthe</a:t>
            </a:r>
            <a:r>
              <a:rPr lang="en-US" altLang="zh-CN" dirty="0"/>
              <a:t> registers. This restore operation takes the processor back to the state </a:t>
            </a:r>
            <a:r>
              <a:rPr lang="en-US" altLang="zh-CN" dirty="0" err="1"/>
              <a:t>inwhich</a:t>
            </a:r>
            <a:r>
              <a:rPr lang="en-US" altLang="zh-CN" dirty="0"/>
              <a:t> this process was previously interrupted, executing in user code </a:t>
            </a:r>
            <a:r>
              <a:rPr lang="en-US" altLang="zh-CN" dirty="0" err="1"/>
              <a:t>withuser</a:t>
            </a:r>
            <a:r>
              <a:rPr lang="en-US" altLang="zh-CN" dirty="0"/>
              <a:t> mode privileges.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Questions !!</a:t>
            </a:r>
            <a:endParaRPr lang="zh-CN" alt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altLang="zh-CN" dirty="0"/>
              <a:t>Briefly describe main differences between a process and a program.</a:t>
            </a:r>
          </a:p>
          <a:p>
            <a:r>
              <a:rPr lang="en-US" altLang="zh-CN" dirty="0"/>
              <a:t>Program is a set of instructions stored on secondary memory like hard disk.</a:t>
            </a:r>
          </a:p>
          <a:p>
            <a:r>
              <a:rPr lang="en-US" altLang="zh-CN" dirty="0"/>
              <a:t>Process is usually defined as an instance of a running program, and consists of two components:</a:t>
            </a:r>
          </a:p>
          <a:p>
            <a:pPr lvl="1"/>
            <a:r>
              <a:rPr lang="en-US" altLang="zh-CN" dirty="0"/>
              <a:t>A kernel object--Process Control Block (PCB) that the operating system uses to manage the process. PCB is also where the system keeps statistical information about the process.</a:t>
            </a:r>
          </a:p>
          <a:p>
            <a:pPr lvl="1"/>
            <a:r>
              <a:rPr lang="en-US" altLang="zh-CN" dirty="0"/>
              <a:t>An address space that contains all the executable or DLL module's code and data. It also contains dynamic memory allocations such as thread stacks and heap allocations.</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Threads</a:t>
            </a:r>
          </a:p>
        </p:txBody>
      </p:sp>
      <p:sp>
        <p:nvSpPr>
          <p:cNvPr id="5" name="Content Placeholder 4"/>
          <p:cNvSpPr>
            <a:spLocks noGrp="1"/>
          </p:cNvSpPr>
          <p:nvPr>
            <p:ph idx="1"/>
          </p:nvPr>
        </p:nvSpPr>
        <p:spPr>
          <a:xfrm>
            <a:off x="228600" y="2179638"/>
            <a:ext cx="8229600" cy="4525963"/>
          </a:xfrm>
        </p:spPr>
        <p:txBody>
          <a:bodyPr>
            <a:normAutofit/>
          </a:bodyPr>
          <a:lstStyle/>
          <a:p>
            <a:r>
              <a:rPr lang="en-US" dirty="0"/>
              <a:t>A thread is a light weight process.</a:t>
            </a:r>
          </a:p>
          <a:p>
            <a:r>
              <a:rPr lang="en-US" dirty="0"/>
              <a:t>A thread is a unit of execution within a process</a:t>
            </a:r>
          </a:p>
          <a:p>
            <a:r>
              <a:rPr lang="en-US" dirty="0"/>
              <a:t>A process has at least thread, called main thread.</a:t>
            </a:r>
          </a:p>
          <a:p>
            <a:r>
              <a:rPr lang="en-US" dirty="0"/>
              <a:t>It is not uncommon for a process to have multiple threads.</a:t>
            </a:r>
          </a:p>
          <a:p>
            <a:r>
              <a:rPr lang="en-US" dirty="0"/>
              <a:t>Each thread maintain it’s own stack</a:t>
            </a:r>
          </a:p>
          <a:p>
            <a:endParaRPr lang="en-US" dirty="0"/>
          </a:p>
        </p:txBody>
      </p:sp>
      <p:pic>
        <p:nvPicPr>
          <p:cNvPr id="2" name="Content Placeholder 4" descr="sin.png"/>
          <p:cNvPicPr>
            <a:picLocks noChangeAspect="1"/>
          </p:cNvPicPr>
          <p:nvPr/>
        </p:nvPicPr>
        <p:blipFill>
          <a:blip r:embed="rId2"/>
          <a:stretch>
            <a:fillRect/>
          </a:stretch>
        </p:blipFill>
        <p:spPr>
          <a:xfrm>
            <a:off x="6012093" y="274638"/>
            <a:ext cx="2903307" cy="1905000"/>
          </a:xfrm>
          <a:prstGeom prst="rect">
            <a:avLst/>
          </a:prstGeom>
        </p:spPr>
      </p:pic>
      <p:cxnSp>
        <p:nvCxnSpPr>
          <p:cNvPr id="6" name="Connector: Elbow 5"/>
          <p:cNvCxnSpPr/>
          <p:nvPr/>
        </p:nvCxnSpPr>
        <p:spPr>
          <a:xfrm rot="5400000" flipH="1" flipV="1">
            <a:off x="6050280" y="2651760"/>
            <a:ext cx="2468880" cy="1280160"/>
          </a:xfrm>
          <a:prstGeom prst="bentConnector3">
            <a:avLst>
              <a:gd name="adj1" fmla="val -7698"/>
            </a:avLst>
          </a:prstGeom>
          <a:ln>
            <a:tailEnd type="triangle"/>
          </a:ln>
        </p:spPr>
        <p:style>
          <a:lnRef idx="1">
            <a:schemeClr val="dk1"/>
          </a:lnRef>
          <a:fillRef idx="0">
            <a:schemeClr val="dk1"/>
          </a:fillRef>
          <a:effectRef idx="0">
            <a:schemeClr val="dk1"/>
          </a:effectRef>
          <a:fontRef idx="minor">
            <a:schemeClr val="tx1"/>
          </a:fontRef>
        </p:style>
      </p:cxnSp>
      <p:pic>
        <p:nvPicPr>
          <p:cNvPr id="8" name="Content Placeholder 3" descr="multi.png"/>
          <p:cNvPicPr>
            <a:picLocks noChangeAspect="1"/>
          </p:cNvPicPr>
          <p:nvPr/>
        </p:nvPicPr>
        <p:blipFill>
          <a:blip r:embed="rId3"/>
          <a:stretch>
            <a:fillRect/>
          </a:stretch>
        </p:blipFill>
        <p:spPr>
          <a:xfrm>
            <a:off x="453347" y="277914"/>
            <a:ext cx="2667000" cy="1840605"/>
          </a:xfrm>
          <a:prstGeom prst="rect">
            <a:avLst/>
          </a:prstGeom>
        </p:spPr>
      </p:pic>
      <p:cxnSp>
        <p:nvCxnSpPr>
          <p:cNvPr id="9" name="Connector: Elbow 8"/>
          <p:cNvCxnSpPr>
            <a:endCxn id="8" idx="1"/>
          </p:cNvCxnSpPr>
          <p:nvPr/>
        </p:nvCxnSpPr>
        <p:spPr>
          <a:xfrm rot="16200000" flipV="1">
            <a:off x="-1650717" y="3302282"/>
            <a:ext cx="4364383" cy="156253"/>
          </a:xfrm>
          <a:prstGeom prst="bentConnector4">
            <a:avLst>
              <a:gd name="adj1" fmla="val -3292"/>
              <a:gd name="adj2" fmla="val 24630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40165" y="1447109"/>
            <a:ext cx="3974874" cy="3658291"/>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p:cNvPicPr>
            <a:picLocks noChangeAspect="1"/>
          </p:cNvPicPr>
          <p:nvPr/>
        </p:nvPicPr>
        <p:blipFill>
          <a:blip r:embed="rId3"/>
          <a:stretch>
            <a:fillRect/>
          </a:stretch>
        </p:blipFill>
        <p:spPr>
          <a:xfrm>
            <a:off x="5290780" y="1430600"/>
            <a:ext cx="3700820" cy="3604337"/>
          </a:xfrm>
          <a:prstGeom prst="rect">
            <a:avLst/>
          </a:prstGeom>
        </p:spPr>
      </p:pic>
      <p:sp>
        <p:nvSpPr>
          <p:cNvPr id="11" name="Arrow: Right 10"/>
          <p:cNvSpPr/>
          <p:nvPr/>
        </p:nvSpPr>
        <p:spPr>
          <a:xfrm>
            <a:off x="4419600" y="2976846"/>
            <a:ext cx="866563" cy="685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Threads</a:t>
            </a:r>
          </a:p>
        </p:txBody>
      </p:sp>
      <p:sp>
        <p:nvSpPr>
          <p:cNvPr id="5" name="Content Placeholder 4"/>
          <p:cNvSpPr>
            <a:spLocks noGrp="1"/>
          </p:cNvSpPr>
          <p:nvPr>
            <p:ph idx="1"/>
          </p:nvPr>
        </p:nvSpPr>
        <p:spPr/>
        <p:txBody>
          <a:bodyPr>
            <a:normAutofit/>
          </a:bodyPr>
          <a:lstStyle/>
          <a:p>
            <a:r>
              <a:rPr lang="en-US" altLang="zh-CN" dirty="0"/>
              <a:t>A thread is a basic unit of CPU utilization, it comprises ;</a:t>
            </a:r>
          </a:p>
          <a:p>
            <a:pPr lvl="1">
              <a:buFont typeface="Wingdings" panose="05000000000000000000" pitchFamily="2" charset="2"/>
              <a:buChar char="Ø"/>
            </a:pPr>
            <a:r>
              <a:rPr lang="en-US" altLang="zh-CN" dirty="0"/>
              <a:t>Thread ID</a:t>
            </a:r>
          </a:p>
          <a:p>
            <a:pPr lvl="1">
              <a:buFont typeface="Wingdings" panose="05000000000000000000" pitchFamily="2" charset="2"/>
              <a:buChar char="Ø"/>
            </a:pPr>
            <a:r>
              <a:rPr lang="en-US" altLang="zh-CN" dirty="0"/>
              <a:t>Program counter</a:t>
            </a:r>
          </a:p>
          <a:p>
            <a:pPr lvl="1">
              <a:buFont typeface="Wingdings" panose="05000000000000000000" pitchFamily="2" charset="2"/>
              <a:buChar char="Ø"/>
            </a:pPr>
            <a:r>
              <a:rPr lang="en-US" altLang="zh-CN" dirty="0"/>
              <a:t>Register set</a:t>
            </a:r>
          </a:p>
          <a:p>
            <a:pPr lvl="1">
              <a:buFont typeface="Wingdings" panose="05000000000000000000" pitchFamily="2" charset="2"/>
              <a:buChar char="Ø"/>
            </a:pPr>
            <a:r>
              <a:rPr lang="en-US" altLang="zh-CN" dirty="0"/>
              <a:t>Stack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How Multiple Threads Execute</a:t>
            </a:r>
            <a:endParaRPr lang="zh-CN" altLang="en-US" dirty="0"/>
          </a:p>
        </p:txBody>
      </p:sp>
      <p:sp>
        <p:nvSpPr>
          <p:cNvPr id="3" name="Content Placeholder 2"/>
          <p:cNvSpPr>
            <a:spLocks noGrp="1"/>
          </p:cNvSpPr>
          <p:nvPr>
            <p:ph idx="1"/>
          </p:nvPr>
        </p:nvSpPr>
        <p:spPr/>
        <p:txBody>
          <a:bodyPr>
            <a:normAutofit/>
          </a:bodyPr>
          <a:lstStyle/>
          <a:p>
            <a:r>
              <a:rPr lang="en-US" altLang="zh-CN" dirty="0"/>
              <a:t>Recall, </a:t>
            </a:r>
            <a:r>
              <a:rPr lang="en-US" altLang="zh-CN" b="1" dirty="0"/>
              <a:t>Context Switching in Processes</a:t>
            </a:r>
            <a:endParaRPr lang="en-US" altLang="zh-CN" dirty="0"/>
          </a:p>
          <a:p>
            <a:pPr>
              <a:buFont typeface="Arial" panose="020B0604020202020204" pitchFamily="34" charset="0"/>
              <a:buChar char="•"/>
            </a:pPr>
            <a:r>
              <a:rPr lang="en-US" altLang="zh-CN" dirty="0"/>
              <a:t>Definition: Process context switching is the process of </a:t>
            </a:r>
            <a:r>
              <a:rPr lang="en-US" altLang="zh-CN" dirty="0">
                <a:highlight>
                  <a:srgbClr val="FFFF00"/>
                </a:highlight>
              </a:rPr>
              <a:t>storing and restoring </a:t>
            </a:r>
            <a:r>
              <a:rPr lang="en-US" altLang="zh-CN" dirty="0"/>
              <a:t>the state (context) of a CPU so that multiple processes can share a single CPU resource.</a:t>
            </a:r>
          </a:p>
          <a:p>
            <a:pPr>
              <a:buFont typeface="Arial" panose="020B0604020202020204" pitchFamily="34" charset="0"/>
              <a:buChar char="•"/>
            </a:pPr>
            <a:r>
              <a:rPr lang="en-US" altLang="zh-CN" b="1" dirty="0"/>
              <a:t>Implication</a:t>
            </a:r>
            <a:r>
              <a:rPr lang="en-US" altLang="zh-CN" dirty="0"/>
              <a:t>: This process incurs overhead, slowing down execution.</a:t>
            </a:r>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How Multiple Threads Execute</a:t>
            </a:r>
            <a:endParaRPr lang="zh-CN" altLang="en-US" dirty="0"/>
          </a:p>
        </p:txBody>
      </p:sp>
      <p:sp>
        <p:nvSpPr>
          <p:cNvPr id="5" name="Rectangle 2"/>
          <p:cNvSpPr>
            <a:spLocks noGrp="1" noChangeArrowheads="1"/>
          </p:cNvSpPr>
          <p:nvPr>
            <p:ph idx="1"/>
          </p:nvPr>
        </p:nvSpPr>
        <p:spPr bwMode="auto">
          <a:xfrm>
            <a:off x="609600" y="1348800"/>
            <a:ext cx="79248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r>
              <a:rPr kumimoji="0" lang="zh-CN" altLang="zh-CN" b="1" i="0" u="none" strike="noStrike" cap="none" normalizeH="0" baseline="0" dirty="0">
                <a:ln>
                  <a:noFill/>
                </a:ln>
                <a:solidFill>
                  <a:schemeClr val="tx1"/>
                </a:solidFill>
                <a:effectLst/>
                <a:latin typeface="+mj-lt"/>
              </a:rPr>
              <a:t>Cost of Context Switching</a:t>
            </a:r>
            <a:endParaRPr kumimoji="0" lang="zh-CN" altLang="zh-CN" b="0" i="0" u="none" strike="noStrike" cap="none" normalizeH="0" baseline="0" dirty="0">
              <a:ln>
                <a:noFill/>
              </a:ln>
              <a:solidFill>
                <a:schemeClr val="tx1"/>
              </a:solidFill>
              <a:effectLst/>
              <a:latin typeface="+mj-lt"/>
            </a:endParaRPr>
          </a:p>
          <a:p>
            <a:pPr eaLnBrk="0" fontAlgn="base" hangingPunct="0">
              <a:spcBef>
                <a:spcPct val="0"/>
              </a:spcBef>
              <a:spcAft>
                <a:spcPct val="0"/>
              </a:spcAft>
            </a:pPr>
            <a:r>
              <a:rPr kumimoji="0" lang="zh-CN" altLang="zh-CN" b="0" i="0" u="none" strike="noStrike" cap="none" normalizeH="0" baseline="0" dirty="0">
                <a:ln>
                  <a:noFill/>
                </a:ln>
                <a:solidFill>
                  <a:schemeClr val="tx1"/>
                </a:solidFill>
                <a:effectLst/>
                <a:latin typeface="+mj-lt"/>
              </a:rPr>
              <a:t>Context switching between processes is resource-intensive. </a:t>
            </a:r>
          </a:p>
          <a:p>
            <a:pPr eaLnBrk="0" fontAlgn="base" hangingPunct="0">
              <a:spcBef>
                <a:spcPct val="0"/>
              </a:spcBef>
              <a:spcAft>
                <a:spcPct val="0"/>
              </a:spcAft>
            </a:pPr>
            <a:r>
              <a:rPr kumimoji="0" lang="zh-CN" altLang="zh-CN" b="0" i="0" u="none" strike="noStrike" cap="none" normalizeH="0" baseline="0" dirty="0">
                <a:ln>
                  <a:noFill/>
                </a:ln>
                <a:solidFill>
                  <a:schemeClr val="tx1"/>
                </a:solidFill>
                <a:effectLst/>
                <a:latin typeface="+mj-lt"/>
              </a:rPr>
              <a:t>Involves saving and loading program states, memory contents, etc. </a:t>
            </a:r>
          </a:p>
          <a:p>
            <a:pPr marL="0" marR="0" lvl="0" indent="0" algn="l" defTabSz="914400" rtl="0" eaLnBrk="0" fontAlgn="base" latinLnBrk="0" hangingPunct="0">
              <a:lnSpc>
                <a:spcPct val="100000"/>
              </a:lnSpc>
              <a:spcBef>
                <a:spcPct val="0"/>
              </a:spcBef>
              <a:spcAft>
                <a:spcPct val="0"/>
              </a:spcAft>
              <a:buClrTx/>
              <a:buSzTx/>
              <a:buNone/>
            </a:pPr>
            <a:r>
              <a:rPr kumimoji="0" lang="zh-CN" altLang="zh-CN" b="1" i="0" u="none" strike="noStrike" cap="none" normalizeH="0" baseline="0" dirty="0">
                <a:ln>
                  <a:noFill/>
                </a:ln>
                <a:solidFill>
                  <a:schemeClr val="tx1"/>
                </a:solidFill>
                <a:effectLst/>
                <a:latin typeface="+mj-lt"/>
              </a:rPr>
              <a:t>Efficiency in Thread Execution</a:t>
            </a:r>
            <a:endParaRPr kumimoji="0" lang="zh-CN" altLang="zh-CN" b="0" i="0" u="none" strike="noStrike" cap="none" normalizeH="0" baseline="0" dirty="0">
              <a:ln>
                <a:noFill/>
              </a:ln>
              <a:solidFill>
                <a:schemeClr val="tx1"/>
              </a:solidFill>
              <a:effectLst/>
              <a:latin typeface="+mj-lt"/>
            </a:endParaRPr>
          </a:p>
          <a:p>
            <a:pPr eaLnBrk="0" fontAlgn="base" hangingPunct="0">
              <a:spcBef>
                <a:spcPct val="0"/>
              </a:spcBef>
              <a:spcAft>
                <a:spcPct val="0"/>
              </a:spcAft>
            </a:pPr>
            <a:r>
              <a:rPr kumimoji="0" lang="zh-CN" altLang="zh-CN" b="0" i="0" u="none" strike="noStrike" cap="none" normalizeH="0" baseline="0" dirty="0">
                <a:ln>
                  <a:noFill/>
                </a:ln>
                <a:solidFill>
                  <a:schemeClr val="tx1"/>
                </a:solidFill>
                <a:effectLst/>
                <a:latin typeface="+mj-lt"/>
              </a:rPr>
              <a:t>Threads share the same memory space, reducing overhead. </a:t>
            </a:r>
          </a:p>
          <a:p>
            <a:pPr eaLnBrk="0" fontAlgn="base" hangingPunct="0">
              <a:spcBef>
                <a:spcPct val="0"/>
              </a:spcBef>
              <a:spcAft>
                <a:spcPct val="0"/>
              </a:spcAft>
            </a:pPr>
            <a:r>
              <a:rPr kumimoji="0" lang="zh-CN" altLang="zh-CN" b="0" i="0" u="none" strike="noStrike" cap="none" normalizeH="0" baseline="0" dirty="0">
                <a:ln>
                  <a:noFill/>
                </a:ln>
                <a:solidFill>
                  <a:schemeClr val="tx1"/>
                </a:solidFill>
                <a:effectLst/>
                <a:latin typeface="+mj-lt"/>
              </a:rPr>
              <a:t>Context switching between threads is faster than between processes due to fewer resources involved.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How Multiple Threads Execute</a:t>
            </a:r>
            <a:endParaRPr lang="zh-CN" altLang="en-US" dirty="0"/>
          </a:p>
        </p:txBody>
      </p:sp>
      <p:sp>
        <p:nvSpPr>
          <p:cNvPr id="5" name="Rectangle 2"/>
          <p:cNvSpPr>
            <a:spLocks noGrp="1" noChangeArrowheads="1"/>
          </p:cNvSpPr>
          <p:nvPr>
            <p:ph idx="1"/>
          </p:nvPr>
        </p:nvSpPr>
        <p:spPr bwMode="auto">
          <a:xfrm>
            <a:off x="609600" y="2087463"/>
            <a:ext cx="79248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None/>
            </a:pPr>
            <a:r>
              <a:rPr kumimoji="0" lang="en-US" altLang="zh-CN" i="0" u="none" strike="noStrike" cap="none" normalizeH="0" baseline="0" dirty="0">
                <a:ln>
                  <a:noFill/>
                </a:ln>
                <a:solidFill>
                  <a:schemeClr val="tx1"/>
                </a:solidFill>
                <a:effectLst/>
                <a:latin typeface="+mj-lt"/>
              </a:rPr>
              <a:t>In conclusion, Context switching, the process of saving the state of one process/thread and restoring another, is faster and lighter when switching between threads within the same process compared to switching between different processes because threads share memory, while processes have separate memory spaces. </a:t>
            </a:r>
            <a:endParaRPr kumimoji="0" lang="zh-CN" altLang="zh-CN" i="0" u="none" strike="noStrike" cap="none" normalizeH="0" baseline="0" dirty="0">
              <a:ln>
                <a:noFill/>
              </a:ln>
              <a:solidFill>
                <a:schemeClr val="tx1"/>
              </a:solidFill>
              <a:effectLst/>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Single Threaded and Multi Threaded Process</a:t>
            </a:r>
          </a:p>
        </p:txBody>
      </p:sp>
      <p:sp>
        <p:nvSpPr>
          <p:cNvPr id="3" name="Content Placeholder 2"/>
          <p:cNvSpPr>
            <a:spLocks noGrp="1"/>
          </p:cNvSpPr>
          <p:nvPr>
            <p:ph idx="1"/>
          </p:nvPr>
        </p:nvSpPr>
        <p:spPr/>
        <p:txBody>
          <a:bodyPr>
            <a:normAutofit fontScale="92500" lnSpcReduction="10000"/>
          </a:bodyPr>
          <a:lstStyle/>
          <a:p>
            <a:r>
              <a:rPr lang="en-US" dirty="0"/>
              <a:t>Many software packages that run on modern desktop PCs are multithreaded. An application typically is implemented as a separate process with several threads of control.</a:t>
            </a:r>
          </a:p>
          <a:p>
            <a:r>
              <a:rPr lang="en-US" dirty="0"/>
              <a:t>For example, a word processor ;</a:t>
            </a:r>
          </a:p>
          <a:p>
            <a:pPr lvl="1">
              <a:buFont typeface="Wingdings" panose="05000000000000000000" pitchFamily="2" charset="2"/>
              <a:buChar char="Ø"/>
            </a:pPr>
            <a:r>
              <a:rPr lang="en-US" dirty="0"/>
              <a:t>A thread for displaying graphics.</a:t>
            </a:r>
          </a:p>
          <a:p>
            <a:pPr lvl="1">
              <a:buFont typeface="Wingdings" panose="05000000000000000000" pitchFamily="2" charset="2"/>
              <a:buChar char="Ø"/>
            </a:pPr>
            <a:r>
              <a:rPr lang="en-US" dirty="0"/>
              <a:t>Another thread for responding to keystrokes from the user.</a:t>
            </a:r>
          </a:p>
          <a:p>
            <a:pPr lvl="1">
              <a:buFont typeface="Wingdings" panose="05000000000000000000" pitchFamily="2" charset="2"/>
              <a:buChar char="Ø"/>
            </a:pPr>
            <a:r>
              <a:rPr lang="en-US" dirty="0"/>
              <a:t>And third thread for performing spelling and grammar checking in the background.</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Threaded Process</a:t>
            </a:r>
          </a:p>
        </p:txBody>
      </p:sp>
      <p:pic>
        <p:nvPicPr>
          <p:cNvPr id="5" name="Content Placeholder 4" descr="sin.png"/>
          <p:cNvPicPr>
            <a:picLocks noGrp="1" noChangeAspect="1"/>
          </p:cNvPicPr>
          <p:nvPr>
            <p:ph idx="1"/>
          </p:nvPr>
        </p:nvPicPr>
        <p:blipFill>
          <a:blip r:embed="rId2"/>
          <a:stretch>
            <a:fillRect/>
          </a:stretch>
        </p:blipFill>
        <p:spPr>
          <a:xfrm>
            <a:off x="1600200" y="1828800"/>
            <a:ext cx="5943600" cy="3899884"/>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 Threaded Process</a:t>
            </a:r>
          </a:p>
        </p:txBody>
      </p:sp>
      <p:pic>
        <p:nvPicPr>
          <p:cNvPr id="4" name="Content Placeholder 3" descr="multi.png"/>
          <p:cNvPicPr>
            <a:picLocks noGrp="1" noChangeAspect="1"/>
          </p:cNvPicPr>
          <p:nvPr>
            <p:ph idx="1"/>
          </p:nvPr>
        </p:nvPicPr>
        <p:blipFill>
          <a:blip r:embed="rId2"/>
          <a:stretch>
            <a:fillRect/>
          </a:stretch>
        </p:blipFill>
        <p:spPr>
          <a:xfrm>
            <a:off x="1600200" y="1905000"/>
            <a:ext cx="5410200" cy="3733800"/>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6200" y="1500592"/>
            <a:ext cx="8991600" cy="3909608"/>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3600" dirty="0"/>
              <a:t>Python.exe (A process with five threads)</a:t>
            </a:r>
            <a:endParaRPr lang="zh-CN" altLang="en-US" sz="3600" dirty="0"/>
          </a:p>
        </p:txBody>
      </p:sp>
      <p:sp>
        <p:nvSpPr>
          <p:cNvPr id="3" name="内容占位符 2"/>
          <p:cNvSpPr>
            <a:spLocks noGrp="1"/>
          </p:cNvSpPr>
          <p:nvPr>
            <p:ph idx="1"/>
          </p:nvPr>
        </p:nvSpPr>
        <p:spPr/>
        <p:txBody>
          <a:bodyPr/>
          <a:lstStyle/>
          <a:p>
            <a:endParaRPr lang="zh-CN" altLang="en-US"/>
          </a:p>
        </p:txBody>
      </p:sp>
      <p:pic>
        <p:nvPicPr>
          <p:cNvPr id="4" name="图片 3" descr="Screenshot (617)"/>
          <p:cNvPicPr>
            <a:picLocks noChangeAspect="1"/>
          </p:cNvPicPr>
          <p:nvPr/>
        </p:nvPicPr>
        <p:blipFill>
          <a:blip r:embed="rId2"/>
          <a:srcRect b="6000"/>
          <a:stretch/>
        </p:blipFill>
        <p:spPr>
          <a:xfrm>
            <a:off x="190500" y="1485900"/>
            <a:ext cx="8763000" cy="53721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Why 5 threads?</a:t>
            </a:r>
            <a:endParaRPr lang="zh-CN" altLang="en-US" dirty="0"/>
          </a:p>
        </p:txBody>
      </p:sp>
      <p:sp>
        <p:nvSpPr>
          <p:cNvPr id="3" name="内容占位符 2"/>
          <p:cNvSpPr>
            <a:spLocks noGrp="1"/>
          </p:cNvSpPr>
          <p:nvPr>
            <p:ph idx="1"/>
          </p:nvPr>
        </p:nvSpPr>
        <p:spPr>
          <a:xfrm>
            <a:off x="457200" y="1600200"/>
            <a:ext cx="8229600" cy="4525963"/>
          </a:xfrm>
        </p:spPr>
        <p:txBody>
          <a:bodyPr>
            <a:normAutofit fontScale="85000" lnSpcReduction="10000"/>
          </a:bodyPr>
          <a:lstStyle/>
          <a:p>
            <a:pPr marL="0" indent="0">
              <a:buNone/>
            </a:pPr>
            <a:r>
              <a:rPr lang="en-US" altLang="zh-CN" b="0" dirty="0">
                <a:solidFill>
                  <a:srgbClr val="C586C0"/>
                </a:solidFill>
                <a:effectLst/>
                <a:latin typeface="Consolas" panose="020B0609020204030204" pitchFamily="49" charset="0"/>
              </a:rPr>
              <a:t>import</a:t>
            </a:r>
            <a:r>
              <a:rPr lang="en-US" altLang="zh-CN" b="0" dirty="0">
                <a:solidFill>
                  <a:srgbClr val="CCCCCC"/>
                </a:solidFill>
                <a:effectLst/>
                <a:latin typeface="Consolas" panose="020B0609020204030204" pitchFamily="49" charset="0"/>
              </a:rPr>
              <a:t> </a:t>
            </a:r>
            <a:r>
              <a:rPr lang="en-US" altLang="zh-CN" b="0" dirty="0" err="1">
                <a:solidFill>
                  <a:srgbClr val="4EC9B0"/>
                </a:solidFill>
                <a:effectLst/>
                <a:latin typeface="Consolas" panose="020B0609020204030204" pitchFamily="49" charset="0"/>
              </a:rPr>
              <a:t>os</a:t>
            </a:r>
            <a:br>
              <a:rPr lang="en-US" altLang="zh-CN" b="0" dirty="0">
                <a:solidFill>
                  <a:srgbClr val="CCCCCC"/>
                </a:solidFill>
                <a:effectLst/>
                <a:latin typeface="Consolas" panose="020B0609020204030204" pitchFamily="49" charset="0"/>
              </a:rPr>
            </a:br>
            <a:r>
              <a:rPr lang="en-US" altLang="zh-CN" b="0" dirty="0">
                <a:solidFill>
                  <a:srgbClr val="DCDCAA"/>
                </a:solidFill>
                <a:effectLst/>
                <a:latin typeface="Consolas" panose="020B0609020204030204" pitchFamily="49" charset="0"/>
              </a:rPr>
              <a:t>print</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"Python process started. PID:"</a:t>
            </a:r>
            <a:r>
              <a:rPr lang="en-US" altLang="zh-CN" b="0" dirty="0">
                <a:solidFill>
                  <a:srgbClr val="CCCCCC"/>
                </a:solidFill>
                <a:effectLst/>
                <a:latin typeface="Consolas" panose="020B0609020204030204" pitchFamily="49" charset="0"/>
              </a:rPr>
              <a:t>, </a:t>
            </a:r>
            <a:r>
              <a:rPr lang="en-US" altLang="zh-CN" b="0" dirty="0" err="1">
                <a:solidFill>
                  <a:srgbClr val="4EC9B0"/>
                </a:solidFill>
                <a:effectLst/>
                <a:latin typeface="Consolas" panose="020B0609020204030204" pitchFamily="49" charset="0"/>
              </a:rPr>
              <a:t>os</a:t>
            </a:r>
            <a:r>
              <a:rPr lang="en-US" altLang="zh-CN" b="0" dirty="0" err="1">
                <a:solidFill>
                  <a:srgbClr val="CCCCCC"/>
                </a:solidFill>
                <a:effectLst/>
                <a:latin typeface="Consolas" panose="020B0609020204030204" pitchFamily="49" charset="0"/>
              </a:rPr>
              <a:t>.</a:t>
            </a:r>
            <a:r>
              <a:rPr lang="en-US" altLang="zh-CN" b="0" dirty="0" err="1">
                <a:solidFill>
                  <a:srgbClr val="DCDCAA"/>
                </a:solidFill>
                <a:effectLst/>
                <a:latin typeface="Consolas" panose="020B0609020204030204" pitchFamily="49" charset="0"/>
              </a:rPr>
              <a:t>getpid</a:t>
            </a:r>
            <a:r>
              <a:rPr lang="en-US" altLang="zh-CN" b="0" dirty="0">
                <a:solidFill>
                  <a:srgbClr val="CCCCCC"/>
                </a:solidFill>
                <a:effectLst/>
                <a:latin typeface="Consolas" panose="020B0609020204030204" pitchFamily="49" charset="0"/>
              </a:rPr>
              <a:t>())</a:t>
            </a:r>
          </a:p>
          <a:p>
            <a:pPr marL="0" indent="0">
              <a:buNone/>
            </a:pPr>
            <a:r>
              <a:rPr lang="en-US" altLang="zh-CN" b="0" dirty="0" err="1">
                <a:solidFill>
                  <a:srgbClr val="4EC9B0"/>
                </a:solidFill>
                <a:effectLst/>
                <a:latin typeface="Consolas" panose="020B0609020204030204" pitchFamily="49" charset="0"/>
              </a:rPr>
              <a:t>time</a:t>
            </a:r>
            <a:r>
              <a:rPr lang="en-US" altLang="zh-CN" b="0" dirty="0" err="1">
                <a:solidFill>
                  <a:srgbClr val="CCCCCC"/>
                </a:solidFill>
                <a:effectLst/>
                <a:latin typeface="Consolas" panose="020B0609020204030204" pitchFamily="49" charset="0"/>
              </a:rPr>
              <a:t>.</a:t>
            </a:r>
            <a:r>
              <a:rPr lang="en-US" altLang="zh-CN" b="0" dirty="0" err="1">
                <a:solidFill>
                  <a:srgbClr val="DCDCAA"/>
                </a:solidFill>
                <a:effectLst/>
                <a:latin typeface="Consolas" panose="020B0609020204030204" pitchFamily="49" charset="0"/>
              </a:rPr>
              <a:t>sleep</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60</a:t>
            </a:r>
            <a:r>
              <a:rPr lang="en-US" altLang="zh-CN" b="0" dirty="0">
                <a:solidFill>
                  <a:srgbClr val="CCCCCC"/>
                </a:solidFill>
                <a:effectLst/>
                <a:latin typeface="Consolas" panose="020B0609020204030204" pitchFamily="49" charset="0"/>
              </a:rPr>
              <a:t>)   </a:t>
            </a:r>
            <a:r>
              <a:rPr lang="en-US" altLang="zh-CN" b="0" dirty="0">
                <a:solidFill>
                  <a:srgbClr val="6A9955"/>
                </a:solidFill>
                <a:effectLst/>
                <a:latin typeface="Consolas" panose="020B0609020204030204" pitchFamily="49" charset="0"/>
              </a:rPr>
              <a:t># stay alive for 60 seconds</a:t>
            </a:r>
            <a:r>
              <a:rPr lang="en-US" altLang="zh-CN" dirty="0"/>
              <a:t> </a:t>
            </a:r>
          </a:p>
          <a:p>
            <a:pPr marL="0" indent="0">
              <a:buNone/>
            </a:pPr>
            <a:r>
              <a:rPr lang="en-US" altLang="zh-CN" dirty="0"/>
              <a:t>A simple Python script (with </a:t>
            </a:r>
            <a:r>
              <a:rPr lang="en-US" altLang="zh-CN" dirty="0" err="1"/>
              <a:t>time.sleep</a:t>
            </a:r>
            <a:r>
              <a:rPr lang="en-US" altLang="zh-CN" dirty="0"/>
              <a:t>(60)) may starts a main thread plus a few internal threads (e.g., garbage collector, memory manager, possibly thread management). So a baseline Python process often shows 4–6 threads. When you run multi‑threaded code, you’ll see the thread count increase.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52400" y="1066800"/>
            <a:ext cx="8244205" cy="5398135"/>
          </a:xfrm>
          <a:prstGeom prst="rect">
            <a:avLst/>
          </a:prstGeom>
        </p:spPr>
        <p:txBody>
          <a:bodyPr wrap="square">
            <a:noAutofit/>
          </a:bodyPr>
          <a:lstStyle/>
          <a:p>
            <a:pPr indent="0" algn="just">
              <a:spcBef>
                <a:spcPts val="1200"/>
              </a:spcBef>
              <a:spcAft>
                <a:spcPts val="600"/>
              </a:spcAft>
              <a:buFont typeface="Arial" panose="020B0604020202020204" pitchFamily="34" charset="0"/>
              <a:buNone/>
            </a:pPr>
            <a:r>
              <a:rPr lang="en-US" altLang="zh-CN" sz="2000" b="1" i="0">
                <a:solidFill>
                  <a:srgbClr val="0F1115"/>
                </a:solidFill>
                <a:latin typeface="Times New Roman" panose="02020603050405020304" charset="0"/>
                <a:ea typeface="quote-cjk-patch"/>
                <a:cs typeface="Times New Roman" panose="02020603050405020304" charset="0"/>
              </a:rPr>
              <a:t>Use single‑threading when:</a:t>
            </a:r>
          </a:p>
          <a:p>
            <a:pPr marL="342900" indent="-342900" algn="just">
              <a:spcBef>
                <a:spcPct val="0"/>
              </a:spcBef>
              <a:spcAft>
                <a:spcPct val="0"/>
              </a:spcAft>
              <a:buFont typeface="Arial" panose="020B0604020202020204"/>
              <a:buChar char="•"/>
            </a:pPr>
            <a:r>
              <a:rPr lang="en-US" altLang="zh-CN" sz="2000" b="0" i="0">
                <a:solidFill>
                  <a:srgbClr val="0F1115"/>
                </a:solidFill>
                <a:latin typeface="Times New Roman" panose="02020603050405020304" charset="0"/>
                <a:ea typeface="quote-cjk-patch"/>
                <a:cs typeface="Times New Roman" panose="02020603050405020304" charset="0"/>
              </a:rPr>
              <a:t>The task is naturally sequential (e.g., command‑line tools that process one file after another).</a:t>
            </a:r>
          </a:p>
          <a:p>
            <a:pPr marL="342900" indent="-342900" algn="just">
              <a:spcBef>
                <a:spcPct val="0"/>
              </a:spcBef>
              <a:spcAft>
                <a:spcPct val="0"/>
              </a:spcAft>
              <a:buFont typeface="Arial" panose="020B0604020202020204"/>
              <a:buChar char="•"/>
            </a:pPr>
            <a:r>
              <a:rPr lang="en-US" altLang="zh-CN" sz="2000" b="0" i="0">
                <a:solidFill>
                  <a:srgbClr val="0F1115"/>
                </a:solidFill>
                <a:latin typeface="Times New Roman" panose="02020603050405020304" charset="0"/>
                <a:ea typeface="quote-cjk-patch"/>
                <a:cs typeface="Times New Roman" panose="02020603050405020304" charset="0"/>
              </a:rPr>
              <a:t>Simplicity is more important than performance.</a:t>
            </a:r>
          </a:p>
          <a:p>
            <a:pPr marL="342900" indent="-342900" algn="just">
              <a:spcBef>
                <a:spcPct val="0"/>
              </a:spcBef>
              <a:spcAft>
                <a:spcPct val="0"/>
              </a:spcAft>
              <a:buFont typeface="Arial" panose="020B0604020202020204"/>
              <a:buChar char="•"/>
            </a:pPr>
            <a:r>
              <a:rPr lang="en-US" altLang="zh-CN" sz="2000" b="0" i="0">
                <a:solidFill>
                  <a:srgbClr val="0F1115"/>
                </a:solidFill>
                <a:latin typeface="Times New Roman" panose="02020603050405020304" charset="0"/>
                <a:ea typeface="quote-cjk-patch"/>
                <a:cs typeface="Times New Roman" panose="02020603050405020304" charset="0"/>
              </a:rPr>
              <a:t>The application does not benefit from concurrency (e.g., a simple calculator).</a:t>
            </a:r>
          </a:p>
          <a:p>
            <a:pPr marL="342900" indent="-342900" algn="just">
              <a:spcBef>
                <a:spcPct val="0"/>
              </a:spcBef>
              <a:spcAft>
                <a:spcPct val="0"/>
              </a:spcAft>
              <a:buFont typeface="Arial" panose="020B0604020202020204"/>
              <a:buChar char="•"/>
            </a:pPr>
            <a:r>
              <a:rPr lang="en-US" altLang="zh-CN" sz="2000" b="0" i="0">
                <a:solidFill>
                  <a:srgbClr val="0F1115"/>
                </a:solidFill>
                <a:latin typeface="Times New Roman" panose="02020603050405020304" charset="0"/>
                <a:ea typeface="quote-cjk-patch"/>
                <a:cs typeface="Times New Roman" panose="02020603050405020304" charset="0"/>
              </a:rPr>
              <a:t>We want to avoid synchronisation bugs entirely.</a:t>
            </a:r>
          </a:p>
          <a:p>
            <a:pPr indent="0" algn="just">
              <a:spcBef>
                <a:spcPts val="600"/>
              </a:spcBef>
              <a:spcAft>
                <a:spcPts val="300"/>
              </a:spcAft>
              <a:buFont typeface="Arial" panose="020B0604020202020204" pitchFamily="34" charset="0"/>
              <a:buNone/>
            </a:pPr>
            <a:r>
              <a:rPr lang="en-US" altLang="zh-CN" sz="2000" b="1" i="0">
                <a:solidFill>
                  <a:srgbClr val="0F1115"/>
                </a:solidFill>
                <a:latin typeface="Times New Roman" panose="02020603050405020304" charset="0"/>
                <a:ea typeface="quote-cjk-patch"/>
                <a:cs typeface="Times New Roman" panose="02020603050405020304" charset="0"/>
              </a:rPr>
              <a:t>Use multi‑threading when:</a:t>
            </a:r>
          </a:p>
          <a:p>
            <a:pPr marL="342900" indent="-342900" algn="just">
              <a:spcBef>
                <a:spcPct val="0"/>
              </a:spcBef>
              <a:spcAft>
                <a:spcPct val="0"/>
              </a:spcAft>
              <a:buFont typeface="Arial" panose="020B0604020202020204"/>
              <a:buChar char="•"/>
            </a:pPr>
            <a:r>
              <a:rPr lang="en-US" altLang="zh-CN" sz="2000" b="0" i="0">
                <a:solidFill>
                  <a:srgbClr val="0F1115"/>
                </a:solidFill>
                <a:latin typeface="Times New Roman" panose="02020603050405020304" charset="0"/>
                <a:ea typeface="quote-cjk-patch"/>
                <a:cs typeface="Times New Roman" panose="02020603050405020304" charset="0"/>
              </a:rPr>
              <a:t>We need to keep the UI responsive (e.g., a word processor: typing thread while spell‑check runs).</a:t>
            </a:r>
          </a:p>
          <a:p>
            <a:pPr marL="342900" indent="-342900" algn="just">
              <a:spcBef>
                <a:spcPct val="0"/>
              </a:spcBef>
              <a:spcAft>
                <a:spcPct val="0"/>
              </a:spcAft>
              <a:buFont typeface="Arial" panose="020B0604020202020204"/>
              <a:buChar char="•"/>
            </a:pPr>
            <a:r>
              <a:rPr lang="en-US" altLang="zh-CN" sz="2000" b="0" i="0">
                <a:solidFill>
                  <a:srgbClr val="0F1115"/>
                </a:solidFill>
                <a:latin typeface="Times New Roman" panose="02020603050405020304" charset="0"/>
                <a:ea typeface="quote-cjk-patch"/>
                <a:cs typeface="Times New Roman" panose="02020603050405020304" charset="0"/>
              </a:rPr>
              <a:t>We want to utilise multiple CPU cores (e.g., video encoding, scientific computing).</a:t>
            </a:r>
          </a:p>
          <a:p>
            <a:pPr marL="342900" indent="-342900" algn="just">
              <a:spcBef>
                <a:spcPct val="0"/>
              </a:spcBef>
              <a:spcAft>
                <a:spcPct val="0"/>
              </a:spcAft>
              <a:buFont typeface="Arial" panose="020B0604020202020204"/>
              <a:buChar char="•"/>
            </a:pPr>
            <a:r>
              <a:rPr lang="en-US" altLang="zh-CN" sz="2000" b="0" i="0">
                <a:solidFill>
                  <a:srgbClr val="0F1115"/>
                </a:solidFill>
                <a:latin typeface="Times New Roman" panose="02020603050405020304" charset="0"/>
                <a:ea typeface="quote-cjk-patch"/>
                <a:cs typeface="Times New Roman" panose="02020603050405020304" charset="0"/>
              </a:rPr>
              <a:t>The workload is I/O‑bound (e.g., web server handling many clients; threads can wait for I/O while others run).</a:t>
            </a:r>
          </a:p>
          <a:p>
            <a:pPr marL="342900" indent="-342900" algn="just">
              <a:spcBef>
                <a:spcPct val="0"/>
              </a:spcBef>
              <a:spcAft>
                <a:spcPct val="0"/>
              </a:spcAft>
              <a:buFont typeface="Arial" panose="020B0604020202020204"/>
              <a:buChar char="•"/>
            </a:pPr>
            <a:r>
              <a:rPr lang="en-US" altLang="zh-CN" sz="2000" b="0" i="0">
                <a:solidFill>
                  <a:srgbClr val="0F1115"/>
                </a:solidFill>
                <a:latin typeface="Times New Roman" panose="02020603050405020304" charset="0"/>
                <a:ea typeface="quote-cjk-patch"/>
                <a:cs typeface="Times New Roman" panose="02020603050405020304" charset="0"/>
              </a:rPr>
              <a:t>We need to share data between tasks efficiently (e.g., producer‑consumer using shared buffer).</a:t>
            </a:r>
          </a:p>
        </p:txBody>
      </p:sp>
      <p:sp>
        <p:nvSpPr>
          <p:cNvPr id="9" name="文本框 8"/>
          <p:cNvSpPr txBox="1"/>
          <p:nvPr/>
        </p:nvSpPr>
        <p:spPr>
          <a:xfrm>
            <a:off x="1103630" y="381000"/>
            <a:ext cx="6850380" cy="706755"/>
          </a:xfrm>
          <a:prstGeom prst="rect">
            <a:avLst/>
          </a:prstGeom>
          <a:noFill/>
        </p:spPr>
        <p:txBody>
          <a:bodyPr wrap="square" rtlCol="0" anchor="t">
            <a:spAutoFit/>
          </a:bodyPr>
          <a:lstStyle/>
          <a:p>
            <a:r>
              <a:rPr lang="en-US" altLang="zh-CN" sz="4000" b="1">
                <a:solidFill>
                  <a:srgbClr val="0F1115"/>
                </a:solidFill>
                <a:latin typeface="quote-cjk-patch"/>
                <a:ea typeface="quote-cjk-patch"/>
                <a:sym typeface="+mn-ea"/>
              </a:rPr>
              <a:t>When to Use which 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Examples</a:t>
            </a:r>
          </a:p>
        </p:txBody>
      </p:sp>
      <p:graphicFrame>
        <p:nvGraphicFramePr>
          <p:cNvPr id="4" name="表格 3"/>
          <p:cNvGraphicFramePr/>
          <p:nvPr>
            <p:custDataLst>
              <p:tags r:id="rId1"/>
            </p:custDataLst>
          </p:nvPr>
        </p:nvGraphicFramePr>
        <p:xfrm>
          <a:off x="640080" y="2051050"/>
          <a:ext cx="8133080" cy="3527424"/>
        </p:xfrm>
        <a:graphic>
          <a:graphicData uri="http://schemas.openxmlformats.org/drawingml/2006/table">
            <a:tbl>
              <a:tblPr/>
              <a:tblGrid>
                <a:gridCol w="4066540">
                  <a:extLst>
                    <a:ext uri="{9D8B030D-6E8A-4147-A177-3AD203B41FA5}">
                      <a16:colId xmlns:a16="http://schemas.microsoft.com/office/drawing/2014/main" val="20000"/>
                    </a:ext>
                  </a:extLst>
                </a:gridCol>
                <a:gridCol w="4066540">
                  <a:extLst>
                    <a:ext uri="{9D8B030D-6E8A-4147-A177-3AD203B41FA5}">
                      <a16:colId xmlns:a16="http://schemas.microsoft.com/office/drawing/2014/main" val="20001"/>
                    </a:ext>
                  </a:extLst>
                </a:gridCol>
              </a:tblGrid>
              <a:tr h="630555">
                <a:tc>
                  <a:txBody>
                    <a:bodyPr/>
                    <a:lstStyle/>
                    <a:p>
                      <a:pPr algn="l"/>
                      <a:r>
                        <a:rPr lang="en-US" altLang="zh-CN" sz="2400" b="0" i="0">
                          <a:solidFill>
                            <a:srgbClr val="0F1115"/>
                          </a:solidFill>
                          <a:latin typeface="Times New Roman" panose="02020603050405020304" charset="0"/>
                          <a:ea typeface="var(--dsw-font-markdown-table-head)"/>
                          <a:cs typeface="Times New Roman" panose="02020603050405020304" charset="0"/>
                        </a:rPr>
                        <a:t>Application example</a:t>
                      </a:r>
                    </a:p>
                  </a:txBody>
                  <a:tcPr marL="0" marR="76517" marT="47942" marB="47942" anchor="ctr">
                    <a:lnL>
                      <a:noFill/>
                    </a:lnL>
                    <a:lnR>
                      <a:noFill/>
                    </a:lnR>
                    <a:lnT>
                      <a:noFill/>
                    </a:lnT>
                    <a:lnB>
                      <a:noFill/>
                    </a:lnB>
                    <a:noFill/>
                  </a:tcPr>
                </a:tc>
                <a:tc>
                  <a:txBody>
                    <a:bodyPr/>
                    <a:lstStyle/>
                    <a:p>
                      <a:pPr algn="l"/>
                      <a:r>
                        <a:rPr lang="en-US" altLang="zh-CN" sz="2400" b="0" i="0">
                          <a:solidFill>
                            <a:srgbClr val="0F1115"/>
                          </a:solidFill>
                          <a:latin typeface="Times New Roman" panose="02020603050405020304" charset="0"/>
                          <a:ea typeface="var(--dsw-font-markdown-table-head)"/>
                          <a:cs typeface="Times New Roman" panose="02020603050405020304" charset="0"/>
                        </a:rPr>
                        <a:t>Threading Model</a:t>
                      </a:r>
                    </a:p>
                  </a:txBody>
                  <a:tcPr marL="76517" marR="76517" marT="47942" marB="47942" anchor="ctr">
                    <a:lnL>
                      <a:noFill/>
                    </a:lnL>
                    <a:lnR>
                      <a:noFill/>
                    </a:lnR>
                    <a:lnT>
                      <a:noFill/>
                    </a:lnT>
                    <a:lnB>
                      <a:noFill/>
                    </a:lnB>
                    <a:noFill/>
                  </a:tcPr>
                </a:tc>
                <a:extLst>
                  <a:ext uri="{0D108BD9-81ED-4DB2-BD59-A6C34878D82A}">
                    <a16:rowId xmlns:a16="http://schemas.microsoft.com/office/drawing/2014/main" val="10000"/>
                  </a:ext>
                </a:extLst>
              </a:tr>
              <a:tr h="512445">
                <a:tc>
                  <a:txBody>
                    <a:bodyPr/>
                    <a:lstStyle/>
                    <a:p>
                      <a:r>
                        <a:rPr lang="en-US" altLang="zh-CN" sz="2800" b="0" i="0">
                          <a:solidFill>
                            <a:srgbClr val="0F1115"/>
                          </a:solidFill>
                          <a:latin typeface="Times New Roman" panose="02020603050405020304" charset="0"/>
                          <a:ea typeface="var(--dsw-font-markdown-table)"/>
                          <a:cs typeface="Times New Roman" panose="02020603050405020304" charset="0"/>
                        </a:rPr>
                        <a:t>ls</a:t>
                      </a:r>
                      <a:r>
                        <a:rPr lang="en-US" altLang="zh-CN" sz="2400" b="0" i="0">
                          <a:solidFill>
                            <a:srgbClr val="0F1115"/>
                          </a:solidFill>
                          <a:latin typeface="Times New Roman" panose="02020603050405020304" charset="0"/>
                          <a:ea typeface="var(--dsw-font-markdown-table)"/>
                          <a:cs typeface="Times New Roman" panose="02020603050405020304" charset="0"/>
                        </a:rPr>
                        <a:t> command</a:t>
                      </a:r>
                    </a:p>
                  </a:txBody>
                  <a:tcPr marL="0" marR="76517" marT="47942" marB="47942" anchor="ctr">
                    <a:lnL>
                      <a:noFill/>
                    </a:lnL>
                    <a:lnR>
                      <a:noFill/>
                    </a:lnR>
                    <a:lnT>
                      <a:noFill/>
                    </a:lnT>
                    <a:lnB>
                      <a:noFill/>
                    </a:lnB>
                    <a:noFill/>
                  </a:tcPr>
                </a:tc>
                <a:tc>
                  <a:txBody>
                    <a:bodyPr/>
                    <a:lstStyle/>
                    <a:p>
                      <a:r>
                        <a:rPr lang="en-US" altLang="zh-CN" sz="2400" b="0" i="0">
                          <a:solidFill>
                            <a:srgbClr val="0F1115"/>
                          </a:solidFill>
                          <a:latin typeface="Times New Roman" panose="02020603050405020304" charset="0"/>
                          <a:ea typeface="var(--dsw-font-markdown-table)"/>
                          <a:cs typeface="Times New Roman" panose="02020603050405020304" charset="0"/>
                        </a:rPr>
                        <a:t>Single‑threaded</a:t>
                      </a:r>
                    </a:p>
                  </a:txBody>
                  <a:tcPr marL="76517" marR="76517" marT="47942" marB="47942" anchor="ctr">
                    <a:lnL>
                      <a:noFill/>
                    </a:lnL>
                    <a:lnR>
                      <a:noFill/>
                    </a:lnR>
                    <a:lnT>
                      <a:noFill/>
                    </a:lnT>
                    <a:lnB>
                      <a:noFill/>
                    </a:lnB>
                    <a:noFill/>
                  </a:tcPr>
                </a:tc>
                <a:extLst>
                  <a:ext uri="{0D108BD9-81ED-4DB2-BD59-A6C34878D82A}">
                    <a16:rowId xmlns:a16="http://schemas.microsoft.com/office/drawing/2014/main" val="10001"/>
                  </a:ext>
                </a:extLst>
              </a:tr>
              <a:tr h="511810">
                <a:tc>
                  <a:txBody>
                    <a:bodyPr/>
                    <a:lstStyle/>
                    <a:p>
                      <a:r>
                        <a:rPr lang="en-US" altLang="zh-CN" sz="2400" b="0" i="0">
                          <a:solidFill>
                            <a:srgbClr val="0F1115"/>
                          </a:solidFill>
                          <a:latin typeface="Times New Roman" panose="02020603050405020304" charset="0"/>
                          <a:ea typeface="var(--dsw-font-markdown-table)"/>
                          <a:cs typeface="Times New Roman" panose="02020603050405020304" charset="0"/>
                        </a:rPr>
                        <a:t>Microsoft Word</a:t>
                      </a:r>
                    </a:p>
                  </a:txBody>
                  <a:tcPr marL="0" marR="76517" marT="47942" marB="47942" anchor="ctr">
                    <a:lnL>
                      <a:noFill/>
                    </a:lnL>
                    <a:lnR>
                      <a:noFill/>
                    </a:lnR>
                    <a:lnT>
                      <a:noFill/>
                    </a:lnT>
                    <a:lnB>
                      <a:noFill/>
                    </a:lnB>
                    <a:noFill/>
                  </a:tcPr>
                </a:tc>
                <a:tc>
                  <a:txBody>
                    <a:bodyPr/>
                    <a:lstStyle/>
                    <a:p>
                      <a:r>
                        <a:rPr lang="en-US" altLang="zh-CN" sz="2400" b="0" i="0">
                          <a:solidFill>
                            <a:srgbClr val="0F1115"/>
                          </a:solidFill>
                          <a:latin typeface="Times New Roman" panose="02020603050405020304" charset="0"/>
                          <a:ea typeface="var(--dsw-font-markdown-table)"/>
                          <a:cs typeface="Times New Roman" panose="02020603050405020304" charset="0"/>
                        </a:rPr>
                        <a:t>Multi‑threaded</a:t>
                      </a:r>
                    </a:p>
                  </a:txBody>
                  <a:tcPr marL="76517" marR="76517" marT="47942" marB="47942" anchor="ctr">
                    <a:lnL>
                      <a:noFill/>
                    </a:lnL>
                    <a:lnR>
                      <a:noFill/>
                    </a:lnR>
                    <a:lnT>
                      <a:noFill/>
                    </a:lnT>
                    <a:lnB>
                      <a:noFill/>
                    </a:lnB>
                    <a:noFill/>
                  </a:tcPr>
                </a:tc>
                <a:extLst>
                  <a:ext uri="{0D108BD9-81ED-4DB2-BD59-A6C34878D82A}">
                    <a16:rowId xmlns:a16="http://schemas.microsoft.com/office/drawing/2014/main" val="10002"/>
                  </a:ext>
                </a:extLst>
              </a:tr>
              <a:tr h="511810">
                <a:tc>
                  <a:txBody>
                    <a:bodyPr/>
                    <a:lstStyle/>
                    <a:p>
                      <a:r>
                        <a:rPr lang="en-US" altLang="zh-CN" sz="2400" b="0" i="0">
                          <a:solidFill>
                            <a:srgbClr val="0F1115"/>
                          </a:solidFill>
                          <a:latin typeface="Times New Roman" panose="02020603050405020304" charset="0"/>
                          <a:ea typeface="var(--dsw-font-markdown-table)"/>
                          <a:cs typeface="Times New Roman" panose="02020603050405020304" charset="0"/>
                        </a:rPr>
                        <a:t>Web browser (Chrome)</a:t>
                      </a:r>
                    </a:p>
                  </a:txBody>
                  <a:tcPr marL="0" marR="76517" marT="47942" marB="47942" anchor="ctr">
                    <a:lnL>
                      <a:noFill/>
                    </a:lnL>
                    <a:lnR>
                      <a:noFill/>
                    </a:lnR>
                    <a:lnT>
                      <a:noFill/>
                    </a:lnT>
                    <a:lnB>
                      <a:noFill/>
                    </a:lnB>
                    <a:noFill/>
                  </a:tcPr>
                </a:tc>
                <a:tc>
                  <a:txBody>
                    <a:bodyPr/>
                    <a:lstStyle/>
                    <a:p>
                      <a:r>
                        <a:rPr lang="en-US" altLang="zh-CN" sz="2400" b="0" i="0">
                          <a:solidFill>
                            <a:srgbClr val="0F1115"/>
                          </a:solidFill>
                          <a:latin typeface="Times New Roman" panose="02020603050405020304" charset="0"/>
                          <a:ea typeface="var(--dsw-font-markdown-table)"/>
                          <a:cs typeface="Times New Roman" panose="02020603050405020304" charset="0"/>
                        </a:rPr>
                        <a:t>Multi‑process + multi‑threaded</a:t>
                      </a:r>
                    </a:p>
                  </a:txBody>
                  <a:tcPr marL="76517" marR="76517" marT="47942" marB="47942" anchor="ctr">
                    <a:lnL>
                      <a:noFill/>
                    </a:lnL>
                    <a:lnR>
                      <a:noFill/>
                    </a:lnR>
                    <a:lnT>
                      <a:noFill/>
                    </a:lnT>
                    <a:lnB>
                      <a:noFill/>
                    </a:lnB>
                    <a:noFill/>
                  </a:tcPr>
                </a:tc>
                <a:extLst>
                  <a:ext uri="{0D108BD9-81ED-4DB2-BD59-A6C34878D82A}">
                    <a16:rowId xmlns:a16="http://schemas.microsoft.com/office/drawing/2014/main" val="10003"/>
                  </a:ext>
                </a:extLst>
              </a:tr>
              <a:tr h="838835">
                <a:tc>
                  <a:txBody>
                    <a:bodyPr/>
                    <a:lstStyle/>
                    <a:p>
                      <a:r>
                        <a:rPr lang="en-US" altLang="zh-CN" sz="2400" b="0" i="0">
                          <a:solidFill>
                            <a:srgbClr val="0F1115"/>
                          </a:solidFill>
                          <a:latin typeface="Times New Roman" panose="02020603050405020304" charset="0"/>
                          <a:ea typeface="var(--dsw-font-markdown-table)"/>
                          <a:cs typeface="Times New Roman" panose="02020603050405020304" charset="0"/>
                        </a:rPr>
                        <a:t>Web server (Apache)</a:t>
                      </a:r>
                    </a:p>
                  </a:txBody>
                  <a:tcPr marL="0" marR="76517" marT="47942" marB="47942" anchor="ctr">
                    <a:lnL>
                      <a:noFill/>
                    </a:lnL>
                    <a:lnR>
                      <a:noFill/>
                    </a:lnR>
                    <a:lnT>
                      <a:noFill/>
                    </a:lnT>
                    <a:lnB>
                      <a:noFill/>
                    </a:lnB>
                    <a:noFill/>
                  </a:tcPr>
                </a:tc>
                <a:tc>
                  <a:txBody>
                    <a:bodyPr/>
                    <a:lstStyle/>
                    <a:p>
                      <a:r>
                        <a:rPr lang="en-US" altLang="zh-CN" sz="2400" b="0" i="0">
                          <a:solidFill>
                            <a:srgbClr val="0F1115"/>
                          </a:solidFill>
                          <a:latin typeface="Times New Roman" panose="02020603050405020304" charset="0"/>
                          <a:ea typeface="var(--dsw-font-markdown-table)"/>
                          <a:cs typeface="Times New Roman" panose="02020603050405020304" charset="0"/>
                        </a:rPr>
                        <a:t>Multi‑threaded (or multi‑process)</a:t>
                      </a:r>
                    </a:p>
                  </a:txBody>
                  <a:tcPr marL="76517" marR="76517" marT="47942" marB="47942" anchor="ctr">
                    <a:lnL>
                      <a:noFill/>
                    </a:lnL>
                    <a:lnR>
                      <a:noFill/>
                    </a:lnR>
                    <a:lnT>
                      <a:noFill/>
                    </a:lnT>
                    <a:lnB>
                      <a:noFill/>
                    </a:lnB>
                    <a:noFill/>
                  </a:tcPr>
                </a:tc>
                <a:extLst>
                  <a:ext uri="{0D108BD9-81ED-4DB2-BD59-A6C34878D82A}">
                    <a16:rowId xmlns:a16="http://schemas.microsoft.com/office/drawing/2014/main" val="10004"/>
                  </a:ext>
                </a:extLst>
              </a:tr>
              <a:tr h="511810">
                <a:tc>
                  <a:txBody>
                    <a:bodyPr/>
                    <a:lstStyle/>
                    <a:p>
                      <a:r>
                        <a:rPr lang="en-US" altLang="zh-CN" sz="2400" b="0" i="0">
                          <a:solidFill>
                            <a:srgbClr val="0F1115"/>
                          </a:solidFill>
                          <a:latin typeface="Times New Roman" panose="02020603050405020304" charset="0"/>
                          <a:ea typeface="var(--dsw-font-markdown-table)"/>
                          <a:cs typeface="Times New Roman" panose="02020603050405020304" charset="0"/>
                        </a:rPr>
                        <a:t>Video player (VLC)</a:t>
                      </a:r>
                    </a:p>
                  </a:txBody>
                  <a:tcPr marL="0" marR="76517" marT="47942" marB="47942" anchor="ctr">
                    <a:lnL>
                      <a:noFill/>
                    </a:lnL>
                    <a:lnR>
                      <a:noFill/>
                    </a:lnR>
                    <a:lnT>
                      <a:noFill/>
                    </a:lnT>
                    <a:lnB>
                      <a:noFill/>
                    </a:lnB>
                    <a:noFill/>
                  </a:tcPr>
                </a:tc>
                <a:tc>
                  <a:txBody>
                    <a:bodyPr/>
                    <a:lstStyle/>
                    <a:p>
                      <a:r>
                        <a:rPr lang="en-US" altLang="zh-CN" sz="2400" b="0" i="0">
                          <a:solidFill>
                            <a:srgbClr val="0F1115"/>
                          </a:solidFill>
                          <a:latin typeface="Times New Roman" panose="02020603050405020304" charset="0"/>
                          <a:ea typeface="var(--dsw-font-markdown-table)"/>
                          <a:cs typeface="Times New Roman" panose="02020603050405020304" charset="0"/>
                        </a:rPr>
                        <a:t>Multi‑threaded</a:t>
                      </a:r>
                    </a:p>
                  </a:txBody>
                  <a:tcPr marL="76517" marR="76517" marT="47942" marB="47942"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Differences</a:t>
            </a:r>
          </a:p>
        </p:txBody>
      </p:sp>
      <p:graphicFrame>
        <p:nvGraphicFramePr>
          <p:cNvPr id="4" name="表格 3"/>
          <p:cNvGraphicFramePr/>
          <p:nvPr>
            <p:custDataLst>
              <p:tags r:id="rId1"/>
            </p:custDataLst>
          </p:nvPr>
        </p:nvGraphicFramePr>
        <p:xfrm>
          <a:off x="283845" y="2362200"/>
          <a:ext cx="8577580" cy="2195828"/>
        </p:xfrm>
        <a:graphic>
          <a:graphicData uri="http://schemas.openxmlformats.org/drawingml/2006/table">
            <a:tbl>
              <a:tblPr/>
              <a:tblGrid>
                <a:gridCol w="2528570">
                  <a:extLst>
                    <a:ext uri="{9D8B030D-6E8A-4147-A177-3AD203B41FA5}">
                      <a16:colId xmlns:a16="http://schemas.microsoft.com/office/drawing/2014/main" val="20000"/>
                    </a:ext>
                  </a:extLst>
                </a:gridCol>
                <a:gridCol w="3070225">
                  <a:extLst>
                    <a:ext uri="{9D8B030D-6E8A-4147-A177-3AD203B41FA5}">
                      <a16:colId xmlns:a16="http://schemas.microsoft.com/office/drawing/2014/main" val="20001"/>
                    </a:ext>
                  </a:extLst>
                </a:gridCol>
                <a:gridCol w="2978785">
                  <a:extLst>
                    <a:ext uri="{9D8B030D-6E8A-4147-A177-3AD203B41FA5}">
                      <a16:colId xmlns:a16="http://schemas.microsoft.com/office/drawing/2014/main" val="20002"/>
                    </a:ext>
                  </a:extLst>
                </a:gridCol>
              </a:tblGrid>
              <a:tr h="342900">
                <a:tc>
                  <a:txBody>
                    <a:bodyPr/>
                    <a:lstStyle/>
                    <a:p>
                      <a:pPr algn="ctr"/>
                      <a:r>
                        <a:rPr lang="en-US" altLang="zh-CN" sz="1600" b="0">
                          <a:solidFill>
                            <a:srgbClr val="0F1115"/>
                          </a:solidFill>
                          <a:latin typeface="Times New Roman" panose="02020603050405020304" charset="0"/>
                          <a:ea typeface="var(--dsw-font-markdown-table-head)"/>
                          <a:cs typeface="Times New Roman" panose="02020603050405020304" charset="0"/>
                        </a:rPr>
                        <a:t>Feature</a:t>
                      </a:r>
                    </a:p>
                  </a:txBody>
                  <a:tcPr marL="0"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head)"/>
                          <a:cs typeface="Times New Roman" panose="02020603050405020304" charset="0"/>
                        </a:rPr>
                        <a:t>Single‑Threaded</a:t>
                      </a:r>
                    </a:p>
                  </a:txBody>
                  <a:tcPr marL="76517"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head)"/>
                          <a:cs typeface="Times New Roman" panose="02020603050405020304" charset="0"/>
                        </a:rPr>
                        <a:t>Multi‑Threaded</a:t>
                      </a:r>
                    </a:p>
                  </a:txBody>
                  <a:tcPr marL="76517" marR="76517" marT="47942" marB="47942" anchor="ctr">
                    <a:lnL>
                      <a:noFill/>
                    </a:lnL>
                    <a:lnR>
                      <a:noFill/>
                    </a:lnR>
                    <a:lnT>
                      <a:noFill/>
                    </a:lnT>
                    <a:lnB>
                      <a:noFill/>
                    </a:lnB>
                    <a:noFill/>
                  </a:tcPr>
                </a:tc>
                <a:extLst>
                  <a:ext uri="{0D108BD9-81ED-4DB2-BD59-A6C34878D82A}">
                    <a16:rowId xmlns:a16="http://schemas.microsoft.com/office/drawing/2014/main" val="10000"/>
                  </a:ext>
                </a:extLst>
              </a:tr>
              <a:tr h="342900">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Number of threads</a:t>
                      </a:r>
                    </a:p>
                  </a:txBody>
                  <a:tcPr marL="0"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1</a:t>
                      </a:r>
                    </a:p>
                  </a:txBody>
                  <a:tcPr marL="76517"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 2</a:t>
                      </a:r>
                    </a:p>
                  </a:txBody>
                  <a:tcPr marL="76517" marR="0" marT="47942" marB="47942" anchor="ctr">
                    <a:lnL>
                      <a:noFill/>
                    </a:lnL>
                    <a:lnR>
                      <a:noFill/>
                    </a:lnR>
                    <a:lnT>
                      <a:noFill/>
                    </a:lnT>
                    <a:lnB>
                      <a:noFill/>
                    </a:lnB>
                    <a:noFill/>
                  </a:tcPr>
                </a:tc>
                <a:extLst>
                  <a:ext uri="{0D108BD9-81ED-4DB2-BD59-A6C34878D82A}">
                    <a16:rowId xmlns:a16="http://schemas.microsoft.com/office/drawing/2014/main" val="10001"/>
                  </a:ext>
                </a:extLst>
              </a:tr>
              <a:tr h="342900">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Concurrency</a:t>
                      </a:r>
                    </a:p>
                  </a:txBody>
                  <a:tcPr marL="0"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No (only one task at a time)</a:t>
                      </a:r>
                    </a:p>
                  </a:txBody>
                  <a:tcPr marL="76517"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Yes (tasks interleaved or parallel)</a:t>
                      </a:r>
                    </a:p>
                  </a:txBody>
                  <a:tcPr marL="76517" marR="0" marT="47942" marB="47942" anchor="ctr">
                    <a:lnL>
                      <a:noFill/>
                    </a:lnL>
                    <a:lnR>
                      <a:noFill/>
                    </a:lnR>
                    <a:lnT>
                      <a:noFill/>
                    </a:lnT>
                    <a:lnB>
                      <a:noFill/>
                    </a:lnB>
                    <a:noFill/>
                  </a:tcPr>
                </a:tc>
                <a:extLst>
                  <a:ext uri="{0D108BD9-81ED-4DB2-BD59-A6C34878D82A}">
                    <a16:rowId xmlns:a16="http://schemas.microsoft.com/office/drawing/2014/main" val="10002"/>
                  </a:ext>
                </a:extLst>
              </a:tr>
              <a:tr h="579755">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Parallelism on multi‑core</a:t>
                      </a:r>
                    </a:p>
                  </a:txBody>
                  <a:tcPr marL="0"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Not possible (only one core used)</a:t>
                      </a:r>
                    </a:p>
                  </a:txBody>
                  <a:tcPr marL="76517"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Possible (threads can run on different cores)</a:t>
                      </a:r>
                    </a:p>
                  </a:txBody>
                  <a:tcPr marL="76517" marR="0" marT="47942" marB="47942" anchor="ctr">
                    <a:lnL>
                      <a:noFill/>
                    </a:lnL>
                    <a:lnR>
                      <a:noFill/>
                    </a:lnR>
                    <a:lnT>
                      <a:noFill/>
                    </a:lnT>
                    <a:lnB>
                      <a:noFill/>
                    </a:lnB>
                    <a:noFill/>
                  </a:tcPr>
                </a:tc>
                <a:extLst>
                  <a:ext uri="{0D108BD9-81ED-4DB2-BD59-A6C34878D82A}">
                    <a16:rowId xmlns:a16="http://schemas.microsoft.com/office/drawing/2014/main" val="10003"/>
                  </a:ext>
                </a:extLst>
              </a:tr>
              <a:tr h="579755">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Memory footprint</a:t>
                      </a:r>
                    </a:p>
                  </a:txBody>
                  <a:tcPr marL="0"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Smaller (one stack, one set of registers)</a:t>
                      </a:r>
                    </a:p>
                  </a:txBody>
                  <a:tcPr marL="76517"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Larger (each thread needs its own stack and register context)</a:t>
                      </a:r>
                    </a:p>
                  </a:txBody>
                  <a:tcPr marL="76517" marR="0" marT="47942" marB="47942"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Differences</a:t>
            </a:r>
          </a:p>
        </p:txBody>
      </p:sp>
      <p:graphicFrame>
        <p:nvGraphicFramePr>
          <p:cNvPr id="3" name="表格 2"/>
          <p:cNvGraphicFramePr/>
          <p:nvPr/>
        </p:nvGraphicFramePr>
        <p:xfrm>
          <a:off x="301625" y="1915795"/>
          <a:ext cx="8577580" cy="2093592"/>
        </p:xfrm>
        <a:graphic>
          <a:graphicData uri="http://schemas.openxmlformats.org/drawingml/2006/table">
            <a:tbl>
              <a:tblPr/>
              <a:tblGrid>
                <a:gridCol w="2528570">
                  <a:extLst>
                    <a:ext uri="{9D8B030D-6E8A-4147-A177-3AD203B41FA5}">
                      <a16:colId xmlns:a16="http://schemas.microsoft.com/office/drawing/2014/main" val="20000"/>
                    </a:ext>
                  </a:extLst>
                </a:gridCol>
                <a:gridCol w="2914650">
                  <a:extLst>
                    <a:ext uri="{9D8B030D-6E8A-4147-A177-3AD203B41FA5}">
                      <a16:colId xmlns:a16="http://schemas.microsoft.com/office/drawing/2014/main" val="20001"/>
                    </a:ext>
                  </a:extLst>
                </a:gridCol>
                <a:gridCol w="3134360">
                  <a:extLst>
                    <a:ext uri="{9D8B030D-6E8A-4147-A177-3AD203B41FA5}">
                      <a16:colId xmlns:a16="http://schemas.microsoft.com/office/drawing/2014/main" val="20002"/>
                    </a:ext>
                  </a:extLst>
                </a:gridCol>
              </a:tblGrid>
              <a:tr h="579755">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Fault tolerance</a:t>
                      </a:r>
                    </a:p>
                  </a:txBody>
                  <a:tcPr marL="0"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A crash kills the whole process</a:t>
                      </a:r>
                    </a:p>
                  </a:txBody>
                  <a:tcPr marL="76517"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A crash in one thread may kill entire process (unless isolated)</a:t>
                      </a:r>
                    </a:p>
                  </a:txBody>
                  <a:tcPr marL="76517" marR="0" marT="47942" marB="47942" anchor="ctr">
                    <a:lnL>
                      <a:noFill/>
                    </a:lnL>
                    <a:lnR>
                      <a:noFill/>
                    </a:lnR>
                    <a:lnT>
                      <a:noFill/>
                    </a:lnT>
                    <a:lnB>
                      <a:noFill/>
                    </a:lnB>
                    <a:noFill/>
                  </a:tcPr>
                </a:tc>
                <a:extLst>
                  <a:ext uri="{0D108BD9-81ED-4DB2-BD59-A6C34878D82A}">
                    <a16:rowId xmlns:a16="http://schemas.microsoft.com/office/drawing/2014/main" val="10000"/>
                  </a:ext>
                </a:extLst>
              </a:tr>
              <a:tr h="342900">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Programming complexity</a:t>
                      </a:r>
                    </a:p>
                  </a:txBody>
                  <a:tcPr marL="0"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Simple (no synchronisation)</a:t>
                      </a:r>
                    </a:p>
                  </a:txBody>
                  <a:tcPr marL="76517"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Complex (races, deadlocks, etc.)</a:t>
                      </a:r>
                    </a:p>
                  </a:txBody>
                  <a:tcPr marL="76517" marR="0" marT="47942" marB="47942" anchor="ctr">
                    <a:lnL>
                      <a:noFill/>
                    </a:lnL>
                    <a:lnR>
                      <a:noFill/>
                    </a:lnR>
                    <a:lnT>
                      <a:noFill/>
                    </a:lnT>
                    <a:lnB>
                      <a:noFill/>
                    </a:lnB>
                    <a:noFill/>
                  </a:tcPr>
                </a:tc>
                <a:extLst>
                  <a:ext uri="{0D108BD9-81ED-4DB2-BD59-A6C34878D82A}">
                    <a16:rowId xmlns:a16="http://schemas.microsoft.com/office/drawing/2014/main" val="10001"/>
                  </a:ext>
                </a:extLst>
              </a:tr>
              <a:tr h="579755">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Resource sharing</a:t>
                      </a:r>
                    </a:p>
                  </a:txBody>
                  <a:tcPr marL="0"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Not applicable (only one thread)</a:t>
                      </a:r>
                    </a:p>
                  </a:txBody>
                  <a:tcPr marL="76517"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Threads share address space → fast communication</a:t>
                      </a:r>
                    </a:p>
                  </a:txBody>
                  <a:tcPr marL="76517" marR="0" marT="47942" marB="47942" anchor="ctr">
                    <a:lnL>
                      <a:noFill/>
                    </a:lnL>
                    <a:lnR>
                      <a:noFill/>
                    </a:lnR>
                    <a:lnT>
                      <a:noFill/>
                    </a:lnT>
                    <a:lnB>
                      <a:noFill/>
                    </a:lnB>
                    <a:noFill/>
                  </a:tcPr>
                </a:tc>
                <a:extLst>
                  <a:ext uri="{0D108BD9-81ED-4DB2-BD59-A6C34878D82A}">
                    <a16:rowId xmlns:a16="http://schemas.microsoft.com/office/drawing/2014/main" val="10002"/>
                  </a:ext>
                </a:extLst>
              </a:tr>
              <a:tr h="579755">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Blocking I/O impact</a:t>
                      </a:r>
                    </a:p>
                  </a:txBody>
                  <a:tcPr marL="0"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Entire process blocks</a:t>
                      </a:r>
                    </a:p>
                  </a:txBody>
                  <a:tcPr marL="76517" marR="76517" marT="47942" marB="47942" anchor="ctr">
                    <a:lnL>
                      <a:noFill/>
                    </a:lnL>
                    <a:lnR>
                      <a:noFill/>
                    </a:lnR>
                    <a:lnT>
                      <a:noFill/>
                    </a:lnT>
                    <a:lnB>
                      <a:noFill/>
                    </a:lnB>
                    <a:noFill/>
                  </a:tcPr>
                </a:tc>
                <a:tc>
                  <a:txBody>
                    <a:bodyPr/>
                    <a:lstStyle/>
                    <a:p>
                      <a:pPr algn="ctr"/>
                      <a:r>
                        <a:rPr lang="en-US" altLang="zh-CN" sz="1600" b="0">
                          <a:solidFill>
                            <a:srgbClr val="0F1115"/>
                          </a:solidFill>
                          <a:latin typeface="Times New Roman" panose="02020603050405020304" charset="0"/>
                          <a:ea typeface="var(--dsw-font-markdown-table)"/>
                          <a:cs typeface="Times New Roman" panose="02020603050405020304" charset="0"/>
                        </a:rPr>
                        <a:t>Only the blocked thread waits; others continue</a:t>
                      </a:r>
                    </a:p>
                  </a:txBody>
                  <a:tcPr marL="76517" marR="0" marT="47942" marB="47942"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Benefits of Multithreaded Programming</a:t>
            </a:r>
          </a:p>
        </p:txBody>
      </p:sp>
      <p:sp>
        <p:nvSpPr>
          <p:cNvPr id="3" name="Content Placeholder 2"/>
          <p:cNvSpPr>
            <a:spLocks noGrp="1"/>
          </p:cNvSpPr>
          <p:nvPr>
            <p:ph idx="1"/>
          </p:nvPr>
        </p:nvSpPr>
        <p:spPr/>
        <p:txBody>
          <a:bodyPr/>
          <a:lstStyle/>
          <a:p>
            <a:r>
              <a:rPr lang="en-US" dirty="0"/>
              <a:t>There are five major benefits of multithreaded programming.</a:t>
            </a:r>
          </a:p>
          <a:p>
            <a:pPr lvl="1"/>
            <a:r>
              <a:rPr lang="en-US" dirty="0"/>
              <a:t>Responsiveness.</a:t>
            </a:r>
          </a:p>
          <a:p>
            <a:pPr lvl="1"/>
            <a:r>
              <a:rPr lang="en-US" dirty="0"/>
              <a:t>Resource sharing</a:t>
            </a:r>
          </a:p>
          <a:p>
            <a:pPr lvl="1"/>
            <a:r>
              <a:rPr lang="en-US" dirty="0"/>
              <a:t>Economy</a:t>
            </a:r>
          </a:p>
          <a:p>
            <a:pPr lvl="1"/>
            <a:r>
              <a:rPr lang="en-US" dirty="0"/>
              <a:t>Scalability</a:t>
            </a:r>
          </a:p>
          <a:p>
            <a:pPr lvl="1"/>
            <a:r>
              <a:rPr lang="en-US" dirty="0"/>
              <a:t>Less communication overheads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Benefits of Multithreaded Programming</a:t>
            </a:r>
          </a:p>
        </p:txBody>
      </p:sp>
      <p:sp>
        <p:nvSpPr>
          <p:cNvPr id="4" name="内容占位符 3"/>
          <p:cNvSpPr>
            <a:spLocks noGrp="1"/>
          </p:cNvSpPr>
          <p:nvPr>
            <p:ph idx="1"/>
          </p:nvPr>
        </p:nvSpPr>
        <p:spPr/>
        <p:txBody>
          <a:bodyPr>
            <a:normAutofit fontScale="90000"/>
          </a:bodyPr>
          <a:lstStyle/>
          <a:p>
            <a:pPr algn="just"/>
            <a:r>
              <a:rPr lang="en-US" altLang="zh-CN"/>
              <a:t>Responsiveness – Background tasks do not freeze the user interface.</a:t>
            </a:r>
          </a:p>
          <a:p>
            <a:pPr algn="just"/>
            <a:r>
              <a:rPr lang="en-US" altLang="zh-CN"/>
              <a:t>Resource sharing – Threads share memory easily (no IPC overhead).</a:t>
            </a:r>
          </a:p>
          <a:p>
            <a:pPr algn="just"/>
            <a:r>
              <a:rPr lang="en-US" altLang="zh-CN"/>
              <a:t>Economy – Creating a thread is cheaper than creating a process.</a:t>
            </a:r>
          </a:p>
          <a:p>
            <a:pPr algn="just"/>
            <a:r>
              <a:rPr lang="en-US" altLang="zh-CN"/>
              <a:t>Scalability – Work can be split across multiple cores.</a:t>
            </a:r>
          </a:p>
          <a:p>
            <a:pPr algn="just"/>
            <a:r>
              <a:rPr lang="en-US" altLang="zh-CN"/>
              <a:t>Throughput – Overlapping I/O and computation increases total work per second.</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Disadvantages of Multithreaded Programming</a:t>
            </a:r>
          </a:p>
        </p:txBody>
      </p:sp>
      <p:sp>
        <p:nvSpPr>
          <p:cNvPr id="4" name="内容占位符 3"/>
          <p:cNvSpPr>
            <a:spLocks noGrp="1"/>
          </p:cNvSpPr>
          <p:nvPr>
            <p:ph idx="1"/>
          </p:nvPr>
        </p:nvSpPr>
        <p:spPr/>
        <p:txBody>
          <a:bodyPr>
            <a:normAutofit fontScale="80000"/>
          </a:bodyPr>
          <a:lstStyle/>
          <a:p>
            <a:pPr algn="just"/>
            <a:r>
              <a:rPr lang="en-US" altLang="zh-CN"/>
              <a:t>Complexity – Requires synchronisation (mutexes, semaphores) to avoid race conditions.</a:t>
            </a:r>
          </a:p>
          <a:p>
            <a:pPr algn="just"/>
            <a:r>
              <a:rPr lang="en-US" altLang="zh-CN"/>
              <a:t>Debugging difficulty – Heisenbugs (bugs that disappear when debugging) are common.</a:t>
            </a:r>
          </a:p>
          <a:p>
            <a:pPr algn="just"/>
            <a:r>
              <a:rPr lang="en-US" altLang="zh-CN"/>
              <a:t>Overhead – Context switching between threads still costs CPU time.</a:t>
            </a:r>
          </a:p>
          <a:p>
            <a:pPr algn="just"/>
            <a:r>
              <a:rPr lang="en-US" altLang="zh-CN"/>
              <a:t>Potential for deadlocks – Improper locking can freeze threads.</a:t>
            </a:r>
          </a:p>
          <a:p>
            <a:pPr algn="just"/>
            <a:r>
              <a:rPr lang="en-US" altLang="zh-CN"/>
              <a:t>Crash vulnerability – One thread’s illegal memory access can crash the whole process.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Questions</a:t>
            </a:r>
          </a:p>
        </p:txBody>
      </p:sp>
      <p:sp>
        <p:nvSpPr>
          <p:cNvPr id="3" name="内容占位符 2"/>
          <p:cNvSpPr>
            <a:spLocks noGrp="1"/>
          </p:cNvSpPr>
          <p:nvPr>
            <p:ph idx="1"/>
          </p:nvPr>
        </p:nvSpPr>
        <p:spPr/>
        <p:txBody>
          <a:bodyPr>
            <a:normAutofit lnSpcReduction="10000"/>
          </a:bodyPr>
          <a:lstStyle/>
          <a:p>
            <a:r>
              <a:rPr lang="en-US" altLang="zh-CN"/>
              <a:t>Who decides which one to choose between two? OS itself, or we user?</a:t>
            </a:r>
          </a:p>
          <a:p>
            <a:r>
              <a:rPr lang="en-US" altLang="zh-CN"/>
              <a:t>Who Decides the Number of Threads?</a:t>
            </a:r>
          </a:p>
          <a:p>
            <a:r>
              <a:rPr lang="en-US" altLang="zh-CN"/>
              <a:t>Who Decides the Number of Processes?</a:t>
            </a:r>
          </a:p>
          <a:p>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Questions</a:t>
            </a:r>
          </a:p>
        </p:txBody>
      </p:sp>
      <p:sp>
        <p:nvSpPr>
          <p:cNvPr id="3" name="内容占位符 2"/>
          <p:cNvSpPr>
            <a:spLocks noGrp="1"/>
          </p:cNvSpPr>
          <p:nvPr>
            <p:ph idx="1"/>
          </p:nvPr>
        </p:nvSpPr>
        <p:spPr/>
        <p:txBody>
          <a:bodyPr>
            <a:normAutofit/>
          </a:bodyPr>
          <a:lstStyle/>
          <a:p>
            <a:r>
              <a:rPr lang="en-US" altLang="zh-CN"/>
              <a:t>Who decides which one to choose between two? OS itself, or we user?</a:t>
            </a:r>
          </a:p>
          <a:p>
            <a:pPr lvl="1" algn="just"/>
            <a:r>
              <a:rPr lang="en-US" altLang="zh-CN"/>
              <a:t>The decision between single-threading and multi-threading (and which threading model to use) is made by the programmer (user) when designing the application. The operating system only provides the underlying mechanisms (system calls, thread libraries, scheduler). It does not “choose” for us.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Who decides What?</a:t>
            </a:r>
          </a:p>
        </p:txBody>
      </p:sp>
      <p:graphicFrame>
        <p:nvGraphicFramePr>
          <p:cNvPr id="4" name="表格 3"/>
          <p:cNvGraphicFramePr/>
          <p:nvPr>
            <p:custDataLst>
              <p:tags r:id="rId1"/>
            </p:custDataLst>
          </p:nvPr>
        </p:nvGraphicFramePr>
        <p:xfrm>
          <a:off x="188595" y="1346835"/>
          <a:ext cx="8761095" cy="5095236"/>
        </p:xfrm>
        <a:graphic>
          <a:graphicData uri="http://schemas.openxmlformats.org/drawingml/2006/table">
            <a:tbl>
              <a:tblPr/>
              <a:tblGrid>
                <a:gridCol w="2920365">
                  <a:extLst>
                    <a:ext uri="{9D8B030D-6E8A-4147-A177-3AD203B41FA5}">
                      <a16:colId xmlns:a16="http://schemas.microsoft.com/office/drawing/2014/main" val="20000"/>
                    </a:ext>
                  </a:extLst>
                </a:gridCol>
                <a:gridCol w="2920365">
                  <a:extLst>
                    <a:ext uri="{9D8B030D-6E8A-4147-A177-3AD203B41FA5}">
                      <a16:colId xmlns:a16="http://schemas.microsoft.com/office/drawing/2014/main" val="20001"/>
                    </a:ext>
                  </a:extLst>
                </a:gridCol>
                <a:gridCol w="2920365">
                  <a:extLst>
                    <a:ext uri="{9D8B030D-6E8A-4147-A177-3AD203B41FA5}">
                      <a16:colId xmlns:a16="http://schemas.microsoft.com/office/drawing/2014/main" val="20002"/>
                    </a:ext>
                  </a:extLst>
                </a:gridCol>
              </a:tblGrid>
              <a:tr h="308610">
                <a:tc>
                  <a:txBody>
                    <a:bodyPr/>
                    <a:lstStyle/>
                    <a:p>
                      <a:pPr algn="l"/>
                      <a:r>
                        <a:rPr lang="en-US" altLang="zh-CN" sz="1400" b="1" i="0">
                          <a:solidFill>
                            <a:srgbClr val="0F1115"/>
                          </a:solidFill>
                          <a:latin typeface="Times New Roman" panose="02020603050405020304" charset="0"/>
                          <a:ea typeface="var(--dsw-font-markdown-table-head)"/>
                          <a:cs typeface="Times New Roman" panose="02020603050405020304" charset="0"/>
                        </a:rPr>
                        <a:t>Decision</a:t>
                      </a:r>
                    </a:p>
                  </a:txBody>
                  <a:tcPr marL="0" marR="76517" marT="47942" marB="47942" anchor="ctr">
                    <a:lnL>
                      <a:noFill/>
                    </a:lnL>
                    <a:lnR>
                      <a:noFill/>
                    </a:lnR>
                    <a:lnT>
                      <a:noFill/>
                    </a:lnT>
                    <a:lnB>
                      <a:noFill/>
                    </a:lnB>
                    <a:noFill/>
                  </a:tcPr>
                </a:tc>
                <a:tc>
                  <a:txBody>
                    <a:bodyPr/>
                    <a:lstStyle/>
                    <a:p>
                      <a:pPr algn="l"/>
                      <a:r>
                        <a:rPr lang="en-US" altLang="zh-CN" sz="1400" b="1" i="0">
                          <a:solidFill>
                            <a:srgbClr val="0F1115"/>
                          </a:solidFill>
                          <a:latin typeface="Times New Roman" panose="02020603050405020304" charset="0"/>
                          <a:ea typeface="var(--dsw-font-markdown-table-head)"/>
                          <a:cs typeface="Times New Roman" panose="02020603050405020304" charset="0"/>
                        </a:rPr>
                        <a:t>Made by</a:t>
                      </a:r>
                    </a:p>
                  </a:txBody>
                  <a:tcPr marL="76517" marR="76517" marT="47942" marB="47942" anchor="ctr">
                    <a:lnL>
                      <a:noFill/>
                    </a:lnL>
                    <a:lnR>
                      <a:noFill/>
                    </a:lnR>
                    <a:lnT>
                      <a:noFill/>
                    </a:lnT>
                    <a:lnB>
                      <a:noFill/>
                    </a:lnB>
                    <a:noFill/>
                  </a:tcPr>
                </a:tc>
                <a:tc>
                  <a:txBody>
                    <a:bodyPr/>
                    <a:lstStyle/>
                    <a:p>
                      <a:pPr algn="l"/>
                      <a:r>
                        <a:rPr lang="en-US" altLang="zh-CN" sz="1400" b="1" i="0">
                          <a:solidFill>
                            <a:srgbClr val="0F1115"/>
                          </a:solidFill>
                          <a:latin typeface="Times New Roman" panose="02020603050405020304" charset="0"/>
                          <a:ea typeface="var(--dsw-font-markdown-table-head)"/>
                          <a:cs typeface="Times New Roman" panose="02020603050405020304" charset="0"/>
                        </a:rPr>
                        <a:t>Explanation</a:t>
                      </a:r>
                    </a:p>
                  </a:txBody>
                  <a:tcPr marL="76517" marR="76517" marT="47942" marB="47942" anchor="ctr">
                    <a:lnL>
                      <a:noFill/>
                    </a:lnL>
                    <a:lnR>
                      <a:noFill/>
                    </a:lnR>
                    <a:lnT>
                      <a:noFill/>
                    </a:lnT>
                    <a:lnB>
                      <a:noFill/>
                    </a:lnB>
                    <a:noFill/>
                  </a:tcPr>
                </a:tc>
                <a:extLst>
                  <a:ext uri="{0D108BD9-81ED-4DB2-BD59-A6C34878D82A}">
                    <a16:rowId xmlns:a16="http://schemas.microsoft.com/office/drawing/2014/main" val="10000"/>
                  </a:ext>
                </a:extLst>
              </a:tr>
              <a:tr h="735330">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Whether to use single‑threaded or multi‑threaded design</a:t>
                      </a:r>
                    </a:p>
                  </a:txBody>
                  <a:tcPr marL="0" marR="76517" marT="47942" marB="47942" anchor="ctr">
                    <a:lnL>
                      <a:noFill/>
                    </a:lnL>
                    <a:lnR>
                      <a:noFill/>
                    </a:lnR>
                    <a:lnT>
                      <a:noFill/>
                    </a:lnT>
                    <a:lnB>
                      <a:noFill/>
                    </a:lnB>
                    <a:noFill/>
                  </a:tcPr>
                </a:tc>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Programmer</a:t>
                      </a:r>
                    </a:p>
                  </a:txBody>
                  <a:tcPr marL="76517" marR="76517" marT="47942" marB="47942" anchor="ctr">
                    <a:lnL>
                      <a:noFill/>
                    </a:lnL>
                    <a:lnR>
                      <a:noFill/>
                    </a:lnR>
                    <a:lnT>
                      <a:noFill/>
                    </a:lnT>
                    <a:lnB>
                      <a:noFill/>
                    </a:lnB>
                    <a:noFill/>
                  </a:tcPr>
                </a:tc>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Based on the problem: is it sequential? Does it need responsiveness or parallelism?</a:t>
                      </a:r>
                    </a:p>
                  </a:txBody>
                  <a:tcPr marL="76517" marR="0" marT="47942" marB="47942" anchor="ctr">
                    <a:lnL>
                      <a:noFill/>
                    </a:lnL>
                    <a:lnR>
                      <a:noFill/>
                    </a:lnR>
                    <a:lnT>
                      <a:noFill/>
                    </a:lnT>
                    <a:lnB>
                      <a:noFill/>
                    </a:lnB>
                    <a:noFill/>
                  </a:tcPr>
                </a:tc>
                <a:extLst>
                  <a:ext uri="{0D108BD9-81ED-4DB2-BD59-A6C34878D82A}">
                    <a16:rowId xmlns:a16="http://schemas.microsoft.com/office/drawing/2014/main" val="10001"/>
                  </a:ext>
                </a:extLst>
              </a:tr>
              <a:tr h="1724660">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Which threading model to implement (many‑to‑one, one‑to‑one, etc.)</a:t>
                      </a:r>
                    </a:p>
                  </a:txBody>
                  <a:tcPr marL="0" marR="76517" marT="47942" marB="47942" anchor="ctr">
                    <a:lnL>
                      <a:noFill/>
                    </a:lnL>
                    <a:lnR>
                      <a:noFill/>
                    </a:lnR>
                    <a:lnT>
                      <a:noFill/>
                    </a:lnT>
                    <a:lnB>
                      <a:noFill/>
                    </a:lnB>
                    <a:noFill/>
                  </a:tcPr>
                </a:tc>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Programmer (or language runtime)</a:t>
                      </a:r>
                    </a:p>
                  </a:txBody>
                  <a:tcPr marL="76517" marR="76517" marT="47942" marB="47942" anchor="ctr">
                    <a:lnL>
                      <a:noFill/>
                    </a:lnL>
                    <a:lnR>
                      <a:noFill/>
                    </a:lnR>
                    <a:lnT>
                      <a:noFill/>
                    </a:lnT>
                    <a:lnB>
                      <a:noFill/>
                    </a:lnB>
                    <a:noFill/>
                  </a:tcPr>
                </a:tc>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The programmer chooses a threading library (e.g., POSIX threads → one‑to‑one on Linux; Green threads → many‑to‑one). Some languages (Go, Erlang) have their own scheduler that implements a variant of many‑to‑many.</a:t>
                      </a:r>
                    </a:p>
                  </a:txBody>
                  <a:tcPr marL="76517" marR="0" marT="47942" marB="47942" anchor="ctr">
                    <a:lnL>
                      <a:noFill/>
                    </a:lnL>
                    <a:lnR>
                      <a:noFill/>
                    </a:lnR>
                    <a:lnT>
                      <a:noFill/>
                    </a:lnT>
                    <a:lnB>
                      <a:noFill/>
                    </a:lnB>
                    <a:noFill/>
                  </a:tcPr>
                </a:tc>
                <a:extLst>
                  <a:ext uri="{0D108BD9-81ED-4DB2-BD59-A6C34878D82A}">
                    <a16:rowId xmlns:a16="http://schemas.microsoft.com/office/drawing/2014/main" val="10002"/>
                  </a:ext>
                </a:extLst>
              </a:tr>
              <a:tr h="1375410">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How threads are mapped to kernel threads</a:t>
                      </a:r>
                    </a:p>
                  </a:txBody>
                  <a:tcPr marL="0" marR="76517" marT="47942" marB="47942" anchor="ctr">
                    <a:lnL>
                      <a:noFill/>
                    </a:lnL>
                    <a:lnR>
                      <a:noFill/>
                    </a:lnR>
                    <a:lnT>
                      <a:noFill/>
                    </a:lnT>
                    <a:lnB>
                      <a:noFill/>
                    </a:lnB>
                    <a:noFill/>
                  </a:tcPr>
                </a:tc>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OS (fixed by design)</a:t>
                      </a:r>
                    </a:p>
                  </a:txBody>
                  <a:tcPr marL="76517" marR="76517" marT="47942" marB="47942" anchor="ctr">
                    <a:lnL>
                      <a:noFill/>
                    </a:lnL>
                    <a:lnR>
                      <a:noFill/>
                    </a:lnR>
                    <a:lnT>
                      <a:noFill/>
                    </a:lnT>
                    <a:lnB>
                      <a:noFill/>
                    </a:lnB>
                    <a:noFill/>
                  </a:tcPr>
                </a:tc>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Once the programmer uses a particular library (e.g., pthreads on Linux), the OS follows its own model – you cannot change it at runtime. Linux uses one‑to‑one; older Solaris used many‑to‑many.</a:t>
                      </a:r>
                    </a:p>
                  </a:txBody>
                  <a:tcPr marL="76517" marR="0" marT="47942" marB="47942" anchor="ctr">
                    <a:lnL>
                      <a:noFill/>
                    </a:lnL>
                    <a:lnR>
                      <a:noFill/>
                    </a:lnR>
                    <a:lnT>
                      <a:noFill/>
                    </a:lnT>
                    <a:lnB>
                      <a:noFill/>
                    </a:lnB>
                    <a:noFill/>
                  </a:tcPr>
                </a:tc>
                <a:extLst>
                  <a:ext uri="{0D108BD9-81ED-4DB2-BD59-A6C34878D82A}">
                    <a16:rowId xmlns:a16="http://schemas.microsoft.com/office/drawing/2014/main" val="10003"/>
                  </a:ext>
                </a:extLst>
              </a:tr>
              <a:tr h="948690">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Which core runs which thread</a:t>
                      </a:r>
                    </a:p>
                  </a:txBody>
                  <a:tcPr marL="0" marR="76517" marT="47942" marB="47942" anchor="ctr">
                    <a:lnL>
                      <a:noFill/>
                    </a:lnL>
                    <a:lnR>
                      <a:noFill/>
                    </a:lnR>
                    <a:lnT>
                      <a:noFill/>
                    </a:lnT>
                    <a:lnB>
                      <a:noFill/>
                    </a:lnB>
                    <a:noFill/>
                  </a:tcPr>
                </a:tc>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OS Scheduler</a:t>
                      </a:r>
                    </a:p>
                  </a:txBody>
                  <a:tcPr marL="76517" marR="76517" marT="47942" marB="47942" anchor="ctr">
                    <a:lnL>
                      <a:noFill/>
                    </a:lnL>
                    <a:lnR>
                      <a:noFill/>
                    </a:lnR>
                    <a:lnT>
                      <a:noFill/>
                    </a:lnT>
                    <a:lnB>
                      <a:noFill/>
                    </a:lnB>
                    <a:noFill/>
                  </a:tcPr>
                </a:tc>
                <a:tc>
                  <a:txBody>
                    <a:bodyPr/>
                    <a:lstStyle/>
                    <a:p>
                      <a:r>
                        <a:rPr lang="en-US" altLang="zh-CN" sz="1400" b="1" i="0">
                          <a:solidFill>
                            <a:srgbClr val="0F1115"/>
                          </a:solidFill>
                          <a:latin typeface="Times New Roman" panose="02020603050405020304" charset="0"/>
                          <a:ea typeface="var(--dsw-font-markdown-table)"/>
                          <a:cs typeface="Times New Roman" panose="02020603050405020304" charset="0"/>
                        </a:rPr>
                        <a:t>The OS decides thread scheduling and core assignment, but the programmer can give hints (e.g., thread affinity).</a:t>
                      </a:r>
                    </a:p>
                  </a:txBody>
                  <a:tcPr marL="76517" marR="0" marT="47942" marB="47942"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Summary</a:t>
            </a:r>
          </a:p>
        </p:txBody>
      </p:sp>
      <p:sp>
        <p:nvSpPr>
          <p:cNvPr id="3" name="内容占位符 2"/>
          <p:cNvSpPr>
            <a:spLocks noGrp="1"/>
          </p:cNvSpPr>
          <p:nvPr>
            <p:ph idx="1"/>
          </p:nvPr>
        </p:nvSpPr>
        <p:spPr/>
        <p:txBody>
          <a:bodyPr>
            <a:normAutofit lnSpcReduction="10000"/>
          </a:bodyPr>
          <a:lstStyle/>
          <a:p>
            <a:pPr algn="just"/>
            <a:r>
              <a:rPr lang="en-US" altLang="zh-CN"/>
              <a:t>Programmer is the architect: decides whether to build a single‑lane road (single-thread) or a multi‑lane highway (multi-thread).</a:t>
            </a:r>
          </a:p>
          <a:p>
            <a:pPr algn="just"/>
            <a:r>
              <a:rPr lang="en-US" altLang="zh-CN"/>
              <a:t>OS is the traffic controller: manages how cars (instructions) flow on the lanes you built.</a:t>
            </a:r>
          </a:p>
          <a:p>
            <a:pPr algn="just"/>
            <a:r>
              <a:rPr lang="en-US" altLang="zh-CN"/>
              <a:t>You (the programmer) choose the threading model and whether to go single or multi‑threaded. The OS only executes your choice and schedules the threads.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Questions</a:t>
            </a:r>
          </a:p>
        </p:txBody>
      </p:sp>
      <p:sp>
        <p:nvSpPr>
          <p:cNvPr id="3" name="内容占位符 2"/>
          <p:cNvSpPr>
            <a:spLocks noGrp="1"/>
          </p:cNvSpPr>
          <p:nvPr>
            <p:ph idx="1"/>
          </p:nvPr>
        </p:nvSpPr>
        <p:spPr/>
        <p:txBody>
          <a:bodyPr>
            <a:normAutofit fontScale="90000"/>
          </a:bodyPr>
          <a:lstStyle/>
          <a:p>
            <a:r>
              <a:rPr lang="en-US" altLang="zh-CN" dirty="0"/>
              <a:t>Who Decides the Number of Threads?</a:t>
            </a:r>
          </a:p>
          <a:p>
            <a:pPr lvl="1"/>
            <a:r>
              <a:rPr lang="en-US" altLang="zh-CN" dirty="0"/>
              <a:t>The programmer explicitly creates threads in code (e.g., </a:t>
            </a:r>
            <a:r>
              <a:rPr lang="en-US" altLang="zh-CN" dirty="0" err="1"/>
              <a:t>pthread_create</a:t>
            </a:r>
            <a:r>
              <a:rPr lang="en-US" altLang="zh-CN" dirty="0"/>
              <a:t>(), std::thread, fork() for processes).</a:t>
            </a:r>
          </a:p>
          <a:p>
            <a:pPr lvl="1"/>
            <a:r>
              <a:rPr lang="en-US" altLang="zh-CN" dirty="0"/>
              <a:t>The number of threads is design‑time choice:</a:t>
            </a:r>
          </a:p>
          <a:p>
            <a:pPr lvl="2"/>
            <a:r>
              <a:rPr lang="en-US" altLang="zh-CN" dirty="0"/>
              <a:t>Fixed thread pool size (e.g., 4 threads for a quad‑core CPU)</a:t>
            </a:r>
          </a:p>
          <a:p>
            <a:pPr lvl="2"/>
            <a:r>
              <a:rPr lang="en-US" altLang="zh-CN" dirty="0"/>
              <a:t>Dynamic: one thread per client in a server (e.g., web server creates a thread for each connection)</a:t>
            </a:r>
          </a:p>
          <a:p>
            <a:pPr lvl="2"/>
            <a:r>
              <a:rPr lang="en-US" altLang="zh-CN" dirty="0"/>
              <a:t>Threads can be created/destroyed at runtime based on workload.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Questions</a:t>
            </a:r>
          </a:p>
        </p:txBody>
      </p:sp>
      <p:sp>
        <p:nvSpPr>
          <p:cNvPr id="3" name="内容占位符 2"/>
          <p:cNvSpPr>
            <a:spLocks noGrp="1"/>
          </p:cNvSpPr>
          <p:nvPr>
            <p:ph idx="1"/>
          </p:nvPr>
        </p:nvSpPr>
        <p:spPr/>
        <p:txBody>
          <a:bodyPr>
            <a:normAutofit fontScale="70000"/>
          </a:bodyPr>
          <a:lstStyle/>
          <a:p>
            <a:r>
              <a:rPr lang="en-US" altLang="zh-CN"/>
              <a:t>Who Decides the Number of Processes?</a:t>
            </a:r>
          </a:p>
          <a:p>
            <a:pPr lvl="1"/>
            <a:r>
              <a:rPr lang="en-US" altLang="zh-CN"/>
              <a:t>The programmer and the user (by running programs) – but processes are often created dynamically.</a:t>
            </a:r>
          </a:p>
          <a:p>
            <a:r>
              <a:rPr lang="en-US" altLang="zh-CN"/>
              <a:t>Static processes: When you write code, you decide how many processes to start (e.g., fork() once gives 2 processes, fork() twice gives up to 4).</a:t>
            </a:r>
          </a:p>
          <a:p>
            <a:r>
              <a:rPr lang="en-US" altLang="zh-CN"/>
              <a:t>Dynamic processes: Many programs create processes on demand:</a:t>
            </a:r>
          </a:p>
          <a:p>
            <a:pPr lvl="1"/>
            <a:r>
              <a:rPr lang="en-US" altLang="zh-CN"/>
              <a:t>Web server forks a child per client.</a:t>
            </a:r>
          </a:p>
          <a:p>
            <a:pPr lvl="1"/>
            <a:r>
              <a:rPr lang="en-US" altLang="zh-CN"/>
              <a:t>Shell creates a new process for every command typed.</a:t>
            </a:r>
          </a:p>
          <a:p>
            <a:pPr lvl="1"/>
            <a:r>
              <a:rPr lang="en-US" altLang="zh-CN"/>
              <a:t>Browser spawns a new process per tab.</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sym typeface="+mn-ea"/>
              </a:rPr>
              <a:t>Who Decides the Number of Processes?</a:t>
            </a:r>
            <a:endParaRPr lang="en-US" altLang="zh-CN"/>
          </a:p>
        </p:txBody>
      </p:sp>
      <p:sp>
        <p:nvSpPr>
          <p:cNvPr id="3" name="内容占位符 2"/>
          <p:cNvSpPr>
            <a:spLocks noGrp="1"/>
          </p:cNvSpPr>
          <p:nvPr>
            <p:ph idx="1"/>
          </p:nvPr>
        </p:nvSpPr>
        <p:spPr/>
        <p:txBody>
          <a:bodyPr>
            <a:normAutofit fontScale="70000"/>
          </a:bodyPr>
          <a:lstStyle/>
          <a:p>
            <a:pPr marL="0" indent="0">
              <a:buNone/>
            </a:pPr>
            <a:r>
              <a:rPr lang="en-US" altLang="zh-CN"/>
              <a:t>Examples:</a:t>
            </a:r>
          </a:p>
          <a:p>
            <a:pPr lvl="1"/>
            <a:r>
              <a:rPr lang="en-US" altLang="zh-CN"/>
              <a:t>A simple hello.c compiled and run </a:t>
            </a:r>
            <a:r>
              <a:rPr lang="en-US" altLang="en-US"/>
              <a:t>→</a:t>
            </a:r>
            <a:r>
              <a:rPr lang="en-US" altLang="zh-CN"/>
              <a:t> 1 process (the program itself).</a:t>
            </a:r>
          </a:p>
          <a:p>
            <a:pPr lvl="1"/>
            <a:r>
              <a:rPr lang="en-US" altLang="zh-CN"/>
              <a:t>A shell script that runs ls, grep, wc in a pipeline </a:t>
            </a:r>
            <a:r>
              <a:rPr lang="en-US" altLang="en-US"/>
              <a:t>→</a:t>
            </a:r>
            <a:r>
              <a:rPr lang="en-US" altLang="zh-CN"/>
              <a:t> 3 processes (one for each command).</a:t>
            </a:r>
          </a:p>
          <a:p>
            <a:pPr lvl="1"/>
            <a:r>
              <a:rPr lang="en-US" altLang="zh-CN"/>
              <a:t>Chrome browser: you open 5 tabs </a:t>
            </a:r>
            <a:r>
              <a:rPr lang="en-US" altLang="en-US"/>
              <a:t>→</a:t>
            </a:r>
            <a:r>
              <a:rPr lang="en-US" altLang="zh-CN"/>
              <a:t> might have 5 renderer processes + 1 browser process = 6 processes (plus extensions, GPU process, etc.).</a:t>
            </a:r>
          </a:p>
          <a:p>
            <a:pPr marL="0" indent="0">
              <a:buNone/>
            </a:pPr>
            <a:r>
              <a:rPr lang="en-US" altLang="zh-CN"/>
              <a:t>Can we know the exact number in advance?</a:t>
            </a:r>
          </a:p>
          <a:p>
            <a:r>
              <a:rPr lang="en-US" altLang="zh-CN"/>
              <a:t>For a simple, deterministic program (no user input, no conditional forks) – yes, you can count the number of fork() calls.</a:t>
            </a:r>
          </a:p>
          <a:p>
            <a:r>
              <a:rPr lang="en-US" altLang="zh-CN"/>
              <a:t>For interactive applications (web servers, browsers, shells) – no, because the number depends on user actions (e.g., how many tabs you open, how many clients connect).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6200"/>
            <a:ext cx="8229600" cy="990600"/>
          </a:xfrm>
        </p:spPr>
        <p:txBody>
          <a:bodyPr/>
          <a:lstStyle/>
          <a:p>
            <a:r>
              <a:rPr lang="en-US" altLang="zh-CN"/>
              <a:t>Example Program</a:t>
            </a:r>
          </a:p>
        </p:txBody>
      </p:sp>
      <p:pic>
        <p:nvPicPr>
          <p:cNvPr id="7" name="图片 6"/>
          <p:cNvPicPr>
            <a:picLocks noChangeAspect="1"/>
          </p:cNvPicPr>
          <p:nvPr/>
        </p:nvPicPr>
        <p:blipFill>
          <a:blip r:embed="rId2"/>
          <a:stretch>
            <a:fillRect/>
          </a:stretch>
        </p:blipFill>
        <p:spPr>
          <a:xfrm>
            <a:off x="381000" y="990600"/>
            <a:ext cx="8343265" cy="570103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Responsiveness</a:t>
            </a:r>
          </a:p>
        </p:txBody>
      </p:sp>
      <p:sp>
        <p:nvSpPr>
          <p:cNvPr id="3" name="Content Placeholder 2"/>
          <p:cNvSpPr>
            <a:spLocks noGrp="1"/>
          </p:cNvSpPr>
          <p:nvPr>
            <p:ph idx="1"/>
          </p:nvPr>
        </p:nvSpPr>
        <p:spPr/>
        <p:txBody>
          <a:bodyPr/>
          <a:lstStyle/>
          <a:p>
            <a:pPr algn="just"/>
            <a:r>
              <a:rPr lang="en-US" dirty="0"/>
              <a:t>Multithreading increase the responsiveness to the user. Multithreading may allow a program to continue running even if part of it is blocked or is performing a lengthy operation.</a:t>
            </a:r>
          </a:p>
          <a:p>
            <a:pPr algn="just"/>
            <a:r>
              <a:rPr lang="en-US" dirty="0"/>
              <a:t>For instance, a multithreaded web browser could allow user interaction in one thread while an image was being loaded in another thread.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 Sharing </a:t>
            </a:r>
          </a:p>
        </p:txBody>
      </p:sp>
      <p:sp>
        <p:nvSpPr>
          <p:cNvPr id="3" name="Content Placeholder 2"/>
          <p:cNvSpPr>
            <a:spLocks noGrp="1"/>
          </p:cNvSpPr>
          <p:nvPr>
            <p:ph idx="1"/>
          </p:nvPr>
        </p:nvSpPr>
        <p:spPr/>
        <p:txBody>
          <a:bodyPr/>
          <a:lstStyle/>
          <a:p>
            <a:r>
              <a:rPr lang="en-US" dirty="0"/>
              <a:t>Threads share the memory and the resources of the process to which they belong by default.</a:t>
            </a:r>
          </a:p>
          <a:p>
            <a:r>
              <a:rPr lang="en-US" dirty="0"/>
              <a:t>The benefit of sharing code and data is that it allows an application to have several different threads of activity within the same address space.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Economy</a:t>
            </a:r>
          </a:p>
        </p:txBody>
      </p:sp>
      <p:sp>
        <p:nvSpPr>
          <p:cNvPr id="3" name="Content Placeholder 2"/>
          <p:cNvSpPr>
            <a:spLocks noGrp="1"/>
          </p:cNvSpPr>
          <p:nvPr>
            <p:ph idx="1"/>
          </p:nvPr>
        </p:nvSpPr>
        <p:spPr/>
        <p:txBody>
          <a:bodyPr>
            <a:normAutofit lnSpcReduction="10000"/>
          </a:bodyPr>
          <a:lstStyle/>
          <a:p>
            <a:r>
              <a:rPr lang="en-US" dirty="0"/>
              <a:t>Allocating memory and resources for process creation is costly.</a:t>
            </a:r>
          </a:p>
          <a:p>
            <a:r>
              <a:rPr lang="en-US" dirty="0"/>
              <a:t>Thread share the resources of the process to which they belong, so it is more economical to create thread.</a:t>
            </a:r>
          </a:p>
          <a:p>
            <a:r>
              <a:rPr lang="en-US" dirty="0"/>
              <a:t>It is much more time consuming to create and manage process than thread.</a:t>
            </a:r>
          </a:p>
          <a:p>
            <a:r>
              <a:rPr lang="en-US" dirty="0"/>
              <a:t>For </a:t>
            </a:r>
            <a:r>
              <a:rPr lang="en-US" dirty="0" err="1"/>
              <a:t>e.g</a:t>
            </a:r>
            <a:r>
              <a:rPr lang="en-US" dirty="0"/>
              <a:t> Solaris, creating a process is about thirty times slower than is creating a thread.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Scalability</a:t>
            </a:r>
          </a:p>
        </p:txBody>
      </p:sp>
      <p:sp>
        <p:nvSpPr>
          <p:cNvPr id="3" name="Content Placeholder 2"/>
          <p:cNvSpPr>
            <a:spLocks noGrp="1"/>
          </p:cNvSpPr>
          <p:nvPr>
            <p:ph idx="1"/>
          </p:nvPr>
        </p:nvSpPr>
        <p:spPr/>
        <p:txBody>
          <a:bodyPr/>
          <a:lstStyle/>
          <a:p>
            <a:r>
              <a:rPr lang="en-US" dirty="0"/>
              <a:t>The benefits of multithreading can be greatly increased in a multiprocessor architecture, where threads may be running in parallel on different processors.</a:t>
            </a:r>
          </a:p>
          <a:p>
            <a:r>
              <a:rPr lang="en-US" dirty="0"/>
              <a:t>A single threaded process can only run on one processor, regardless how many are available.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 Communication Overheads</a:t>
            </a:r>
          </a:p>
        </p:txBody>
      </p:sp>
      <p:sp>
        <p:nvSpPr>
          <p:cNvPr id="3" name="Content Placeholder 2"/>
          <p:cNvSpPr>
            <a:spLocks noGrp="1"/>
          </p:cNvSpPr>
          <p:nvPr>
            <p:ph idx="1"/>
          </p:nvPr>
        </p:nvSpPr>
        <p:spPr/>
        <p:txBody>
          <a:bodyPr/>
          <a:lstStyle/>
          <a:p>
            <a:r>
              <a:rPr lang="en-US" dirty="0"/>
              <a:t>Communicating between the threads of one process is simple because the threads share everything, address space.</a:t>
            </a:r>
          </a:p>
          <a:p>
            <a:r>
              <a:rPr lang="en-US" dirty="0"/>
              <a:t>So, data produced by one thread is immediately available to all the other threads.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Core and Multi Core System</a:t>
            </a:r>
          </a:p>
        </p:txBody>
      </p:sp>
      <p:sp>
        <p:nvSpPr>
          <p:cNvPr id="3" name="Content Placeholder 2"/>
          <p:cNvSpPr>
            <a:spLocks noGrp="1"/>
          </p:cNvSpPr>
          <p:nvPr>
            <p:ph idx="1"/>
          </p:nvPr>
        </p:nvSpPr>
        <p:spPr>
          <a:xfrm>
            <a:off x="457200" y="1600200"/>
            <a:ext cx="8229600" cy="4525963"/>
          </a:xfrm>
        </p:spPr>
        <p:txBody>
          <a:bodyPr/>
          <a:lstStyle/>
          <a:p>
            <a:r>
              <a:rPr lang="en-US" dirty="0"/>
              <a:t>A recent trend in system design has been to place multiple computing cores on a single chip, where each core appears as a separate processor to the operating system.</a:t>
            </a:r>
          </a:p>
          <a:p>
            <a:r>
              <a:rPr lang="en-US" dirty="0"/>
              <a:t>Multithreaded programming provides the mechanism for more efficient use of multi-cores and improved concurrency.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Thread Execution on Single Core System</a:t>
            </a:r>
          </a:p>
        </p:txBody>
      </p:sp>
      <p:sp>
        <p:nvSpPr>
          <p:cNvPr id="3" name="Content Placeholder 2"/>
          <p:cNvSpPr>
            <a:spLocks noGrp="1"/>
          </p:cNvSpPr>
          <p:nvPr>
            <p:ph idx="1"/>
          </p:nvPr>
        </p:nvSpPr>
        <p:spPr/>
        <p:txBody>
          <a:bodyPr>
            <a:normAutofit lnSpcReduction="10000"/>
          </a:bodyPr>
          <a:lstStyle/>
          <a:p>
            <a:pPr algn="just"/>
            <a:r>
              <a:rPr lang="en-US" dirty="0"/>
              <a:t>Consider an application with four threads  (T1, T2, T3 and T4). On a system with a single computing core, concurrency merely means that the execution of a threads will be interleaved over time, as the processing core is capable of executing only one thread at a time. As shown in figure below;</a:t>
            </a:r>
          </a:p>
          <a:p>
            <a:pPr algn="just">
              <a:buNone/>
            </a:pPr>
            <a:endParaRPr lang="en-US" dirty="0"/>
          </a:p>
          <a:p>
            <a:pPr algn="just">
              <a:buNone/>
            </a:pPr>
            <a:r>
              <a:rPr lang="en-US" dirty="0"/>
              <a:t>  </a:t>
            </a:r>
          </a:p>
        </p:txBody>
      </p:sp>
      <p:pic>
        <p:nvPicPr>
          <p:cNvPr id="5" name="Picture 4" descr="sing.jpg"/>
          <p:cNvPicPr>
            <a:picLocks noChangeAspect="1"/>
          </p:cNvPicPr>
          <p:nvPr/>
        </p:nvPicPr>
        <p:blipFill>
          <a:blip r:embed="rId2"/>
          <a:stretch>
            <a:fillRect/>
          </a:stretch>
        </p:blipFill>
        <p:spPr>
          <a:xfrm>
            <a:off x="1219200" y="4953000"/>
            <a:ext cx="6677025" cy="12573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Thread Execution on Single Multiple Core System</a:t>
            </a:r>
          </a:p>
        </p:txBody>
      </p:sp>
      <p:sp>
        <p:nvSpPr>
          <p:cNvPr id="3" name="Content Placeholder 2"/>
          <p:cNvSpPr>
            <a:spLocks noGrp="1"/>
          </p:cNvSpPr>
          <p:nvPr>
            <p:ph idx="1"/>
          </p:nvPr>
        </p:nvSpPr>
        <p:spPr/>
        <p:txBody>
          <a:bodyPr/>
          <a:lstStyle/>
          <a:p>
            <a:r>
              <a:rPr lang="en-US" dirty="0"/>
              <a:t>On a system with multiple cores, however , concurrency means that the thread can run in parallel, as the system can assign a separate thread to each core. </a:t>
            </a:r>
          </a:p>
          <a:p>
            <a:pPr>
              <a:buNone/>
            </a:pPr>
            <a:endParaRPr lang="en-US" dirty="0"/>
          </a:p>
        </p:txBody>
      </p:sp>
      <p:pic>
        <p:nvPicPr>
          <p:cNvPr id="4" name="Picture 3" descr="mul.jpg"/>
          <p:cNvPicPr>
            <a:picLocks noChangeAspect="1"/>
          </p:cNvPicPr>
          <p:nvPr/>
        </p:nvPicPr>
        <p:blipFill>
          <a:blip r:embed="rId2"/>
          <a:stretch>
            <a:fillRect/>
          </a:stretch>
        </p:blipFill>
        <p:spPr>
          <a:xfrm>
            <a:off x="1143000" y="4191000"/>
            <a:ext cx="7315200" cy="18288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Library</a:t>
            </a:r>
          </a:p>
        </p:txBody>
      </p:sp>
      <p:sp>
        <p:nvSpPr>
          <p:cNvPr id="3" name="Content Placeholder 2"/>
          <p:cNvSpPr>
            <a:spLocks noGrp="1"/>
          </p:cNvSpPr>
          <p:nvPr>
            <p:ph idx="1"/>
          </p:nvPr>
        </p:nvSpPr>
        <p:spPr/>
        <p:txBody>
          <a:bodyPr/>
          <a:lstStyle/>
          <a:p>
            <a:r>
              <a:rPr lang="en-US" dirty="0"/>
              <a:t>A thread library provides the programmer with an Application programming interface (API) for creating and managing threads.</a:t>
            </a:r>
          </a:p>
          <a:p>
            <a:r>
              <a:rPr lang="en-US" dirty="0"/>
              <a:t>Thread library contain code for;</a:t>
            </a:r>
          </a:p>
          <a:p>
            <a:pPr lvl="1">
              <a:buFont typeface="Wingdings" panose="05000000000000000000" pitchFamily="2" charset="2"/>
              <a:buChar char="Ø"/>
            </a:pPr>
            <a:r>
              <a:rPr lang="en-US" dirty="0"/>
              <a:t>Creating and destroying threads.</a:t>
            </a:r>
          </a:p>
          <a:p>
            <a:pPr lvl="1">
              <a:buFont typeface="Wingdings" panose="05000000000000000000" pitchFamily="2" charset="2"/>
              <a:buChar char="Ø"/>
            </a:pPr>
            <a:r>
              <a:rPr lang="en-US" dirty="0"/>
              <a:t>Passing messages and data between threads</a:t>
            </a:r>
          </a:p>
          <a:p>
            <a:pPr lvl="1">
              <a:buFont typeface="Wingdings" panose="05000000000000000000" pitchFamily="2" charset="2"/>
              <a:buChar char="Ø"/>
            </a:pPr>
            <a:r>
              <a:rPr lang="en-US" dirty="0"/>
              <a:t>Scheduling thread executing</a:t>
            </a:r>
          </a:p>
          <a:p>
            <a:pPr lvl="1">
              <a:buFont typeface="Wingdings" panose="05000000000000000000" pitchFamily="2" charset="2"/>
              <a:buChar char="Ø"/>
            </a:pPr>
            <a:r>
              <a:rPr lang="en-US" dirty="0"/>
              <a:t>Saving and restoring thread contexts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Kernel Threads</a:t>
            </a:r>
          </a:p>
        </p:txBody>
      </p:sp>
      <p:sp>
        <p:nvSpPr>
          <p:cNvPr id="3" name="Content Placeholder 2"/>
          <p:cNvSpPr>
            <a:spLocks noGrp="1"/>
          </p:cNvSpPr>
          <p:nvPr>
            <p:ph idx="1"/>
          </p:nvPr>
        </p:nvSpPr>
        <p:spPr/>
        <p:txBody>
          <a:bodyPr>
            <a:normAutofit lnSpcReduction="10000"/>
          </a:bodyPr>
          <a:lstStyle/>
          <a:p>
            <a:r>
              <a:rPr lang="en-US" dirty="0"/>
              <a:t>Kernel threads exist within the context of a process and provide the operating system the means to address and execute smaller segments of the process.</a:t>
            </a:r>
          </a:p>
          <a:p>
            <a:r>
              <a:rPr lang="en-US" dirty="0"/>
              <a:t>It also enables programs to take advantage of capabilities provided by the hardware for concurrent and parallel processing.</a:t>
            </a:r>
          </a:p>
          <a:p>
            <a:r>
              <a:rPr lang="en-US" dirty="0"/>
              <a:t>Kernel threads are supported and managed directly by the operating system.</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Multithreading Models </a:t>
            </a:r>
            <a:br>
              <a:rPr lang="en-US" dirty="0"/>
            </a:br>
            <a:r>
              <a:rPr lang="en-US" dirty="0"/>
              <a:t>(Many-To-One Model)</a:t>
            </a:r>
          </a:p>
        </p:txBody>
      </p:sp>
      <p:sp>
        <p:nvSpPr>
          <p:cNvPr id="3" name="Content Placeholder 2"/>
          <p:cNvSpPr>
            <a:spLocks noGrp="1"/>
          </p:cNvSpPr>
          <p:nvPr>
            <p:ph sz="half" idx="1"/>
          </p:nvPr>
        </p:nvSpPr>
        <p:spPr/>
        <p:txBody>
          <a:bodyPr>
            <a:normAutofit fontScale="77500" lnSpcReduction="20000"/>
          </a:bodyPr>
          <a:lstStyle/>
          <a:p>
            <a:r>
              <a:rPr lang="en-US" dirty="0"/>
              <a:t>In many-to-one model, many user level threads are map to one kernel thread.</a:t>
            </a:r>
          </a:p>
          <a:p>
            <a:r>
              <a:rPr lang="en-US" dirty="0"/>
              <a:t>Thread management is done by the thread library in user space.</a:t>
            </a:r>
          </a:p>
          <a:p>
            <a:r>
              <a:rPr lang="en-US" dirty="0"/>
              <a:t>This model is efficient , but the entire process will block if a thread makes a blocking system call.</a:t>
            </a:r>
          </a:p>
          <a:p>
            <a:r>
              <a:rPr lang="en-US" dirty="0"/>
              <a:t>Only one thread can access the kernel at a time, multiple threads are unable to run in parallel on multiprocessors. </a:t>
            </a:r>
          </a:p>
        </p:txBody>
      </p:sp>
      <p:pic>
        <p:nvPicPr>
          <p:cNvPr id="5" name="Content Placeholder 4" descr="mo.png"/>
          <p:cNvPicPr>
            <a:picLocks noGrp="1" noChangeAspect="1"/>
          </p:cNvPicPr>
          <p:nvPr>
            <p:ph sz="half" idx="2"/>
          </p:nvPr>
        </p:nvPicPr>
        <p:blipFill>
          <a:blip r:embed="rId2"/>
          <a:stretch>
            <a:fillRect/>
          </a:stretch>
        </p:blipFill>
        <p:spPr>
          <a:xfrm>
            <a:off x="5000392" y="1752600"/>
            <a:ext cx="3686408" cy="3539531"/>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Multithreading Models</a:t>
            </a:r>
            <a:br>
              <a:rPr lang="en-US" dirty="0"/>
            </a:br>
            <a:r>
              <a:rPr lang="en-US" dirty="0"/>
              <a:t>(One-To-One Model)</a:t>
            </a:r>
          </a:p>
        </p:txBody>
      </p:sp>
      <p:sp>
        <p:nvSpPr>
          <p:cNvPr id="3" name="Content Placeholder 2"/>
          <p:cNvSpPr>
            <a:spLocks noGrp="1"/>
          </p:cNvSpPr>
          <p:nvPr>
            <p:ph sz="half" idx="1"/>
          </p:nvPr>
        </p:nvSpPr>
        <p:spPr/>
        <p:txBody>
          <a:bodyPr>
            <a:normAutofit fontScale="92500" lnSpcReduction="20000"/>
          </a:bodyPr>
          <a:lstStyle/>
          <a:p>
            <a:r>
              <a:rPr lang="en-US" dirty="0"/>
              <a:t>In one-to-one model, each user thread map to kernel thread.</a:t>
            </a:r>
          </a:p>
          <a:p>
            <a:r>
              <a:rPr lang="en-US" dirty="0"/>
              <a:t>It provides more concurrency than many-to-one model by allowing another thread to run when a thread makes a blocking system call.</a:t>
            </a:r>
          </a:p>
          <a:p>
            <a:r>
              <a:rPr lang="en-US" dirty="0"/>
              <a:t>This model allows running multiple threads on multiprocessor system.</a:t>
            </a:r>
          </a:p>
        </p:txBody>
      </p:sp>
      <p:pic>
        <p:nvPicPr>
          <p:cNvPr id="5" name="Content Placeholder 4" descr="oo.png"/>
          <p:cNvPicPr>
            <a:picLocks noGrp="1" noChangeAspect="1"/>
          </p:cNvPicPr>
          <p:nvPr>
            <p:ph sz="half" idx="2"/>
          </p:nvPr>
        </p:nvPicPr>
        <p:blipFill>
          <a:blip r:embed="rId2"/>
          <a:stretch>
            <a:fillRect/>
          </a:stretch>
        </p:blipFill>
        <p:spPr>
          <a:xfrm>
            <a:off x="5000392" y="2057400"/>
            <a:ext cx="3762608" cy="3234731"/>
          </a:xfr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Multithreading Models</a:t>
            </a:r>
            <a:br>
              <a:rPr lang="en-US" dirty="0"/>
            </a:br>
            <a:r>
              <a:rPr lang="en-US" dirty="0"/>
              <a:t>(Many-To-Many Model)</a:t>
            </a:r>
          </a:p>
        </p:txBody>
      </p:sp>
      <p:sp>
        <p:nvSpPr>
          <p:cNvPr id="3" name="Content Placeholder 2"/>
          <p:cNvSpPr>
            <a:spLocks noGrp="1"/>
          </p:cNvSpPr>
          <p:nvPr>
            <p:ph sz="half" idx="1"/>
          </p:nvPr>
        </p:nvSpPr>
        <p:spPr/>
        <p:txBody>
          <a:bodyPr>
            <a:normAutofit fontScale="92500" lnSpcReduction="10000"/>
          </a:bodyPr>
          <a:lstStyle/>
          <a:p>
            <a:r>
              <a:rPr lang="en-US" dirty="0"/>
              <a:t>The many-to-many multiplexes many user level threads to a smaller or equal number of kernel threads.</a:t>
            </a:r>
          </a:p>
          <a:p>
            <a:r>
              <a:rPr lang="en-US" dirty="0"/>
              <a:t>In many-to-many model, when a thread performs a blocking system call, the kernel can schedule another thread for execution.</a:t>
            </a:r>
          </a:p>
        </p:txBody>
      </p:sp>
      <p:pic>
        <p:nvPicPr>
          <p:cNvPr id="5" name="Content Placeholder 4" descr="mm.png"/>
          <p:cNvPicPr>
            <a:picLocks noGrp="1" noChangeAspect="1"/>
          </p:cNvPicPr>
          <p:nvPr>
            <p:ph sz="half" idx="2"/>
          </p:nvPr>
        </p:nvPicPr>
        <p:blipFill>
          <a:blip r:embed="rId2"/>
          <a:stretch>
            <a:fillRect/>
          </a:stretch>
        </p:blipFill>
        <p:spPr>
          <a:xfrm>
            <a:off x="5000392" y="2057400"/>
            <a:ext cx="3686408" cy="3234731"/>
          </a:xfr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Which Model is Best?</a:t>
            </a:r>
            <a:endParaRPr lang="zh-CN" altLang="en-US"/>
          </a:p>
        </p:txBody>
      </p:sp>
      <p:sp>
        <p:nvSpPr>
          <p:cNvPr id="3" name="内容占位符 2"/>
          <p:cNvSpPr>
            <a:spLocks noGrp="1"/>
          </p:cNvSpPr>
          <p:nvPr>
            <p:ph sz="half" idx="1"/>
          </p:nvPr>
        </p:nvSpPr>
        <p:spPr>
          <a:xfrm>
            <a:off x="457200" y="1600200"/>
            <a:ext cx="8229600" cy="4526280"/>
          </a:xfrm>
        </p:spPr>
        <p:txBody>
          <a:bodyPr>
            <a:normAutofit fontScale="80000"/>
          </a:bodyPr>
          <a:lstStyle/>
          <a:p>
            <a:pPr algn="just"/>
            <a:endParaRPr lang="en-US" altLang="zh-CN"/>
          </a:p>
          <a:p>
            <a:pPr algn="just"/>
            <a:r>
              <a:rPr lang="en-US" altLang="zh-CN"/>
              <a:t>For general‑purpose OS (Linux, Windows) </a:t>
            </a:r>
            <a:r>
              <a:rPr lang="en-US" altLang="en-US"/>
              <a:t>→</a:t>
            </a:r>
            <a:r>
              <a:rPr lang="en-US" altLang="zh-CN"/>
              <a:t> One‑to‑one wins because it is simple, delivers true parallelism, and modern hardware can handle thousands of kernel threads efficiently.</a:t>
            </a:r>
          </a:p>
          <a:p>
            <a:pPr algn="just"/>
            <a:endParaRPr lang="en-US" altLang="zh-CN"/>
          </a:p>
          <a:p>
            <a:pPr algn="just"/>
            <a:r>
              <a:rPr lang="en-US" altLang="zh-CN"/>
              <a:t>For languages with lightweight concurrency (Go, Erlang) </a:t>
            </a:r>
            <a:r>
              <a:rPr lang="en-US" altLang="en-US"/>
              <a:t>→</a:t>
            </a:r>
            <a:r>
              <a:rPr lang="en-US" altLang="zh-CN"/>
              <a:t> A variant of many‑to‑many is used to create millions of “green” threads without exhausting OS resources.</a:t>
            </a:r>
          </a:p>
          <a:p>
            <a:pPr algn="just"/>
            <a:endParaRPr lang="en-US" altLang="zh-CN"/>
          </a:p>
          <a:p>
            <a:pPr algn="just"/>
            <a:r>
              <a:rPr lang="en-US" altLang="zh-CN"/>
              <a:t>Many‑to‑one is almost extinct due to the blocking problem and lack of parallelism.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Which Model is Best?</a:t>
            </a:r>
            <a:endParaRPr lang="zh-CN" altLang="en-US"/>
          </a:p>
        </p:txBody>
      </p:sp>
      <p:sp>
        <p:nvSpPr>
          <p:cNvPr id="3" name="内容占位符 2"/>
          <p:cNvSpPr>
            <a:spLocks noGrp="1"/>
          </p:cNvSpPr>
          <p:nvPr>
            <p:ph sz="half" idx="1"/>
          </p:nvPr>
        </p:nvSpPr>
        <p:spPr>
          <a:xfrm>
            <a:off x="457200" y="1600200"/>
            <a:ext cx="8229600" cy="4526280"/>
          </a:xfrm>
        </p:spPr>
        <p:txBody>
          <a:bodyPr>
            <a:normAutofit/>
          </a:bodyPr>
          <a:lstStyle/>
          <a:p>
            <a:pPr algn="just"/>
            <a:r>
              <a:rPr lang="en-US" altLang="zh-CN" dirty="0"/>
              <a:t>A web server that handles 1000 concurrent connections (mostly I/O bound) on a 16-core machine.</a:t>
            </a:r>
          </a:p>
          <a:p>
            <a:pPr algn="just"/>
            <a:endParaRPr lang="en-US" altLang="zh-CN" dirty="0"/>
          </a:p>
          <a:p>
            <a:pPr algn="just"/>
            <a:r>
              <a:rPr lang="en-US" altLang="zh-CN" dirty="0"/>
              <a:t>A real-time robot controller with 5 time‑critical tasks.</a:t>
            </a:r>
          </a:p>
          <a:p>
            <a:pPr algn="just"/>
            <a:endParaRPr lang="en-US" altLang="zh-CN" dirty="0"/>
          </a:p>
          <a:p>
            <a:pPr algn="just"/>
            <a:r>
              <a:rPr lang="en-US" altLang="zh-CN" dirty="0"/>
              <a:t>A legacy application that must be portable across many OS and cannot use native threads.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70000"/>
          </a:bodyPr>
          <a:lstStyle/>
          <a:p>
            <a:pPr algn="just"/>
            <a:r>
              <a:rPr lang="en-US" altLang="zh-CN"/>
              <a:t>Number of threads is a programming decision – you choose it when you write code (though it can vary at runtime based on conditions).</a:t>
            </a:r>
          </a:p>
          <a:p>
            <a:pPr algn="just"/>
            <a:r>
              <a:rPr lang="en-US" altLang="zh-CN"/>
              <a:t>Number of processes is also largely a programming choice, but many processes are created by user actions (opening an app, clicking a link, typing a command). Therefore, you often cannot predict the exact number of processes in a running system.</a:t>
            </a:r>
          </a:p>
          <a:p>
            <a:pPr algn="just"/>
            <a:r>
              <a:rPr lang="en-US" altLang="zh-CN"/>
              <a:t>The OS does not decide these numbers for your application; it just enforces limits and schedules what you create.</a:t>
            </a:r>
          </a:p>
          <a:p>
            <a:pPr algn="just"/>
            <a:r>
              <a:rPr lang="en-US" altLang="zh-CN"/>
              <a:t>In summary, the programmer decides maximum/typical numbers. The OS provides the mechanism and limits. The user’s behaviour determines actual numbers at runtime</a:t>
            </a:r>
          </a:p>
        </p:txBody>
      </p:sp>
      <p:sp>
        <p:nvSpPr>
          <p:cNvPr id="5" name="标题 4"/>
          <p:cNvSpPr>
            <a:spLocks noGrp="1"/>
          </p:cNvSpPr>
          <p:nvPr>
            <p:ph type="title"/>
          </p:nvPr>
        </p:nvSpPr>
        <p:spPr/>
        <p:txBody>
          <a:bodyPr>
            <a:normAutofit/>
          </a:bodyPr>
          <a:lstStyle/>
          <a:p>
            <a:r>
              <a:rPr lang="en-US" altLang="zh-CN">
                <a:sym typeface="+mn-ea"/>
              </a:rPr>
              <a:t>Conclusion</a:t>
            </a:r>
            <a:endParaRPr lang="en-US" altLang="zh-CN"/>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40*302"/>
  <p:tag name="TABLE_ENDDRAG_RECT" val="50*161*640*30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19*336"/>
  <p:tag name="TABLE_ENDDRAG_RECT" val="50*105*619*336"/>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689*389"/>
  <p:tag name="TABLE_ENDDRAG_RECT" val="14*106*689*38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4487</Words>
  <Application>Microsoft Office PowerPoint</Application>
  <PresentationFormat>On-screen Show (4:3)</PresentationFormat>
  <Paragraphs>303</Paragraphs>
  <Slides>53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quote-cjk-patch</vt:lpstr>
      <vt:lpstr>Arial</vt:lpstr>
      <vt:lpstr>Calibri</vt:lpstr>
      <vt:lpstr>Consolas</vt:lpstr>
      <vt:lpstr>Raleway</vt:lpstr>
      <vt:lpstr>Times New Roman</vt:lpstr>
      <vt:lpstr>Wingdings</vt:lpstr>
      <vt:lpstr>Office Theme</vt:lpstr>
      <vt:lpstr>Chapter#4 Threads &amp; Concurrency</vt:lpstr>
      <vt:lpstr>MCQs</vt:lpstr>
      <vt:lpstr>MCQs</vt:lpstr>
      <vt:lpstr>MCQs</vt:lpstr>
      <vt:lpstr>Correct Answers</vt:lpstr>
      <vt:lpstr>Correct Answers</vt:lpstr>
      <vt:lpstr>Questions !!</vt:lpstr>
      <vt:lpstr>Questions !!</vt:lpstr>
      <vt:lpstr>Questions !!</vt:lpstr>
      <vt:lpstr>Questions !!</vt:lpstr>
      <vt:lpstr>Threads</vt:lpstr>
      <vt:lpstr>PowerPoint Presentation</vt:lpstr>
      <vt:lpstr>Threads</vt:lpstr>
      <vt:lpstr>How Multiple Threads Execute</vt:lpstr>
      <vt:lpstr>How Multiple Threads Execute</vt:lpstr>
      <vt:lpstr>How Multiple Threads Execute</vt:lpstr>
      <vt:lpstr>Single Threaded and Multi Threaded Process</vt:lpstr>
      <vt:lpstr>Single Threaded Process</vt:lpstr>
      <vt:lpstr>Multi Threaded Process</vt:lpstr>
      <vt:lpstr>PowerPoint Presentation</vt:lpstr>
      <vt:lpstr>Python.exe (A process with five threads)</vt:lpstr>
      <vt:lpstr>Why 5 threads?</vt:lpstr>
      <vt:lpstr>PowerPoint Presentation</vt:lpstr>
      <vt:lpstr>Examples</vt:lpstr>
      <vt:lpstr>Differences</vt:lpstr>
      <vt:lpstr>Differences</vt:lpstr>
      <vt:lpstr>Benefits of Multithreaded Programming</vt:lpstr>
      <vt:lpstr>Benefits of Multithreaded Programming</vt:lpstr>
      <vt:lpstr>Disadvantages of Multithreaded Programming</vt:lpstr>
      <vt:lpstr>Questions</vt:lpstr>
      <vt:lpstr>Questions</vt:lpstr>
      <vt:lpstr>Who decides What?</vt:lpstr>
      <vt:lpstr>Summary</vt:lpstr>
      <vt:lpstr>Questions</vt:lpstr>
      <vt:lpstr>Questions</vt:lpstr>
      <vt:lpstr>Who Decides the Number of Processes?</vt:lpstr>
      <vt:lpstr>Example Program</vt:lpstr>
      <vt:lpstr>Responsiveness</vt:lpstr>
      <vt:lpstr>Resource Sharing </vt:lpstr>
      <vt:lpstr>Economy</vt:lpstr>
      <vt:lpstr>Scalability</vt:lpstr>
      <vt:lpstr>Less Communication Overheads</vt:lpstr>
      <vt:lpstr>Single Core and Multi Core System</vt:lpstr>
      <vt:lpstr>Thread Execution on Single Core System</vt:lpstr>
      <vt:lpstr>Thread Execution on Single Multiple Core System</vt:lpstr>
      <vt:lpstr>Thread Library</vt:lpstr>
      <vt:lpstr>Kernel Threads</vt:lpstr>
      <vt:lpstr>Multithreading Models  (Many-To-One Model)</vt:lpstr>
      <vt:lpstr>Multithreading Models (One-To-One Model)</vt:lpstr>
      <vt:lpstr>Multithreading Models (Many-To-Many Model)</vt:lpstr>
      <vt:lpstr>Which Model is Best?</vt:lpstr>
      <vt:lpstr>Which Model is Best?</vt:lpstr>
      <vt:lpstr>Conclusion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ON PROCESSES</dc:title>
  <dc:creator>Microsoft</dc:creator>
  <cp:lastModifiedBy>awais ahmed</cp:lastModifiedBy>
  <cp:revision>163</cp:revision>
  <dcterms:created xsi:type="dcterms:W3CDTF">2016-08-09T05:43:00Z</dcterms:created>
  <dcterms:modified xsi:type="dcterms:W3CDTF">2026-05-07T06:57:10Z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818FB1288DE0444C912EC5C2821810C4_12</vt:lpwstr>
  </property>
</Properties>
</file>