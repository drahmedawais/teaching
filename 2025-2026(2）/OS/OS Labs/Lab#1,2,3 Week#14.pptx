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2" r:id="rId4"/>
    <p:sldId id="263" r:id="rId5"/>
    <p:sldId id="264" r:id="rId6"/>
    <p:sldId id="257" r:id="rId7"/>
    <p:sldId id="261" r:id="rId8"/>
    <p:sldId id="258" r:id="rId9"/>
    <p:sldId id="259" r:id="rId10"/>
    <p:sldId id="260" r:id="rId11"/>
    <p:sldId id="270" r:id="rId12"/>
    <p:sldId id="271" r:id="rId13"/>
    <p:sldId id="269" r:id="rId14"/>
    <p:sldId id="273" r:id="rId15"/>
    <p:sldId id="272" r:id="rId16"/>
    <p:sldId id="278" r:id="rId17"/>
    <p:sldId id="279" r:id="rId18"/>
    <p:sldId id="276" r:id="rId19"/>
    <p:sldId id="280" r:id="rId20"/>
    <p:sldId id="281" r:id="rId21"/>
    <p:sldId id="283" r:id="rId22"/>
    <p:sldId id="277" r:id="rId23"/>
    <p:sldId id="284" r:id="rId24"/>
    <p:sldId id="285" r:id="rId25"/>
    <p:sldId id="275" r:id="rId26"/>
    <p:sldId id="266" r:id="rId27"/>
    <p:sldId id="267" r:id="rId28"/>
    <p:sldId id="268" r:id="rId29"/>
    <p:sldId id="265"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56" d="100"/>
          <a:sy n="56" d="100"/>
        </p:scale>
        <p:origin x="537" y="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B7F17CCF-E24A-4276-91CF-935320D6085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8877F85-5A49-4677-8D40-615FF84AA09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B7F17CCF-E24A-4276-91CF-935320D6085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8877F85-5A49-4677-8D40-615FF84AA09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endParaRPr lang="en-US" altLang="zh-CN"/>
          </a:p>
        </p:txBody>
      </p:sp>
      <p:sp>
        <p:nvSpPr>
          <p:cNvPr id="4" name="Date Placeholder 3"/>
          <p:cNvSpPr>
            <a:spLocks noGrp="1"/>
          </p:cNvSpPr>
          <p:nvPr>
            <p:ph type="dt" sz="half" idx="10"/>
          </p:nvPr>
        </p:nvSpPr>
        <p:spPr/>
        <p:txBody>
          <a:bodyPr/>
          <a:lstStyle/>
          <a:p>
            <a:fld id="{B7F17CCF-E24A-4276-91CF-935320D6085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8877F85-5A49-4677-8D40-615FF84AA09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Date Placeholder 4"/>
          <p:cNvSpPr>
            <a:spLocks noGrp="1"/>
          </p:cNvSpPr>
          <p:nvPr>
            <p:ph type="dt" sz="half" idx="10"/>
          </p:nvPr>
        </p:nvSpPr>
        <p:spPr/>
        <p:txBody>
          <a:bodyPr/>
          <a:lstStyle/>
          <a:p>
            <a:fld id="{B7F17CCF-E24A-4276-91CF-935320D6085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8877F85-5A49-4677-8D40-615FF84AA09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Date Placeholder 6"/>
          <p:cNvSpPr>
            <a:spLocks noGrp="1"/>
          </p:cNvSpPr>
          <p:nvPr>
            <p:ph type="dt" sz="half" idx="10"/>
          </p:nvPr>
        </p:nvSpPr>
        <p:spPr/>
        <p:txBody>
          <a:bodyPr/>
          <a:lstStyle/>
          <a:p>
            <a:fld id="{B7F17CCF-E24A-4276-91CF-935320D6085B}"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8877F85-5A49-4677-8D40-615FF84AA09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fld id="{B7F17CCF-E24A-4276-91CF-935320D6085B}"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8877F85-5A49-4677-8D40-615FF84AA09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F17CCF-E24A-4276-91CF-935320D6085B}"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8877F85-5A49-4677-8D40-615FF84AA09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B7F17CCF-E24A-4276-91CF-935320D6085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8877F85-5A49-4677-8D40-615FF84AA09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B7F17CCF-E24A-4276-91CF-935320D6085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8877F85-5A49-4677-8D40-615FF84AA09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B7F17CCF-E24A-4276-91CF-935320D6085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8877F85-5A49-4677-8D40-615FF84AA09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B7F17CCF-E24A-4276-91CF-935320D6085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8877F85-5A49-4677-8D40-615FF84AA09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F17CCF-E24A-4276-91CF-935320D6085B}"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877F85-5A49-4677-8D40-615FF84AA09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learn.microsoft.com/en-us/windows/wsl/install" TargetMode="Externa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bing.com/ck/a?!&amp;&amp;p=7e4cec972aa4f4608aac1ebf10aeee7c3de0959c1fe1882f23188946df72fb09JmltdHM9MTc0Mjc3NDQwMA&amp;ptn=3&amp;ver=2&amp;hsh=4&amp;fclid=3adf1532-81cf-6b39-2fe2-06db80a96a33&amp;psq=psutil&amp;u=a1aHR0cHM6Ly9weXBpLm9yZy9wcm9qZWN0L3BzdXRpbC8&amp;ntb=1" TargetMode="Externa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zh-CN" altLang="en-US" dirty="0"/>
              <a:t>Introduction to Operating Systems </a:t>
            </a:r>
            <a:r>
              <a:rPr lang="en-US" altLang="zh-CN" dirty="0"/>
              <a:t>Lab-01</a:t>
            </a:r>
            <a:endParaRPr lang="zh-CN" altLang="en-US" dirty="0"/>
          </a:p>
        </p:txBody>
      </p:sp>
      <p:sp>
        <p:nvSpPr>
          <p:cNvPr id="3" name="Subtitle 2"/>
          <p:cNvSpPr>
            <a:spLocks noGrp="1"/>
          </p:cNvSpPr>
          <p:nvPr>
            <p:ph type="subTitle" idx="1"/>
          </p:nvPr>
        </p:nvSpPr>
        <p:spPr/>
        <p:txBody>
          <a:bodyPr/>
          <a:lstStyle/>
          <a:p>
            <a:r>
              <a:rPr lang="en-US" altLang="zh-CN" dirty="0"/>
              <a:t>Dr. Ahmed Awais</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b="1" dirty="0">
                <a:highlight>
                  <a:srgbClr val="FFFF00"/>
                </a:highlight>
              </a:rPr>
              <a:t>How to install Linux on Windows with WSL</a:t>
            </a:r>
            <a:endParaRPr lang="zh-CN" altLang="en-US" b="1" dirty="0">
              <a:highlight>
                <a:srgbClr val="FFFF00"/>
              </a:highlight>
            </a:endParaRPr>
          </a:p>
        </p:txBody>
      </p:sp>
      <p:sp>
        <p:nvSpPr>
          <p:cNvPr id="3" name="Content Placeholder 2"/>
          <p:cNvSpPr>
            <a:spLocks noGrp="1"/>
          </p:cNvSpPr>
          <p:nvPr>
            <p:ph idx="1"/>
          </p:nvPr>
        </p:nvSpPr>
        <p:spPr>
          <a:xfrm>
            <a:off x="838200" y="1825625"/>
            <a:ext cx="10515600" cy="1325563"/>
          </a:xfrm>
        </p:spPr>
        <p:txBody>
          <a:bodyPr/>
          <a:lstStyle/>
          <a:p>
            <a:r>
              <a:rPr lang="en-US" altLang="zh-CN" dirty="0">
                <a:hlinkClick r:id="rId1"/>
              </a:rPr>
              <a:t>Install WSL | Microsoft Learn</a:t>
            </a:r>
            <a:endParaRPr lang="en-US" altLang="zh-CN" dirty="0"/>
          </a:p>
          <a:p>
            <a:r>
              <a:rPr lang="en-US" altLang="zh-CN" dirty="0">
                <a:hlinkClick r:id="rId1"/>
              </a:rPr>
              <a:t>https://learn.microsoft.com/en-us/windows/wsl/install</a:t>
            </a:r>
            <a:r>
              <a:rPr lang="en-US" altLang="zh-CN" dirty="0"/>
              <a:t> </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b="1" dirty="0">
                <a:highlight>
                  <a:srgbClr val="FFFF00"/>
                </a:highlight>
              </a:rPr>
              <a:t>How to install Linux on Windows with WSL</a:t>
            </a:r>
            <a:endParaRPr lang="zh-CN" altLang="en-US" b="1" dirty="0">
              <a:highlight>
                <a:srgbClr val="FFFF00"/>
              </a:highlight>
            </a:endParaRPr>
          </a:p>
        </p:txBody>
      </p:sp>
      <p:pic>
        <p:nvPicPr>
          <p:cNvPr id="6" name="Picture 5"/>
          <p:cNvPicPr>
            <a:picLocks noChangeAspect="1"/>
          </p:cNvPicPr>
          <p:nvPr/>
        </p:nvPicPr>
        <p:blipFill>
          <a:blip r:embed="rId1"/>
          <a:stretch>
            <a:fillRect/>
          </a:stretch>
        </p:blipFill>
        <p:spPr>
          <a:xfrm>
            <a:off x="1100983" y="1471501"/>
            <a:ext cx="9990034" cy="53864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1747"/>
          </a:xfrm>
        </p:spPr>
        <p:txBody>
          <a:bodyPr/>
          <a:lstStyle/>
          <a:p>
            <a:r>
              <a:rPr lang="en-US" altLang="zh-CN" dirty="0"/>
              <a:t>Read a file</a:t>
            </a:r>
            <a:endParaRPr lang="zh-CN" altLang="en-US" dirty="0"/>
          </a:p>
        </p:txBody>
      </p:sp>
      <p:pic>
        <p:nvPicPr>
          <p:cNvPr id="5" name="Content Placeholder 4"/>
          <p:cNvPicPr>
            <a:picLocks noGrp="1" noChangeAspect="1"/>
          </p:cNvPicPr>
          <p:nvPr>
            <p:ph idx="1"/>
          </p:nvPr>
        </p:nvPicPr>
        <p:blipFill>
          <a:blip r:embed="rId1"/>
          <a:stretch>
            <a:fillRect/>
          </a:stretch>
        </p:blipFill>
        <p:spPr>
          <a:xfrm>
            <a:off x="943335" y="1116872"/>
            <a:ext cx="10305329" cy="4351338"/>
          </a:xfrm>
        </p:spPr>
      </p:pic>
      <p:sp>
        <p:nvSpPr>
          <p:cNvPr id="7" name="TextBox 6"/>
          <p:cNvSpPr txBox="1"/>
          <p:nvPr/>
        </p:nvSpPr>
        <p:spPr>
          <a:xfrm>
            <a:off x="838199" y="5741128"/>
            <a:ext cx="7605045" cy="523220"/>
          </a:xfrm>
          <a:prstGeom prst="rect">
            <a:avLst/>
          </a:prstGeom>
          <a:noFill/>
        </p:spPr>
        <p:txBody>
          <a:bodyPr wrap="square">
            <a:spAutoFit/>
          </a:bodyPr>
          <a:lstStyle/>
          <a:p>
            <a:r>
              <a:rPr lang="en-US" altLang="zh-CN" sz="2800" b="1" dirty="0"/>
              <a:t>Experience read, </a:t>
            </a:r>
            <a:r>
              <a:rPr lang="en-US" altLang="zh-CN" sz="2800" b="1" dirty="0" err="1"/>
              <a:t>readline</a:t>
            </a:r>
            <a:r>
              <a:rPr lang="en-US" altLang="zh-CN" sz="2800" b="1" dirty="0"/>
              <a:t> and </a:t>
            </a:r>
            <a:r>
              <a:rPr lang="en-US" altLang="zh-CN" sz="2800" b="1" dirty="0" err="1"/>
              <a:t>readlines</a:t>
            </a:r>
            <a:endParaRPr lang="zh-CN" altLang="en-US" sz="28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95829" y="3356414"/>
            <a:ext cx="10460053" cy="3170099"/>
          </a:xfrm>
          <a:prstGeom prst="rect">
            <a:avLst/>
          </a:prstGeom>
          <a:noFill/>
        </p:spPr>
        <p:txBody>
          <a:bodyPr wrap="square">
            <a:spAutoFit/>
          </a:bodyPr>
          <a:lstStyle/>
          <a:p>
            <a:r>
              <a:rPr lang="zh-CN" altLang="en-US" sz="4000" dirty="0"/>
              <a:t>import os</a:t>
            </a:r>
            <a:endParaRPr lang="zh-CN" altLang="en-US" sz="4000" dirty="0"/>
          </a:p>
          <a:p>
            <a:r>
              <a:rPr lang="zh-CN" altLang="en-US" sz="4000" dirty="0"/>
              <a:t>def create_process():</a:t>
            </a:r>
            <a:endParaRPr lang="zh-CN" altLang="en-US" sz="4000" dirty="0"/>
          </a:p>
          <a:p>
            <a:r>
              <a:rPr lang="zh-CN" altLang="en-US" sz="4000" dirty="0"/>
              <a:t>    print("Current Process ID:", os.getpid())</a:t>
            </a:r>
            <a:endParaRPr lang="zh-CN" altLang="en-US" sz="4000" dirty="0"/>
          </a:p>
          <a:p>
            <a:r>
              <a:rPr lang="zh-CN" altLang="en-US" sz="4000" dirty="0"/>
              <a:t>    print("Parent Process ID:", os.getppid())</a:t>
            </a:r>
            <a:endParaRPr lang="zh-CN" altLang="en-US" sz="4000" dirty="0"/>
          </a:p>
          <a:p>
            <a:r>
              <a:rPr lang="zh-CN" altLang="en-US" sz="4000" dirty="0"/>
              <a:t>create_process()</a:t>
            </a:r>
            <a:endParaRPr lang="zh-CN" altLang="en-US" sz="4000" dirty="0"/>
          </a:p>
        </p:txBody>
      </p:sp>
      <p:sp>
        <p:nvSpPr>
          <p:cNvPr id="7" name="TextBox 6"/>
          <p:cNvSpPr txBox="1"/>
          <p:nvPr/>
        </p:nvSpPr>
        <p:spPr>
          <a:xfrm>
            <a:off x="593933" y="2982158"/>
            <a:ext cx="10770548" cy="523220"/>
          </a:xfrm>
          <a:prstGeom prst="rect">
            <a:avLst/>
          </a:prstGeom>
          <a:noFill/>
        </p:spPr>
        <p:txBody>
          <a:bodyPr wrap="square">
            <a:spAutoFit/>
          </a:bodyPr>
          <a:lstStyle/>
          <a:p>
            <a:r>
              <a:rPr lang="en-US" altLang="zh-CN" sz="2800" b="1" dirty="0"/>
              <a:t>Let’s write a s</a:t>
            </a:r>
            <a:r>
              <a:rPr lang="zh-CN" altLang="en-US" sz="2800" b="1" dirty="0"/>
              <a:t>imple program to demonstrate process creation.</a:t>
            </a:r>
            <a:endParaRPr lang="zh-CN" altLang="en-US" sz="2800" b="1" dirty="0"/>
          </a:p>
        </p:txBody>
      </p:sp>
      <p:sp>
        <p:nvSpPr>
          <p:cNvPr id="9" name="TextBox 8"/>
          <p:cNvSpPr txBox="1"/>
          <p:nvPr/>
        </p:nvSpPr>
        <p:spPr>
          <a:xfrm>
            <a:off x="702535" y="403131"/>
            <a:ext cx="10553347" cy="461665"/>
          </a:xfrm>
          <a:prstGeom prst="rect">
            <a:avLst/>
          </a:prstGeom>
          <a:noFill/>
        </p:spPr>
        <p:txBody>
          <a:bodyPr wrap="square">
            <a:spAutoFit/>
          </a:bodyPr>
          <a:lstStyle/>
          <a:p>
            <a:pPr algn="l"/>
            <a:r>
              <a:rPr lang="en-US" altLang="zh-CN" sz="2400" b="1" dirty="0">
                <a:solidFill>
                  <a:srgbClr val="4007A2"/>
                </a:solidFill>
                <a:latin typeface="Roboto" panose="02000000000000000000" pitchFamily="2" charset="0"/>
              </a:rPr>
              <a:t>Importing OS Module in Python</a:t>
            </a:r>
            <a:endParaRPr lang="en-US" altLang="zh-CN" sz="2400" dirty="0">
              <a:solidFill>
                <a:srgbClr val="4007A2"/>
              </a:solidFill>
              <a:latin typeface="Roboto" panose="02000000000000000000" pitchFamily="2" charset="0"/>
            </a:endParaRPr>
          </a:p>
        </p:txBody>
      </p:sp>
      <p:sp>
        <p:nvSpPr>
          <p:cNvPr id="11" name="TextBox 10"/>
          <p:cNvSpPr txBox="1"/>
          <p:nvPr/>
        </p:nvSpPr>
        <p:spPr>
          <a:xfrm>
            <a:off x="702534" y="1170761"/>
            <a:ext cx="11287215" cy="1477328"/>
          </a:xfrm>
          <a:prstGeom prst="rect">
            <a:avLst/>
          </a:prstGeom>
          <a:noFill/>
        </p:spPr>
        <p:txBody>
          <a:bodyPr wrap="square">
            <a:spAutoFit/>
          </a:bodyPr>
          <a:lstStyle/>
          <a:p>
            <a:pPr algn="just"/>
            <a:r>
              <a:rPr lang="en-US" altLang="zh-CN" sz="3000" b="0" i="0" dirty="0">
                <a:solidFill>
                  <a:srgbClr val="111111"/>
                </a:solidFill>
                <a:effectLst/>
                <a:latin typeface="Roboto" panose="02000000000000000000" pitchFamily="2" charset="0"/>
              </a:rPr>
              <a:t>The </a:t>
            </a:r>
            <a:r>
              <a:rPr lang="en-US" altLang="zh-CN" sz="3000" b="0" i="0" dirty="0" err="1">
                <a:solidFill>
                  <a:srgbClr val="444444"/>
                </a:solidFill>
                <a:effectLst/>
                <a:latin typeface="Consolas" panose="020B0609020204030204" pitchFamily="49" charset="0"/>
              </a:rPr>
              <a:t>os</a:t>
            </a:r>
            <a:r>
              <a:rPr lang="en-US" altLang="zh-CN" sz="3000" b="0" i="0" dirty="0">
                <a:solidFill>
                  <a:srgbClr val="111111"/>
                </a:solidFill>
                <a:effectLst/>
                <a:latin typeface="Roboto" panose="02000000000000000000" pitchFamily="2" charset="0"/>
              </a:rPr>
              <a:t> module in Python provides a way to interact with the operating system. It includes functions to handle file operations, directory management, and other OS-related tasks</a:t>
            </a:r>
            <a:r>
              <a:rPr lang="en-US" altLang="zh-CN" sz="3000" b="0" i="0" baseline="30000" dirty="0">
                <a:solidFill>
                  <a:srgbClr val="174AE4"/>
                </a:solidFill>
                <a:effectLst/>
                <a:latin typeface="Roboto" panose="02000000000000000000" pitchFamily="2" charset="0"/>
              </a:rPr>
              <a:t>.</a:t>
            </a:r>
            <a:endParaRPr lang="en-US" altLang="zh-CN" sz="3000" b="0" i="0" dirty="0">
              <a:solidFill>
                <a:srgbClr val="111111"/>
              </a:solidFill>
              <a:effectLst/>
              <a:latin typeface="Roboto" panose="020000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i="0" u="none" strike="noStrike" dirty="0">
                <a:solidFill>
                  <a:srgbClr val="4007A2"/>
                </a:solidFill>
                <a:effectLst/>
                <a:latin typeface="Roboto" panose="02000000000000000000" pitchFamily="2" charset="0"/>
                <a:hlinkClick r:id="rId1"/>
              </a:rPr>
              <a:t>Python </a:t>
            </a:r>
            <a:r>
              <a:rPr lang="en-US" altLang="zh-CN" b="1" i="0" u="none" strike="noStrike" dirty="0" err="1">
                <a:solidFill>
                  <a:srgbClr val="4007A2"/>
                </a:solidFill>
                <a:effectLst/>
                <a:latin typeface="Roboto" panose="02000000000000000000" pitchFamily="2" charset="0"/>
                <a:hlinkClick r:id="rId1"/>
              </a:rPr>
              <a:t>psutil</a:t>
            </a:r>
            <a:endParaRPr lang="zh-CN" altLang="en-US" dirty="0"/>
          </a:p>
        </p:txBody>
      </p:sp>
      <p:sp>
        <p:nvSpPr>
          <p:cNvPr id="3" name="Content Placeholder 2"/>
          <p:cNvSpPr>
            <a:spLocks noGrp="1"/>
          </p:cNvSpPr>
          <p:nvPr>
            <p:ph idx="1"/>
          </p:nvPr>
        </p:nvSpPr>
        <p:spPr>
          <a:xfrm>
            <a:off x="838200" y="1825625"/>
            <a:ext cx="10515600" cy="3498405"/>
          </a:xfrm>
        </p:spPr>
        <p:txBody>
          <a:bodyPr/>
          <a:lstStyle/>
          <a:p>
            <a:pPr algn="just"/>
            <a:r>
              <a:rPr lang="en-US" altLang="zh-CN" b="1" i="0" dirty="0" err="1">
                <a:solidFill>
                  <a:srgbClr val="111111"/>
                </a:solidFill>
                <a:effectLst/>
                <a:latin typeface="Roboto" panose="02000000000000000000" pitchFamily="2" charset="0"/>
              </a:rPr>
              <a:t>psutil</a:t>
            </a:r>
            <a:r>
              <a:rPr lang="en-US" altLang="zh-CN" b="0" i="0" dirty="0">
                <a:solidFill>
                  <a:srgbClr val="111111"/>
                </a:solidFill>
                <a:effectLst/>
                <a:latin typeface="Roboto" panose="02000000000000000000" pitchFamily="2" charset="0"/>
              </a:rPr>
              <a:t> is a cross-platform library in Python used for retrieving information on running processes and system utilization, such as CPU, memory, disks, network, and sensors. </a:t>
            </a:r>
            <a:endParaRPr lang="en-US" altLang="zh-CN" b="0" i="0" dirty="0">
              <a:solidFill>
                <a:srgbClr val="111111"/>
              </a:solidFill>
              <a:effectLst/>
              <a:latin typeface="Roboto" panose="02000000000000000000" pitchFamily="2" charset="0"/>
            </a:endParaRPr>
          </a:p>
          <a:p>
            <a:pPr algn="just"/>
            <a:r>
              <a:rPr lang="en-US" altLang="zh-CN" b="0" i="0" dirty="0">
                <a:solidFill>
                  <a:srgbClr val="111111"/>
                </a:solidFill>
                <a:effectLst/>
                <a:latin typeface="Roboto" panose="02000000000000000000" pitchFamily="2" charset="0"/>
              </a:rPr>
              <a:t>It is mainly used for system monitoring, profiling, and managing running processes. </a:t>
            </a:r>
            <a:endParaRPr lang="en-US" altLang="zh-CN" b="0" i="0" dirty="0">
              <a:solidFill>
                <a:srgbClr val="111111"/>
              </a:solidFill>
              <a:effectLst/>
              <a:latin typeface="Roboto" panose="02000000000000000000" pitchFamily="2" charset="0"/>
            </a:endParaRPr>
          </a:p>
          <a:p>
            <a:pPr algn="just"/>
            <a:r>
              <a:rPr lang="en-US" altLang="zh-CN" b="0" i="0" dirty="0" err="1">
                <a:solidFill>
                  <a:srgbClr val="111111"/>
                </a:solidFill>
                <a:effectLst/>
                <a:latin typeface="Roboto" panose="02000000000000000000" pitchFamily="2" charset="0"/>
              </a:rPr>
              <a:t>psutil</a:t>
            </a:r>
            <a:r>
              <a:rPr lang="en-US" altLang="zh-CN" b="0" i="0" dirty="0">
                <a:solidFill>
                  <a:srgbClr val="111111"/>
                </a:solidFill>
                <a:effectLst/>
                <a:latin typeface="Roboto" panose="02000000000000000000" pitchFamily="2" charset="0"/>
              </a:rPr>
              <a:t> supports various platforms including Linux, Windows, macOS, FreeBSD, OpenBSD, NetBSD, Sun Solaris, and AIX</a:t>
            </a:r>
            <a:endParaRPr lang="en-US" altLang="zh-CN" b="0" i="0" dirty="0">
              <a:solidFill>
                <a:srgbClr val="111111"/>
              </a:solidFill>
              <a:effectLst/>
              <a:latin typeface="Roboto" panose="02000000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68223" y="476481"/>
            <a:ext cx="10460053" cy="3539430"/>
          </a:xfrm>
          <a:prstGeom prst="rect">
            <a:avLst/>
          </a:prstGeom>
          <a:noFill/>
        </p:spPr>
        <p:txBody>
          <a:bodyPr wrap="square">
            <a:spAutoFit/>
          </a:bodyPr>
          <a:lstStyle/>
          <a:p>
            <a:r>
              <a:rPr lang="zh-CN" altLang="en-US" sz="3200" dirty="0"/>
              <a:t>Program: Write a program that lists all running processes using the psutil library.</a:t>
            </a:r>
            <a:endParaRPr lang="zh-CN" altLang="en-US" sz="3200" dirty="0"/>
          </a:p>
          <a:p>
            <a:r>
              <a:rPr lang="zh-CN" altLang="en-US" sz="3200" dirty="0"/>
              <a:t>import psutil</a:t>
            </a:r>
            <a:endParaRPr lang="zh-CN" altLang="en-US" sz="3200" dirty="0"/>
          </a:p>
          <a:p>
            <a:r>
              <a:rPr lang="zh-CN" altLang="en-US" sz="3200" dirty="0"/>
              <a:t>def list_processes():</a:t>
            </a:r>
            <a:endParaRPr lang="zh-CN" altLang="en-US" sz="3200" dirty="0"/>
          </a:p>
          <a:p>
            <a:r>
              <a:rPr lang="zh-CN" altLang="en-US" sz="3200" dirty="0"/>
              <a:t>    for proc in psutil.process_iter(['pid', 'name']):</a:t>
            </a:r>
            <a:endParaRPr lang="zh-CN" altLang="en-US" sz="3200" dirty="0"/>
          </a:p>
          <a:p>
            <a:r>
              <a:rPr lang="zh-CN" altLang="en-US" sz="3200" dirty="0"/>
              <a:t>        print(proc.info)</a:t>
            </a:r>
            <a:endParaRPr lang="zh-CN" altLang="en-US" sz="3200" dirty="0"/>
          </a:p>
          <a:p>
            <a:r>
              <a:rPr lang="zh-CN" altLang="en-US" sz="3200" dirty="0"/>
              <a:t>list_processes()</a:t>
            </a:r>
            <a:endParaRPr lang="zh-CN" altLang="en-US" sz="3200" dirty="0"/>
          </a:p>
        </p:txBody>
      </p:sp>
      <p:pic>
        <p:nvPicPr>
          <p:cNvPr id="3" name="Picture 2"/>
          <p:cNvPicPr>
            <a:picLocks noChangeAspect="1"/>
          </p:cNvPicPr>
          <p:nvPr/>
        </p:nvPicPr>
        <p:blipFill>
          <a:blip r:embed="rId1"/>
          <a:stretch>
            <a:fillRect/>
          </a:stretch>
        </p:blipFill>
        <p:spPr>
          <a:xfrm>
            <a:off x="1808725" y="4234889"/>
            <a:ext cx="7668695" cy="533474"/>
          </a:xfrm>
          <a:prstGeom prst="rect">
            <a:avLst/>
          </a:prstGeom>
        </p:spPr>
      </p:pic>
      <p:pic>
        <p:nvPicPr>
          <p:cNvPr id="6" name="Picture 5"/>
          <p:cNvPicPr>
            <a:picLocks noChangeAspect="1"/>
          </p:cNvPicPr>
          <p:nvPr/>
        </p:nvPicPr>
        <p:blipFill>
          <a:blip r:embed="rId2"/>
          <a:stretch>
            <a:fillRect/>
          </a:stretch>
        </p:blipFill>
        <p:spPr>
          <a:xfrm>
            <a:off x="444381" y="4987341"/>
            <a:ext cx="11485548" cy="14588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88421" y="899047"/>
            <a:ext cx="6097424" cy="3970318"/>
          </a:xfrm>
          <a:prstGeom prst="rect">
            <a:avLst/>
          </a:prstGeom>
          <a:noFill/>
        </p:spPr>
        <p:txBody>
          <a:bodyPr wrap="square">
            <a:spAutoFit/>
          </a:bodyPr>
          <a:lstStyle/>
          <a:p>
            <a:r>
              <a:rPr lang="en-US" altLang="zh-CN" dirty="0"/>
              <a:t>Installing pip on Windows</a:t>
            </a:r>
            <a:endParaRPr lang="en-US" altLang="zh-CN" dirty="0"/>
          </a:p>
          <a:p>
            <a:r>
              <a:rPr lang="en-US" altLang="zh-CN" dirty="0"/>
              <a:t>To install pip on Windows, you need to follow a few simple steps. Pip is a package manager for Python that allows you to install and manage additional libraries and dependencies.</a:t>
            </a:r>
            <a:endParaRPr lang="en-US" altLang="zh-CN" dirty="0"/>
          </a:p>
          <a:p>
            <a:endParaRPr lang="en-US" altLang="zh-CN" dirty="0"/>
          </a:p>
          <a:p>
            <a:r>
              <a:rPr lang="en-US" altLang="zh-CN" dirty="0"/>
              <a:t>Step-by-Step Guide</a:t>
            </a:r>
            <a:endParaRPr lang="en-US" altLang="zh-CN" dirty="0"/>
          </a:p>
          <a:p>
            <a:endParaRPr lang="en-US" altLang="zh-CN" dirty="0"/>
          </a:p>
          <a:p>
            <a:r>
              <a:rPr lang="en-US" altLang="zh-CN" dirty="0"/>
              <a:t>1. Verify Python Installation</a:t>
            </a:r>
            <a:endParaRPr lang="en-US" altLang="zh-CN" dirty="0"/>
          </a:p>
          <a:p>
            <a:endParaRPr lang="en-US" altLang="zh-CN" dirty="0"/>
          </a:p>
          <a:p>
            <a:r>
              <a:rPr lang="en-US" altLang="zh-CN" dirty="0"/>
              <a:t>First, ensure that Python is installed on your system. Open Command Prompt and type:</a:t>
            </a:r>
            <a:endParaRPr lang="en-US" altLang="zh-CN" dirty="0"/>
          </a:p>
          <a:p>
            <a:endParaRPr lang="en-US" altLang="zh-CN" dirty="0"/>
          </a:p>
          <a:p>
            <a:r>
              <a:rPr lang="en-US" altLang="zh-CN" dirty="0"/>
              <a:t>python --version</a:t>
            </a:r>
            <a:endParaRPr lang="en-US" altLang="zh-CN" dirty="0"/>
          </a:p>
          <a:p>
            <a:r>
              <a:rPr lang="en-US" altLang="zh-CN" dirty="0"/>
              <a:t>If Python is installed, it will display the version number.</a:t>
            </a:r>
            <a:endParaRPr lang="en-US" altLang="zh-CN" dirty="0"/>
          </a:p>
        </p:txBody>
      </p:sp>
      <p:sp>
        <p:nvSpPr>
          <p:cNvPr id="9" name="TextBox 8"/>
          <p:cNvSpPr txBox="1"/>
          <p:nvPr/>
        </p:nvSpPr>
        <p:spPr>
          <a:xfrm>
            <a:off x="6385845" y="474345"/>
            <a:ext cx="5423731" cy="5909310"/>
          </a:xfrm>
          <a:prstGeom prst="rect">
            <a:avLst/>
          </a:prstGeom>
          <a:noFill/>
        </p:spPr>
        <p:txBody>
          <a:bodyPr wrap="square">
            <a:spAutoFit/>
          </a:bodyPr>
          <a:lstStyle/>
          <a:p>
            <a:endParaRPr lang="en-US" altLang="zh-CN" dirty="0"/>
          </a:p>
          <a:p>
            <a:r>
              <a:rPr lang="en-US" altLang="zh-CN" dirty="0"/>
              <a:t>2. Download get-pip.py</a:t>
            </a:r>
            <a:endParaRPr lang="en-US" altLang="zh-CN" dirty="0"/>
          </a:p>
          <a:p>
            <a:endParaRPr lang="en-US" altLang="zh-CN" dirty="0"/>
          </a:p>
          <a:p>
            <a:r>
              <a:rPr lang="en-US" altLang="zh-CN" dirty="0"/>
              <a:t>Download the get-pip.py script from the official source:</a:t>
            </a:r>
            <a:endParaRPr lang="en-US" altLang="zh-CN" dirty="0"/>
          </a:p>
          <a:p>
            <a:endParaRPr lang="en-US" altLang="zh-CN" dirty="0"/>
          </a:p>
          <a:p>
            <a:r>
              <a:rPr lang="en-US" altLang="zh-CN" dirty="0"/>
              <a:t>curl https://bootstrap.pypa.io/get-pip.py -o get-pip.py</a:t>
            </a:r>
            <a:endParaRPr lang="en-US" altLang="zh-CN" dirty="0"/>
          </a:p>
          <a:p>
            <a:r>
              <a:rPr lang="en-US" altLang="zh-CN" dirty="0"/>
              <a:t>3. Install pip</a:t>
            </a:r>
            <a:endParaRPr lang="en-US" altLang="zh-CN" dirty="0"/>
          </a:p>
          <a:p>
            <a:endParaRPr lang="en-US" altLang="zh-CN" dirty="0"/>
          </a:p>
          <a:p>
            <a:r>
              <a:rPr lang="en-US" altLang="zh-CN" dirty="0"/>
              <a:t>Run the downloaded script using Python:</a:t>
            </a:r>
            <a:endParaRPr lang="en-US" altLang="zh-CN" dirty="0"/>
          </a:p>
          <a:p>
            <a:endParaRPr lang="en-US" altLang="zh-CN" dirty="0"/>
          </a:p>
          <a:p>
            <a:r>
              <a:rPr lang="en-US" altLang="zh-CN" dirty="0"/>
              <a:t>python get-pip.py</a:t>
            </a:r>
            <a:endParaRPr lang="en-US" altLang="zh-CN" dirty="0"/>
          </a:p>
          <a:p>
            <a:r>
              <a:rPr lang="en-US" altLang="zh-CN" dirty="0"/>
              <a:t>This will install pip on your system.</a:t>
            </a:r>
            <a:endParaRPr lang="en-US" altLang="zh-CN" dirty="0"/>
          </a:p>
          <a:p>
            <a:endParaRPr lang="en-US" altLang="zh-CN" dirty="0"/>
          </a:p>
          <a:p>
            <a:r>
              <a:rPr lang="en-US" altLang="zh-CN" dirty="0"/>
              <a:t>4. Verify pip Installation</a:t>
            </a:r>
            <a:endParaRPr lang="en-US" altLang="zh-CN" dirty="0"/>
          </a:p>
          <a:p>
            <a:endParaRPr lang="en-US" altLang="zh-CN" dirty="0"/>
          </a:p>
          <a:p>
            <a:r>
              <a:rPr lang="en-US" altLang="zh-CN" dirty="0"/>
              <a:t>To verify that pip has been installed correctly, type:</a:t>
            </a:r>
            <a:endParaRPr lang="en-US" altLang="zh-CN" dirty="0"/>
          </a:p>
          <a:p>
            <a:endParaRPr lang="en-US" altLang="zh-CN" dirty="0"/>
          </a:p>
          <a:p>
            <a:r>
              <a:rPr lang="en-US" altLang="zh-CN" dirty="0"/>
              <a:t>pip --version</a:t>
            </a:r>
            <a:endParaRPr lang="en-US" altLang="zh-CN" dirty="0"/>
          </a:p>
          <a:p>
            <a:r>
              <a:rPr lang="en-US" altLang="zh-CN" dirty="0"/>
              <a:t>This should display the version of pip installed.</a:t>
            </a:r>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7288" y="0"/>
            <a:ext cx="6097424" cy="3970318"/>
          </a:xfrm>
          <a:prstGeom prst="rect">
            <a:avLst/>
          </a:prstGeom>
          <a:noFill/>
        </p:spPr>
        <p:txBody>
          <a:bodyPr wrap="square">
            <a:spAutoFit/>
          </a:bodyPr>
          <a:lstStyle/>
          <a:p>
            <a:endParaRPr lang="en-US" altLang="zh-CN" dirty="0"/>
          </a:p>
          <a:p>
            <a:r>
              <a:rPr lang="en-US" altLang="zh-CN" dirty="0"/>
              <a:t>5. Add pip to Environment Variables (if needed)</a:t>
            </a:r>
            <a:endParaRPr lang="en-US" altLang="zh-CN" dirty="0"/>
          </a:p>
          <a:p>
            <a:endParaRPr lang="en-US" altLang="zh-CN" dirty="0"/>
          </a:p>
          <a:p>
            <a:r>
              <a:rPr lang="en-US" altLang="zh-CN" dirty="0"/>
              <a:t>If you encounter a "pip not recognized" error, add pip to your PATH environment variable:</a:t>
            </a:r>
            <a:endParaRPr lang="en-US" altLang="zh-CN" dirty="0"/>
          </a:p>
          <a:p>
            <a:endParaRPr lang="en-US" altLang="zh-CN" dirty="0"/>
          </a:p>
          <a:p>
            <a:r>
              <a:rPr lang="en-US" altLang="zh-CN" dirty="0"/>
              <a:t>Locate the pip installation directory (e.g., C:\Python39\Scripts).</a:t>
            </a:r>
            <a:endParaRPr lang="en-US" altLang="zh-CN" dirty="0"/>
          </a:p>
          <a:p>
            <a:endParaRPr lang="en-US" altLang="zh-CN" dirty="0"/>
          </a:p>
          <a:p>
            <a:r>
              <a:rPr lang="en-US" altLang="zh-CN" dirty="0"/>
              <a:t>Go to Control Panel &gt; System and Security &gt; System &gt; Advanced system settings.</a:t>
            </a:r>
            <a:endParaRPr lang="en-US" altLang="zh-CN" dirty="0"/>
          </a:p>
          <a:p>
            <a:endParaRPr lang="en-US" altLang="zh-CN" dirty="0"/>
          </a:p>
          <a:p>
            <a:r>
              <a:rPr lang="en-US" altLang="zh-CN" dirty="0"/>
              <a:t>Click on Environment Variables, find the PATH variable, and add the directory where pip is installed.</a:t>
            </a:r>
            <a:endParaRPr lang="zh-CN" altLang="en-US" dirty="0"/>
          </a:p>
        </p:txBody>
      </p:sp>
      <p:sp>
        <p:nvSpPr>
          <p:cNvPr id="3" name="TextBox 2"/>
          <p:cNvSpPr txBox="1"/>
          <p:nvPr/>
        </p:nvSpPr>
        <p:spPr>
          <a:xfrm>
            <a:off x="3724542" y="4535117"/>
            <a:ext cx="4742916" cy="584775"/>
          </a:xfrm>
          <a:prstGeom prst="rect">
            <a:avLst/>
          </a:prstGeom>
          <a:noFill/>
        </p:spPr>
        <p:txBody>
          <a:bodyPr wrap="square">
            <a:spAutoFit/>
          </a:bodyPr>
          <a:lstStyle/>
          <a:p>
            <a:r>
              <a:rPr lang="en-US" altLang="zh-CN" sz="3200" dirty="0" err="1"/>
              <a:t>yourpath</a:t>
            </a:r>
            <a:r>
              <a:rPr lang="zh-CN" altLang="en-US" sz="3200" dirty="0"/>
              <a:t>\pip install psutil</a:t>
            </a:r>
            <a:endParaRPr lang="zh-CN" alt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54501"/>
            <a:ext cx="10515600" cy="1325563"/>
          </a:xfrm>
        </p:spPr>
        <p:txBody>
          <a:bodyPr/>
          <a:lstStyle/>
          <a:p>
            <a:r>
              <a:rPr lang="zh-CN" altLang="en-US" b="1" dirty="0"/>
              <a:t>Operating Systems </a:t>
            </a:r>
            <a:r>
              <a:rPr lang="en-US" altLang="zh-CN" b="1" dirty="0"/>
              <a:t>Lab-02 –System Call and Process</a:t>
            </a:r>
            <a:endParaRPr lang="zh-CN" altLang="en-US"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System Call (</a:t>
            </a:r>
            <a:r>
              <a:rPr lang="en-US" altLang="zh-CN" dirty="0" err="1"/>
              <a:t>execvp</a:t>
            </a:r>
            <a:r>
              <a:rPr lang="en-US" altLang="zh-CN" dirty="0"/>
              <a:t>)</a:t>
            </a:r>
            <a:endParaRPr lang="zh-CN" altLang="en-US" dirty="0"/>
          </a:p>
        </p:txBody>
      </p:sp>
      <p:sp>
        <p:nvSpPr>
          <p:cNvPr id="3" name="Content Placeholder 2"/>
          <p:cNvSpPr>
            <a:spLocks noGrp="1"/>
          </p:cNvSpPr>
          <p:nvPr>
            <p:ph idx="1"/>
          </p:nvPr>
        </p:nvSpPr>
        <p:spPr>
          <a:xfrm>
            <a:off x="838199" y="1384418"/>
            <a:ext cx="10937905" cy="4920731"/>
          </a:xfrm>
        </p:spPr>
        <p:txBody>
          <a:bodyPr>
            <a:normAutofit fontScale="92500" lnSpcReduction="10000"/>
          </a:bodyPr>
          <a:lstStyle/>
          <a:p>
            <a:r>
              <a:rPr lang="en-US" altLang="zh-CN" dirty="0">
                <a:latin typeface="Times" panose="02020603050405020304" pitchFamily="18" charset="0"/>
              </a:rPr>
              <a:t>In Python, </a:t>
            </a:r>
            <a:r>
              <a:rPr lang="en-US" altLang="zh-CN" dirty="0" err="1">
                <a:latin typeface="Times" panose="02020603050405020304" pitchFamily="18" charset="0"/>
              </a:rPr>
              <a:t>execvp</a:t>
            </a:r>
            <a:r>
              <a:rPr lang="en-US" altLang="zh-CN" dirty="0">
                <a:latin typeface="Times" panose="02020603050405020304" pitchFamily="18" charset="0"/>
              </a:rPr>
              <a:t> is a function provided by the </a:t>
            </a:r>
            <a:r>
              <a:rPr lang="en-US" altLang="zh-CN" dirty="0" err="1">
                <a:latin typeface="Times" panose="02020603050405020304" pitchFamily="18" charset="0"/>
              </a:rPr>
              <a:t>os</a:t>
            </a:r>
            <a:r>
              <a:rPr lang="en-US" altLang="zh-CN" dirty="0">
                <a:latin typeface="Times" panose="02020603050405020304" pitchFamily="18" charset="0"/>
              </a:rPr>
              <a:t> module that is used to execute a program in a way similar to how the </a:t>
            </a:r>
            <a:r>
              <a:rPr lang="en-US" altLang="zh-CN" dirty="0" err="1">
                <a:latin typeface="Times" panose="02020603050405020304" pitchFamily="18" charset="0"/>
              </a:rPr>
              <a:t>execvp</a:t>
            </a:r>
            <a:r>
              <a:rPr lang="en-US" altLang="zh-CN" dirty="0">
                <a:latin typeface="Times" panose="02020603050405020304" pitchFamily="18" charset="0"/>
              </a:rPr>
              <a:t> system call works in </a:t>
            </a:r>
            <a:r>
              <a:rPr lang="en-US" altLang="zh-CN" b="1" u="sng" dirty="0">
                <a:latin typeface="Times" panose="02020603050405020304" pitchFamily="18" charset="0"/>
              </a:rPr>
              <a:t>Unix-like operating systems.</a:t>
            </a:r>
            <a:endParaRPr lang="en-US" altLang="zh-CN" b="1" u="sng" dirty="0">
              <a:latin typeface="Times" panose="02020603050405020304" pitchFamily="18" charset="0"/>
            </a:endParaRPr>
          </a:p>
          <a:p>
            <a:r>
              <a:rPr lang="en-US" altLang="zh-CN" sz="4000" dirty="0" err="1">
                <a:latin typeface="Times" panose="02020603050405020304" pitchFamily="18" charset="0"/>
              </a:rPr>
              <a:t>os.execvp</a:t>
            </a:r>
            <a:r>
              <a:rPr lang="en-US" altLang="zh-CN" sz="4000" dirty="0">
                <a:latin typeface="Times" panose="02020603050405020304" pitchFamily="18" charset="0"/>
              </a:rPr>
              <a:t>(file, </a:t>
            </a:r>
            <a:r>
              <a:rPr lang="en-US" altLang="zh-CN" sz="4000" dirty="0" err="1">
                <a:latin typeface="Times" panose="02020603050405020304" pitchFamily="18" charset="0"/>
              </a:rPr>
              <a:t>args</a:t>
            </a:r>
            <a:r>
              <a:rPr lang="en-US" altLang="zh-CN" sz="4000" dirty="0">
                <a:latin typeface="Times" panose="02020603050405020304" pitchFamily="18" charset="0"/>
              </a:rPr>
              <a:t>)</a:t>
            </a:r>
            <a:endParaRPr lang="en-US" altLang="zh-CN" sz="4000" dirty="0">
              <a:latin typeface="Times" panose="02020603050405020304" pitchFamily="18" charset="0"/>
            </a:endParaRPr>
          </a:p>
          <a:p>
            <a:r>
              <a:rPr lang="en-US" altLang="zh-CN" sz="3800" dirty="0">
                <a:latin typeface="Times" panose="02020603050405020304" pitchFamily="18" charset="0"/>
              </a:rPr>
              <a:t>file: A string representing the name of the file or executable to be executed. This is usually the name of the command you want to run (e.g., "ls", "python3")</a:t>
            </a:r>
            <a:endParaRPr lang="en-US" altLang="zh-CN" sz="3800" dirty="0">
              <a:latin typeface="Times" panose="02020603050405020304" pitchFamily="18" charset="0"/>
            </a:endParaRPr>
          </a:p>
          <a:p>
            <a:r>
              <a:rPr lang="en-US" altLang="zh-CN" sz="3800" dirty="0" err="1">
                <a:latin typeface="Times" panose="02020603050405020304" pitchFamily="18" charset="0"/>
              </a:rPr>
              <a:t>args</a:t>
            </a:r>
            <a:r>
              <a:rPr lang="en-US" altLang="zh-CN" sz="3800" dirty="0">
                <a:latin typeface="Times" panose="02020603050405020304" pitchFamily="18" charset="0"/>
              </a:rPr>
              <a:t>: A list of strings. The first element of this list must be the name of the executable (this is conventionally the same as the command itself), and the subsequent elements are the arguments passed to the executable.</a:t>
            </a:r>
            <a:endParaRPr lang="zh-CN" altLang="en-US" sz="3800" dirty="0">
              <a:latin typeface="Times"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254950" y="2079916"/>
            <a:ext cx="11682100" cy="4521710"/>
          </a:xfrm>
          <a:prstGeom prst="rect">
            <a:avLst/>
          </a:prstGeom>
        </p:spPr>
      </p:pic>
      <p:pic>
        <p:nvPicPr>
          <p:cNvPr id="7" name="Picture 6"/>
          <p:cNvPicPr>
            <a:picLocks noChangeAspect="1"/>
          </p:cNvPicPr>
          <p:nvPr/>
        </p:nvPicPr>
        <p:blipFill>
          <a:blip r:embed="rId2"/>
          <a:srcRect t="38622" b="2713"/>
          <a:stretch>
            <a:fillRect/>
          </a:stretch>
        </p:blipFill>
        <p:spPr>
          <a:xfrm>
            <a:off x="788431" y="76912"/>
            <a:ext cx="10307488" cy="19057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280587" y="2774931"/>
            <a:ext cx="11630826" cy="3971974"/>
          </a:xfrm>
          <a:prstGeom prst="rect">
            <a:avLst/>
          </a:prstGeom>
        </p:spPr>
      </p:pic>
      <p:pic>
        <p:nvPicPr>
          <p:cNvPr id="9" name="Picture 8"/>
          <p:cNvPicPr>
            <a:picLocks noChangeAspect="1"/>
          </p:cNvPicPr>
          <p:nvPr/>
        </p:nvPicPr>
        <p:blipFill>
          <a:blip r:embed="rId2"/>
          <a:stretch>
            <a:fillRect/>
          </a:stretch>
        </p:blipFill>
        <p:spPr>
          <a:xfrm>
            <a:off x="0" y="0"/>
            <a:ext cx="12192000" cy="26965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altLang="zh-CN" dirty="0"/>
              <a:t>Did you noticed how </a:t>
            </a:r>
            <a:r>
              <a:rPr lang="en-US" altLang="zh-CN" sz="4000" b="1" dirty="0" err="1"/>
              <a:t>execvp</a:t>
            </a:r>
            <a:r>
              <a:rPr lang="en-US" altLang="zh-CN" dirty="0"/>
              <a:t> in </a:t>
            </a:r>
            <a:r>
              <a:rPr lang="en-US" altLang="zh-CN" b="1" dirty="0">
                <a:highlight>
                  <a:srgbClr val="FFFF00"/>
                </a:highlight>
              </a:rPr>
              <a:t>exetest.py </a:t>
            </a:r>
            <a:r>
              <a:rPr lang="en-US" altLang="zh-CN" dirty="0"/>
              <a:t>takes in the name of an executable file (python) as the first argument and the complete command (including the executable file’s name) as the second argument.</a:t>
            </a:r>
            <a:endParaRPr lang="en-US" altLang="zh-CN" dirty="0"/>
          </a:p>
          <a:p>
            <a:pPr algn="just"/>
            <a:r>
              <a:rPr lang="en-US" altLang="zh-CN" dirty="0"/>
              <a:t>Running </a:t>
            </a:r>
            <a:r>
              <a:rPr lang="en-US" altLang="zh-CN" b="1" dirty="0">
                <a:highlight>
                  <a:srgbClr val="FFFF00"/>
                </a:highlight>
              </a:rPr>
              <a:t>exetest.py</a:t>
            </a:r>
            <a:r>
              <a:rPr lang="en-US" altLang="zh-CN" dirty="0"/>
              <a:t> gives us “</a:t>
            </a:r>
            <a:r>
              <a:rPr lang="en-US" altLang="zh-CN" b="0" dirty="0">
                <a:solidFill>
                  <a:srgbClr val="CE9178"/>
                </a:solidFill>
                <a:effectLst/>
                <a:latin typeface="Consolas" panose="020B0609020204030204" pitchFamily="49" charset="0"/>
              </a:rPr>
              <a:t>hello it's me !!</a:t>
            </a:r>
            <a:r>
              <a:rPr lang="en-US" altLang="zh-CN" dirty="0"/>
              <a:t>”, everything as expected!</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54501"/>
            <a:ext cx="10515600" cy="1325563"/>
          </a:xfrm>
        </p:spPr>
        <p:txBody>
          <a:bodyPr/>
          <a:lstStyle/>
          <a:p>
            <a:r>
              <a:rPr lang="zh-CN" altLang="en-US" b="1" dirty="0"/>
              <a:t>Operating Systems </a:t>
            </a:r>
            <a:r>
              <a:rPr lang="en-US" altLang="zh-CN" b="1" dirty="0"/>
              <a:t>Lab-03 –Context Switching and Process Management</a:t>
            </a:r>
            <a:endParaRPr lang="zh-CN" alt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Recap --- Processes</a:t>
            </a:r>
            <a:endParaRPr lang="zh-CN" altLang="en-US" dirty="0"/>
          </a:p>
        </p:txBody>
      </p:sp>
      <p:sp>
        <p:nvSpPr>
          <p:cNvPr id="3" name="Content Placeholder 2"/>
          <p:cNvSpPr>
            <a:spLocks noGrp="1"/>
          </p:cNvSpPr>
          <p:nvPr>
            <p:ph idx="1"/>
          </p:nvPr>
        </p:nvSpPr>
        <p:spPr>
          <a:xfrm>
            <a:off x="838200" y="1834171"/>
            <a:ext cx="10515600" cy="4351338"/>
          </a:xfrm>
        </p:spPr>
        <p:txBody>
          <a:bodyPr>
            <a:normAutofit/>
          </a:bodyPr>
          <a:lstStyle/>
          <a:p>
            <a:pPr algn="just"/>
            <a:r>
              <a:rPr lang="en-US" altLang="zh-CN" sz="3200" dirty="0"/>
              <a:t>A program in execution, with its own memory space and system resources.</a:t>
            </a:r>
            <a:endParaRPr lang="en-US" altLang="zh-CN" sz="3200" dirty="0"/>
          </a:p>
          <a:p>
            <a:pPr algn="just"/>
            <a:r>
              <a:rPr lang="en-US" altLang="zh-CN" sz="3200" dirty="0"/>
              <a:t>Fundamental building blocks of multitasking operating systems.</a:t>
            </a:r>
            <a:endParaRPr lang="en-US" altLang="zh-CN" sz="3200" dirty="0"/>
          </a:p>
          <a:p>
            <a:pPr algn="just"/>
            <a:r>
              <a:rPr lang="en-US" altLang="zh-CN" sz="3200" dirty="0"/>
              <a:t>Enable execution of multiple programs simultaneously.</a:t>
            </a:r>
            <a:endParaRPr lang="en-US" altLang="zh-CN" sz="3200" dirty="0"/>
          </a:p>
          <a:p>
            <a:pPr algn="just"/>
            <a:r>
              <a:rPr lang="en-US" altLang="zh-CN" sz="3200" dirty="0"/>
              <a:t>Each process allocates CPU time, memory, and I/O resources.</a:t>
            </a:r>
            <a:endParaRPr lang="zh-CN" altLang="en-US"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t>fork()</a:t>
            </a:r>
            <a:endParaRPr lang="zh-CN" altLang="en-US" b="1" dirty="0"/>
          </a:p>
        </p:txBody>
      </p:sp>
      <p:sp>
        <p:nvSpPr>
          <p:cNvPr id="3" name="Content Placeholder 2"/>
          <p:cNvSpPr>
            <a:spLocks noGrp="1"/>
          </p:cNvSpPr>
          <p:nvPr>
            <p:ph idx="1"/>
          </p:nvPr>
        </p:nvSpPr>
        <p:spPr/>
        <p:txBody>
          <a:bodyPr>
            <a:normAutofit/>
          </a:bodyPr>
          <a:lstStyle/>
          <a:p>
            <a:r>
              <a:rPr lang="en-US" altLang="zh-CN" sz="3600" dirty="0" err="1"/>
              <a:t>os.fork</a:t>
            </a:r>
            <a:r>
              <a:rPr lang="en-US" altLang="zh-CN" sz="3600" dirty="0"/>
              <a:t>() -&gt; Used to create a new process (child) from an existing one (parent).</a:t>
            </a:r>
            <a:endParaRPr lang="en-US" altLang="zh-CN" sz="3600" dirty="0"/>
          </a:p>
          <a:p>
            <a:r>
              <a:rPr lang="en-US" altLang="zh-CN" sz="3600" dirty="0"/>
              <a:t>How it works -&gt; Duplicates the calling process's memory space.</a:t>
            </a:r>
            <a:endParaRPr lang="en-US" altLang="zh-CN" sz="3600" dirty="0"/>
          </a:p>
          <a:p>
            <a:r>
              <a:rPr lang="en-US" altLang="zh-CN" sz="3600" dirty="0"/>
              <a:t>Return Values of fork():</a:t>
            </a:r>
            <a:endParaRPr lang="en-US" altLang="zh-CN" sz="3600" dirty="0"/>
          </a:p>
          <a:p>
            <a:pPr lvl="1"/>
            <a:r>
              <a:rPr lang="en-US" altLang="zh-CN" sz="3200" dirty="0"/>
              <a:t>Returns 0 to the child process.</a:t>
            </a:r>
            <a:endParaRPr lang="en-US" altLang="zh-CN" sz="3200" dirty="0"/>
          </a:p>
          <a:p>
            <a:pPr lvl="1"/>
            <a:r>
              <a:rPr lang="en-US" altLang="zh-CN" sz="3200" dirty="0"/>
              <a:t>Returns child's PID to the parent process.</a:t>
            </a:r>
            <a:endParaRPr lang="en-US" altLang="zh-CN" sz="3200" dirty="0"/>
          </a:p>
          <a:p>
            <a:pPr lvl="1"/>
            <a:r>
              <a:rPr lang="en-US" altLang="zh-CN" sz="3200" dirty="0"/>
              <a:t>Returns -1 on failure (e.g., resource limit reached).</a:t>
            </a:r>
            <a:endParaRPr lang="zh-CN" alt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t>fork()</a:t>
            </a:r>
            <a:endParaRPr lang="zh-CN" altLang="en-US" b="1" dirty="0"/>
          </a:p>
        </p:txBody>
      </p:sp>
      <p:sp>
        <p:nvSpPr>
          <p:cNvPr id="3" name="Content Placeholder 2"/>
          <p:cNvSpPr>
            <a:spLocks noGrp="1"/>
          </p:cNvSpPr>
          <p:nvPr>
            <p:ph idx="1"/>
          </p:nvPr>
        </p:nvSpPr>
        <p:spPr/>
        <p:txBody>
          <a:bodyPr>
            <a:normAutofit/>
          </a:bodyPr>
          <a:lstStyle/>
          <a:p>
            <a:r>
              <a:rPr lang="en-US" altLang="zh-CN" sz="3600" b="0" dirty="0">
                <a:solidFill>
                  <a:srgbClr val="C586C0"/>
                </a:solidFill>
                <a:effectLst/>
                <a:latin typeface="Consolas" panose="020B0609020204030204" pitchFamily="49" charset="0"/>
              </a:rPr>
              <a:t>import</a:t>
            </a:r>
            <a:r>
              <a:rPr lang="en-US" altLang="zh-CN" sz="3600" b="0" dirty="0">
                <a:solidFill>
                  <a:srgbClr val="CCCCCC"/>
                </a:solidFill>
                <a:effectLst/>
                <a:latin typeface="Consolas" panose="020B0609020204030204" pitchFamily="49" charset="0"/>
              </a:rPr>
              <a:t> </a:t>
            </a:r>
            <a:r>
              <a:rPr lang="en-US" altLang="zh-CN" sz="3600" b="0" dirty="0" err="1">
                <a:solidFill>
                  <a:srgbClr val="4EC9B0"/>
                </a:solidFill>
                <a:effectLst/>
                <a:latin typeface="Consolas" panose="020B0609020204030204" pitchFamily="49" charset="0"/>
              </a:rPr>
              <a:t>os</a:t>
            </a:r>
            <a:endParaRPr lang="en-US" altLang="zh-CN" sz="3600" b="0" dirty="0">
              <a:solidFill>
                <a:srgbClr val="CCCCCC"/>
              </a:solidFill>
              <a:effectLst/>
              <a:latin typeface="Consolas" panose="020B0609020204030204" pitchFamily="49" charset="0"/>
            </a:endParaRPr>
          </a:p>
          <a:p>
            <a:r>
              <a:rPr lang="en-US" altLang="zh-CN" sz="3600" b="0" dirty="0" err="1">
                <a:solidFill>
                  <a:srgbClr val="9CDCFE"/>
                </a:solidFill>
                <a:effectLst/>
                <a:latin typeface="Consolas" panose="020B0609020204030204" pitchFamily="49" charset="0"/>
              </a:rPr>
              <a:t>pid</a:t>
            </a:r>
            <a:r>
              <a:rPr lang="en-US" altLang="zh-CN" sz="3600" b="0" dirty="0">
                <a:solidFill>
                  <a:srgbClr val="CCCCCC"/>
                </a:solidFill>
                <a:effectLst/>
                <a:latin typeface="Consolas" panose="020B0609020204030204" pitchFamily="49" charset="0"/>
              </a:rPr>
              <a:t> </a:t>
            </a:r>
            <a:r>
              <a:rPr lang="en-US" altLang="zh-CN" sz="3600" b="0" dirty="0">
                <a:solidFill>
                  <a:srgbClr val="D4D4D4"/>
                </a:solidFill>
                <a:effectLst/>
                <a:latin typeface="Consolas" panose="020B0609020204030204" pitchFamily="49" charset="0"/>
              </a:rPr>
              <a:t>=</a:t>
            </a:r>
            <a:r>
              <a:rPr lang="en-US" altLang="zh-CN" sz="3600" b="0" dirty="0">
                <a:solidFill>
                  <a:srgbClr val="CCCCCC"/>
                </a:solidFill>
                <a:effectLst/>
                <a:latin typeface="Consolas" panose="020B0609020204030204" pitchFamily="49" charset="0"/>
              </a:rPr>
              <a:t> </a:t>
            </a:r>
            <a:r>
              <a:rPr lang="en-US" altLang="zh-CN" sz="3600" b="0" dirty="0" err="1">
                <a:solidFill>
                  <a:srgbClr val="4EC9B0"/>
                </a:solidFill>
                <a:effectLst/>
                <a:latin typeface="Consolas" panose="020B0609020204030204" pitchFamily="49" charset="0"/>
              </a:rPr>
              <a:t>os</a:t>
            </a:r>
            <a:r>
              <a:rPr lang="en-US" altLang="zh-CN" sz="3600" b="0" dirty="0" err="1">
                <a:solidFill>
                  <a:srgbClr val="CCCCCC"/>
                </a:solidFill>
                <a:effectLst/>
                <a:latin typeface="Consolas" panose="020B0609020204030204" pitchFamily="49" charset="0"/>
              </a:rPr>
              <a:t>.fork</a:t>
            </a:r>
            <a:r>
              <a:rPr lang="en-US" altLang="zh-CN" sz="3600" b="0" dirty="0">
                <a:solidFill>
                  <a:srgbClr val="CCCCCC"/>
                </a:solidFill>
                <a:effectLst/>
                <a:latin typeface="Consolas" panose="020B0609020204030204" pitchFamily="49" charset="0"/>
              </a:rPr>
              <a:t>()</a:t>
            </a:r>
            <a:endParaRPr lang="en-US" altLang="zh-CN" sz="3600" b="0" dirty="0">
              <a:solidFill>
                <a:srgbClr val="CCCCCC"/>
              </a:solidFill>
              <a:effectLst/>
              <a:latin typeface="Consolas" panose="020B0609020204030204" pitchFamily="49" charset="0"/>
            </a:endParaRPr>
          </a:p>
          <a:p>
            <a:r>
              <a:rPr lang="en-US" altLang="zh-CN" sz="3600" b="0" dirty="0">
                <a:solidFill>
                  <a:srgbClr val="C586C0"/>
                </a:solidFill>
                <a:effectLst/>
                <a:latin typeface="Consolas" panose="020B0609020204030204" pitchFamily="49" charset="0"/>
              </a:rPr>
              <a:t>if</a:t>
            </a:r>
            <a:r>
              <a:rPr lang="en-US" altLang="zh-CN" sz="3600" b="0" dirty="0">
                <a:solidFill>
                  <a:srgbClr val="CCCCCC"/>
                </a:solidFill>
                <a:effectLst/>
                <a:latin typeface="Consolas" panose="020B0609020204030204" pitchFamily="49" charset="0"/>
              </a:rPr>
              <a:t> </a:t>
            </a:r>
            <a:r>
              <a:rPr lang="en-US" altLang="zh-CN" sz="3600" b="0" dirty="0" err="1">
                <a:solidFill>
                  <a:srgbClr val="9CDCFE"/>
                </a:solidFill>
                <a:effectLst/>
                <a:latin typeface="Consolas" panose="020B0609020204030204" pitchFamily="49" charset="0"/>
              </a:rPr>
              <a:t>pid</a:t>
            </a:r>
            <a:r>
              <a:rPr lang="en-US" altLang="zh-CN" sz="3600" b="0" dirty="0">
                <a:solidFill>
                  <a:srgbClr val="CCCCCC"/>
                </a:solidFill>
                <a:effectLst/>
                <a:latin typeface="Consolas" panose="020B0609020204030204" pitchFamily="49" charset="0"/>
              </a:rPr>
              <a:t> </a:t>
            </a:r>
            <a:r>
              <a:rPr lang="en-US" altLang="zh-CN" sz="3600" b="0" dirty="0">
                <a:solidFill>
                  <a:srgbClr val="D4D4D4"/>
                </a:solidFill>
                <a:effectLst/>
                <a:latin typeface="Consolas" panose="020B0609020204030204" pitchFamily="49" charset="0"/>
              </a:rPr>
              <a:t>==</a:t>
            </a:r>
            <a:r>
              <a:rPr lang="en-US" altLang="zh-CN" sz="3600" b="0" dirty="0">
                <a:solidFill>
                  <a:srgbClr val="CCCCCC"/>
                </a:solidFill>
                <a:effectLst/>
                <a:latin typeface="Consolas" panose="020B0609020204030204" pitchFamily="49" charset="0"/>
              </a:rPr>
              <a:t> </a:t>
            </a:r>
            <a:r>
              <a:rPr lang="en-US" altLang="zh-CN" sz="3600" b="0" dirty="0">
                <a:solidFill>
                  <a:srgbClr val="B5CEA8"/>
                </a:solidFill>
                <a:effectLst/>
                <a:latin typeface="Consolas" panose="020B0609020204030204" pitchFamily="49" charset="0"/>
              </a:rPr>
              <a:t>0</a:t>
            </a:r>
            <a:r>
              <a:rPr lang="en-US" altLang="zh-CN" sz="3600" b="0" dirty="0">
                <a:solidFill>
                  <a:srgbClr val="CCCCCC"/>
                </a:solidFill>
                <a:effectLst/>
                <a:latin typeface="Consolas" panose="020B0609020204030204" pitchFamily="49" charset="0"/>
              </a:rPr>
              <a:t>:</a:t>
            </a:r>
            <a:endParaRPr lang="en-US" altLang="zh-CN" sz="3600" b="0" dirty="0">
              <a:solidFill>
                <a:srgbClr val="CCCCCC"/>
              </a:solidFill>
              <a:effectLst/>
              <a:latin typeface="Consolas" panose="020B0609020204030204" pitchFamily="49" charset="0"/>
            </a:endParaRPr>
          </a:p>
          <a:p>
            <a:r>
              <a:rPr lang="en-US" altLang="zh-CN" sz="3600" b="0" dirty="0">
                <a:solidFill>
                  <a:srgbClr val="CCCCCC"/>
                </a:solidFill>
                <a:effectLst/>
                <a:latin typeface="Consolas" panose="020B0609020204030204" pitchFamily="49" charset="0"/>
              </a:rPr>
              <a:t>    </a:t>
            </a:r>
            <a:r>
              <a:rPr lang="en-US" altLang="zh-CN" sz="3600" b="0" dirty="0">
                <a:solidFill>
                  <a:srgbClr val="DCDCAA"/>
                </a:solidFill>
                <a:effectLst/>
                <a:latin typeface="Consolas" panose="020B0609020204030204" pitchFamily="49" charset="0"/>
              </a:rPr>
              <a:t>print</a:t>
            </a:r>
            <a:r>
              <a:rPr lang="en-US" altLang="zh-CN" sz="3600" b="0" dirty="0">
                <a:solidFill>
                  <a:srgbClr val="CCCCCC"/>
                </a:solidFill>
                <a:effectLst/>
                <a:latin typeface="Consolas" panose="020B0609020204030204" pitchFamily="49" charset="0"/>
              </a:rPr>
              <a:t>(</a:t>
            </a:r>
            <a:r>
              <a:rPr lang="en-US" altLang="zh-CN" sz="3600" b="0" dirty="0">
                <a:solidFill>
                  <a:srgbClr val="CE9178"/>
                </a:solidFill>
                <a:effectLst/>
                <a:latin typeface="Consolas" panose="020B0609020204030204" pitchFamily="49" charset="0"/>
              </a:rPr>
              <a:t>"Child process"</a:t>
            </a:r>
            <a:r>
              <a:rPr lang="en-US" altLang="zh-CN" sz="3600" b="0" dirty="0">
                <a:solidFill>
                  <a:srgbClr val="CCCCCC"/>
                </a:solidFill>
                <a:effectLst/>
                <a:latin typeface="Consolas" panose="020B0609020204030204" pitchFamily="49" charset="0"/>
              </a:rPr>
              <a:t>)</a:t>
            </a:r>
            <a:endParaRPr lang="en-US" altLang="zh-CN" sz="3600" b="0" dirty="0">
              <a:solidFill>
                <a:srgbClr val="CCCCCC"/>
              </a:solidFill>
              <a:effectLst/>
              <a:latin typeface="Consolas" panose="020B0609020204030204" pitchFamily="49" charset="0"/>
            </a:endParaRPr>
          </a:p>
          <a:p>
            <a:r>
              <a:rPr lang="en-US" altLang="zh-CN" sz="3600" b="0" dirty="0">
                <a:solidFill>
                  <a:srgbClr val="C586C0"/>
                </a:solidFill>
                <a:effectLst/>
                <a:latin typeface="Consolas" panose="020B0609020204030204" pitchFamily="49" charset="0"/>
              </a:rPr>
              <a:t>else</a:t>
            </a:r>
            <a:r>
              <a:rPr lang="en-US" altLang="zh-CN" sz="3600" b="0" dirty="0">
                <a:solidFill>
                  <a:srgbClr val="CCCCCC"/>
                </a:solidFill>
                <a:effectLst/>
                <a:latin typeface="Consolas" panose="020B0609020204030204" pitchFamily="49" charset="0"/>
              </a:rPr>
              <a:t>:</a:t>
            </a:r>
            <a:endParaRPr lang="en-US" altLang="zh-CN" sz="3600" b="0" dirty="0">
              <a:solidFill>
                <a:srgbClr val="CCCCCC"/>
              </a:solidFill>
              <a:effectLst/>
              <a:latin typeface="Consolas" panose="020B0609020204030204" pitchFamily="49" charset="0"/>
            </a:endParaRPr>
          </a:p>
          <a:p>
            <a:r>
              <a:rPr lang="en-US" altLang="zh-CN" sz="3600" b="0" dirty="0">
                <a:solidFill>
                  <a:srgbClr val="CCCCCC"/>
                </a:solidFill>
                <a:effectLst/>
                <a:latin typeface="Consolas" panose="020B0609020204030204" pitchFamily="49" charset="0"/>
              </a:rPr>
              <a:t>    </a:t>
            </a:r>
            <a:r>
              <a:rPr lang="en-US" altLang="zh-CN" sz="3600" b="0" dirty="0">
                <a:solidFill>
                  <a:srgbClr val="DCDCAA"/>
                </a:solidFill>
                <a:effectLst/>
                <a:latin typeface="Consolas" panose="020B0609020204030204" pitchFamily="49" charset="0"/>
              </a:rPr>
              <a:t>print</a:t>
            </a:r>
            <a:r>
              <a:rPr lang="en-US" altLang="zh-CN" sz="3600" b="0" dirty="0">
                <a:solidFill>
                  <a:srgbClr val="CCCCCC"/>
                </a:solidFill>
                <a:effectLst/>
                <a:latin typeface="Consolas" panose="020B0609020204030204" pitchFamily="49" charset="0"/>
              </a:rPr>
              <a:t>(</a:t>
            </a:r>
            <a:r>
              <a:rPr lang="en-US" altLang="zh-CN" sz="3600" b="0" dirty="0">
                <a:solidFill>
                  <a:srgbClr val="CE9178"/>
                </a:solidFill>
                <a:effectLst/>
                <a:latin typeface="Consolas" panose="020B0609020204030204" pitchFamily="49" charset="0"/>
              </a:rPr>
              <a:t>"Parent process"</a:t>
            </a:r>
            <a:r>
              <a:rPr lang="en-US" altLang="zh-CN" sz="3600" b="0" dirty="0">
                <a:solidFill>
                  <a:srgbClr val="CCCCCC"/>
                </a:solidFill>
                <a:effectLst/>
                <a:latin typeface="Consolas" panose="020B0609020204030204" pitchFamily="49" charset="0"/>
              </a:rPr>
              <a:t>)</a:t>
            </a:r>
            <a:endParaRPr lang="en-US" altLang="zh-CN" sz="3600" b="0" dirty="0">
              <a:solidFill>
                <a:srgbClr val="CCCCCC"/>
              </a:solidFill>
              <a:effectLst/>
              <a:latin typeface="Consolas" panose="020B06090202040302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4400" b="0" dirty="0">
                <a:solidFill>
                  <a:srgbClr val="C586C0"/>
                </a:solidFill>
                <a:effectLst/>
                <a:latin typeface="Consolas" panose="020B0609020204030204" pitchFamily="49" charset="0"/>
              </a:rPr>
              <a:t>The wait() System Call</a:t>
            </a:r>
            <a:endParaRPr lang="en-US" altLang="zh-CN" sz="4400" b="0" dirty="0">
              <a:solidFill>
                <a:srgbClr val="CCCCCC"/>
              </a:solidFill>
              <a:effectLst/>
              <a:latin typeface="Consolas" panose="020B0609020204030204" pitchFamily="49" charset="0"/>
            </a:endParaRPr>
          </a:p>
        </p:txBody>
      </p:sp>
      <p:sp>
        <p:nvSpPr>
          <p:cNvPr id="3" name="Content Placeholder 2"/>
          <p:cNvSpPr>
            <a:spLocks noGrp="1"/>
          </p:cNvSpPr>
          <p:nvPr>
            <p:ph idx="1"/>
          </p:nvPr>
        </p:nvSpPr>
        <p:spPr/>
        <p:txBody>
          <a:bodyPr>
            <a:normAutofit/>
          </a:bodyPr>
          <a:lstStyle/>
          <a:p>
            <a:r>
              <a:rPr lang="en-US" altLang="zh-CN" sz="3200" dirty="0"/>
              <a:t>Allows a parent process to wait for its child to finish execution.</a:t>
            </a:r>
            <a:endParaRPr lang="en-US" altLang="zh-CN" sz="3200" dirty="0"/>
          </a:p>
          <a:p>
            <a:r>
              <a:rPr lang="en-US" altLang="zh-CN" sz="4400" dirty="0"/>
              <a:t>Returns the child’s PID on success or -1 on error.</a:t>
            </a:r>
            <a:endParaRPr lang="en-US" altLang="zh-CN" sz="4400" dirty="0"/>
          </a:p>
          <a:p>
            <a:pPr lvl="1"/>
            <a:r>
              <a:rPr lang="en-US" altLang="zh-CN" sz="3200" dirty="0" err="1"/>
              <a:t>pid</a:t>
            </a:r>
            <a:r>
              <a:rPr lang="en-US" altLang="zh-CN" sz="3200" dirty="0"/>
              <a:t>, status = </a:t>
            </a:r>
            <a:r>
              <a:rPr lang="en-US" altLang="zh-CN" sz="3200" dirty="0" err="1"/>
              <a:t>os.wait</a:t>
            </a:r>
            <a:r>
              <a:rPr lang="en-US" altLang="zh-CN" sz="3200" dirty="0"/>
              <a:t>()</a:t>
            </a:r>
            <a:endParaRPr lang="en-US" altLang="zh-CN" sz="3200" dirty="0"/>
          </a:p>
          <a:p>
            <a:pPr>
              <a:buFont typeface="Arial" panose="020B0604020202020204" pitchFamily="34" charset="0"/>
              <a:buChar char="•"/>
            </a:pPr>
            <a:r>
              <a:rPr lang="en-US" altLang="zh-CN" sz="2000" b="1" dirty="0"/>
              <a:t>Example Use Cases:</a:t>
            </a:r>
            <a:r>
              <a:rPr lang="en-US" altLang="zh-CN" sz="2000" dirty="0"/>
              <a:t> </a:t>
            </a:r>
            <a:endParaRPr lang="en-US" altLang="zh-CN" sz="2000" dirty="0"/>
          </a:p>
          <a:p>
            <a:pPr lvl="1"/>
            <a:r>
              <a:rPr lang="en-US" altLang="zh-CN" sz="1600" dirty="0"/>
              <a:t>Ensures proper cleanup of child processes.</a:t>
            </a:r>
            <a:endParaRPr lang="en-US" altLang="zh-CN" sz="1600" dirty="0"/>
          </a:p>
          <a:p>
            <a:pPr lvl="1"/>
            <a:r>
              <a:rPr lang="en-US" altLang="zh-CN" sz="1600" dirty="0"/>
              <a:t>Retrieves the child’s exit status.</a:t>
            </a:r>
            <a:endParaRPr lang="en-US" altLang="zh-CN" sz="2800" dirty="0"/>
          </a:p>
          <a:p>
            <a:pPr marL="457200" lvl="1" indent="0">
              <a:buNone/>
            </a:pPr>
            <a:endParaRPr lang="en-US" altLang="zh-CN"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4400" b="0" dirty="0">
                <a:solidFill>
                  <a:srgbClr val="C586C0"/>
                </a:solidFill>
                <a:effectLst/>
                <a:latin typeface="Consolas" panose="020B0609020204030204" pitchFamily="49" charset="0"/>
              </a:rPr>
              <a:t>The wait() System Call - </a:t>
            </a:r>
            <a:r>
              <a:rPr lang="en-US" altLang="zh-CN" b="1" i="0" dirty="0" err="1">
                <a:solidFill>
                  <a:srgbClr val="111111"/>
                </a:solidFill>
                <a:effectLst/>
                <a:latin typeface="Roboto" panose="02000000000000000000" pitchFamily="2" charset="0"/>
              </a:rPr>
              <a:t>wexitstatus</a:t>
            </a:r>
            <a:r>
              <a:rPr lang="en-US" altLang="zh-CN" sz="4400" b="0" dirty="0">
                <a:solidFill>
                  <a:srgbClr val="C586C0"/>
                </a:solidFill>
                <a:effectLst/>
                <a:latin typeface="Consolas" panose="020B0609020204030204" pitchFamily="49" charset="0"/>
              </a:rPr>
              <a:t> </a:t>
            </a:r>
            <a:endParaRPr lang="en-US" altLang="zh-CN" sz="4400" b="0" dirty="0">
              <a:solidFill>
                <a:srgbClr val="CCCCCC"/>
              </a:solidFill>
              <a:effectLst/>
              <a:latin typeface="Consolas" panose="020B0609020204030204" pitchFamily="49" charset="0"/>
            </a:endParaRPr>
          </a:p>
        </p:txBody>
      </p:sp>
      <p:sp>
        <p:nvSpPr>
          <p:cNvPr id="3" name="Content Placeholder 2"/>
          <p:cNvSpPr>
            <a:spLocks noGrp="1"/>
          </p:cNvSpPr>
          <p:nvPr>
            <p:ph idx="1"/>
          </p:nvPr>
        </p:nvSpPr>
        <p:spPr/>
        <p:txBody>
          <a:bodyPr>
            <a:normAutofit/>
          </a:bodyPr>
          <a:lstStyle/>
          <a:p>
            <a:r>
              <a:rPr lang="en-US" altLang="zh-CN" sz="2000" dirty="0"/>
              <a:t>Macro to extract the exit status of a terminated child process</a:t>
            </a:r>
            <a:endParaRPr lang="en-US" altLang="zh-CN" sz="2000" dirty="0"/>
          </a:p>
          <a:p>
            <a:r>
              <a:rPr lang="en-US" altLang="zh-CN" sz="2000" dirty="0"/>
              <a:t>Called after wait() to decode the status.</a:t>
            </a:r>
            <a:endParaRPr lang="en-US" altLang="zh-CN" sz="2000" dirty="0"/>
          </a:p>
          <a:p>
            <a:r>
              <a:rPr lang="en-US" altLang="zh-CN" sz="2000" dirty="0"/>
              <a:t>0 for success, non-zero for failure.</a:t>
            </a:r>
            <a:endParaRPr lang="en-US" altLang="zh-CN" sz="2000" dirty="0"/>
          </a:p>
          <a:p>
            <a:pPr marL="0" indent="0">
              <a:buNone/>
            </a:pPr>
            <a:r>
              <a:rPr lang="en-US" altLang="zh-CN" sz="3200" b="0" dirty="0">
                <a:solidFill>
                  <a:srgbClr val="C586C0"/>
                </a:solidFill>
                <a:effectLst/>
                <a:latin typeface="Consolas" panose="020B0609020204030204" pitchFamily="49" charset="0"/>
              </a:rPr>
              <a:t>import</a:t>
            </a:r>
            <a:r>
              <a:rPr lang="en-US" altLang="zh-CN" sz="3200" b="0" dirty="0">
                <a:solidFill>
                  <a:srgbClr val="CCCCCC"/>
                </a:solidFill>
                <a:effectLst/>
                <a:latin typeface="Consolas" panose="020B0609020204030204" pitchFamily="49" charset="0"/>
              </a:rPr>
              <a:t> </a:t>
            </a:r>
            <a:r>
              <a:rPr lang="en-US" altLang="zh-CN" sz="3200" b="0" dirty="0" err="1">
                <a:solidFill>
                  <a:srgbClr val="4EC9B0"/>
                </a:solidFill>
                <a:effectLst/>
                <a:latin typeface="Consolas" panose="020B0609020204030204" pitchFamily="49" charset="0"/>
              </a:rPr>
              <a:t>os</a:t>
            </a:r>
            <a:endParaRPr lang="en-US" altLang="zh-CN" sz="3200" b="0" dirty="0">
              <a:solidFill>
                <a:srgbClr val="CCCCCC"/>
              </a:solidFill>
              <a:effectLst/>
              <a:latin typeface="Consolas" panose="020B0609020204030204" pitchFamily="49" charset="0"/>
            </a:endParaRPr>
          </a:p>
          <a:p>
            <a:pPr marL="0" indent="0">
              <a:buNone/>
            </a:pPr>
            <a:r>
              <a:rPr lang="en-US" altLang="zh-CN" sz="3200" b="0" dirty="0" err="1">
                <a:solidFill>
                  <a:srgbClr val="9CDCFE"/>
                </a:solidFill>
                <a:effectLst/>
                <a:latin typeface="Consolas" panose="020B0609020204030204" pitchFamily="49" charset="0"/>
              </a:rPr>
              <a:t>pid</a:t>
            </a:r>
            <a:r>
              <a:rPr lang="en-US" altLang="zh-CN" sz="3200" b="0" dirty="0">
                <a:solidFill>
                  <a:srgbClr val="CCCCCC"/>
                </a:solidFill>
                <a:effectLst/>
                <a:latin typeface="Consolas" panose="020B0609020204030204" pitchFamily="49" charset="0"/>
              </a:rPr>
              <a:t>, </a:t>
            </a:r>
            <a:r>
              <a:rPr lang="en-US" altLang="zh-CN" sz="3200" b="0" dirty="0">
                <a:solidFill>
                  <a:srgbClr val="9CDCFE"/>
                </a:solidFill>
                <a:effectLst/>
                <a:latin typeface="Consolas" panose="020B0609020204030204" pitchFamily="49" charset="0"/>
              </a:rPr>
              <a:t>status</a:t>
            </a:r>
            <a:r>
              <a:rPr lang="en-US" altLang="zh-CN" sz="3200" b="0" dirty="0">
                <a:solidFill>
                  <a:srgbClr val="CCCCCC"/>
                </a:solidFill>
                <a:effectLst/>
                <a:latin typeface="Consolas" panose="020B0609020204030204" pitchFamily="49" charset="0"/>
              </a:rPr>
              <a:t> </a:t>
            </a:r>
            <a:r>
              <a:rPr lang="en-US" altLang="zh-CN" sz="3200" b="0" dirty="0">
                <a:solidFill>
                  <a:srgbClr val="D4D4D4"/>
                </a:solidFill>
                <a:effectLst/>
                <a:latin typeface="Consolas" panose="020B0609020204030204" pitchFamily="49" charset="0"/>
              </a:rPr>
              <a:t>=</a:t>
            </a:r>
            <a:r>
              <a:rPr lang="en-US" altLang="zh-CN" sz="3200" b="0" dirty="0">
                <a:solidFill>
                  <a:srgbClr val="CCCCCC"/>
                </a:solidFill>
                <a:effectLst/>
                <a:latin typeface="Consolas" panose="020B0609020204030204" pitchFamily="49" charset="0"/>
              </a:rPr>
              <a:t> </a:t>
            </a:r>
            <a:r>
              <a:rPr lang="en-US" altLang="zh-CN" sz="3200" b="0" dirty="0" err="1">
                <a:solidFill>
                  <a:srgbClr val="4EC9B0"/>
                </a:solidFill>
                <a:effectLst/>
                <a:latin typeface="Consolas" panose="020B0609020204030204" pitchFamily="49" charset="0"/>
              </a:rPr>
              <a:t>os</a:t>
            </a:r>
            <a:r>
              <a:rPr lang="en-US" altLang="zh-CN" sz="3200" b="0" dirty="0" err="1">
                <a:solidFill>
                  <a:srgbClr val="CCCCCC"/>
                </a:solidFill>
                <a:effectLst/>
                <a:latin typeface="Consolas" panose="020B0609020204030204" pitchFamily="49" charset="0"/>
              </a:rPr>
              <a:t>.wait</a:t>
            </a:r>
            <a:r>
              <a:rPr lang="en-US" altLang="zh-CN" sz="3200" b="0" dirty="0">
                <a:solidFill>
                  <a:srgbClr val="CCCCCC"/>
                </a:solidFill>
                <a:effectLst/>
                <a:latin typeface="Consolas" panose="020B0609020204030204" pitchFamily="49" charset="0"/>
              </a:rPr>
              <a:t>()</a:t>
            </a:r>
            <a:endParaRPr lang="en-US" altLang="zh-CN" sz="3200" b="0" dirty="0">
              <a:solidFill>
                <a:srgbClr val="CCCCCC"/>
              </a:solidFill>
              <a:effectLst/>
              <a:latin typeface="Consolas" panose="020B0609020204030204" pitchFamily="49" charset="0"/>
            </a:endParaRPr>
          </a:p>
          <a:p>
            <a:pPr marL="0" indent="0">
              <a:buNone/>
            </a:pPr>
            <a:r>
              <a:rPr lang="en-US" altLang="zh-CN" sz="3200" b="0" dirty="0">
                <a:solidFill>
                  <a:srgbClr val="C586C0"/>
                </a:solidFill>
                <a:effectLst/>
                <a:latin typeface="Consolas" panose="020B0609020204030204" pitchFamily="49" charset="0"/>
              </a:rPr>
              <a:t>if</a:t>
            </a:r>
            <a:r>
              <a:rPr lang="en-US" altLang="zh-CN" sz="3200" b="0" dirty="0">
                <a:solidFill>
                  <a:srgbClr val="CCCCCC"/>
                </a:solidFill>
                <a:effectLst/>
                <a:latin typeface="Consolas" panose="020B0609020204030204" pitchFamily="49" charset="0"/>
              </a:rPr>
              <a:t> </a:t>
            </a:r>
            <a:r>
              <a:rPr lang="en-US" altLang="zh-CN" sz="3200" b="0" dirty="0" err="1">
                <a:solidFill>
                  <a:srgbClr val="4EC9B0"/>
                </a:solidFill>
                <a:effectLst/>
                <a:latin typeface="Consolas" panose="020B0609020204030204" pitchFamily="49" charset="0"/>
              </a:rPr>
              <a:t>os</a:t>
            </a:r>
            <a:r>
              <a:rPr lang="en-US" altLang="zh-CN" sz="3200" b="0" dirty="0" err="1">
                <a:solidFill>
                  <a:srgbClr val="CCCCCC"/>
                </a:solidFill>
                <a:effectLst/>
                <a:latin typeface="Consolas" panose="020B0609020204030204" pitchFamily="49" charset="0"/>
              </a:rPr>
              <a:t>.WIFEXITED</a:t>
            </a:r>
            <a:r>
              <a:rPr lang="en-US" altLang="zh-CN" sz="3200" b="0" dirty="0">
                <a:solidFill>
                  <a:srgbClr val="CCCCCC"/>
                </a:solidFill>
                <a:effectLst/>
                <a:latin typeface="Consolas" panose="020B0609020204030204" pitchFamily="49" charset="0"/>
              </a:rPr>
              <a:t>(</a:t>
            </a:r>
            <a:r>
              <a:rPr lang="en-US" altLang="zh-CN" sz="3200" b="0" dirty="0">
                <a:solidFill>
                  <a:srgbClr val="9CDCFE"/>
                </a:solidFill>
                <a:effectLst/>
                <a:latin typeface="Consolas" panose="020B0609020204030204" pitchFamily="49" charset="0"/>
              </a:rPr>
              <a:t>status</a:t>
            </a:r>
            <a:r>
              <a:rPr lang="en-US" altLang="zh-CN" sz="3200" b="0" dirty="0">
                <a:solidFill>
                  <a:srgbClr val="CCCCCC"/>
                </a:solidFill>
                <a:effectLst/>
                <a:latin typeface="Consolas" panose="020B0609020204030204" pitchFamily="49" charset="0"/>
              </a:rPr>
              <a:t>):</a:t>
            </a:r>
            <a:endParaRPr lang="en-US" altLang="zh-CN" sz="3200" b="0" dirty="0">
              <a:solidFill>
                <a:srgbClr val="CCCCCC"/>
              </a:solidFill>
              <a:effectLst/>
              <a:latin typeface="Consolas" panose="020B0609020204030204" pitchFamily="49" charset="0"/>
            </a:endParaRPr>
          </a:p>
          <a:p>
            <a:pPr marL="0" indent="0">
              <a:buNone/>
            </a:pPr>
            <a:r>
              <a:rPr lang="en-US" altLang="zh-CN" sz="3200" b="0" dirty="0">
                <a:solidFill>
                  <a:srgbClr val="CCCCCC"/>
                </a:solidFill>
                <a:effectLst/>
                <a:latin typeface="Consolas" panose="020B0609020204030204" pitchFamily="49" charset="0"/>
              </a:rPr>
              <a:t>    </a:t>
            </a:r>
            <a:r>
              <a:rPr lang="en-US" altLang="zh-CN" sz="3200" b="0" dirty="0" err="1">
                <a:solidFill>
                  <a:srgbClr val="9CDCFE"/>
                </a:solidFill>
                <a:effectLst/>
                <a:latin typeface="Consolas" panose="020B0609020204030204" pitchFamily="49" charset="0"/>
              </a:rPr>
              <a:t>exit_code</a:t>
            </a:r>
            <a:r>
              <a:rPr lang="en-US" altLang="zh-CN" sz="3200" b="0" dirty="0">
                <a:solidFill>
                  <a:srgbClr val="CCCCCC"/>
                </a:solidFill>
                <a:effectLst/>
                <a:latin typeface="Consolas" panose="020B0609020204030204" pitchFamily="49" charset="0"/>
              </a:rPr>
              <a:t> </a:t>
            </a:r>
            <a:r>
              <a:rPr lang="en-US" altLang="zh-CN" sz="3200" b="0" dirty="0">
                <a:solidFill>
                  <a:srgbClr val="D4D4D4"/>
                </a:solidFill>
                <a:effectLst/>
                <a:latin typeface="Consolas" panose="020B0609020204030204" pitchFamily="49" charset="0"/>
              </a:rPr>
              <a:t>=</a:t>
            </a:r>
            <a:r>
              <a:rPr lang="en-US" altLang="zh-CN" sz="3200" b="0" dirty="0">
                <a:solidFill>
                  <a:srgbClr val="CCCCCC"/>
                </a:solidFill>
                <a:effectLst/>
                <a:latin typeface="Consolas" panose="020B0609020204030204" pitchFamily="49" charset="0"/>
              </a:rPr>
              <a:t> </a:t>
            </a:r>
            <a:r>
              <a:rPr lang="en-US" altLang="zh-CN" sz="3200" b="0" dirty="0" err="1">
                <a:solidFill>
                  <a:srgbClr val="4EC9B0"/>
                </a:solidFill>
                <a:effectLst/>
                <a:latin typeface="Consolas" panose="020B0609020204030204" pitchFamily="49" charset="0"/>
              </a:rPr>
              <a:t>os</a:t>
            </a:r>
            <a:r>
              <a:rPr lang="en-US" altLang="zh-CN" sz="3200" b="0" dirty="0" err="1">
                <a:solidFill>
                  <a:srgbClr val="CCCCCC"/>
                </a:solidFill>
                <a:effectLst/>
                <a:latin typeface="Consolas" panose="020B0609020204030204" pitchFamily="49" charset="0"/>
              </a:rPr>
              <a:t>.WEXITSTATUS</a:t>
            </a:r>
            <a:r>
              <a:rPr lang="en-US" altLang="zh-CN" sz="3200" b="0" dirty="0">
                <a:solidFill>
                  <a:srgbClr val="CCCCCC"/>
                </a:solidFill>
                <a:effectLst/>
                <a:latin typeface="Consolas" panose="020B0609020204030204" pitchFamily="49" charset="0"/>
              </a:rPr>
              <a:t>(</a:t>
            </a:r>
            <a:r>
              <a:rPr lang="en-US" altLang="zh-CN" sz="3200" b="0" dirty="0">
                <a:solidFill>
                  <a:srgbClr val="9CDCFE"/>
                </a:solidFill>
                <a:effectLst/>
                <a:latin typeface="Consolas" panose="020B0609020204030204" pitchFamily="49" charset="0"/>
              </a:rPr>
              <a:t>status</a:t>
            </a:r>
            <a:r>
              <a:rPr lang="en-US" altLang="zh-CN" sz="3200" b="0" dirty="0">
                <a:solidFill>
                  <a:srgbClr val="CCCCCC"/>
                </a:solidFill>
                <a:effectLst/>
                <a:latin typeface="Consolas" panose="020B0609020204030204" pitchFamily="49" charset="0"/>
              </a:rPr>
              <a:t>)</a:t>
            </a:r>
            <a:endParaRPr lang="en-US" altLang="zh-CN" sz="3200" b="0" dirty="0">
              <a:solidFill>
                <a:srgbClr val="CCCCCC"/>
              </a:solidFill>
              <a:effectLst/>
              <a:latin typeface="Consolas" panose="020B0609020204030204"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i="0" dirty="0" err="1">
                <a:solidFill>
                  <a:srgbClr val="111111"/>
                </a:solidFill>
                <a:effectLst/>
                <a:latin typeface="Roboto" panose="02000000000000000000" pitchFamily="2" charset="0"/>
              </a:rPr>
              <a:t>wexitstatus</a:t>
            </a:r>
            <a:endParaRPr lang="zh-CN" altLang="en-US" dirty="0"/>
          </a:p>
        </p:txBody>
      </p:sp>
      <p:sp>
        <p:nvSpPr>
          <p:cNvPr id="3" name="Content Placeholder 2"/>
          <p:cNvSpPr>
            <a:spLocks noGrp="1"/>
          </p:cNvSpPr>
          <p:nvPr>
            <p:ph idx="1"/>
          </p:nvPr>
        </p:nvSpPr>
        <p:spPr/>
        <p:txBody>
          <a:bodyPr>
            <a:normAutofit lnSpcReduction="10000"/>
          </a:bodyPr>
          <a:lstStyle/>
          <a:p>
            <a:pPr algn="just"/>
            <a:r>
              <a:rPr lang="en-US" altLang="zh-CN" b="0" i="0" dirty="0">
                <a:solidFill>
                  <a:srgbClr val="111111"/>
                </a:solidFill>
                <a:effectLst/>
                <a:latin typeface="Roboto" panose="02000000000000000000" pitchFamily="2" charset="0"/>
              </a:rPr>
              <a:t>In Linux, the </a:t>
            </a:r>
            <a:r>
              <a:rPr lang="en-US" altLang="zh-CN" b="0" i="0" dirty="0" err="1">
                <a:solidFill>
                  <a:srgbClr val="444444"/>
                </a:solidFill>
                <a:effectLst/>
                <a:latin typeface="Consolas" panose="020B0609020204030204" pitchFamily="49" charset="0"/>
              </a:rPr>
              <a:t>wexitstatus</a:t>
            </a:r>
            <a:r>
              <a:rPr lang="en-US" altLang="zh-CN" b="0" i="0" dirty="0">
                <a:solidFill>
                  <a:srgbClr val="111111"/>
                </a:solidFill>
                <a:effectLst/>
                <a:latin typeface="Roboto" panose="02000000000000000000" pitchFamily="2" charset="0"/>
              </a:rPr>
              <a:t> macro is used to retrieve the exit status of a child process. This macro is part of the process control mechanisms provided by the operating system to manage and monitor child processes created by a parent process.</a:t>
            </a:r>
            <a:endParaRPr lang="en-US" altLang="zh-CN" b="0" i="0" dirty="0">
              <a:solidFill>
                <a:srgbClr val="111111"/>
              </a:solidFill>
              <a:effectLst/>
              <a:latin typeface="Roboto" panose="02000000000000000000" pitchFamily="2" charset="0"/>
            </a:endParaRPr>
          </a:p>
          <a:p>
            <a:pPr algn="just"/>
            <a:endParaRPr lang="en-US" altLang="zh-CN" dirty="0">
              <a:solidFill>
                <a:srgbClr val="111111"/>
              </a:solidFill>
              <a:latin typeface="Roboto" panose="02000000000000000000" pitchFamily="2" charset="0"/>
            </a:endParaRPr>
          </a:p>
          <a:p>
            <a:pPr algn="just"/>
            <a:r>
              <a:rPr lang="en-US" altLang="zh-CN" b="0" i="0" dirty="0">
                <a:solidFill>
                  <a:srgbClr val="111111"/>
                </a:solidFill>
                <a:effectLst/>
                <a:latin typeface="Roboto" panose="02000000000000000000" pitchFamily="2" charset="0"/>
              </a:rPr>
              <a:t>When a child process terminates, it returns an exit status to the parent process. This exit status can be obtained using the </a:t>
            </a:r>
            <a:r>
              <a:rPr lang="en-US" altLang="zh-CN" b="0" i="0" dirty="0">
                <a:solidFill>
                  <a:srgbClr val="444444"/>
                </a:solidFill>
                <a:effectLst/>
                <a:latin typeface="Consolas" panose="020B0609020204030204" pitchFamily="49" charset="0"/>
              </a:rPr>
              <a:t>wait()</a:t>
            </a:r>
            <a:r>
              <a:rPr lang="en-US" altLang="zh-CN" b="0" i="0" dirty="0">
                <a:solidFill>
                  <a:srgbClr val="111111"/>
                </a:solidFill>
                <a:effectLst/>
                <a:latin typeface="Roboto" panose="02000000000000000000" pitchFamily="2" charset="0"/>
              </a:rPr>
              <a:t> or </a:t>
            </a:r>
            <a:r>
              <a:rPr lang="en-US" altLang="zh-CN" b="0" i="0" dirty="0" err="1">
                <a:solidFill>
                  <a:srgbClr val="444444"/>
                </a:solidFill>
                <a:effectLst/>
                <a:latin typeface="Consolas" panose="020B0609020204030204" pitchFamily="49" charset="0"/>
              </a:rPr>
              <a:t>waitpid</a:t>
            </a:r>
            <a:r>
              <a:rPr lang="en-US" altLang="zh-CN" b="0" i="0" dirty="0">
                <a:solidFill>
                  <a:srgbClr val="444444"/>
                </a:solidFill>
                <a:effectLst/>
                <a:latin typeface="Consolas" panose="020B0609020204030204" pitchFamily="49" charset="0"/>
              </a:rPr>
              <a:t>()</a:t>
            </a:r>
            <a:r>
              <a:rPr lang="en-US" altLang="zh-CN" b="0" i="0" dirty="0">
                <a:solidFill>
                  <a:srgbClr val="111111"/>
                </a:solidFill>
                <a:effectLst/>
                <a:latin typeface="Roboto" panose="02000000000000000000" pitchFamily="2" charset="0"/>
              </a:rPr>
              <a:t> system calls. These calls suspend the execution of the parent process until one of its child processes changes state (e.g., terminates).</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Zombie Processes</a:t>
            </a:r>
            <a:endParaRPr lang="zh-CN" altLang="en-US" dirty="0"/>
          </a:p>
        </p:txBody>
      </p:sp>
      <p:sp>
        <p:nvSpPr>
          <p:cNvPr id="3" name="Content Placeholder 2"/>
          <p:cNvSpPr>
            <a:spLocks noGrp="1"/>
          </p:cNvSpPr>
          <p:nvPr>
            <p:ph idx="1"/>
          </p:nvPr>
        </p:nvSpPr>
        <p:spPr>
          <a:xfrm>
            <a:off x="838200" y="1406881"/>
            <a:ext cx="10515600" cy="2960020"/>
          </a:xfrm>
        </p:spPr>
        <p:txBody>
          <a:bodyPr/>
          <a:lstStyle/>
          <a:p>
            <a:pPr algn="just">
              <a:lnSpc>
                <a:spcPct val="115000"/>
              </a:lnSpc>
              <a:spcAft>
                <a:spcPts val="800"/>
              </a:spcAft>
            </a:pPr>
            <a:r>
              <a:rPr lang="en-US" altLang="zh-CN" b="1" kern="100" dirty="0">
                <a:effectLst/>
                <a:latin typeface="Times New Roman" panose="02020603050405020304" pitchFamily="18" charset="0"/>
                <a:ea typeface="DengXian" panose="02010600030101010101" charset="-122"/>
                <a:cs typeface="Times New Roman" panose="02020603050405020304" pitchFamily="18" charset="0"/>
              </a:rPr>
              <a:t>A process that has completed execution but remains in the process table.</a:t>
            </a:r>
            <a:endParaRPr lang="zh-CN" altLang="zh-CN" kern="100" dirty="0">
              <a:effectLst/>
              <a:latin typeface="DengXian" panose="02010600030101010101" charset="-122"/>
              <a:ea typeface="DengXian" panose="02010600030101010101" charset="-122"/>
              <a:cs typeface="Times New Roman" panose="02020603050405020304" pitchFamily="18" charset="0"/>
            </a:endParaRPr>
          </a:p>
          <a:p>
            <a:pPr algn="just">
              <a:lnSpc>
                <a:spcPct val="115000"/>
              </a:lnSpc>
              <a:spcAft>
                <a:spcPts val="800"/>
              </a:spcAft>
            </a:pPr>
            <a:r>
              <a:rPr lang="en-US" altLang="zh-CN" kern="100" dirty="0">
                <a:effectLst/>
                <a:latin typeface="Times New Roman" panose="02020603050405020304" pitchFamily="18" charset="0"/>
                <a:ea typeface="DengXian" panose="02010600030101010101" charset="-122"/>
                <a:cs typeface="Times New Roman" panose="02020603050405020304" pitchFamily="18" charset="0"/>
              </a:rPr>
              <a:t>Happens when the parent does not call wait().</a:t>
            </a:r>
            <a:endParaRPr lang="zh-CN" altLang="zh-CN" kern="100" dirty="0">
              <a:effectLst/>
              <a:latin typeface="DengXian" panose="02010600030101010101" charset="-122"/>
              <a:ea typeface="DengXian" panose="02010600030101010101" charset="-122"/>
              <a:cs typeface="Times New Roman" panose="02020603050405020304" pitchFamily="18" charset="0"/>
            </a:endParaRPr>
          </a:p>
          <a:p>
            <a:pPr algn="just">
              <a:lnSpc>
                <a:spcPct val="115000"/>
              </a:lnSpc>
              <a:spcAft>
                <a:spcPts val="800"/>
              </a:spcAft>
            </a:pPr>
            <a:r>
              <a:rPr lang="en-US" altLang="zh-CN" kern="100" dirty="0">
                <a:effectLst/>
                <a:latin typeface="Times New Roman" panose="02020603050405020304" pitchFamily="18" charset="0"/>
                <a:ea typeface="DengXian" panose="02010600030101010101" charset="-122"/>
                <a:cs typeface="Times New Roman" panose="02020603050405020304" pitchFamily="18" charset="0"/>
              </a:rPr>
              <a:t>Importance of wait():</a:t>
            </a:r>
            <a:r>
              <a:rPr lang="en-US" altLang="zh-CN" kern="100" dirty="0">
                <a:latin typeface="DengXian" panose="02010600030101010101" charset="-122"/>
                <a:ea typeface="DengXian" panose="02010600030101010101" charset="-122"/>
                <a:cs typeface="Times New Roman" panose="02020603050405020304" pitchFamily="18" charset="0"/>
              </a:rPr>
              <a:t> -&gt; </a:t>
            </a:r>
            <a:r>
              <a:rPr lang="en-US" altLang="zh-CN" kern="100" dirty="0">
                <a:effectLst/>
                <a:latin typeface="Times New Roman" panose="02020603050405020304" pitchFamily="18" charset="0"/>
                <a:ea typeface="DengXian" panose="02010600030101010101" charset="-122"/>
                <a:cs typeface="Times New Roman" panose="02020603050405020304" pitchFamily="18" charset="0"/>
              </a:rPr>
              <a:t>Prevents zombies by cleaning up resources.</a:t>
            </a:r>
            <a:endParaRPr lang="zh-CN" altLang="zh-CN" kern="100" dirty="0">
              <a:effectLst/>
              <a:latin typeface="DengXian" panose="02010600030101010101" charset="-122"/>
              <a:ea typeface="DengXian" panose="02010600030101010101" charset="-122"/>
              <a:cs typeface="Times New Roman" panose="02020603050405020304" pitchFamily="18" charset="0"/>
            </a:endParaRPr>
          </a:p>
        </p:txBody>
      </p:sp>
      <p:sp>
        <p:nvSpPr>
          <p:cNvPr id="5" name="TextBox 4"/>
          <p:cNvSpPr txBox="1"/>
          <p:nvPr/>
        </p:nvSpPr>
        <p:spPr>
          <a:xfrm>
            <a:off x="3142716" y="3990886"/>
            <a:ext cx="6097424" cy="2308324"/>
          </a:xfrm>
          <a:prstGeom prst="rect">
            <a:avLst/>
          </a:prstGeom>
          <a:noFill/>
        </p:spPr>
        <p:txBody>
          <a:bodyPr wrap="square">
            <a:spAutoFit/>
          </a:bodyPr>
          <a:lstStyle/>
          <a:p>
            <a:r>
              <a:rPr lang="zh-CN" altLang="en-US" sz="2400" dirty="0"/>
              <a:t>import os</a:t>
            </a:r>
            <a:endParaRPr lang="zh-CN" altLang="en-US" sz="2400" dirty="0"/>
          </a:p>
          <a:p>
            <a:r>
              <a:rPr lang="zh-CN" altLang="en-US" sz="2400" dirty="0"/>
              <a:t>pid = os.fork()</a:t>
            </a:r>
            <a:endParaRPr lang="zh-CN" altLang="en-US" sz="2400" dirty="0"/>
          </a:p>
          <a:p>
            <a:r>
              <a:rPr lang="zh-CN" altLang="en-US" sz="2400" dirty="0"/>
              <a:t>if pid == 0:</a:t>
            </a:r>
            <a:endParaRPr lang="zh-CN" altLang="en-US" sz="2400" dirty="0"/>
          </a:p>
          <a:p>
            <a:r>
              <a:rPr lang="zh-CN" altLang="en-US" sz="2400" dirty="0"/>
              <a:t>    # Child process code</a:t>
            </a:r>
            <a:endParaRPr lang="zh-CN" altLang="en-US" sz="2400" dirty="0"/>
          </a:p>
          <a:p>
            <a:r>
              <a:rPr lang="zh-CN" altLang="en-US" sz="2400" dirty="0"/>
              <a:t>    os._exit(0)</a:t>
            </a:r>
            <a:endParaRPr lang="zh-CN" altLang="en-US" sz="2400" dirty="0"/>
          </a:p>
          <a:p>
            <a:r>
              <a:rPr lang="zh-CN" altLang="en-US" sz="2400" dirty="0"/>
              <a:t># Parent does not call wait()</a:t>
            </a:r>
            <a:endParaRPr lang="zh-CN" alt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31491" y="243512"/>
            <a:ext cx="10571148" cy="6370975"/>
          </a:xfrm>
          <a:prstGeom prst="rect">
            <a:avLst/>
          </a:prstGeom>
          <a:noFill/>
        </p:spPr>
        <p:txBody>
          <a:bodyPr wrap="square">
            <a:spAutoFit/>
          </a:bodyPr>
          <a:lstStyle/>
          <a:p>
            <a:r>
              <a:rPr lang="en-US" altLang="zh-CN" sz="2400" b="0" dirty="0">
                <a:solidFill>
                  <a:srgbClr val="C586C0"/>
                </a:solidFill>
                <a:effectLst/>
                <a:latin typeface="Consolas" panose="020B0609020204030204" pitchFamily="49" charset="0"/>
              </a:rPr>
              <a:t>import</a:t>
            </a:r>
            <a:r>
              <a:rPr lang="en-US" altLang="zh-CN" sz="2400" b="0" dirty="0">
                <a:solidFill>
                  <a:srgbClr val="CCCCCC"/>
                </a:solidFill>
                <a:effectLst/>
                <a:latin typeface="Consolas" panose="020B0609020204030204" pitchFamily="49" charset="0"/>
              </a:rPr>
              <a:t> </a:t>
            </a:r>
            <a:r>
              <a:rPr lang="en-US" altLang="zh-CN" sz="2400" b="0" dirty="0" err="1">
                <a:solidFill>
                  <a:srgbClr val="4EC9B0"/>
                </a:solidFill>
                <a:effectLst/>
                <a:latin typeface="Consolas" panose="020B0609020204030204" pitchFamily="49" charset="0"/>
              </a:rPr>
              <a:t>os</a:t>
            </a:r>
            <a:endParaRPr lang="en-US" altLang="zh-CN" sz="2400" b="0" dirty="0">
              <a:solidFill>
                <a:srgbClr val="CCCCCC"/>
              </a:solidFill>
              <a:effectLst/>
              <a:latin typeface="Consolas" panose="020B0609020204030204" pitchFamily="49" charset="0"/>
            </a:endParaRPr>
          </a:p>
          <a:p>
            <a:r>
              <a:rPr lang="en-US" altLang="zh-CN" sz="2400" b="0" dirty="0">
                <a:solidFill>
                  <a:srgbClr val="C586C0"/>
                </a:solidFill>
                <a:effectLst/>
                <a:latin typeface="Consolas" panose="020B0609020204030204" pitchFamily="49" charset="0"/>
              </a:rPr>
              <a:t>import</a:t>
            </a:r>
            <a:r>
              <a:rPr lang="en-US" altLang="zh-CN" sz="2400" b="0" dirty="0">
                <a:solidFill>
                  <a:srgbClr val="CCCCCC"/>
                </a:solidFill>
                <a:effectLst/>
                <a:latin typeface="Consolas" panose="020B0609020204030204" pitchFamily="49" charset="0"/>
              </a:rPr>
              <a:t> </a:t>
            </a:r>
            <a:r>
              <a:rPr lang="en-US" altLang="zh-CN" sz="2400" b="0" dirty="0">
                <a:solidFill>
                  <a:srgbClr val="4EC9B0"/>
                </a:solidFill>
                <a:effectLst/>
                <a:latin typeface="Consolas" panose="020B0609020204030204" pitchFamily="49" charset="0"/>
              </a:rPr>
              <a:t>time</a:t>
            </a:r>
            <a:endParaRPr lang="en-US" altLang="zh-CN" sz="2400" b="0" dirty="0">
              <a:solidFill>
                <a:srgbClr val="CCCCCC"/>
              </a:solidFill>
              <a:effectLst/>
              <a:latin typeface="Consolas" panose="020B0609020204030204" pitchFamily="49" charset="0"/>
            </a:endParaRPr>
          </a:p>
          <a:p>
            <a:r>
              <a:rPr lang="en-US" altLang="zh-CN" sz="2400" b="0" dirty="0">
                <a:solidFill>
                  <a:srgbClr val="6A9955"/>
                </a:solidFill>
                <a:effectLst/>
                <a:latin typeface="Consolas" panose="020B0609020204030204" pitchFamily="49" charset="0"/>
              </a:rPr>
              <a:t># Fork a process</a:t>
            </a:r>
            <a:endParaRPr lang="en-US" altLang="zh-CN" sz="2400" b="0" dirty="0">
              <a:solidFill>
                <a:srgbClr val="CCCCCC"/>
              </a:solidFill>
              <a:effectLst/>
              <a:latin typeface="Consolas" panose="020B0609020204030204" pitchFamily="49" charset="0"/>
            </a:endParaRPr>
          </a:p>
          <a:p>
            <a:r>
              <a:rPr lang="en-US" altLang="zh-CN" sz="2400" b="0" dirty="0" err="1">
                <a:solidFill>
                  <a:srgbClr val="9CDCFE"/>
                </a:solidFill>
                <a:effectLst/>
                <a:latin typeface="Consolas" panose="020B0609020204030204" pitchFamily="49" charset="0"/>
              </a:rPr>
              <a:t>pid</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 </a:t>
            </a:r>
            <a:r>
              <a:rPr lang="en-US" altLang="zh-CN" sz="2400" b="0" dirty="0" err="1">
                <a:solidFill>
                  <a:srgbClr val="4EC9B0"/>
                </a:solidFill>
                <a:effectLst/>
                <a:latin typeface="Consolas" panose="020B0609020204030204" pitchFamily="49" charset="0"/>
              </a:rPr>
              <a:t>os</a:t>
            </a:r>
            <a:r>
              <a:rPr lang="en-US" altLang="zh-CN" sz="2400" b="0" dirty="0" err="1">
                <a:solidFill>
                  <a:srgbClr val="CCCCCC"/>
                </a:solidFill>
                <a:effectLst/>
                <a:latin typeface="Consolas" panose="020B0609020204030204" pitchFamily="49" charset="0"/>
              </a:rPr>
              <a:t>.fork</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r>
              <a:rPr lang="en-US" altLang="zh-CN" sz="2400" b="0" dirty="0">
                <a:solidFill>
                  <a:srgbClr val="C586C0"/>
                </a:solidFill>
                <a:effectLst/>
                <a:latin typeface="Consolas" panose="020B0609020204030204" pitchFamily="49" charset="0"/>
              </a:rPr>
              <a:t>if</a:t>
            </a:r>
            <a:r>
              <a:rPr lang="en-US" altLang="zh-CN" sz="2400" b="0" dirty="0">
                <a:solidFill>
                  <a:srgbClr val="CCCCCC"/>
                </a:solidFill>
                <a:effectLst/>
                <a:latin typeface="Consolas" panose="020B0609020204030204" pitchFamily="49" charset="0"/>
              </a:rPr>
              <a:t> </a:t>
            </a:r>
            <a:r>
              <a:rPr lang="en-US" altLang="zh-CN" sz="2400" b="0" dirty="0" err="1">
                <a:solidFill>
                  <a:srgbClr val="9CDCFE"/>
                </a:solidFill>
                <a:effectLst/>
                <a:latin typeface="Consolas" panose="020B0609020204030204" pitchFamily="49" charset="0"/>
              </a:rPr>
              <a:t>pid</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 </a:t>
            </a:r>
            <a:r>
              <a:rPr lang="en-US" altLang="zh-CN" sz="2400" b="0" dirty="0">
                <a:solidFill>
                  <a:srgbClr val="B5CEA8"/>
                </a:solidFill>
                <a:effectLst/>
                <a:latin typeface="Consolas" panose="020B0609020204030204" pitchFamily="49" charset="0"/>
              </a:rPr>
              <a:t>0</a:t>
            </a:r>
            <a:r>
              <a:rPr lang="en-US" altLang="zh-CN" sz="2400" b="0" dirty="0">
                <a:solidFill>
                  <a:srgbClr val="CCCCCC"/>
                </a:solidFill>
                <a:effectLst/>
                <a:latin typeface="Consolas" panose="020B0609020204030204" pitchFamily="49" charset="0"/>
              </a:rPr>
              <a:t>:  </a:t>
            </a:r>
            <a:r>
              <a:rPr lang="en-US" altLang="zh-CN" sz="2400" b="0" dirty="0">
                <a:solidFill>
                  <a:srgbClr val="6A9955"/>
                </a:solidFill>
                <a:effectLst/>
                <a:latin typeface="Consolas" panose="020B0609020204030204" pitchFamily="49" charset="0"/>
              </a:rPr>
              <a:t># Child process</a:t>
            </a:r>
            <a:endParaRPr lang="en-US" altLang="zh-CN" sz="2400" b="0" dirty="0">
              <a:solidFill>
                <a:srgbClr val="CCCCCC"/>
              </a:solidFill>
              <a:effectLst/>
              <a:latin typeface="Consolas" panose="020B0609020204030204" pitchFamily="49" charset="0"/>
            </a:endParaRPr>
          </a:p>
          <a:p>
            <a:r>
              <a:rPr lang="en-US" altLang="zh-CN" sz="2400" b="0" dirty="0">
                <a:solidFill>
                  <a:srgbClr val="CCCCCC"/>
                </a:solidFill>
                <a:effectLst/>
                <a:latin typeface="Consolas" panose="020B0609020204030204" pitchFamily="49" charset="0"/>
              </a:rPr>
              <a:t>    </a:t>
            </a:r>
            <a:r>
              <a:rPr lang="en-US" altLang="zh-CN" sz="2400" b="0" dirty="0">
                <a:solidFill>
                  <a:srgbClr val="DCDCAA"/>
                </a:solidFill>
                <a:effectLst/>
                <a:latin typeface="Consolas" panose="020B0609020204030204" pitchFamily="49" charset="0"/>
              </a:rPr>
              <a:t>print</a:t>
            </a:r>
            <a:r>
              <a:rPr lang="en-US" altLang="zh-CN" sz="2400" b="0" dirty="0">
                <a:solidFill>
                  <a:srgbClr val="CCCCCC"/>
                </a:solidFill>
                <a:effectLst/>
                <a:latin typeface="Consolas" panose="020B0609020204030204" pitchFamily="49" charset="0"/>
              </a:rPr>
              <a:t>(</a:t>
            </a:r>
            <a:r>
              <a:rPr lang="en-US" altLang="zh-CN" sz="2400" b="0" dirty="0" err="1">
                <a:solidFill>
                  <a:srgbClr val="569CD6"/>
                </a:solidFill>
                <a:effectLst/>
                <a:latin typeface="Consolas" panose="020B0609020204030204" pitchFamily="49" charset="0"/>
              </a:rPr>
              <a:t>f</a:t>
            </a:r>
            <a:r>
              <a:rPr lang="en-US" altLang="zh-CN" sz="2400" b="0" dirty="0" err="1">
                <a:solidFill>
                  <a:srgbClr val="CE9178"/>
                </a:solidFill>
                <a:effectLst/>
                <a:latin typeface="Consolas" panose="020B0609020204030204" pitchFamily="49" charset="0"/>
              </a:rPr>
              <a:t>"Child</a:t>
            </a:r>
            <a:r>
              <a:rPr lang="en-US" altLang="zh-CN" sz="2400" b="0" dirty="0">
                <a:solidFill>
                  <a:srgbClr val="CE9178"/>
                </a:solidFill>
                <a:effectLst/>
                <a:latin typeface="Consolas" panose="020B0609020204030204" pitchFamily="49" charset="0"/>
              </a:rPr>
              <a:t> Process: PID </a:t>
            </a:r>
            <a:r>
              <a:rPr lang="en-US" altLang="zh-CN" sz="2400" b="0" dirty="0">
                <a:solidFill>
                  <a:srgbClr val="569CD6"/>
                </a:solidFill>
                <a:effectLst/>
                <a:latin typeface="Consolas" panose="020B0609020204030204" pitchFamily="49" charset="0"/>
              </a:rPr>
              <a:t>{</a:t>
            </a:r>
            <a:r>
              <a:rPr lang="en-US" altLang="zh-CN" sz="2400" b="0" dirty="0" err="1">
                <a:solidFill>
                  <a:srgbClr val="4EC9B0"/>
                </a:solidFill>
                <a:effectLst/>
                <a:latin typeface="Consolas" panose="020B0609020204030204" pitchFamily="49" charset="0"/>
              </a:rPr>
              <a:t>os</a:t>
            </a:r>
            <a:r>
              <a:rPr lang="en-US" altLang="zh-CN" sz="2400" b="0" dirty="0" err="1">
                <a:solidFill>
                  <a:srgbClr val="CCCCCC"/>
                </a:solidFill>
                <a:effectLst/>
                <a:latin typeface="Consolas" panose="020B0609020204030204" pitchFamily="49" charset="0"/>
              </a:rPr>
              <a:t>.</a:t>
            </a:r>
            <a:r>
              <a:rPr lang="en-US" altLang="zh-CN" sz="2400" b="0" dirty="0" err="1">
                <a:solidFill>
                  <a:srgbClr val="DCDCAA"/>
                </a:solidFill>
                <a:effectLst/>
                <a:latin typeface="Consolas" panose="020B0609020204030204" pitchFamily="49" charset="0"/>
              </a:rPr>
              <a:t>getpid</a:t>
            </a:r>
            <a:r>
              <a:rPr lang="en-US" altLang="zh-CN" sz="2400" b="0" dirty="0">
                <a:solidFill>
                  <a:srgbClr val="CCCCCC"/>
                </a:solidFill>
                <a:effectLst/>
                <a:latin typeface="Consolas" panose="020B0609020204030204" pitchFamily="49" charset="0"/>
              </a:rPr>
              <a:t>()</a:t>
            </a:r>
            <a:r>
              <a:rPr lang="en-US" altLang="zh-CN" sz="2400" b="0" dirty="0">
                <a:solidFill>
                  <a:srgbClr val="569CD6"/>
                </a:solidFill>
                <a:effectLst/>
                <a:latin typeface="Consolas" panose="020B0609020204030204" pitchFamily="49" charset="0"/>
              </a:rPr>
              <a:t>}</a:t>
            </a:r>
            <a:r>
              <a:rPr lang="en-US" altLang="zh-CN" sz="2400" b="0" dirty="0">
                <a:solidFill>
                  <a:srgbClr val="CE9178"/>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r>
              <a:rPr lang="en-US" altLang="zh-CN" sz="2400" b="0" dirty="0">
                <a:solidFill>
                  <a:srgbClr val="CCCCCC"/>
                </a:solidFill>
                <a:effectLst/>
                <a:latin typeface="Consolas" panose="020B0609020204030204" pitchFamily="49" charset="0"/>
              </a:rPr>
              <a:t>    </a:t>
            </a:r>
            <a:r>
              <a:rPr lang="en-US" altLang="zh-CN" sz="2400" b="0" dirty="0" err="1">
                <a:solidFill>
                  <a:srgbClr val="4EC9B0"/>
                </a:solidFill>
                <a:effectLst/>
                <a:latin typeface="Consolas" panose="020B0609020204030204" pitchFamily="49" charset="0"/>
              </a:rPr>
              <a:t>time</a:t>
            </a:r>
            <a:r>
              <a:rPr lang="en-US" altLang="zh-CN" sz="2400" b="0" dirty="0" err="1">
                <a:solidFill>
                  <a:srgbClr val="CCCCCC"/>
                </a:solidFill>
                <a:effectLst/>
                <a:latin typeface="Consolas" panose="020B0609020204030204" pitchFamily="49" charset="0"/>
              </a:rPr>
              <a:t>.</a:t>
            </a:r>
            <a:r>
              <a:rPr lang="en-US" altLang="zh-CN" sz="2400" b="0" dirty="0" err="1">
                <a:solidFill>
                  <a:srgbClr val="DCDCAA"/>
                </a:solidFill>
                <a:effectLst/>
                <a:latin typeface="Consolas" panose="020B0609020204030204" pitchFamily="49" charset="0"/>
              </a:rPr>
              <a:t>sleep</a:t>
            </a:r>
            <a:r>
              <a:rPr lang="en-US" altLang="zh-CN" sz="2400" b="0" dirty="0">
                <a:solidFill>
                  <a:srgbClr val="CCCCCC"/>
                </a:solidFill>
                <a:effectLst/>
                <a:latin typeface="Consolas" panose="020B0609020204030204" pitchFamily="49" charset="0"/>
              </a:rPr>
              <a:t>(</a:t>
            </a:r>
            <a:r>
              <a:rPr lang="en-US" altLang="zh-CN" sz="2400" b="0" dirty="0">
                <a:solidFill>
                  <a:srgbClr val="B5CEA8"/>
                </a:solidFill>
                <a:effectLst/>
                <a:latin typeface="Consolas" panose="020B0609020204030204" pitchFamily="49" charset="0"/>
              </a:rPr>
              <a:t>2</a:t>
            </a:r>
            <a:r>
              <a:rPr lang="en-US" altLang="zh-CN" sz="2400" b="0" dirty="0">
                <a:solidFill>
                  <a:srgbClr val="CCCCCC"/>
                </a:solidFill>
                <a:effectLst/>
                <a:latin typeface="Consolas" panose="020B0609020204030204" pitchFamily="49" charset="0"/>
              </a:rPr>
              <a:t>)  </a:t>
            </a:r>
            <a:r>
              <a:rPr lang="en-US" altLang="zh-CN" sz="2400" b="0" dirty="0">
                <a:solidFill>
                  <a:srgbClr val="6A9955"/>
                </a:solidFill>
                <a:effectLst/>
                <a:latin typeface="Consolas" panose="020B0609020204030204" pitchFamily="49" charset="0"/>
              </a:rPr>
              <a:t># Simulate work</a:t>
            </a:r>
            <a:endParaRPr lang="en-US" altLang="zh-CN" sz="2400" b="0" dirty="0">
              <a:solidFill>
                <a:srgbClr val="CCCCCC"/>
              </a:solidFill>
              <a:effectLst/>
              <a:latin typeface="Consolas" panose="020B0609020204030204" pitchFamily="49" charset="0"/>
            </a:endParaRPr>
          </a:p>
          <a:p>
            <a:r>
              <a:rPr lang="en-US" altLang="zh-CN" sz="2400" b="0" dirty="0">
                <a:solidFill>
                  <a:srgbClr val="CCCCCC"/>
                </a:solidFill>
                <a:effectLst/>
                <a:latin typeface="Consolas" panose="020B0609020204030204" pitchFamily="49" charset="0"/>
              </a:rPr>
              <a:t>    </a:t>
            </a:r>
            <a:r>
              <a:rPr lang="en-US" altLang="zh-CN" sz="2400" b="0" dirty="0" err="1">
                <a:solidFill>
                  <a:srgbClr val="4EC9B0"/>
                </a:solidFill>
                <a:effectLst/>
                <a:latin typeface="Consolas" panose="020B0609020204030204" pitchFamily="49" charset="0"/>
              </a:rPr>
              <a:t>os</a:t>
            </a:r>
            <a:r>
              <a:rPr lang="en-US" altLang="zh-CN" sz="2400" b="0" dirty="0">
                <a:solidFill>
                  <a:srgbClr val="CCCCCC"/>
                </a:solidFill>
                <a:effectLst/>
                <a:latin typeface="Consolas" panose="020B0609020204030204" pitchFamily="49" charset="0"/>
              </a:rPr>
              <a:t>.</a:t>
            </a:r>
            <a:r>
              <a:rPr lang="en-US" altLang="zh-CN" sz="2400" b="0" dirty="0">
                <a:solidFill>
                  <a:srgbClr val="DCDCAA"/>
                </a:solidFill>
                <a:effectLst/>
                <a:latin typeface="Consolas" panose="020B0609020204030204" pitchFamily="49" charset="0"/>
              </a:rPr>
              <a:t>_exit</a:t>
            </a:r>
            <a:r>
              <a:rPr lang="en-US" altLang="zh-CN" sz="2400" b="0" dirty="0">
                <a:solidFill>
                  <a:srgbClr val="CCCCCC"/>
                </a:solidFill>
                <a:effectLst/>
                <a:latin typeface="Consolas" panose="020B0609020204030204" pitchFamily="49" charset="0"/>
              </a:rPr>
              <a:t>(</a:t>
            </a:r>
            <a:r>
              <a:rPr lang="en-US" altLang="zh-CN" sz="2400" b="0" dirty="0">
                <a:solidFill>
                  <a:srgbClr val="B5CEA8"/>
                </a:solidFill>
                <a:effectLst/>
                <a:latin typeface="Consolas" panose="020B0609020204030204" pitchFamily="49" charset="0"/>
              </a:rPr>
              <a:t>0</a:t>
            </a:r>
            <a:r>
              <a:rPr lang="en-US" altLang="zh-CN" sz="2400" b="0" dirty="0">
                <a:solidFill>
                  <a:srgbClr val="CCCCCC"/>
                </a:solidFill>
                <a:effectLst/>
                <a:latin typeface="Consolas" panose="020B0609020204030204" pitchFamily="49" charset="0"/>
              </a:rPr>
              <a:t>)  </a:t>
            </a:r>
            <a:r>
              <a:rPr lang="en-US" altLang="zh-CN" sz="2400" b="0" dirty="0">
                <a:solidFill>
                  <a:srgbClr val="6A9955"/>
                </a:solidFill>
                <a:effectLst/>
                <a:latin typeface="Consolas" panose="020B0609020204030204" pitchFamily="49" charset="0"/>
              </a:rPr>
              <a:t># Exit with status 0 (for safe exit)</a:t>
            </a:r>
            <a:endParaRPr lang="en-US" altLang="zh-CN" sz="2400" b="0" dirty="0">
              <a:solidFill>
                <a:srgbClr val="CCCCCC"/>
              </a:solidFill>
              <a:effectLst/>
              <a:latin typeface="Consolas" panose="020B0609020204030204" pitchFamily="49" charset="0"/>
            </a:endParaRPr>
          </a:p>
          <a:p>
            <a:r>
              <a:rPr lang="en-US" altLang="zh-CN" sz="2400" b="0" dirty="0">
                <a:solidFill>
                  <a:srgbClr val="C586C0"/>
                </a:solidFill>
                <a:effectLst/>
                <a:latin typeface="Consolas" panose="020B0609020204030204" pitchFamily="49" charset="0"/>
              </a:rPr>
              <a:t>else</a:t>
            </a:r>
            <a:r>
              <a:rPr lang="en-US" altLang="zh-CN" sz="2400" b="0" dirty="0">
                <a:solidFill>
                  <a:srgbClr val="CCCCCC"/>
                </a:solidFill>
                <a:effectLst/>
                <a:latin typeface="Consolas" panose="020B0609020204030204" pitchFamily="49" charset="0"/>
              </a:rPr>
              <a:t>:  </a:t>
            </a:r>
            <a:r>
              <a:rPr lang="en-US" altLang="zh-CN" sz="2400" b="0" dirty="0">
                <a:solidFill>
                  <a:srgbClr val="6A9955"/>
                </a:solidFill>
                <a:effectLst/>
                <a:latin typeface="Consolas" panose="020B0609020204030204" pitchFamily="49" charset="0"/>
              </a:rPr>
              <a:t># Parent process</a:t>
            </a:r>
            <a:endParaRPr lang="en-US" altLang="zh-CN" sz="2400" b="0" dirty="0">
              <a:solidFill>
                <a:srgbClr val="CCCCCC"/>
              </a:solidFill>
              <a:effectLst/>
              <a:latin typeface="Consolas" panose="020B0609020204030204" pitchFamily="49" charset="0"/>
            </a:endParaRPr>
          </a:p>
          <a:p>
            <a:r>
              <a:rPr lang="en-US" altLang="zh-CN" sz="2400" b="0" dirty="0">
                <a:solidFill>
                  <a:srgbClr val="CCCCCC"/>
                </a:solidFill>
                <a:effectLst/>
                <a:latin typeface="Consolas" panose="020B0609020204030204" pitchFamily="49" charset="0"/>
              </a:rPr>
              <a:t>    </a:t>
            </a:r>
            <a:r>
              <a:rPr lang="en-US" altLang="zh-CN" sz="2400" b="0" dirty="0">
                <a:solidFill>
                  <a:srgbClr val="DCDCAA"/>
                </a:solidFill>
                <a:effectLst/>
                <a:latin typeface="Consolas" panose="020B0609020204030204" pitchFamily="49" charset="0"/>
              </a:rPr>
              <a:t>print</a:t>
            </a:r>
            <a:r>
              <a:rPr lang="en-US" altLang="zh-CN" sz="2400" b="0" dirty="0">
                <a:solidFill>
                  <a:srgbClr val="CCCCCC"/>
                </a:solidFill>
                <a:effectLst/>
                <a:latin typeface="Consolas" panose="020B0609020204030204" pitchFamily="49" charset="0"/>
              </a:rPr>
              <a:t>(</a:t>
            </a:r>
            <a:r>
              <a:rPr lang="en-US" altLang="zh-CN" sz="2400" b="0" dirty="0" err="1">
                <a:solidFill>
                  <a:srgbClr val="569CD6"/>
                </a:solidFill>
                <a:effectLst/>
                <a:latin typeface="Consolas" panose="020B0609020204030204" pitchFamily="49" charset="0"/>
              </a:rPr>
              <a:t>f</a:t>
            </a:r>
            <a:r>
              <a:rPr lang="en-US" altLang="zh-CN" sz="2400" b="0" dirty="0" err="1">
                <a:solidFill>
                  <a:srgbClr val="CE9178"/>
                </a:solidFill>
                <a:effectLst/>
                <a:latin typeface="Consolas" panose="020B0609020204030204" pitchFamily="49" charset="0"/>
              </a:rPr>
              <a:t>"Parent</a:t>
            </a:r>
            <a:r>
              <a:rPr lang="en-US" altLang="zh-CN" sz="2400" b="0" dirty="0">
                <a:solidFill>
                  <a:srgbClr val="CE9178"/>
                </a:solidFill>
                <a:effectLst/>
                <a:latin typeface="Consolas" panose="020B0609020204030204" pitchFamily="49" charset="0"/>
              </a:rPr>
              <a:t> Process: PID </a:t>
            </a:r>
            <a:r>
              <a:rPr lang="en-US" altLang="zh-CN" sz="2400" b="0" dirty="0">
                <a:solidFill>
                  <a:srgbClr val="569CD6"/>
                </a:solidFill>
                <a:effectLst/>
                <a:latin typeface="Consolas" panose="020B0609020204030204" pitchFamily="49" charset="0"/>
              </a:rPr>
              <a:t>{</a:t>
            </a:r>
            <a:r>
              <a:rPr lang="en-US" altLang="zh-CN" sz="2400" b="0" dirty="0" err="1">
                <a:solidFill>
                  <a:srgbClr val="4EC9B0"/>
                </a:solidFill>
                <a:effectLst/>
                <a:latin typeface="Consolas" panose="020B0609020204030204" pitchFamily="49" charset="0"/>
              </a:rPr>
              <a:t>os</a:t>
            </a:r>
            <a:r>
              <a:rPr lang="en-US" altLang="zh-CN" sz="2400" b="0" dirty="0" err="1">
                <a:solidFill>
                  <a:srgbClr val="CCCCCC"/>
                </a:solidFill>
                <a:effectLst/>
                <a:latin typeface="Consolas" panose="020B0609020204030204" pitchFamily="49" charset="0"/>
              </a:rPr>
              <a:t>.</a:t>
            </a:r>
            <a:r>
              <a:rPr lang="en-US" altLang="zh-CN" sz="2400" b="0" dirty="0" err="1">
                <a:solidFill>
                  <a:srgbClr val="DCDCAA"/>
                </a:solidFill>
                <a:effectLst/>
                <a:latin typeface="Consolas" panose="020B0609020204030204" pitchFamily="49" charset="0"/>
              </a:rPr>
              <a:t>getpid</a:t>
            </a:r>
            <a:r>
              <a:rPr lang="en-US" altLang="zh-CN" sz="2400" b="0" dirty="0">
                <a:solidFill>
                  <a:srgbClr val="CCCCCC"/>
                </a:solidFill>
                <a:effectLst/>
                <a:latin typeface="Consolas" panose="020B0609020204030204" pitchFamily="49" charset="0"/>
              </a:rPr>
              <a:t>()</a:t>
            </a:r>
            <a:r>
              <a:rPr lang="en-US" altLang="zh-CN" sz="2400" b="0" dirty="0">
                <a:solidFill>
                  <a:srgbClr val="569CD6"/>
                </a:solidFill>
                <a:effectLst/>
                <a:latin typeface="Consolas" panose="020B0609020204030204" pitchFamily="49" charset="0"/>
              </a:rPr>
              <a:t>}</a:t>
            </a:r>
            <a:r>
              <a:rPr lang="en-US" altLang="zh-CN" sz="2400" b="0" dirty="0">
                <a:solidFill>
                  <a:srgbClr val="CE9178"/>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r>
              <a:rPr lang="en-US" altLang="zh-CN" sz="2400" b="0" dirty="0">
                <a:solidFill>
                  <a:srgbClr val="CCCCCC"/>
                </a:solidFill>
                <a:effectLst/>
                <a:latin typeface="Consolas" panose="020B0609020204030204" pitchFamily="49" charset="0"/>
              </a:rPr>
              <a:t>    </a:t>
            </a:r>
            <a:r>
              <a:rPr lang="en-US" altLang="zh-CN" sz="2400" b="0" dirty="0" err="1">
                <a:solidFill>
                  <a:srgbClr val="9CDCFE"/>
                </a:solidFill>
                <a:effectLst/>
                <a:latin typeface="Consolas" panose="020B0609020204030204" pitchFamily="49" charset="0"/>
              </a:rPr>
              <a:t>child_pid</a:t>
            </a:r>
            <a:r>
              <a:rPr lang="en-US" altLang="zh-CN" sz="2400" b="0" dirty="0">
                <a:solidFill>
                  <a:srgbClr val="CCCCCC"/>
                </a:solidFill>
                <a:effectLst/>
                <a:latin typeface="Consolas" panose="020B0609020204030204" pitchFamily="49" charset="0"/>
              </a:rPr>
              <a:t>, </a:t>
            </a:r>
            <a:r>
              <a:rPr lang="en-US" altLang="zh-CN" sz="2400" b="0" dirty="0">
                <a:solidFill>
                  <a:srgbClr val="9CDCFE"/>
                </a:solidFill>
                <a:effectLst/>
                <a:latin typeface="Consolas" panose="020B0609020204030204" pitchFamily="49" charset="0"/>
              </a:rPr>
              <a:t>status</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 </a:t>
            </a:r>
            <a:r>
              <a:rPr lang="en-US" altLang="zh-CN" sz="2400" b="0" dirty="0" err="1">
                <a:solidFill>
                  <a:srgbClr val="4EC9B0"/>
                </a:solidFill>
                <a:effectLst/>
                <a:latin typeface="Consolas" panose="020B0609020204030204" pitchFamily="49" charset="0"/>
              </a:rPr>
              <a:t>os</a:t>
            </a:r>
            <a:r>
              <a:rPr lang="en-US" altLang="zh-CN" sz="2400" b="0" dirty="0" err="1">
                <a:solidFill>
                  <a:srgbClr val="CCCCCC"/>
                </a:solidFill>
                <a:effectLst/>
                <a:latin typeface="Consolas" panose="020B0609020204030204" pitchFamily="49" charset="0"/>
              </a:rPr>
              <a:t>.wait</a:t>
            </a:r>
            <a:r>
              <a:rPr lang="en-US" altLang="zh-CN" sz="2400" b="0" dirty="0">
                <a:solidFill>
                  <a:srgbClr val="CCCCCC"/>
                </a:solidFill>
                <a:effectLst/>
                <a:latin typeface="Consolas" panose="020B0609020204030204" pitchFamily="49" charset="0"/>
              </a:rPr>
              <a:t>()  </a:t>
            </a:r>
            <a:r>
              <a:rPr lang="en-US" altLang="zh-CN" sz="2400" b="0" dirty="0">
                <a:solidFill>
                  <a:srgbClr val="6A9955"/>
                </a:solidFill>
                <a:effectLst/>
                <a:latin typeface="Consolas" panose="020B0609020204030204" pitchFamily="49" charset="0"/>
              </a:rPr>
              <a:t># Wait for the child to finish</a:t>
            </a:r>
            <a:endParaRPr lang="en-US" altLang="zh-CN" sz="2400" b="0" dirty="0">
              <a:solidFill>
                <a:srgbClr val="CCCCCC"/>
              </a:solidFill>
              <a:effectLst/>
              <a:latin typeface="Consolas" panose="020B0609020204030204" pitchFamily="49" charset="0"/>
            </a:endParaRPr>
          </a:p>
          <a:p>
            <a:r>
              <a:rPr lang="en-US" altLang="zh-CN" sz="2400" b="0" dirty="0">
                <a:solidFill>
                  <a:srgbClr val="CCCCCC"/>
                </a:solidFill>
                <a:effectLst/>
                <a:latin typeface="Consolas" panose="020B0609020204030204" pitchFamily="49" charset="0"/>
              </a:rPr>
              <a:t>    </a:t>
            </a:r>
            <a:r>
              <a:rPr lang="en-US" altLang="zh-CN" sz="2400" b="0" dirty="0">
                <a:solidFill>
                  <a:srgbClr val="C586C0"/>
                </a:solidFill>
                <a:effectLst/>
                <a:latin typeface="Consolas" panose="020B0609020204030204" pitchFamily="49" charset="0"/>
              </a:rPr>
              <a:t>if</a:t>
            </a:r>
            <a:r>
              <a:rPr lang="en-US" altLang="zh-CN" sz="2400" b="0" dirty="0">
                <a:solidFill>
                  <a:srgbClr val="CCCCCC"/>
                </a:solidFill>
                <a:effectLst/>
                <a:latin typeface="Consolas" panose="020B0609020204030204" pitchFamily="49" charset="0"/>
              </a:rPr>
              <a:t> </a:t>
            </a:r>
            <a:r>
              <a:rPr lang="en-US" altLang="zh-CN" sz="2400" b="0" dirty="0" err="1">
                <a:solidFill>
                  <a:srgbClr val="4EC9B0"/>
                </a:solidFill>
                <a:effectLst/>
                <a:latin typeface="Consolas" panose="020B0609020204030204" pitchFamily="49" charset="0"/>
              </a:rPr>
              <a:t>os</a:t>
            </a:r>
            <a:r>
              <a:rPr lang="en-US" altLang="zh-CN" sz="2400" b="0" dirty="0" err="1">
                <a:solidFill>
                  <a:srgbClr val="CCCCCC"/>
                </a:solidFill>
                <a:effectLst/>
                <a:latin typeface="Consolas" panose="020B0609020204030204" pitchFamily="49" charset="0"/>
              </a:rPr>
              <a:t>.WIFEXITED</a:t>
            </a:r>
            <a:r>
              <a:rPr lang="en-US" altLang="zh-CN" sz="2400" b="0" dirty="0">
                <a:solidFill>
                  <a:srgbClr val="CCCCCC"/>
                </a:solidFill>
                <a:effectLst/>
                <a:latin typeface="Consolas" panose="020B0609020204030204" pitchFamily="49" charset="0"/>
              </a:rPr>
              <a:t>(</a:t>
            </a:r>
            <a:r>
              <a:rPr lang="en-US" altLang="zh-CN" sz="2400" b="0" dirty="0">
                <a:solidFill>
                  <a:srgbClr val="9CDCFE"/>
                </a:solidFill>
                <a:effectLst/>
                <a:latin typeface="Consolas" panose="020B0609020204030204" pitchFamily="49" charset="0"/>
              </a:rPr>
              <a:t>status</a:t>
            </a:r>
            <a:r>
              <a:rPr lang="en-US" altLang="zh-CN" sz="2400" b="0" dirty="0">
                <a:solidFill>
                  <a:srgbClr val="CCCCCC"/>
                </a:solidFill>
                <a:effectLst/>
                <a:latin typeface="Consolas" panose="020B0609020204030204" pitchFamily="49" charset="0"/>
              </a:rPr>
              <a:t>):  </a:t>
            </a:r>
            <a:r>
              <a:rPr lang="en-US" altLang="zh-CN" sz="2400" b="0" dirty="0">
                <a:solidFill>
                  <a:srgbClr val="6A9955"/>
                </a:solidFill>
                <a:effectLst/>
                <a:latin typeface="Consolas" panose="020B0609020204030204" pitchFamily="49" charset="0"/>
              </a:rPr>
              <a:t># Check if child terminated normally</a:t>
            </a:r>
            <a:endParaRPr lang="en-US" altLang="zh-CN" sz="2400" b="0" dirty="0">
              <a:solidFill>
                <a:srgbClr val="CCCCCC"/>
              </a:solidFill>
              <a:effectLst/>
              <a:latin typeface="Consolas" panose="020B0609020204030204" pitchFamily="49" charset="0"/>
            </a:endParaRPr>
          </a:p>
          <a:p>
            <a:r>
              <a:rPr lang="en-US" altLang="zh-CN" sz="2400" b="0" dirty="0">
                <a:solidFill>
                  <a:srgbClr val="CCCCCC"/>
                </a:solidFill>
                <a:effectLst/>
                <a:latin typeface="Consolas" panose="020B0609020204030204" pitchFamily="49" charset="0"/>
              </a:rPr>
              <a:t>        </a:t>
            </a:r>
            <a:r>
              <a:rPr lang="en-US" altLang="zh-CN" sz="2400" b="0" dirty="0" err="1">
                <a:solidFill>
                  <a:srgbClr val="9CDCFE"/>
                </a:solidFill>
                <a:effectLst/>
                <a:latin typeface="Consolas" panose="020B0609020204030204" pitchFamily="49" charset="0"/>
              </a:rPr>
              <a:t>exit_code</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 </a:t>
            </a:r>
            <a:r>
              <a:rPr lang="en-US" altLang="zh-CN" sz="2400" b="0" dirty="0" err="1">
                <a:solidFill>
                  <a:srgbClr val="4EC9B0"/>
                </a:solidFill>
                <a:effectLst/>
                <a:latin typeface="Consolas" panose="020B0609020204030204" pitchFamily="49" charset="0"/>
              </a:rPr>
              <a:t>os</a:t>
            </a:r>
            <a:r>
              <a:rPr lang="en-US" altLang="zh-CN" sz="2400" b="0" dirty="0" err="1">
                <a:solidFill>
                  <a:srgbClr val="CCCCCC"/>
                </a:solidFill>
                <a:effectLst/>
                <a:latin typeface="Consolas" panose="020B0609020204030204" pitchFamily="49" charset="0"/>
              </a:rPr>
              <a:t>.WEXITSTATUS</a:t>
            </a:r>
            <a:r>
              <a:rPr lang="en-US" altLang="zh-CN" sz="2400" b="0" dirty="0">
                <a:solidFill>
                  <a:srgbClr val="CCCCCC"/>
                </a:solidFill>
                <a:effectLst/>
                <a:latin typeface="Consolas" panose="020B0609020204030204" pitchFamily="49" charset="0"/>
              </a:rPr>
              <a:t>(</a:t>
            </a:r>
            <a:r>
              <a:rPr lang="en-US" altLang="zh-CN" sz="2400" b="0" dirty="0">
                <a:solidFill>
                  <a:srgbClr val="9CDCFE"/>
                </a:solidFill>
                <a:effectLst/>
                <a:latin typeface="Consolas" panose="020B0609020204030204" pitchFamily="49" charset="0"/>
              </a:rPr>
              <a:t>status</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r>
              <a:rPr lang="en-US" altLang="zh-CN" sz="2400" b="0" dirty="0">
                <a:solidFill>
                  <a:srgbClr val="CCCCCC"/>
                </a:solidFill>
                <a:effectLst/>
                <a:latin typeface="Consolas" panose="020B0609020204030204" pitchFamily="49" charset="0"/>
              </a:rPr>
              <a:t>        </a:t>
            </a:r>
            <a:r>
              <a:rPr lang="en-US" altLang="zh-CN" sz="2400" b="0" dirty="0">
                <a:solidFill>
                  <a:srgbClr val="DCDCAA"/>
                </a:solidFill>
                <a:effectLst/>
                <a:latin typeface="Consolas" panose="020B0609020204030204" pitchFamily="49" charset="0"/>
              </a:rPr>
              <a:t>print</a:t>
            </a:r>
            <a:r>
              <a:rPr lang="en-US" altLang="zh-CN" sz="2400" b="0" dirty="0">
                <a:solidFill>
                  <a:srgbClr val="CCCCCC"/>
                </a:solidFill>
                <a:effectLst/>
                <a:latin typeface="Consolas" panose="020B0609020204030204" pitchFamily="49" charset="0"/>
              </a:rPr>
              <a:t>(</a:t>
            </a:r>
            <a:r>
              <a:rPr lang="en-US" altLang="zh-CN" sz="2400" b="0" dirty="0" err="1">
                <a:solidFill>
                  <a:srgbClr val="569CD6"/>
                </a:solidFill>
                <a:effectLst/>
                <a:latin typeface="Consolas" panose="020B0609020204030204" pitchFamily="49" charset="0"/>
              </a:rPr>
              <a:t>f</a:t>
            </a:r>
            <a:r>
              <a:rPr lang="en-US" altLang="zh-CN" sz="2400" b="0" dirty="0" err="1">
                <a:solidFill>
                  <a:srgbClr val="CE9178"/>
                </a:solidFill>
                <a:effectLst/>
                <a:latin typeface="Consolas" panose="020B0609020204030204" pitchFamily="49" charset="0"/>
              </a:rPr>
              <a:t>"Child</a:t>
            </a:r>
            <a:r>
              <a:rPr lang="en-US" altLang="zh-CN" sz="2400" b="0" dirty="0">
                <a:solidFill>
                  <a:srgbClr val="CE9178"/>
                </a:solidFill>
                <a:effectLst/>
                <a:latin typeface="Consolas" panose="020B0609020204030204" pitchFamily="49" charset="0"/>
              </a:rPr>
              <a:t> </a:t>
            </a:r>
            <a:r>
              <a:rPr lang="en-US" altLang="zh-CN" sz="2400" b="0" dirty="0">
                <a:solidFill>
                  <a:srgbClr val="569CD6"/>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child_pid</a:t>
            </a:r>
            <a:r>
              <a:rPr lang="en-US" altLang="zh-CN" sz="2400" b="0" dirty="0">
                <a:solidFill>
                  <a:srgbClr val="569CD6"/>
                </a:solidFill>
                <a:effectLst/>
                <a:latin typeface="Consolas" panose="020B0609020204030204" pitchFamily="49" charset="0"/>
              </a:rPr>
              <a:t>}</a:t>
            </a:r>
            <a:r>
              <a:rPr lang="en-US" altLang="zh-CN" sz="2400" b="0" dirty="0">
                <a:solidFill>
                  <a:srgbClr val="CE9178"/>
                </a:solidFill>
                <a:effectLst/>
                <a:latin typeface="Consolas" panose="020B0609020204030204" pitchFamily="49" charset="0"/>
              </a:rPr>
              <a:t> exited with code </a:t>
            </a:r>
            <a:r>
              <a:rPr lang="en-US" altLang="zh-CN" sz="2400" b="0" dirty="0">
                <a:solidFill>
                  <a:srgbClr val="569CD6"/>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exit_code</a:t>
            </a:r>
            <a:r>
              <a:rPr lang="en-US" altLang="zh-CN" sz="2400" b="0" dirty="0">
                <a:solidFill>
                  <a:srgbClr val="569CD6"/>
                </a:solidFill>
                <a:effectLst/>
                <a:latin typeface="Consolas" panose="020B0609020204030204" pitchFamily="49" charset="0"/>
              </a:rPr>
              <a:t>}</a:t>
            </a:r>
            <a:r>
              <a:rPr lang="en-US" altLang="zh-CN" sz="2400" b="0" dirty="0">
                <a:solidFill>
                  <a:srgbClr val="CE9178"/>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idx="1"/>
          </p:nvPr>
        </p:nvSpPr>
        <p:spPr/>
        <p:txBody>
          <a:bodyPr/>
          <a:lstStyle/>
          <a:p>
            <a:endParaRPr lang="zh-CN" altLang="en-US"/>
          </a:p>
        </p:txBody>
      </p:sp>
      <p:pic>
        <p:nvPicPr>
          <p:cNvPr id="5" name="Picture 4"/>
          <p:cNvPicPr>
            <a:picLocks noChangeAspect="1"/>
          </p:cNvPicPr>
          <p:nvPr/>
        </p:nvPicPr>
        <p:blipFill>
          <a:blip r:embed="rId1"/>
          <a:stretch>
            <a:fillRect/>
          </a:stretch>
        </p:blipFill>
        <p:spPr>
          <a:xfrm>
            <a:off x="0" y="3256"/>
            <a:ext cx="12192000" cy="685148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2056836" y="290628"/>
            <a:ext cx="8078327" cy="535379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2710905" y="0"/>
            <a:ext cx="677019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1666257" y="2117165"/>
            <a:ext cx="8859486" cy="20767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Bonus Question</a:t>
            </a:r>
            <a:endParaRPr lang="zh-CN" altLang="en-US" dirty="0"/>
          </a:p>
        </p:txBody>
      </p:sp>
      <p:sp>
        <p:nvSpPr>
          <p:cNvPr id="3" name="Content Placeholder 2"/>
          <p:cNvSpPr>
            <a:spLocks noGrp="1"/>
          </p:cNvSpPr>
          <p:nvPr>
            <p:ph idx="1"/>
          </p:nvPr>
        </p:nvSpPr>
        <p:spPr>
          <a:xfrm>
            <a:off x="838200" y="1825624"/>
            <a:ext cx="10515600" cy="4805911"/>
          </a:xfrm>
        </p:spPr>
        <p:txBody>
          <a:bodyPr/>
          <a:lstStyle/>
          <a:p>
            <a:r>
              <a:rPr lang="en-US" altLang="zh-CN" dirty="0"/>
              <a:t>Write a Python Script which handles Python Process creation with Parent Process and Child Processes as depicted in Image</a:t>
            </a:r>
            <a:endParaRPr lang="zh-CN" altLang="en-US" dirty="0"/>
          </a:p>
        </p:txBody>
      </p:sp>
      <p:pic>
        <p:nvPicPr>
          <p:cNvPr id="4" name="Picture 1" descr="3_08.pdf"/>
          <p:cNvPicPr>
            <a:picLocks noChangeAspect="1"/>
          </p:cNvPicPr>
          <p:nvPr/>
        </p:nvPicPr>
        <p:blipFill>
          <a:blip r:embed="rId1"/>
          <a:srcRect/>
          <a:stretch>
            <a:fillRect/>
          </a:stretch>
        </p:blipFill>
        <p:spPr bwMode="auto">
          <a:xfrm>
            <a:off x="2083750" y="2751137"/>
            <a:ext cx="7061200" cy="3741738"/>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6120</Words>
  <Application>WPS 演示</Application>
  <PresentationFormat>Widescreen</PresentationFormat>
  <Paragraphs>180</Paragraphs>
  <Slides>28</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28</vt:i4>
      </vt:variant>
    </vt:vector>
  </HeadingPairs>
  <TitlesOfParts>
    <vt:vector size="42" baseType="lpstr">
      <vt:lpstr>Arial</vt:lpstr>
      <vt:lpstr>SimSun</vt:lpstr>
      <vt:lpstr>Wingdings</vt:lpstr>
      <vt:lpstr>Roboto</vt:lpstr>
      <vt:lpstr>Consolas</vt:lpstr>
      <vt:lpstr>DengXian Light</vt:lpstr>
      <vt:lpstr>DengXian</vt:lpstr>
      <vt:lpstr>Microsoft YaHei</vt:lpstr>
      <vt:lpstr>Arial Unicode MS</vt:lpstr>
      <vt:lpstr>Calibri</vt:lpstr>
      <vt:lpstr>Times</vt:lpstr>
      <vt:lpstr>Times New Roman Cyr</vt:lpstr>
      <vt:lpstr>Times New Roman</vt:lpstr>
      <vt:lpstr>Office Theme</vt:lpstr>
      <vt:lpstr>Introduction to Operating Systems Lab-01</vt:lpstr>
      <vt:lpstr>How to install Linux on Windows with WSL</vt:lpstr>
      <vt:lpstr>How to install Linux on Windows with WSL</vt:lpstr>
      <vt:lpstr>Read a file</vt:lpstr>
      <vt:lpstr>PowerPoint 演示文稿</vt:lpstr>
      <vt:lpstr>Python psutil</vt:lpstr>
      <vt:lpstr>PowerPoint 演示文稿</vt:lpstr>
      <vt:lpstr>PowerPoint 演示文稿</vt:lpstr>
      <vt:lpstr>PowerPoint 演示文稿</vt:lpstr>
      <vt:lpstr>Operating Systems Lab-02 –System Call and Process</vt:lpstr>
      <vt:lpstr>System Call (execvp)</vt:lpstr>
      <vt:lpstr>PowerPoint 演示文稿</vt:lpstr>
      <vt:lpstr>PowerPoint 演示文稿</vt:lpstr>
      <vt:lpstr>PowerPoint 演示文稿</vt:lpstr>
      <vt:lpstr>Operating Systems Lab-03 –Context Switching and Process Management</vt:lpstr>
      <vt:lpstr>Recap --- Processes</vt:lpstr>
      <vt:lpstr>fork()</vt:lpstr>
      <vt:lpstr>fork()</vt:lpstr>
      <vt:lpstr>The wait() System Call</vt:lpstr>
      <vt:lpstr>The wait() System Call - wexitstatus </vt:lpstr>
      <vt:lpstr>wexitstatus</vt:lpstr>
      <vt:lpstr>Zombie Processes</vt:lpstr>
      <vt:lpstr>PowerPoint 演示文稿</vt:lpstr>
      <vt:lpstr>PowerPoint 演示文稿</vt:lpstr>
      <vt:lpstr>PowerPoint 演示文稿</vt:lpstr>
      <vt:lpstr>PowerPoint 演示文稿</vt:lpstr>
      <vt:lpstr>PowerPoint 演示文稿</vt:lpstr>
      <vt:lpstr>Bonus Question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awais ahmed</dc:creator>
  <cp:lastModifiedBy>WPS_1671077781</cp:lastModifiedBy>
  <cp:revision>93</cp:revision>
  <dcterms:created xsi:type="dcterms:W3CDTF">2025-03-25T05:01:00Z</dcterms:created>
  <dcterms:modified xsi:type="dcterms:W3CDTF">2026-03-22T06:13:28Z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D303754C29D247A0A904018B63D87EEE_12</vt:lpwstr>
  </property>
  <property fmtid="{D5CDD505-2E9C-101B-9397-08002B2CF9AE}" pid="3" name="KSOProductBuildVer">
    <vt:lpwstr>2052-12.1.0.25225</vt:lpwstr>
  </property>
</Properties>
</file>