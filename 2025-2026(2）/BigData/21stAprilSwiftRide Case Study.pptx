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0" r:id="rId5"/>
    <p:sldId id="257" r:id="rId6"/>
    <p:sldId id="259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1" d="100"/>
          <a:sy n="61" d="100"/>
        </p:scale>
        <p:origin x="33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96A15-6E33-4E51-9A1A-2D9A83993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2DD15-1CAC-46A9-AAC6-43BBB0435AA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SwiftRide</a:t>
            </a:r>
            <a:r>
              <a:rPr lang="en-US" altLang="zh-CN" dirty="0"/>
              <a:t> Case Study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/>
              <a:t>Insights Extraction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SwiftRide</a:t>
            </a:r>
            <a:r>
              <a:rPr lang="en-US" altLang="zh-CN" dirty="0"/>
              <a:t> </a:t>
            </a:r>
            <a:r>
              <a:rPr lang="en-US" altLang="zh-CN" dirty="0" err="1"/>
              <a:t>Synthethic</a:t>
            </a:r>
            <a:r>
              <a:rPr lang="en-US" altLang="zh-CN" dirty="0"/>
              <a:t> Data</a:t>
            </a:r>
            <a:endParaRPr lang="zh-CN" alt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98579" y="2006562"/>
          <a:ext cx="11066592" cy="45329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2216"/>
                <a:gridCol w="922216"/>
                <a:gridCol w="687758"/>
                <a:gridCol w="1242646"/>
                <a:gridCol w="1180123"/>
                <a:gridCol w="578337"/>
                <a:gridCol w="922216"/>
                <a:gridCol w="1070709"/>
                <a:gridCol w="773723"/>
                <a:gridCol w="922216"/>
                <a:gridCol w="758092"/>
                <a:gridCol w="1086340"/>
              </a:tblGrid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trip_id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rider_id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driver_id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trip_start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trip_duration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fare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surge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driver_rating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traffic</a:t>
                      </a:r>
                      <a:endParaRPr lang="en-US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weather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hour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 err="1">
                          <a:effectLst/>
                        </a:rPr>
                        <a:t>driver_tenure</a:t>
                      </a:r>
                      <a:endParaRPr lang="en-US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T001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R101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D201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 dirty="0">
                          <a:effectLst/>
                        </a:rPr>
                        <a:t>1/15/2025 8:30</a:t>
                      </a:r>
                      <a:endParaRPr lang="en-US" altLang="zh-CN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1200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25.5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1.2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Heavy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Rain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T002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R102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D202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1/15/2025 9:15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900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Moderate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Clear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9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120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T003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R103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D203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1/15/2025 18:45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1800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4.9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Heavy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Storm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 dirty="0">
                          <a:effectLst/>
                        </a:rPr>
                        <a:t>15</a:t>
                      </a:r>
                      <a:endParaRPr lang="en-US" altLang="zh-CN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T004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R101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D204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1/16/2025 22:00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1500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35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1.5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3.5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Light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Clear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T005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R104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D201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1/16/2025 7:50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800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4.7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Moderate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Fog</a:t>
                      </a:r>
                      <a:endParaRPr lang="en-US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 dirty="0">
                          <a:effectLst/>
                        </a:rPr>
                        <a:t>7</a:t>
                      </a:r>
                      <a:endParaRPr lang="en-US" altLang="zh-CN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T006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R105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D202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1/16/2025 17:30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1400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30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1.8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Heavy</a:t>
                      </a:r>
                      <a:endParaRPr lang="en-US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Rain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17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120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T007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R106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D203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1/17/2025 12:00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600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4.6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Light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Clear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T008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R107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D205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1/17/2025 23:30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2500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58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2.5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2.8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Light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Clear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23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T009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R108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D201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1/18/2025 8:15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1100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22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1.1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4.9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Moderate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Clear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8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45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  <a:tr h="176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T010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R109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D206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1/18/2025 19:00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1300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 dirty="0">
                          <a:effectLst/>
                        </a:rPr>
                        <a:t>28</a:t>
                      </a:r>
                      <a:endParaRPr lang="en-US" altLang="zh-CN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1.3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4.4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Moderate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effectLst/>
                        </a:rPr>
                        <a:t>Clear</a:t>
                      </a:r>
                      <a:endParaRPr lang="en-US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>
                          <a:effectLst/>
                        </a:rPr>
                        <a:t>19</a:t>
                      </a:r>
                      <a:endParaRPr lang="en-US" altLang="zh-CN" sz="14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1" u="none" strike="noStrike" dirty="0">
                          <a:effectLst/>
                        </a:rPr>
                        <a:t>60</a:t>
                      </a:r>
                      <a:endParaRPr lang="en-US" altLang="zh-CN" sz="14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  <a:ea typeface="DengXian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Insights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DengXian" panose="02010600030101010101" pitchFamily="2" charset="-122"/>
              </a:rPr>
              <a:t>GROUP trip expenditure BY </a:t>
            </a:r>
            <a:r>
              <a:rPr lang="en-US" altLang="zh-CN" sz="1800" b="1" i="0" u="none" strike="noStrike" dirty="0" err="1">
                <a:solidFill>
                  <a:srgbClr val="000000"/>
                </a:solidFill>
                <a:effectLst/>
                <a:latin typeface="Times" panose="02020603050405020304" pitchFamily="18" charset="0"/>
                <a:ea typeface="DengXian" panose="02010600030101010101" pitchFamily="2" charset="-122"/>
              </a:rPr>
              <a:t>riderID</a:t>
            </a:r>
            <a:r>
              <a:rPr lang="en-US" altLang="zh-CN" dirty="0">
                <a:latin typeface="Times" panose="02020603050405020304" pitchFamily="18" charset="0"/>
              </a:rPr>
              <a:t> </a:t>
            </a:r>
            <a:endParaRPr lang="en-US" altLang="zh-CN" dirty="0">
              <a:latin typeface="Times" panose="02020603050405020304" pitchFamily="18" charset="0"/>
            </a:endParaRPr>
          </a:p>
          <a:p>
            <a:r>
              <a:rPr lang="en-US" altLang="zh-CN" sz="1800" b="1" i="0" u="none" strike="noStrike" dirty="0">
                <a:solidFill>
                  <a:srgbClr val="0F1115"/>
                </a:solidFill>
                <a:effectLst/>
                <a:latin typeface="Times" panose="02020603050405020304" pitchFamily="18" charset="0"/>
                <a:ea typeface="DengXian" panose="02010600030101010101" pitchFamily="2" charset="-122"/>
              </a:rPr>
              <a:t>GROUP trip revenue BY </a:t>
            </a:r>
            <a:r>
              <a:rPr lang="en-US" altLang="zh-CN" sz="1800" b="1" i="0" u="none" strike="noStrike" dirty="0" err="1">
                <a:solidFill>
                  <a:srgbClr val="0F1115"/>
                </a:solidFill>
                <a:effectLst/>
                <a:latin typeface="Times" panose="02020603050405020304" pitchFamily="18" charset="0"/>
                <a:ea typeface="DengXian" panose="02010600030101010101" pitchFamily="2" charset="-122"/>
              </a:rPr>
              <a:t>driverID</a:t>
            </a:r>
            <a:r>
              <a:rPr lang="en-US" altLang="zh-CN" dirty="0">
                <a:effectLst/>
                <a:latin typeface="Times" panose="02020603050405020304" pitchFamily="18" charset="0"/>
              </a:rPr>
              <a:t> </a:t>
            </a:r>
            <a:endParaRPr lang="en-US" altLang="zh-CN" dirty="0">
              <a:effectLst/>
              <a:latin typeface="Times" panose="02020603050405020304" pitchFamily="18" charset="0"/>
            </a:endParaRPr>
          </a:p>
          <a:p>
            <a:r>
              <a:rPr lang="en-US" altLang="zh-CN" dirty="0" err="1">
                <a:latin typeface="Times" panose="02020603050405020304" pitchFamily="18" charset="0"/>
              </a:rPr>
              <a:t>etc</a:t>
            </a:r>
            <a:r>
              <a:rPr lang="en-US" altLang="zh-CN" dirty="0">
                <a:latin typeface="Times" panose="02020603050405020304" pitchFamily="18" charset="0"/>
              </a:rPr>
              <a:t>?</a:t>
            </a:r>
            <a:endParaRPr lang="zh-CN" altLang="en-US" dirty="0">
              <a:latin typeface="Times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0" y="32462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i="0" u="none" strike="noStrike" dirty="0">
                <a:solidFill>
                  <a:srgbClr val="0F1115"/>
                </a:solidFill>
                <a:effectLst/>
                <a:latin typeface="Times" panose="02020603050405020304" pitchFamily="18" charset="0"/>
                <a:ea typeface="DengXian" panose="02010600030101010101" pitchFamily="2" charset="-122"/>
              </a:rPr>
              <a:t>Are they insights?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Insights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4340"/>
            <a:ext cx="10515600" cy="1603375"/>
          </a:xfrm>
        </p:spPr>
        <p:txBody>
          <a:bodyPr/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No, those are not insights by themselves. They are aggregations or summary statistics – the raw output of a GROUP BY query. Then what is an Insight</a:t>
            </a: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？</a:t>
            </a:r>
            <a:endParaRPr lang="zh-CN" altLang="en-US" dirty="0">
              <a:latin typeface="Times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4243" y="5666275"/>
            <a:ext cx="89642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An insight requires interpretation, context, and often comparison or anomaly detection.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87" y="2158727"/>
            <a:ext cx="10393225" cy="28197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2369" y="5019944"/>
            <a:ext cx="11418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The aggregation becomes an insight only when </a:t>
            </a:r>
            <a:r>
              <a:rPr lang="en-US" altLang="zh-CN" dirty="0">
                <a:solidFill>
                  <a:srgbClr val="0F1115"/>
                </a:solidFill>
                <a:highlight>
                  <a:srgbClr val="FFFF00"/>
                </a:highlight>
                <a:latin typeface="quote-cjk-patch"/>
              </a:rPr>
              <a:t>we can</a:t>
            </a:r>
            <a:r>
              <a:rPr lang="en-US" altLang="zh-CN" b="0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 </a:t>
            </a:r>
            <a:r>
              <a:rPr lang="en-US" altLang="zh-CN" b="1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compare</a:t>
            </a:r>
            <a:r>
              <a:rPr lang="en-US" altLang="zh-CN" b="0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, </a:t>
            </a:r>
            <a:r>
              <a:rPr lang="en-US" altLang="zh-CN" b="1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correlate</a:t>
            </a:r>
            <a:r>
              <a:rPr lang="en-US" altLang="zh-CN" b="0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, </a:t>
            </a:r>
            <a:r>
              <a:rPr lang="en-US" altLang="zh-CN" b="1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segment</a:t>
            </a:r>
            <a:r>
              <a:rPr lang="en-US" altLang="zh-CN" b="0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, or </a:t>
            </a:r>
            <a:r>
              <a:rPr lang="en-US" altLang="zh-CN" b="1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detect a pattern</a:t>
            </a:r>
            <a:r>
              <a:rPr lang="en-US" altLang="zh-CN" b="0" i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quote-cjk-patch"/>
              </a:rPr>
              <a:t> that leads to a business decision.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Turning Simple </a:t>
            </a:r>
            <a:r>
              <a:rPr lang="en-US" altLang="zh-CN" sz="4000" b="1" i="0" dirty="0">
                <a:solidFill>
                  <a:srgbClr val="0F1115"/>
                </a:solidFill>
                <a:effectLst/>
                <a:latin typeface="quote-cjk-patch"/>
              </a:rPr>
              <a:t>Aggregations into Insights</a:t>
            </a:r>
            <a:endParaRPr lang="en-US" altLang="zh-CN" sz="40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2892" y="1825625"/>
          <a:ext cx="9503508" cy="443173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751754"/>
                <a:gridCol w="4751754"/>
              </a:tblGrid>
              <a:tr h="1056201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GROUP BY </a:t>
                      </a:r>
                      <a:r>
                        <a:rPr lang="en-US" sz="2000" b="1" dirty="0" err="1">
                          <a:effectLst/>
                        </a:rPr>
                        <a:t>riderID</a:t>
                      </a:r>
                      <a:r>
                        <a:rPr lang="en-US" sz="2000" b="1" dirty="0">
                          <a:effectLst/>
                        </a:rPr>
                        <a:t> (total spend)</a:t>
                      </a:r>
                      <a:endParaRPr lang="en-US" sz="2000" b="1" dirty="0">
                        <a:effectLst/>
                      </a:endParaRPr>
                    </a:p>
                  </a:txBody>
                  <a:tcPr marL="42178" marR="35148" marT="21968" marB="219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Top 10% of riders by spend account for 60% of revenue → prioritize retention offers for this segment.</a:t>
                      </a:r>
                      <a:endParaRPr lang="en-US" sz="2000" b="1" dirty="0">
                        <a:effectLst/>
                      </a:endParaRPr>
                    </a:p>
                  </a:txBody>
                  <a:tcPr marL="35148" marR="42178" marT="21968" marB="21968" anchor="ctr"/>
                </a:tc>
              </a:tr>
              <a:tr h="1182734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GROUP BY </a:t>
                      </a:r>
                      <a:r>
                        <a:rPr lang="en-US" sz="2000" b="1" dirty="0" err="1">
                          <a:effectLst/>
                        </a:rPr>
                        <a:t>riderID</a:t>
                      </a:r>
                      <a:r>
                        <a:rPr lang="en-US" sz="2000" b="1" dirty="0">
                          <a:effectLst/>
                        </a:rPr>
                        <a:t> (avg rating given)</a:t>
                      </a:r>
                      <a:endParaRPr lang="en-US" sz="2000" b="1" dirty="0">
                        <a:effectLst/>
                      </a:endParaRPr>
                    </a:p>
                  </a:txBody>
                  <a:tcPr marL="42178" marR="35148" marT="21968" marB="219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Riders who consistently rate drivers &lt;3 stars have 80% higher churn → investigate if poor driver matching is the cause.</a:t>
                      </a:r>
                      <a:endParaRPr lang="en-US" sz="2000" b="1" dirty="0">
                        <a:effectLst/>
                      </a:endParaRPr>
                    </a:p>
                  </a:txBody>
                  <a:tcPr marL="35148" marR="42178" marT="21968" marB="21968" anchor="ctr"/>
                </a:tc>
              </a:tr>
              <a:tr h="1056201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GROUP BY </a:t>
                      </a:r>
                      <a:r>
                        <a:rPr lang="en-US" sz="2000" b="1" dirty="0" err="1">
                          <a:effectLst/>
                        </a:rPr>
                        <a:t>driverID</a:t>
                      </a:r>
                      <a:r>
                        <a:rPr lang="en-US" sz="2000" b="1" dirty="0">
                          <a:effectLst/>
                        </a:rPr>
                        <a:t> (total revenue)</a:t>
                      </a:r>
                      <a:endParaRPr lang="en-US" sz="2000" b="1" dirty="0">
                        <a:effectLst/>
                      </a:endParaRPr>
                    </a:p>
                  </a:txBody>
                  <a:tcPr marL="42178" marR="35148" marT="21968" marB="21968" anchor="ctr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Drivers in the bottom 20% of earnings work during low‑demand hours → suggest shift changes.</a:t>
                      </a:r>
                      <a:endParaRPr lang="en-US" sz="2000" b="1">
                        <a:effectLst/>
                      </a:endParaRPr>
                    </a:p>
                  </a:txBody>
                  <a:tcPr marL="35148" marR="42178" marT="21968" marB="21968" anchor="ctr"/>
                </a:tc>
              </a:tr>
              <a:tr h="1056201"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GROUP BY driverID (avg rating received)</a:t>
                      </a:r>
                      <a:endParaRPr lang="en-US" sz="2000" b="1">
                        <a:effectLst/>
                      </a:endParaRPr>
                    </a:p>
                  </a:txBody>
                  <a:tcPr marL="42178" marR="35148" marT="21968" marB="219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Drivers with rating &lt;4.0 have 5x higher churn → trigger coaching after three consecutive low ratings.</a:t>
                      </a:r>
                      <a:endParaRPr lang="en-US" sz="2000" b="1" dirty="0">
                        <a:effectLst/>
                      </a:endParaRPr>
                    </a:p>
                  </a:txBody>
                  <a:tcPr marL="35148" marR="42178" marT="21968" marB="2196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Turning Simple </a:t>
            </a:r>
            <a:r>
              <a:rPr lang="en-US" altLang="zh-CN" sz="4000" b="1" i="0" dirty="0">
                <a:solidFill>
                  <a:srgbClr val="0F1115"/>
                </a:solidFill>
                <a:effectLst/>
                <a:latin typeface="quote-cjk-patch"/>
              </a:rPr>
              <a:t>Aggregations into Insights</a:t>
            </a:r>
            <a:endParaRPr lang="en-US" altLang="zh-CN" sz="40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Is it non‑obvious?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Is it actionable?</a:t>
            </a:r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Does it include a comparison or threshold?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Turning Simple </a:t>
            </a:r>
            <a:r>
              <a:rPr lang="en-US" altLang="zh-CN" sz="4000" b="1" i="0" dirty="0">
                <a:solidFill>
                  <a:srgbClr val="0F1115"/>
                </a:solidFill>
                <a:effectLst/>
                <a:latin typeface="quote-cjk-patch"/>
              </a:rPr>
              <a:t>Aggregations into Insights</a:t>
            </a:r>
            <a:endParaRPr lang="en-US" altLang="zh-CN" sz="40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Trivial insight (still just information):</a:t>
            </a:r>
            <a:b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Rider R05915 spent $320 on 22 trips.</a:t>
            </a:r>
            <a:b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Driver D04746 earned $1,450 over 180 trips.</a:t>
            </a:r>
            <a:endParaRPr lang="en-US" altLang="zh-CN" b="0" dirty="0">
              <a:solidFill>
                <a:srgbClr val="0F1115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Valuable insight:</a:t>
            </a:r>
            <a:b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*Riders who spend &gt;$400/month have 70% higher retention than those who spend &lt;$100/month, suggesting a loyalty program targeting mid‑to‑high spenders could reduce churn.*</a:t>
            </a:r>
            <a:b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*Drivers who earn &lt;$500/week and have rating &lt;4.2 are 90% likely to leave within 30 days → prioritize these drivers for incentives.*</a:t>
            </a:r>
            <a:endParaRPr lang="en-US" altLang="zh-CN" b="0" dirty="0">
              <a:solidFill>
                <a:srgbClr val="0F1115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Does a Heatmap Help Determine Valuable Insights?</a:t>
            </a:r>
            <a:endParaRPr lang="en-US" altLang="zh-CN" sz="40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zh-CN" b="0" dirty="0">
              <a:solidFill>
                <a:srgbClr val="0F1115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Does a Heatmap Help Determine Valuable Insights?</a:t>
            </a:r>
            <a:endParaRPr lang="en-US" altLang="zh-CN" sz="40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Yes, a heatmap (especially a correlation heatmap) is a powerful visual screening tool to identify potentially valuable pairwise relationships. However, </a:t>
            </a:r>
            <a:r>
              <a:rPr lang="en-US" altLang="zh-CN" b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it does not automatically tell you which insights are truly valuable—it only highlights statistical associations that deserve further investigation.</a:t>
            </a:r>
            <a:endParaRPr lang="en-US" altLang="zh-CN" b="0" dirty="0">
              <a:solidFill>
                <a:srgbClr val="0F1115"/>
              </a:solidFill>
              <a:effectLst/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zh-CN" b="0" dirty="0">
              <a:solidFill>
                <a:srgbClr val="0F1115"/>
              </a:solidFill>
              <a:effectLst/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Suppose, if heatmap shows driver_tenure &lt; 30 days and low rating in rain (correlation -0.62).</a:t>
            </a:r>
            <a:endParaRPr lang="en-US" altLang="zh-CN" b="0" dirty="0">
              <a:solidFill>
                <a:srgbClr val="0F1115"/>
              </a:solidFill>
              <a:effectLst/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That’s valuable only after data confirm that training new drivers for weather conditions improves ratings (diagnostic + prescriptive).</a:t>
            </a:r>
            <a:endParaRPr lang="en-US" altLang="zh-CN" b="0" dirty="0">
              <a:solidFill>
                <a:srgbClr val="0F1115"/>
              </a:solidFill>
              <a:effectLst/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rgbClr val="0F1115"/>
                </a:solidFill>
                <a:effectLst/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A heatmap never determines value – it points to where value may hide.</a:t>
            </a:r>
            <a:endParaRPr lang="en-US" altLang="zh-CN" b="0" dirty="0">
              <a:solidFill>
                <a:srgbClr val="0F1115"/>
              </a:solidFill>
              <a:effectLst/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H</a:t>
            </a:r>
            <a:r>
              <a:rPr lang="en-US" altLang="zh-CN" sz="4000" dirty="0">
                <a:solidFill>
                  <a:srgbClr val="0F1115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ow many insights really exists within the data?</a:t>
            </a:r>
            <a:endParaRPr lang="en-US" altLang="zh-CN" sz="4000" dirty="0">
              <a:solidFill>
                <a:srgbClr val="0F1115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8550" y="3369945"/>
            <a:ext cx="8420100" cy="318135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2304098" y="1758950"/>
          <a:ext cx="7894955" cy="1543050"/>
        </p:xfrm>
        <a:graphic>
          <a:graphicData uri="http://schemas.openxmlformats.org/drawingml/2006/table">
            <a:tbl>
              <a:tblPr/>
              <a:tblGrid>
                <a:gridCol w="5085080"/>
                <a:gridCol w="1559560"/>
                <a:gridCol w="1250315"/>
              </a:tblGrid>
              <a:tr h="771525">
                <a:tc>
                  <a:txBody>
                    <a:bodyPr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Type of Pairwise Comparison</a:t>
                      </a:r>
                      <a:endParaRPr lang="en-US" altLang="zh-CN" sz="1400" b="1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For 18 Columns</a:t>
                      </a:r>
                      <a:endParaRPr lang="en-US" altLang="zh-CN" sz="1400" b="1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Undirected pairs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(e.g., correlation between A and B)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n(n-1)/2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153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Directed pairs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(e.g., A → B vs B → A count separately)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n(n-1)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306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Including self‑pairs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(e.g., A with A – usually trivial)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n^2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324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2475" y="0"/>
            <a:ext cx="10515600" cy="1325563"/>
          </a:xfrm>
        </p:spPr>
        <p:txBody>
          <a:bodyPr/>
          <a:p>
            <a:r>
              <a:rPr lang="en-US" altLang="zh-CN"/>
              <a:t>DIKW mapping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52475" y="1264285"/>
          <a:ext cx="10969625" cy="6023610"/>
        </p:xfrm>
        <a:graphic>
          <a:graphicData uri="http://schemas.openxmlformats.org/drawingml/2006/table">
            <a:tbl>
              <a:tblPr/>
              <a:tblGrid>
                <a:gridCol w="1979295"/>
                <a:gridCol w="8990330"/>
              </a:tblGrid>
              <a:tr h="521970">
                <a:tc>
                  <a:txBody>
                    <a:bodyPr/>
                    <a:p>
                      <a:pPr algn="l"/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-head)"/>
                          <a:cs typeface="Times New Roman" panose="02020603050405020304" charset="0"/>
                        </a:rPr>
                        <a:t>Level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-head)"/>
                        <a:cs typeface="Times New Roman" panose="02020603050405020304" charset="0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-head)"/>
                          <a:cs typeface="Times New Roman" panose="02020603050405020304" charset="0"/>
                        </a:rPr>
                        <a:t>Example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-head)"/>
                        <a:cs typeface="Times New Roman" panose="02020603050405020304" charset="0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75410"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Data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Raw trip record: (T003, R103, D203, 2025-01-15 18:45, 1800 sec, $42, surge 2.0, rating 4.9, Heavy traffic, Storm, hour 18, driver tenure 15 days)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48690"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Information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Trips during evening rush hour (5-7 PM) have average surge 1.8× and 40% longer duration than daytime trips.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75410"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Knowledge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Drivers with tenure &lt; 30 days have 3× more low ratings (≤ 3.5) during storm conditions, suggesting insufficient training for adverse weather.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443355"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Wisdom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1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var(--dsw-font-markdown-table)"/>
                          <a:cs typeface="Times New Roman" panose="02020603050405020304" charset="0"/>
                        </a:rPr>
                        <a:t>Implement mandatory weather‑driving simulation training for new drivers; offer incentive bonuses for drivers who accept trips during storms to reduce surge and improve rider satisfaction.</a:t>
                      </a:r>
                      <a:endParaRPr lang="en-US" altLang="zh-CN" sz="2000" b="1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var(--dsw-font-markdown-table)"/>
                        <a:cs typeface="Times New Roman" panose="02020603050405020304" charset="0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Insight Extraction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en-US" altLang="zh-CN"/>
              <a:t>a) Trivial insight: Surge pricing is higher during bad weather.</a:t>
            </a:r>
            <a:endParaRPr lang="en-US" altLang="zh-CN"/>
          </a:p>
          <a:p>
            <a:pPr algn="just"/>
            <a:r>
              <a:rPr lang="en-US" altLang="zh-CN"/>
              <a:t>b) Valuable insight: New drivers (tenure &lt; 30 days) receive significantly lower ratings (avg 3.2) during rain/storm compared to experienced drivers (avg 4.7), but their trip acceptance rate is similar. This indicates a training gap, not a motivation gap.</a:t>
            </a:r>
            <a:endParaRPr lang="en-US" altLang="zh-CN"/>
          </a:p>
          <a:p>
            <a:pPr marL="0" indent="0" algn="just">
              <a:buNone/>
            </a:pPr>
            <a:r>
              <a:rPr lang="en-US" altLang="zh-CN"/>
              <a:t> </a:t>
            </a:r>
            <a:r>
              <a:rPr lang="en-US" altLang="zh-CN" b="1"/>
              <a:t>Why valuable:</a:t>
            </a:r>
            <a:endParaRPr lang="en-US" altLang="zh-CN"/>
          </a:p>
          <a:p>
            <a:pPr algn="just"/>
            <a:r>
              <a:rPr lang="en-US" altLang="zh-CN"/>
              <a:t>Actionable – training can be implemented.</a:t>
            </a:r>
            <a:endParaRPr lang="en-US" altLang="zh-CN"/>
          </a:p>
          <a:p>
            <a:pPr algn="just"/>
            <a:r>
              <a:rPr lang="en-US" altLang="zh-CN"/>
              <a:t>Novel – not obvious that new drivers struggle specifically in weather.</a:t>
            </a:r>
            <a:endParaRPr lang="en-US" altLang="zh-CN"/>
          </a:p>
          <a:p>
            <a:pPr algn="just"/>
            <a:r>
              <a:rPr lang="en-US" altLang="zh-CN"/>
              <a:t>Quantifiable – rating difference of 1.5 points.</a:t>
            </a:r>
            <a:endParaRPr lang="en-US" altLang="zh-CN"/>
          </a:p>
          <a:p>
            <a:pPr algn="just"/>
            <a:r>
              <a:rPr lang="en-US" altLang="zh-CN"/>
              <a:t>Timely – can reduce driver churn and rider complaints quickly.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Analytics Types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8090" y="1515110"/>
            <a:ext cx="973518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 b="1"/>
              <a:t>KPIs - for Driver satisfaction, rider engagement, operational efficiency, and financial performance.</a:t>
            </a:r>
            <a:endParaRPr lang="en-US" altLang="zh-CN" sz="3600" b="1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en-US" altLang="zh-CN"/>
              <a:t>Average driver rating received during the first 30 days of active driving.</a:t>
            </a:r>
            <a:endParaRPr lang="en-US" altLang="zh-CN"/>
          </a:p>
          <a:p>
            <a:r>
              <a:rPr lang="en-US" altLang="zh-CN"/>
              <a:t>Percentage of active riders who complete at least one trip in a given calendar week.</a:t>
            </a:r>
            <a:endParaRPr lang="en-US" altLang="zh-CN"/>
          </a:p>
          <a:p>
            <a:r>
              <a:rPr lang="en-US" altLang="zh-CN"/>
              <a:t>(Increase in driver supply during surge) / (Increase in fare per trip) – measures how effectively surge pricing balances supply and demand.</a:t>
            </a:r>
            <a:endParaRPr lang="en-US" altLang="zh-CN"/>
          </a:p>
          <a:p>
            <a:r>
              <a:rPr lang="en-US" altLang="zh-CN"/>
              <a:t>Average number of days a driver remains active on the platform from their first completed trip to their last trip.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KPI</a:t>
            </a:r>
            <a:r>
              <a:rPr lang="en-US" altLang="zh-CN"/>
              <a:t>s</a:t>
            </a:r>
            <a:endParaRPr lang="en-US" altLang="zh-CN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Percentage of riders who sign up and complete at least one trip in their first 7 days, and then complete another trip within the following 7 days.</a:t>
            </a:r>
            <a:endParaRPr lang="en-US" altLang="zh-CN"/>
          </a:p>
          <a:p>
            <a:r>
              <a:rPr lang="en-US" altLang="zh-CN"/>
              <a:t>Percentage of trip requests accepted by a driver out of all requests sent to that driver within a given period (e.g., daily or weekly).</a:t>
            </a:r>
            <a:endParaRPr lang="en-US" altLang="zh-CN"/>
          </a:p>
          <a:p>
            <a:r>
              <a:rPr lang="en-US" altLang="zh-CN"/>
              <a:t>The 95th percentile of time elapsed from ride request to driver arrival at pickup location, measured in minutes. Lower is better.</a:t>
            </a:r>
            <a:endParaRPr lang="en-US" altLang="zh-CN"/>
          </a:p>
          <a:p>
            <a:r>
              <a:rPr lang="en-US" altLang="zh-CN"/>
              <a:t>Average gross fare earned by a driver divided by the number of hours they are online and available for trips (excluding idle time with no requests).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KPI</a:t>
            </a:r>
            <a:r>
              <a:rPr lang="en-US" altLang="zh-CN"/>
              <a:t>s</a:t>
            </a:r>
            <a:endParaRPr lang="en-US" altLang="zh-CN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en-US" altLang="zh-CN"/>
              <a:t>Percentage of accepted trips that are successfully completed (not cancelled by driver or rider after acceptance).</a:t>
            </a:r>
            <a:endParaRPr lang="en-US" altLang="zh-CN"/>
          </a:p>
          <a:p>
            <a:r>
              <a:rPr lang="en-US" altLang="zh-CN"/>
              <a:t>Average gross fare contributed by a rider over their first 6 months of active use of the platform.</a:t>
            </a:r>
            <a:endParaRPr lang="en-US" altLang="zh-CN"/>
          </a:p>
          <a:p>
            <a:r>
              <a:rPr lang="en-US" altLang="zh-CN"/>
              <a:t>Average increase in driver rating within 14 days after receiving a coaching intervention (e.g., low rating alert).</a:t>
            </a:r>
            <a:endParaRPr lang="en-US" altLang="zh-CN"/>
          </a:p>
          <a:p>
            <a:r>
              <a:rPr lang="en-US" altLang="zh-CN"/>
              <a:t> (Actual number of drivers online during defined peak hours) / (Target number of drivers needed to meet demand without surge &gt;1.5).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9445"/>
          </a:xfrm>
        </p:spPr>
        <p:txBody>
          <a:bodyPr>
            <a:normAutofit fontScale="90000"/>
          </a:bodyPr>
          <a:p>
            <a:r>
              <a:rPr lang="en-US" altLang="zh-CN"/>
              <a:t>SMART KPI</a:t>
            </a:r>
            <a:r>
              <a:rPr lang="en-US" altLang="zh-CN"/>
              <a:t>s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/>
        </p:nvGraphicFramePr>
        <p:xfrm>
          <a:off x="789305" y="1243965"/>
          <a:ext cx="10485120" cy="5265420"/>
        </p:xfrm>
        <a:graphic>
          <a:graphicData uri="http://schemas.openxmlformats.org/drawingml/2006/table">
            <a:tbl>
              <a:tblPr/>
              <a:tblGrid>
                <a:gridCol w="1972945"/>
                <a:gridCol w="8512175"/>
              </a:tblGrid>
              <a:tr h="0"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-head)"/>
                          <a:ea typeface="var(--dsw-font-markdown-table-head)"/>
                        </a:rPr>
                        <a:t>Criterion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-head)"/>
                        <a:ea typeface="var(--dsw-font-markdown-table-head)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-head)"/>
                          <a:ea typeface="var(--dsw-font-markdown-table-head)"/>
                        </a:rPr>
                        <a:t>Statement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-head)"/>
                        <a:ea typeface="var(--dsw-font-markdown-table-head)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Specific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Increase the average driver rating for drivers in their first 30 days from current 3.8 to 4.5.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Measurable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Rating data collected after every trip; average computed weekly.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Achievable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Pilot program with 100 new drivers showed average rating 4.4 after weather training.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Relevant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Directly linked to driver retention and rider satisfaction.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Time-bound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just"/>
                      <a:r>
                        <a:rPr lang="en-US" altLang="zh-CN" sz="2800" b="0" i="0">
                          <a:solidFill>
                            <a:srgbClr val="0F1115"/>
                          </a:solidFill>
                          <a:latin typeface="var(--dsw-font-markdown-table)"/>
                          <a:ea typeface="var(--dsw-font-markdown-table)"/>
                        </a:rPr>
                        <a:t>Achieve 4.5 average rating for new drivers within 4 months of implementing training program.</a:t>
                      </a:r>
                      <a:endParaRPr lang="en-US" altLang="zh-CN" sz="28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76517" marR="0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09600" y="519430"/>
          <a:ext cx="10368915" cy="6167120"/>
        </p:xfrm>
        <a:graphic>
          <a:graphicData uri="http://schemas.openxmlformats.org/drawingml/2006/table">
            <a:tbl>
              <a:tblPr/>
              <a:tblGrid>
                <a:gridCol w="10368915"/>
              </a:tblGrid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Insight</a:t>
                      </a:r>
                      <a:endParaRPr lang="en-US" altLang="zh-CN" sz="2400" b="1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Trips cost more when surge multiplier is higher.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Longer trips have higher fares.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Rush hour (5–7 PM) has more trips than late night.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Rainy weather increases trip duration due to traffic.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Drivers with higher ratings get more trip requests.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Weekend nights (Friday/Saturday 10 PM–2 AM) have higher surge.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Airport trips have higher average fares.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New drivers have fewer completed trips than experienced drivers.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Surge pricing is higher when demand exceeds supply.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Riders with longer tenure use the app more frequently.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Heavy traffic increases trip time.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Cash payments are more common in certain neighbourhoods.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Drivers who work more hours earn more.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Storm weather reduces total trip volume.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l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Late-night trips have higher surge than midday.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080" marR="5080" marT="50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Strategic Decision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1700" y="1691005"/>
            <a:ext cx="11222990" cy="35229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spcBef>
                <a:spcPts val="1200"/>
              </a:spcBef>
              <a:spcAft>
                <a:spcPts val="600"/>
              </a:spcAft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Decision: Launch a “New Driver Weather Academy” – a mandatory 2‑hour simulation‑based training module for all drivers with tenure &lt; 30 days, focusing on safe and efficient driving in rain, fog, and storm conditions. Additionally, introduce a “Weather Hero” bonus (extra $5 per trip) for new drivers who accept rides during adverse weather and maintain rating ≥ 4.0.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Implementation: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Training integrated into driver onboarding app.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Bonus automatically applied via real‑time event processing.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Success measurement: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Compare 30‑day driver ratings and churn rates before/after intervention.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Target: 30% reduction in new‑driver churn within 3 months.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Monitor rider wait times during weather events (should decrease as more drivers stay online).</a:t>
            </a:r>
            <a:endParaRPr lang="en-US" altLang="zh-CN" b="0" i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</a:t>
            </a:r>
            <a:r>
              <a:rPr lang="en-US" altLang="zh-CN"/>
              <a:t>ummary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67155" y="1825625"/>
            <a:ext cx="945642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reading for next class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Self Exploration</a:t>
            </a:r>
            <a:endParaRPr lang="en-US" altLang="zh-CN"/>
          </a:p>
          <a:p>
            <a:r>
              <a:rPr lang="en-US" altLang="zh-CN"/>
              <a:t>https://www.datacamp.com/tutorial/what-is-a-parquet-file </a:t>
            </a:r>
            <a:endParaRPr lang="en-US" altLang="zh-CN"/>
          </a:p>
          <a:p>
            <a:r>
              <a:rPr lang="en-US" altLang="zh-CN"/>
              <a:t>https://www.nyc.gov/site/tlc/about/tlc-trip-record-data.page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3*379"/>
  <p:tag name="TABLE_ENDDRAG_RECT" val="59*99*863*379"/>
</p:tagLst>
</file>

<file path=ppt/tags/tag2.xml><?xml version="1.0" encoding="utf-8"?>
<p:tagLst xmlns:p="http://schemas.openxmlformats.org/presentationml/2006/main">
  <p:tag name="TABLE_ENDDRAG_ORIGIN_RECT" val="816*485"/>
  <p:tag name="TABLE_ENDDRAG_RECT" val="48*40*816*48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8174</Words>
  <Application>WPS 演示</Application>
  <PresentationFormat>Widescreen</PresentationFormat>
  <Paragraphs>481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6" baseType="lpstr">
      <vt:lpstr>Arial</vt:lpstr>
      <vt:lpstr>SimSun</vt:lpstr>
      <vt:lpstr>Wingdings</vt:lpstr>
      <vt:lpstr>Segoe UI</vt:lpstr>
      <vt:lpstr>DengXian</vt:lpstr>
      <vt:lpstr>Times</vt:lpstr>
      <vt:lpstr>Times New Roman Cyr</vt:lpstr>
      <vt:lpstr>quote-cjk-patch</vt:lpstr>
      <vt:lpstr>Segoe Print</vt:lpstr>
      <vt:lpstr>Times New Roman</vt:lpstr>
      <vt:lpstr>Segoe UI</vt:lpstr>
      <vt:lpstr>Times New Roman</vt:lpstr>
      <vt:lpstr>DengXian Light</vt:lpstr>
      <vt:lpstr>Microsoft YaHei</vt:lpstr>
      <vt:lpstr>Arial Unicode MS</vt:lpstr>
      <vt:lpstr>Calibri</vt:lpstr>
      <vt:lpstr>var(--dsw-font-markdown-table-head)</vt:lpstr>
      <vt:lpstr>var(--dsw-font-markdown-table)</vt:lpstr>
      <vt:lpstr>Arial</vt:lpstr>
      <vt:lpstr>quote-cjk-patch</vt:lpstr>
      <vt:lpstr>var(--dsw-font-markdown-table)</vt:lpstr>
      <vt:lpstr>var(--dsw-font-markdown-table-head)</vt:lpstr>
      <vt:lpstr>Good Times</vt:lpstr>
      <vt:lpstr>Office Theme</vt:lpstr>
      <vt:lpstr>1_Office Theme</vt:lpstr>
      <vt:lpstr>SwiftRide Case Study</vt:lpstr>
      <vt:lpstr>SwiftRide Synthethic Data</vt:lpstr>
      <vt:lpstr>Insights</vt:lpstr>
      <vt:lpstr>Insights</vt:lpstr>
      <vt:lpstr>Turning Simple Aggregations into Insights</vt:lpstr>
      <vt:lpstr>Turning Simple Aggregations into Insights</vt:lpstr>
      <vt:lpstr>Turning Simple Aggregations into Insights</vt:lpstr>
      <vt:lpstr>Does a Heatmap Help Determine Valuable Insights?</vt:lpstr>
      <vt:lpstr>Does a Heatmap Help Determine Valuable Insights?</vt:lpstr>
      <vt:lpstr>How many insights really exists within the data?</vt:lpstr>
      <vt:lpstr>DIKW mapping</vt:lpstr>
      <vt:lpstr>Insight Extraction</vt:lpstr>
      <vt:lpstr>Analytics Types</vt:lpstr>
      <vt:lpstr>KPIs - for Driver satisfaction, rider engagement, operational efficiency, and financial performance.</vt:lpstr>
      <vt:lpstr>KPIs</vt:lpstr>
      <vt:lpstr>KPIs</vt:lpstr>
      <vt:lpstr>SMART KPIs</vt:lpstr>
      <vt:lpstr>PowerPoint 演示文稿</vt:lpstr>
      <vt:lpstr>Strategic Decision</vt:lpstr>
      <vt:lpstr>Summary</vt:lpstr>
      <vt:lpstr>reading for next class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awais ahmed</dc:creator>
  <cp:lastModifiedBy>WPS_1671077781</cp:lastModifiedBy>
  <cp:revision>54</cp:revision>
  <dcterms:created xsi:type="dcterms:W3CDTF">2026-04-19T07:06:00Z</dcterms:created>
  <dcterms:modified xsi:type="dcterms:W3CDTF">2026-04-21T03:40:22Z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1532641174A140E78AD6336873FB0757_12</vt:lpwstr>
  </property>
  <property fmtid="{D5CDD505-2E9C-101B-9397-08002B2CF9AE}" pid="3" name="KSOProductBuildVer">
    <vt:lpwstr>2052-12.1.0.25225</vt:lpwstr>
  </property>
</Properties>
</file>