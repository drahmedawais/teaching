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259" r:id="rId4"/>
    <p:sldId id="258" r:id="rId5"/>
    <p:sldId id="260" r:id="rId6"/>
    <p:sldId id="257" r:id="rId7"/>
    <p:sldId id="275" r:id="rId9"/>
    <p:sldId id="262" r:id="rId10"/>
    <p:sldId id="276" r:id="rId11"/>
    <p:sldId id="263" r:id="rId12"/>
    <p:sldId id="264" r:id="rId13"/>
    <p:sldId id="280" r:id="rId14"/>
    <p:sldId id="265" r:id="rId15"/>
    <p:sldId id="266" r:id="rId16"/>
    <p:sldId id="267" r:id="rId17"/>
    <p:sldId id="268" r:id="rId18"/>
    <p:sldId id="269" r:id="rId19"/>
    <p:sldId id="270" r:id="rId20"/>
    <p:sldId id="277" r:id="rId21"/>
    <p:sldId id="279" r:id="rId22"/>
    <p:sldId id="278" r:id="rId23"/>
    <p:sldId id="271" r:id="rId24"/>
    <p:sldId id="272" r:id="rId25"/>
    <p:sldId id="273" r:id="rId26"/>
    <p:sldId id="274"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57" d="100"/>
          <a:sy n="57" d="100"/>
        </p:scale>
        <p:origin x="498"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0BCA4-978C-411A-9840-D2F1096E3E69}" type="datetimeFigureOut">
              <a:rPr lang="zh-CN" altLang="en-US" smtClean="0"/>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4DEBDD-B4B5-4D24-A8B1-F748078A72B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CPU cores. Give example of sorting large dataset using threads.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CPU cores. Give example of sorting large dataset using threads.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cluster computing. Mention Google, Amazon systems.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cluster computing. Mention Google, Amazon systems.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which is better for Big Data and why.</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key discussion here</a:t>
            </a:r>
            <a:r>
              <a:rPr dirty="0"/>
              <a:t> data splitting across nodes and fault tolerance via replication.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word count example. Emphasize parallelism.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examples: video processing vs database queries.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how clusters improve performance and availability.</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 daily sales reports. High latency but high throughput.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 fraud detection, stock trading.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a:t>
            </a:r>
            <a:r>
              <a:rPr dirty="0"/>
              <a:t>hich</a:t>
            </a:r>
            <a:r>
              <a:rPr lang="en-US" dirty="0"/>
              <a:t> one</a:t>
            </a:r>
            <a:r>
              <a:rPr dirty="0"/>
              <a:t> to use in Netflix recommendations.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Netflix uses both batch and streaming.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Relate to ICU monitoring and alerts.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importance of low latency.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756FE3D8-5892-4444-A351-4A6D7BE2BEE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F4DBB87-BA3F-4CD5-BC49-D11B12243F1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756FE3D8-5892-4444-A351-4A6D7BE2BEE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F4DBB87-BA3F-4CD5-BC49-D11B12243F1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endParaRPr lang="en-US" altLang="zh-CN"/>
          </a:p>
        </p:txBody>
      </p:sp>
      <p:sp>
        <p:nvSpPr>
          <p:cNvPr id="4" name="Date Placeholder 3"/>
          <p:cNvSpPr>
            <a:spLocks noGrp="1"/>
          </p:cNvSpPr>
          <p:nvPr>
            <p:ph type="dt" sz="half" idx="10"/>
          </p:nvPr>
        </p:nvSpPr>
        <p:spPr/>
        <p:txBody>
          <a:bodyPr/>
          <a:lstStyle/>
          <a:p>
            <a:fld id="{756FE3D8-5892-4444-A351-4A6D7BE2BEE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F4DBB87-BA3F-4CD5-BC49-D11B12243F1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Date Placeholder 4"/>
          <p:cNvSpPr>
            <a:spLocks noGrp="1"/>
          </p:cNvSpPr>
          <p:nvPr>
            <p:ph type="dt" sz="half" idx="10"/>
          </p:nvPr>
        </p:nvSpPr>
        <p:spPr/>
        <p:txBody>
          <a:bodyPr/>
          <a:lstStyle/>
          <a:p>
            <a:fld id="{756FE3D8-5892-4444-A351-4A6D7BE2BEE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F4DBB87-BA3F-4CD5-BC49-D11B12243F1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Date Placeholder 6"/>
          <p:cNvSpPr>
            <a:spLocks noGrp="1"/>
          </p:cNvSpPr>
          <p:nvPr>
            <p:ph type="dt" sz="half" idx="10"/>
          </p:nvPr>
        </p:nvSpPr>
        <p:spPr/>
        <p:txBody>
          <a:bodyPr/>
          <a:lstStyle/>
          <a:p>
            <a:fld id="{756FE3D8-5892-4444-A351-4A6D7BE2BEE8}"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F4DBB87-BA3F-4CD5-BC49-D11B12243F1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fld id="{756FE3D8-5892-4444-A351-4A6D7BE2BEE8}"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F4DBB87-BA3F-4CD5-BC49-D11B12243F1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6FE3D8-5892-4444-A351-4A6D7BE2BEE8}"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F4DBB87-BA3F-4CD5-BC49-D11B12243F1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756FE3D8-5892-4444-A351-4A6D7BE2BEE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F4DBB87-BA3F-4CD5-BC49-D11B12243F1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756FE3D8-5892-4444-A351-4A6D7BE2BEE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F4DBB87-BA3F-4CD5-BC49-D11B12243F1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756FE3D8-5892-4444-A351-4A6D7BE2BEE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F4DBB87-BA3F-4CD5-BC49-D11B12243F1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756FE3D8-5892-4444-A351-4A6D7BE2BEE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F4DBB87-BA3F-4CD5-BC49-D11B12243F1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6FE3D8-5892-4444-A351-4A6D7BE2BEE8}"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4DBB87-BA3F-4CD5-BC49-D11B12243F1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hevodata.com/learn/data-privacy/" TargetMode="Externa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CN" dirty="0"/>
              <a:t>Ch#6 Big Data Processing Concepts</a:t>
            </a:r>
            <a:endParaRPr lang="zh-CN" altLang="en-US" dirty="0"/>
          </a:p>
        </p:txBody>
      </p:sp>
      <p:sp>
        <p:nvSpPr>
          <p:cNvPr id="3" name="Subtitle 2"/>
          <p:cNvSpPr>
            <a:spLocks noGrp="1"/>
          </p:cNvSpPr>
          <p:nvPr>
            <p:ph type="subTitle" idx="1"/>
          </p:nvPr>
        </p:nvSpPr>
        <p:spPr/>
        <p:txBody>
          <a:bodyPr/>
          <a:lstStyle/>
          <a:p>
            <a:r>
              <a:rPr lang="en-US" altLang="zh-CN" dirty="0"/>
              <a:t>Dr Ahmed Awais</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2813"/>
          </a:xfrm>
        </p:spPr>
        <p:txBody>
          <a:bodyPr>
            <a:normAutofit fontScale="90000"/>
          </a:bodyPr>
          <a:lstStyle/>
          <a:p>
            <a:r>
              <a:rPr lang="en-US" altLang="zh-CN" dirty="0"/>
              <a:t>Quick Questions – Write answers on your </a:t>
            </a:r>
            <a:r>
              <a:rPr lang="zh-CN" altLang="en-US" dirty="0"/>
              <a:t>📔</a:t>
            </a:r>
            <a:r>
              <a:rPr lang="en-US" altLang="zh-CN" dirty="0"/>
              <a:t> </a:t>
            </a:r>
            <a:endParaRPr lang="zh-CN" altLang="en-US" dirty="0"/>
          </a:p>
        </p:txBody>
      </p:sp>
      <p:sp>
        <p:nvSpPr>
          <p:cNvPr id="11" name="TextBox 10"/>
          <p:cNvSpPr txBox="1"/>
          <p:nvPr/>
        </p:nvSpPr>
        <p:spPr>
          <a:xfrm>
            <a:off x="773722" y="1558165"/>
            <a:ext cx="10019323" cy="2862322"/>
          </a:xfrm>
          <a:prstGeom prst="rect">
            <a:avLst/>
          </a:prstGeom>
          <a:noFill/>
        </p:spPr>
        <p:txBody>
          <a:bodyPr wrap="square">
            <a:spAutoFit/>
          </a:bodyPr>
          <a:lstStyle/>
          <a:p>
            <a:pPr marL="742950" indent="-742950">
              <a:buFont typeface="+mj-lt"/>
              <a:buAutoNum type="arabicPeriod"/>
            </a:pPr>
            <a:r>
              <a:rPr lang="en-US" altLang="zh-CN" sz="3600" b="0" i="0" dirty="0">
                <a:solidFill>
                  <a:srgbClr val="454545"/>
                </a:solidFill>
                <a:effectLst/>
                <a:latin typeface="Inter"/>
              </a:rPr>
              <a:t>Give an</a:t>
            </a:r>
            <a:r>
              <a:rPr lang="en-US" altLang="zh-CN" sz="3600" dirty="0">
                <a:solidFill>
                  <a:srgbClr val="454545"/>
                </a:solidFill>
                <a:latin typeface="Inter"/>
              </a:rPr>
              <a:t> example of Big Data?</a:t>
            </a:r>
            <a:endParaRPr lang="en-US" altLang="zh-CN" sz="3600" dirty="0">
              <a:solidFill>
                <a:srgbClr val="454545"/>
              </a:solidFill>
              <a:latin typeface="Inter"/>
            </a:endParaRPr>
          </a:p>
          <a:p>
            <a:pPr marL="742950" indent="-742950">
              <a:buFont typeface="+mj-lt"/>
              <a:buAutoNum type="arabicPeriod"/>
            </a:pPr>
            <a:endParaRPr lang="en-US" altLang="zh-CN" sz="3600" dirty="0">
              <a:solidFill>
                <a:srgbClr val="454545"/>
              </a:solidFill>
              <a:latin typeface="Inter"/>
            </a:endParaRPr>
          </a:p>
          <a:p>
            <a:pPr marL="742950" indent="-742950">
              <a:buFont typeface="+mj-lt"/>
              <a:buAutoNum type="arabicPeriod"/>
            </a:pPr>
            <a:r>
              <a:rPr lang="en-US" altLang="zh-CN" sz="3600" dirty="0">
                <a:solidFill>
                  <a:srgbClr val="454545"/>
                </a:solidFill>
                <a:latin typeface="Inter"/>
              </a:rPr>
              <a:t>How is Big Data Collected?</a:t>
            </a:r>
            <a:endParaRPr lang="en-US" altLang="zh-CN" sz="3600" dirty="0">
              <a:solidFill>
                <a:srgbClr val="454545"/>
              </a:solidFill>
              <a:latin typeface="Inter"/>
            </a:endParaRPr>
          </a:p>
          <a:p>
            <a:pPr marL="742950" indent="-742950">
              <a:buFont typeface="+mj-lt"/>
              <a:buAutoNum type="arabicPeriod"/>
            </a:pPr>
            <a:endParaRPr lang="en-US" altLang="zh-CN" sz="3600" dirty="0">
              <a:solidFill>
                <a:srgbClr val="454545"/>
              </a:solidFill>
              <a:latin typeface="Inter"/>
            </a:endParaRPr>
          </a:p>
          <a:p>
            <a:pPr marL="742950" indent="-742950">
              <a:buFont typeface="+mj-lt"/>
              <a:buAutoNum type="arabicPeriod"/>
            </a:pPr>
            <a:r>
              <a:rPr lang="en-US" altLang="zh-CN" sz="3600" dirty="0">
                <a:solidFill>
                  <a:srgbClr val="454545"/>
                </a:solidFill>
                <a:latin typeface="Inter"/>
              </a:rPr>
              <a:t>What are the pros and cons of Big Data?</a:t>
            </a:r>
            <a:endParaRPr lang="zh-CN" alt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12460" y="3851145"/>
            <a:ext cx="8167077" cy="2246769"/>
          </a:xfrm>
          <a:prstGeom prst="rect">
            <a:avLst/>
          </a:prstGeom>
          <a:noFill/>
        </p:spPr>
        <p:txBody>
          <a:bodyPr wrap="square">
            <a:spAutoFit/>
          </a:bodyPr>
          <a:lstStyle/>
          <a:p>
            <a:pPr marL="285750" indent="-285750" algn="just">
              <a:buFont typeface="Arial" panose="020B0604020202020204" pitchFamily="34" charset="0"/>
              <a:buChar char="•"/>
            </a:pPr>
            <a:r>
              <a:rPr lang="en-US" altLang="zh-CN" sz="2000" b="0" i="0" dirty="0">
                <a:solidFill>
                  <a:srgbClr val="454545"/>
                </a:solidFill>
                <a:effectLst/>
                <a:latin typeface="Inter"/>
              </a:rPr>
              <a:t>Pros include unearthing valuable insights, improving decision-making, enriching customer experiences, and innovation as a form of strategy through data. </a:t>
            </a:r>
            <a:br>
              <a:rPr lang="en-US" altLang="zh-CN" sz="2000" dirty="0"/>
            </a:br>
            <a:endParaRPr lang="en-US" altLang="zh-CN" sz="2000" dirty="0"/>
          </a:p>
          <a:p>
            <a:pPr marL="285750" indent="-285750" algn="just">
              <a:buFont typeface="Arial" panose="020B0604020202020204" pitchFamily="34" charset="0"/>
              <a:buChar char="•"/>
            </a:pPr>
            <a:r>
              <a:rPr lang="en-US" altLang="zh-CN" sz="2000" b="0" i="0" dirty="0">
                <a:solidFill>
                  <a:srgbClr val="454545"/>
                </a:solidFill>
                <a:effectLst/>
                <a:latin typeface="Inter"/>
              </a:rPr>
              <a:t>Cons include issues with </a:t>
            </a:r>
            <a:r>
              <a:rPr lang="en-US" altLang="zh-CN" sz="2000" b="0" i="0" u="sng" dirty="0">
                <a:solidFill>
                  <a:srgbClr val="171717"/>
                </a:solidFill>
                <a:effectLst/>
                <a:latin typeface="Inter"/>
                <a:hlinkClick r:id="rId1"/>
              </a:rPr>
              <a:t>data privacy</a:t>
            </a:r>
            <a:r>
              <a:rPr lang="en-US" altLang="zh-CN" sz="2000" b="0" i="0" dirty="0">
                <a:solidFill>
                  <a:srgbClr val="454545"/>
                </a:solidFill>
                <a:effectLst/>
                <a:latin typeface="Inter"/>
              </a:rPr>
              <a:t> and security, managing complexity in large datasets, high infrastructure costs, and the risk of misinterpretation of data if not appropriately analyzed.</a:t>
            </a:r>
            <a:endParaRPr lang="zh-CN" altLang="en-US" sz="2000" dirty="0"/>
          </a:p>
        </p:txBody>
      </p:sp>
      <p:sp>
        <p:nvSpPr>
          <p:cNvPr id="6" name="TextBox 5"/>
          <p:cNvSpPr txBox="1"/>
          <p:nvPr/>
        </p:nvSpPr>
        <p:spPr>
          <a:xfrm>
            <a:off x="930028" y="2345135"/>
            <a:ext cx="10331939" cy="1323439"/>
          </a:xfrm>
          <a:prstGeom prst="rect">
            <a:avLst/>
          </a:prstGeom>
          <a:noFill/>
        </p:spPr>
        <p:txBody>
          <a:bodyPr wrap="square">
            <a:spAutoFit/>
          </a:bodyPr>
          <a:lstStyle/>
          <a:p>
            <a:pPr algn="just"/>
            <a:r>
              <a:rPr lang="en-US" altLang="zh-CN" sz="2000" b="0" i="0" dirty="0">
                <a:solidFill>
                  <a:srgbClr val="454545"/>
                </a:solidFill>
                <a:effectLst/>
                <a:latin typeface="Inter"/>
              </a:rPr>
              <a:t>Big data is generated from various sources, including sensors, IoT devices, social media platforms, transactional systems, and web logs. These sources generate tremendous amounts of data, which are collected and stored using tools and frameworks for data collection, followed by processing and analysis in order to glean organization-level information.</a:t>
            </a:r>
            <a:endParaRPr lang="zh-CN" altLang="en-US" sz="2000" dirty="0"/>
          </a:p>
        </p:txBody>
      </p:sp>
      <p:sp>
        <p:nvSpPr>
          <p:cNvPr id="9" name="TextBox 8"/>
          <p:cNvSpPr txBox="1"/>
          <p:nvPr/>
        </p:nvSpPr>
        <p:spPr>
          <a:xfrm>
            <a:off x="838200" y="962235"/>
            <a:ext cx="10331939" cy="1200329"/>
          </a:xfrm>
          <a:prstGeom prst="rect">
            <a:avLst/>
          </a:prstGeom>
          <a:noFill/>
        </p:spPr>
        <p:txBody>
          <a:bodyPr wrap="square">
            <a:spAutoFit/>
          </a:bodyPr>
          <a:lstStyle/>
          <a:p>
            <a:pPr algn="just"/>
            <a:r>
              <a:rPr lang="en-US" altLang="zh-CN" sz="2400" b="0" i="0" dirty="0">
                <a:solidFill>
                  <a:srgbClr val="454545"/>
                </a:solidFill>
                <a:effectLst/>
                <a:latin typeface="Inter"/>
              </a:rPr>
              <a:t>Social media activity is big data, through which these social media like Facebook or Twitter create massive amounts of user-generated content including posts, comments, likes, and shares in real time.</a:t>
            </a:r>
            <a:endParaRPr lang="zh-CN" altLang="en-US" sz="2400" dirty="0"/>
          </a:p>
        </p:txBody>
      </p:sp>
      <p:sp>
        <p:nvSpPr>
          <p:cNvPr id="10" name="Title 1"/>
          <p:cNvSpPr>
            <a:spLocks noGrp="1"/>
          </p:cNvSpPr>
          <p:nvPr>
            <p:ph type="title"/>
          </p:nvPr>
        </p:nvSpPr>
        <p:spPr>
          <a:xfrm>
            <a:off x="838200" y="139422"/>
            <a:ext cx="10515600" cy="822813"/>
          </a:xfrm>
        </p:spPr>
        <p:txBody>
          <a:bodyPr>
            <a:normAutofit/>
          </a:bodyPr>
          <a:lstStyle/>
          <a:p>
            <a:r>
              <a:rPr lang="en-US" altLang="zh-CN" b="1" dirty="0"/>
              <a:t>Possible answers</a:t>
            </a:r>
            <a:endParaRPr lang="zh-CN" alt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Chapter Outline</a:t>
            </a:r>
            <a:endParaRPr lang="zh-CN" altLang="en-US" dirty="0"/>
          </a:p>
        </p:txBody>
      </p:sp>
      <p:pic>
        <p:nvPicPr>
          <p:cNvPr id="5" name="Content Placeholder 4"/>
          <p:cNvPicPr>
            <a:picLocks noGrp="1" noChangeAspect="1"/>
          </p:cNvPicPr>
          <p:nvPr>
            <p:ph idx="1"/>
          </p:nvPr>
        </p:nvPicPr>
        <p:blipFill>
          <a:blip r:embed="rId1"/>
          <a:stretch>
            <a:fillRect/>
          </a:stretch>
        </p:blipFill>
        <p:spPr>
          <a:xfrm>
            <a:off x="3585286" y="1825625"/>
            <a:ext cx="5021427" cy="4351338"/>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Parallel Processing Architecture</a:t>
            </a:r>
          </a:p>
        </p:txBody>
      </p:sp>
      <p:sp>
        <p:nvSpPr>
          <p:cNvPr id="3" name="Content Placeholder 2"/>
          <p:cNvSpPr>
            <a:spLocks noGrp="1"/>
          </p:cNvSpPr>
          <p:nvPr>
            <p:ph idx="1"/>
          </p:nvPr>
        </p:nvSpPr>
        <p:spPr/>
        <p:txBody>
          <a:bodyPr/>
          <a:lstStyle/>
          <a:p>
            <a:endParaRPr dirty="0"/>
          </a:p>
          <a:p>
            <a:r>
              <a:rPr dirty="0"/>
              <a:t>Single machine</a:t>
            </a:r>
            <a:endParaRPr dirty="0"/>
          </a:p>
          <a:p>
            <a:r>
              <a:rPr dirty="0"/>
              <a:t>Multi-core CPUs</a:t>
            </a:r>
            <a:endParaRPr dirty="0"/>
          </a:p>
          <a:p>
            <a:r>
              <a:rPr dirty="0"/>
              <a:t>Data split into chunks</a:t>
            </a:r>
            <a:endParaRPr dirty="0"/>
          </a:p>
          <a:p>
            <a:r>
              <a:rPr dirty="0"/>
              <a:t>Processed simultaneously</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Parallel Processing Architecture</a:t>
            </a:r>
            <a:endParaRPr dirty="0"/>
          </a:p>
        </p:txBody>
      </p:sp>
      <p:sp>
        <p:nvSpPr>
          <p:cNvPr id="3" name="Content Placeholder 2"/>
          <p:cNvSpPr>
            <a:spLocks noGrp="1"/>
          </p:cNvSpPr>
          <p:nvPr>
            <p:ph idx="1"/>
          </p:nvPr>
        </p:nvSpPr>
        <p:spPr>
          <a:xfrm>
            <a:off x="8220512" y="181383"/>
            <a:ext cx="3971488" cy="2041700"/>
          </a:xfrm>
        </p:spPr>
        <p:txBody>
          <a:bodyPr>
            <a:normAutofit fontScale="92500" lnSpcReduction="10000"/>
          </a:bodyPr>
          <a:lstStyle/>
          <a:p>
            <a:pPr algn="just"/>
            <a:r>
              <a:rPr lang="en-US" altLang="zh-CN" dirty="0"/>
              <a:t>The goal is to reduce the execution time by dividing a single larger task into multiple smaller tasks that run concurrently</a:t>
            </a:r>
            <a:endParaRPr dirty="0"/>
          </a:p>
        </p:txBody>
      </p:sp>
      <p:pic>
        <p:nvPicPr>
          <p:cNvPr id="5" name="Picture 4"/>
          <p:cNvPicPr>
            <a:picLocks noChangeAspect="1"/>
          </p:cNvPicPr>
          <p:nvPr/>
        </p:nvPicPr>
        <p:blipFill>
          <a:blip r:embed="rId1"/>
          <a:stretch>
            <a:fillRect/>
          </a:stretch>
        </p:blipFill>
        <p:spPr>
          <a:xfrm>
            <a:off x="142612" y="2494632"/>
            <a:ext cx="12192000" cy="41002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Distributed Processing Architecture</a:t>
            </a:r>
          </a:p>
        </p:txBody>
      </p:sp>
      <p:sp>
        <p:nvSpPr>
          <p:cNvPr id="3" name="Content Placeholder 2"/>
          <p:cNvSpPr>
            <a:spLocks noGrp="1"/>
          </p:cNvSpPr>
          <p:nvPr>
            <p:ph idx="1"/>
          </p:nvPr>
        </p:nvSpPr>
        <p:spPr/>
        <p:txBody>
          <a:bodyPr/>
          <a:lstStyle/>
          <a:p/>
          <a:p>
            <a:r>
              <a:t>Multiple machines (nodes)</a:t>
            </a:r>
          </a:p>
          <a:p>
            <a:r>
              <a:t>Data distributed</a:t>
            </a:r>
          </a:p>
          <a:p>
            <a:r>
              <a:t>Parallel execution across nodes</a:t>
            </a:r>
          </a:p>
          <a:p>
            <a:r>
              <a:t>Results aggregated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4765646" cy="1715345"/>
          </a:xfrm>
        </p:spPr>
        <p:txBody>
          <a:bodyPr>
            <a:normAutofit fontScale="90000"/>
          </a:bodyPr>
          <a:lstStyle/>
          <a:p>
            <a:r>
              <a:rPr dirty="0"/>
              <a:t>Distributed Processing Architecture</a:t>
            </a:r>
            <a:endParaRPr dirty="0"/>
          </a:p>
        </p:txBody>
      </p:sp>
      <p:pic>
        <p:nvPicPr>
          <p:cNvPr id="7" name="Picture 6"/>
          <p:cNvPicPr>
            <a:picLocks noChangeAspect="1"/>
          </p:cNvPicPr>
          <p:nvPr/>
        </p:nvPicPr>
        <p:blipFill>
          <a:blip r:embed="rId1"/>
          <a:stretch>
            <a:fillRect/>
          </a:stretch>
        </p:blipFill>
        <p:spPr>
          <a:xfrm>
            <a:off x="3960413" y="318179"/>
            <a:ext cx="7893231" cy="62216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Parallel vs Distributed</a:t>
            </a:r>
          </a:p>
        </p:txBody>
      </p:sp>
      <p:sp>
        <p:nvSpPr>
          <p:cNvPr id="3" name="Content Placeholder 2"/>
          <p:cNvSpPr>
            <a:spLocks noGrp="1"/>
          </p:cNvSpPr>
          <p:nvPr>
            <p:ph idx="1"/>
          </p:nvPr>
        </p:nvSpPr>
        <p:spPr>
          <a:xfrm>
            <a:off x="3086448" y="1926292"/>
            <a:ext cx="5520656" cy="2620541"/>
          </a:xfrm>
        </p:spPr>
        <p:txBody>
          <a:bodyPr/>
          <a:lstStyle/>
          <a:p>
            <a:endParaRPr dirty="0"/>
          </a:p>
          <a:p>
            <a:r>
              <a:rPr dirty="0"/>
              <a:t>Parallel: single system</a:t>
            </a:r>
            <a:endParaRPr dirty="0"/>
          </a:p>
          <a:p>
            <a:r>
              <a:rPr dirty="0"/>
              <a:t>Distributed: multiple systems</a:t>
            </a:r>
            <a:endParaRPr dirty="0"/>
          </a:p>
          <a:p>
            <a:r>
              <a:rPr dirty="0"/>
              <a:t>Scalability vs simplicity</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Hadoop Ecosystem</a:t>
            </a:r>
          </a:p>
        </p:txBody>
      </p:sp>
      <p:sp>
        <p:nvSpPr>
          <p:cNvPr id="3" name="Content Placeholder 2"/>
          <p:cNvSpPr>
            <a:spLocks noGrp="1"/>
          </p:cNvSpPr>
          <p:nvPr>
            <p:ph idx="1"/>
          </p:nvPr>
        </p:nvSpPr>
        <p:spPr>
          <a:xfrm>
            <a:off x="838200" y="1825625"/>
            <a:ext cx="4430086" cy="2838654"/>
          </a:xfrm>
        </p:spPr>
        <p:txBody>
          <a:bodyPr/>
          <a:lstStyle/>
          <a:p>
            <a:endParaRPr dirty="0"/>
          </a:p>
          <a:p>
            <a:r>
              <a:rPr dirty="0"/>
              <a:t>HDFS: storage</a:t>
            </a:r>
            <a:endParaRPr dirty="0"/>
          </a:p>
          <a:p>
            <a:r>
              <a:rPr dirty="0"/>
              <a:t>MapReduce: processing</a:t>
            </a:r>
            <a:endParaRPr dirty="0"/>
          </a:p>
          <a:p>
            <a:r>
              <a:rPr dirty="0"/>
              <a:t>Fault tolerance</a:t>
            </a:r>
            <a:endParaRPr dirty="0"/>
          </a:p>
          <a:p>
            <a:r>
              <a:rPr dirty="0"/>
              <a:t>Scalability</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151130" y="1945005"/>
            <a:ext cx="6342380" cy="4351655"/>
          </a:xfrm>
          <a:prstGeom prst="rect">
            <a:avLst/>
          </a:prstGeom>
        </p:spPr>
      </p:pic>
      <p:pic>
        <p:nvPicPr>
          <p:cNvPr id="5" name="图片 4"/>
          <p:cNvPicPr>
            <a:picLocks noChangeAspect="1"/>
          </p:cNvPicPr>
          <p:nvPr/>
        </p:nvPicPr>
        <p:blipFill>
          <a:blip r:embed="rId2"/>
          <a:stretch>
            <a:fillRect/>
          </a:stretch>
        </p:blipFill>
        <p:spPr>
          <a:xfrm>
            <a:off x="5911850" y="1951355"/>
            <a:ext cx="6652260" cy="355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MapReduce Pipeline</a:t>
            </a:r>
          </a:p>
        </p:txBody>
      </p:sp>
      <p:sp>
        <p:nvSpPr>
          <p:cNvPr id="3" name="Content Placeholder 2"/>
          <p:cNvSpPr>
            <a:spLocks noGrp="1"/>
          </p:cNvSpPr>
          <p:nvPr>
            <p:ph idx="1"/>
          </p:nvPr>
        </p:nvSpPr>
        <p:spPr/>
        <p:txBody>
          <a:bodyPr/>
          <a:lstStyle/>
          <a:p>
            <a:endParaRPr dirty="0"/>
          </a:p>
          <a:p>
            <a:r>
              <a:rPr dirty="0"/>
              <a:t>Map phase: process chunks</a:t>
            </a:r>
            <a:endParaRPr dirty="0"/>
          </a:p>
          <a:p>
            <a:r>
              <a:rPr dirty="0"/>
              <a:t>Shuffle: group keys</a:t>
            </a:r>
            <a:endParaRPr dirty="0"/>
          </a:p>
          <a:p>
            <a:r>
              <a:rPr dirty="0"/>
              <a:t>Reduce: aggregate results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Processing Workloads</a:t>
            </a:r>
          </a:p>
        </p:txBody>
      </p:sp>
      <p:sp>
        <p:nvSpPr>
          <p:cNvPr id="3" name="Content Placeholder 2"/>
          <p:cNvSpPr>
            <a:spLocks noGrp="1"/>
          </p:cNvSpPr>
          <p:nvPr>
            <p:ph idx="1"/>
          </p:nvPr>
        </p:nvSpPr>
        <p:spPr/>
        <p:txBody>
          <a:bodyPr/>
          <a:lstStyle/>
          <a:p/>
          <a:p>
            <a:r>
              <a:t>CPU-intensive</a:t>
            </a:r>
          </a:p>
          <a:p>
            <a:r>
              <a:t>I/O-intensive</a:t>
            </a:r>
          </a:p>
          <a:p>
            <a:r>
              <a:t>Mixed workloads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Cluster Architecture</a:t>
            </a:r>
          </a:p>
        </p:txBody>
      </p:sp>
      <p:sp>
        <p:nvSpPr>
          <p:cNvPr id="3" name="Content Placeholder 2"/>
          <p:cNvSpPr>
            <a:spLocks noGrp="1"/>
          </p:cNvSpPr>
          <p:nvPr>
            <p:ph idx="1"/>
          </p:nvPr>
        </p:nvSpPr>
        <p:spPr/>
        <p:txBody>
          <a:bodyPr/>
          <a:lstStyle/>
          <a:p/>
          <a:p>
            <a:r>
              <a:t>Group of machines</a:t>
            </a:r>
          </a:p>
          <a:p>
            <a:r>
              <a:t>Master-slave model</a:t>
            </a:r>
          </a:p>
          <a:p>
            <a:r>
              <a:t>Resource sharing</a:t>
            </a:r>
          </a:p>
          <a:p>
            <a:r>
              <a:t>Fault tolerance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Batch Processing Pipeline</a:t>
            </a:r>
          </a:p>
        </p:txBody>
      </p:sp>
      <p:sp>
        <p:nvSpPr>
          <p:cNvPr id="3" name="Content Placeholder 2"/>
          <p:cNvSpPr>
            <a:spLocks noGrp="1"/>
          </p:cNvSpPr>
          <p:nvPr>
            <p:ph idx="1"/>
          </p:nvPr>
        </p:nvSpPr>
        <p:spPr/>
        <p:txBody>
          <a:bodyPr/>
          <a:lstStyle/>
          <a:p/>
          <a:p>
            <a:r>
              <a:t>Collect data</a:t>
            </a:r>
          </a:p>
          <a:p>
            <a:r>
              <a:t>Store data</a:t>
            </a:r>
          </a:p>
          <a:p>
            <a:r>
              <a:t>Process periodically</a:t>
            </a:r>
          </a:p>
          <a:p>
            <a:r>
              <a:t>Generate reports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Real-Time Processing Pipeline</a:t>
            </a:r>
          </a:p>
        </p:txBody>
      </p:sp>
      <p:sp>
        <p:nvSpPr>
          <p:cNvPr id="3" name="Content Placeholder 2"/>
          <p:cNvSpPr>
            <a:spLocks noGrp="1"/>
          </p:cNvSpPr>
          <p:nvPr>
            <p:ph idx="1"/>
          </p:nvPr>
        </p:nvSpPr>
        <p:spPr/>
        <p:txBody>
          <a:bodyPr/>
          <a:lstStyle/>
          <a:p/>
          <a:p>
            <a:r>
              <a:t>Data streams</a:t>
            </a:r>
          </a:p>
          <a:p>
            <a:r>
              <a:t>Immediate processing</a:t>
            </a:r>
          </a:p>
          <a:p>
            <a:r>
              <a:t>Low latency</a:t>
            </a:r>
          </a:p>
          <a:p>
            <a:r>
              <a:t>Continuous output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Batch vs Real-Time</a:t>
            </a:r>
          </a:p>
        </p:txBody>
      </p:sp>
      <p:sp>
        <p:nvSpPr>
          <p:cNvPr id="3" name="Content Placeholder 2"/>
          <p:cNvSpPr>
            <a:spLocks noGrp="1"/>
          </p:cNvSpPr>
          <p:nvPr>
            <p:ph idx="1"/>
          </p:nvPr>
        </p:nvSpPr>
        <p:spPr/>
        <p:txBody>
          <a:bodyPr/>
          <a:lstStyle/>
          <a:p>
            <a:endParaRPr dirty="0"/>
          </a:p>
          <a:p>
            <a:r>
              <a:rPr dirty="0"/>
              <a:t>Batch: historical analysis</a:t>
            </a:r>
            <a:endParaRPr dirty="0"/>
          </a:p>
          <a:p>
            <a:r>
              <a:rPr dirty="0"/>
              <a:t>Real-time: instant decisions</a:t>
            </a:r>
            <a:endParaRPr dirty="0"/>
          </a:p>
          <a:p>
            <a:r>
              <a:rPr b="1" dirty="0"/>
              <a:t>Trade-off: latency vs throughput</a:t>
            </a:r>
            <a:endParaRPr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69179" y="1025935"/>
          <a:ext cx="11853642" cy="4200406"/>
        </p:xfrm>
        <a:graphic>
          <a:graphicData uri="http://schemas.openxmlformats.org/drawingml/2006/table">
            <a:tbl>
              <a:tblPr/>
              <a:tblGrid>
                <a:gridCol w="1975607"/>
                <a:gridCol w="1975607"/>
                <a:gridCol w="1975607"/>
                <a:gridCol w="1975607"/>
                <a:gridCol w="1975607"/>
                <a:gridCol w="1975607"/>
              </a:tblGrid>
              <a:tr h="696598">
                <a:tc>
                  <a:txBody>
                    <a:bodyPr/>
                    <a:lstStyle/>
                    <a:p>
                      <a:r>
                        <a:rPr lang="en-US" sz="1600" b="1" dirty="0"/>
                        <a:t>Concept</a:t>
                      </a:r>
                      <a:endParaRPr lang="en-US" sz="1600" b="1" dirty="0"/>
                    </a:p>
                  </a:txBody>
                  <a:tcPr marL="43083" marR="43083" marT="21541" marB="21541" anchor="ctr">
                    <a:lnL>
                      <a:noFill/>
                    </a:lnL>
                    <a:lnR>
                      <a:noFill/>
                    </a:lnR>
                    <a:lnT>
                      <a:noFill/>
                    </a:lnT>
                    <a:lnB>
                      <a:noFill/>
                    </a:lnB>
                    <a:noFill/>
                  </a:tcPr>
                </a:tc>
                <a:tc>
                  <a:txBody>
                    <a:bodyPr/>
                    <a:lstStyle/>
                    <a:p>
                      <a:r>
                        <a:rPr lang="en-US" sz="1600" b="1"/>
                        <a:t>Definition</a:t>
                      </a:r>
                      <a:endParaRPr lang="en-US" sz="1600" b="1"/>
                    </a:p>
                  </a:txBody>
                  <a:tcPr marL="43083" marR="43083" marT="21541" marB="21541" anchor="ctr">
                    <a:lnL>
                      <a:noFill/>
                    </a:lnL>
                    <a:lnR>
                      <a:noFill/>
                    </a:lnR>
                    <a:lnT>
                      <a:noFill/>
                    </a:lnT>
                    <a:lnB>
                      <a:noFill/>
                    </a:lnB>
                    <a:noFill/>
                  </a:tcPr>
                </a:tc>
                <a:tc>
                  <a:txBody>
                    <a:bodyPr/>
                    <a:lstStyle/>
                    <a:p>
                      <a:r>
                        <a:rPr lang="en-US" sz="1600" b="1"/>
                        <a:t>Key Characteristics</a:t>
                      </a:r>
                      <a:endParaRPr lang="en-US" sz="1600" b="1"/>
                    </a:p>
                  </a:txBody>
                  <a:tcPr marL="43083" marR="43083" marT="21541" marB="21541" anchor="ctr">
                    <a:lnL>
                      <a:noFill/>
                    </a:lnL>
                    <a:lnR>
                      <a:noFill/>
                    </a:lnR>
                    <a:lnT>
                      <a:noFill/>
                    </a:lnT>
                    <a:lnB>
                      <a:noFill/>
                    </a:lnB>
                    <a:noFill/>
                  </a:tcPr>
                </a:tc>
                <a:tc>
                  <a:txBody>
                    <a:bodyPr/>
                    <a:lstStyle/>
                    <a:p>
                      <a:r>
                        <a:rPr lang="en-US" sz="1600" b="1"/>
                        <a:t>Advantages</a:t>
                      </a:r>
                      <a:endParaRPr lang="en-US" sz="1600" b="1"/>
                    </a:p>
                  </a:txBody>
                  <a:tcPr marL="43083" marR="43083" marT="21541" marB="21541" anchor="ctr">
                    <a:lnL>
                      <a:noFill/>
                    </a:lnL>
                    <a:lnR>
                      <a:noFill/>
                    </a:lnR>
                    <a:lnT>
                      <a:noFill/>
                    </a:lnT>
                    <a:lnB>
                      <a:noFill/>
                    </a:lnB>
                    <a:noFill/>
                  </a:tcPr>
                </a:tc>
                <a:tc>
                  <a:txBody>
                    <a:bodyPr/>
                    <a:lstStyle/>
                    <a:p>
                      <a:r>
                        <a:rPr lang="en-US" sz="1600" b="1"/>
                        <a:t>Limitations</a:t>
                      </a:r>
                      <a:endParaRPr lang="en-US" sz="1600" b="1"/>
                    </a:p>
                  </a:txBody>
                  <a:tcPr marL="43083" marR="43083" marT="21541" marB="21541" anchor="ctr">
                    <a:lnL>
                      <a:noFill/>
                    </a:lnL>
                    <a:lnR>
                      <a:noFill/>
                    </a:lnR>
                    <a:lnT>
                      <a:noFill/>
                    </a:lnT>
                    <a:lnB>
                      <a:noFill/>
                    </a:lnB>
                    <a:noFill/>
                  </a:tcPr>
                </a:tc>
                <a:tc>
                  <a:txBody>
                    <a:bodyPr/>
                    <a:lstStyle/>
                    <a:p>
                      <a:r>
                        <a:rPr lang="en-US" sz="1600" b="1"/>
                        <a:t>Real-World Example</a:t>
                      </a:r>
                      <a:endParaRPr lang="en-US" sz="1600" b="1"/>
                    </a:p>
                  </a:txBody>
                  <a:tcPr marL="43083" marR="43083" marT="21541" marB="21541" anchor="ctr">
                    <a:lnL>
                      <a:noFill/>
                    </a:lnL>
                    <a:lnR>
                      <a:noFill/>
                    </a:lnR>
                    <a:lnT>
                      <a:noFill/>
                    </a:lnT>
                    <a:lnB>
                      <a:noFill/>
                    </a:lnB>
                    <a:noFill/>
                  </a:tcPr>
                </a:tc>
              </a:tr>
              <a:tr h="1470558">
                <a:tc>
                  <a:txBody>
                    <a:bodyPr/>
                    <a:lstStyle/>
                    <a:p>
                      <a:r>
                        <a:rPr lang="en-US" sz="1600" b="1"/>
                        <a:t>Parallel Processing</a:t>
                      </a:r>
                      <a:endParaRPr lang="en-US" sz="1600" b="1"/>
                    </a:p>
                  </a:txBody>
                  <a:tcPr marL="43083" marR="43083" marT="21541" marB="21541" anchor="ctr">
                    <a:lnL>
                      <a:noFill/>
                    </a:lnL>
                    <a:lnR>
                      <a:noFill/>
                    </a:lnR>
                    <a:lnT>
                      <a:noFill/>
                    </a:lnT>
                    <a:lnB>
                      <a:noFill/>
                    </a:lnB>
                    <a:noFill/>
                  </a:tcPr>
                </a:tc>
                <a:tc>
                  <a:txBody>
                    <a:bodyPr/>
                    <a:lstStyle/>
                    <a:p>
                      <a:r>
                        <a:rPr lang="en-US" sz="1600" b="1"/>
                        <a:t>Processing data simultaneously on multiple CPU cores (single machine)</a:t>
                      </a:r>
                      <a:endParaRPr lang="en-US" sz="1600" b="1"/>
                    </a:p>
                  </a:txBody>
                  <a:tcPr marL="43083" marR="43083" marT="21541" marB="21541" anchor="ctr">
                    <a:lnL>
                      <a:noFill/>
                    </a:lnL>
                    <a:lnR>
                      <a:noFill/>
                    </a:lnR>
                    <a:lnT>
                      <a:noFill/>
                    </a:lnT>
                    <a:lnB>
                      <a:noFill/>
                    </a:lnB>
                    <a:noFill/>
                  </a:tcPr>
                </a:tc>
                <a:tc>
                  <a:txBody>
                    <a:bodyPr/>
                    <a:lstStyle/>
                    <a:p>
                      <a:r>
                        <a:rPr lang="en-US" sz="1600" b="1"/>
                        <a:t>Multi-core, shared memory, fast execution</a:t>
                      </a:r>
                      <a:endParaRPr lang="en-US" sz="1600" b="1"/>
                    </a:p>
                  </a:txBody>
                  <a:tcPr marL="43083" marR="43083" marT="21541" marB="21541" anchor="ctr">
                    <a:lnL>
                      <a:noFill/>
                    </a:lnL>
                    <a:lnR>
                      <a:noFill/>
                    </a:lnR>
                    <a:lnT>
                      <a:noFill/>
                    </a:lnT>
                    <a:lnB>
                      <a:noFill/>
                    </a:lnB>
                    <a:noFill/>
                  </a:tcPr>
                </a:tc>
                <a:tc>
                  <a:txBody>
                    <a:bodyPr/>
                    <a:lstStyle/>
                    <a:p>
                      <a:r>
                        <a:rPr lang="en-US" sz="1600" b="1"/>
                        <a:t>Faster than sequential processing</a:t>
                      </a:r>
                      <a:endParaRPr lang="en-US" sz="1600" b="1"/>
                    </a:p>
                  </a:txBody>
                  <a:tcPr marL="43083" marR="43083" marT="21541" marB="21541" anchor="ctr">
                    <a:lnL>
                      <a:noFill/>
                    </a:lnL>
                    <a:lnR>
                      <a:noFill/>
                    </a:lnR>
                    <a:lnT>
                      <a:noFill/>
                    </a:lnT>
                    <a:lnB>
                      <a:noFill/>
                    </a:lnB>
                    <a:noFill/>
                  </a:tcPr>
                </a:tc>
                <a:tc>
                  <a:txBody>
                    <a:bodyPr/>
                    <a:lstStyle/>
                    <a:p>
                      <a:r>
                        <a:rPr lang="en-US" sz="1600" b="1"/>
                        <a:t>Limited scalability (single machine)</a:t>
                      </a:r>
                      <a:endParaRPr lang="en-US" sz="1600" b="1"/>
                    </a:p>
                  </a:txBody>
                  <a:tcPr marL="43083" marR="43083" marT="21541" marB="21541" anchor="ctr">
                    <a:lnL>
                      <a:noFill/>
                    </a:lnL>
                    <a:lnR>
                      <a:noFill/>
                    </a:lnR>
                    <a:lnT>
                      <a:noFill/>
                    </a:lnT>
                    <a:lnB>
                      <a:noFill/>
                    </a:lnB>
                    <a:noFill/>
                  </a:tcPr>
                </a:tc>
                <a:tc>
                  <a:txBody>
                    <a:bodyPr/>
                    <a:lstStyle/>
                    <a:p>
                      <a:r>
                        <a:rPr lang="en-US" sz="1600" b="1"/>
                        <a:t>Multi-threaded data sorting</a:t>
                      </a:r>
                      <a:endParaRPr lang="en-US" sz="1600" b="1"/>
                    </a:p>
                  </a:txBody>
                  <a:tcPr marL="43083" marR="43083" marT="21541" marB="21541" anchor="ctr">
                    <a:lnL>
                      <a:noFill/>
                    </a:lnL>
                    <a:lnR>
                      <a:noFill/>
                    </a:lnR>
                    <a:lnT>
                      <a:noFill/>
                    </a:lnT>
                    <a:lnB>
                      <a:noFill/>
                    </a:lnB>
                    <a:noFill/>
                  </a:tcPr>
                </a:tc>
              </a:tr>
              <a:tr h="1016625">
                <a:tc>
                  <a:txBody>
                    <a:bodyPr/>
                    <a:lstStyle/>
                    <a:p>
                      <a:r>
                        <a:rPr lang="en-US" sz="1600" b="1"/>
                        <a:t>Distributed Processing</a:t>
                      </a:r>
                      <a:endParaRPr lang="en-US" sz="1600" b="1"/>
                    </a:p>
                  </a:txBody>
                  <a:tcPr marL="43083" marR="43083" marT="21541" marB="21541" anchor="ctr">
                    <a:lnL>
                      <a:noFill/>
                    </a:lnL>
                    <a:lnR>
                      <a:noFill/>
                    </a:lnR>
                    <a:lnT>
                      <a:noFill/>
                    </a:lnT>
                    <a:lnB>
                      <a:noFill/>
                    </a:lnB>
                    <a:noFill/>
                  </a:tcPr>
                </a:tc>
                <a:tc>
                  <a:txBody>
                    <a:bodyPr/>
                    <a:lstStyle/>
                    <a:p>
                      <a:r>
                        <a:rPr lang="en-US" sz="1600" b="1"/>
                        <a:t>Processing data across multiple machines (nodes)</a:t>
                      </a:r>
                      <a:endParaRPr lang="en-US" sz="1600" b="1"/>
                    </a:p>
                  </a:txBody>
                  <a:tcPr marL="43083" marR="43083" marT="21541" marB="21541" anchor="ctr">
                    <a:lnL>
                      <a:noFill/>
                    </a:lnL>
                    <a:lnR>
                      <a:noFill/>
                    </a:lnR>
                    <a:lnT>
                      <a:noFill/>
                    </a:lnT>
                    <a:lnB>
                      <a:noFill/>
                    </a:lnB>
                    <a:noFill/>
                  </a:tcPr>
                </a:tc>
                <a:tc>
                  <a:txBody>
                    <a:bodyPr/>
                    <a:lstStyle/>
                    <a:p>
                      <a:r>
                        <a:rPr lang="en-US" sz="1600" b="1"/>
                        <a:t>Network-based, data distributed, scalable</a:t>
                      </a:r>
                      <a:endParaRPr lang="en-US" sz="1600" b="1"/>
                    </a:p>
                  </a:txBody>
                  <a:tcPr marL="43083" marR="43083" marT="21541" marB="21541" anchor="ctr">
                    <a:lnL>
                      <a:noFill/>
                    </a:lnL>
                    <a:lnR>
                      <a:noFill/>
                    </a:lnR>
                    <a:lnT>
                      <a:noFill/>
                    </a:lnT>
                    <a:lnB>
                      <a:noFill/>
                    </a:lnB>
                    <a:noFill/>
                  </a:tcPr>
                </a:tc>
                <a:tc>
                  <a:txBody>
                    <a:bodyPr/>
                    <a:lstStyle/>
                    <a:p>
                      <a:r>
                        <a:rPr lang="en-US" sz="1600" b="1" dirty="0"/>
                        <a:t>Handles Big Data, high scalability</a:t>
                      </a:r>
                      <a:endParaRPr lang="en-US" sz="1600" b="1" dirty="0"/>
                    </a:p>
                  </a:txBody>
                  <a:tcPr marL="43083" marR="43083" marT="21541" marB="21541" anchor="ctr">
                    <a:lnL>
                      <a:noFill/>
                    </a:lnL>
                    <a:lnR>
                      <a:noFill/>
                    </a:lnR>
                    <a:lnT>
                      <a:noFill/>
                    </a:lnT>
                    <a:lnB>
                      <a:noFill/>
                    </a:lnB>
                    <a:noFill/>
                  </a:tcPr>
                </a:tc>
                <a:tc>
                  <a:txBody>
                    <a:bodyPr/>
                    <a:lstStyle/>
                    <a:p>
                      <a:r>
                        <a:rPr lang="en-US" sz="1600" b="1"/>
                        <a:t>Network overhead, complexity</a:t>
                      </a:r>
                      <a:endParaRPr lang="en-US" sz="1600" b="1"/>
                    </a:p>
                  </a:txBody>
                  <a:tcPr marL="43083" marR="43083" marT="21541" marB="21541" anchor="ctr">
                    <a:lnL>
                      <a:noFill/>
                    </a:lnL>
                    <a:lnR>
                      <a:noFill/>
                    </a:lnR>
                    <a:lnT>
                      <a:noFill/>
                    </a:lnT>
                    <a:lnB>
                      <a:noFill/>
                    </a:lnB>
                    <a:noFill/>
                  </a:tcPr>
                </a:tc>
                <a:tc>
                  <a:txBody>
                    <a:bodyPr/>
                    <a:lstStyle/>
                    <a:p>
                      <a:r>
                        <a:rPr lang="en-US" sz="1600" b="1"/>
                        <a:t>Google search processing</a:t>
                      </a:r>
                      <a:endParaRPr lang="en-US" sz="1600" b="1"/>
                    </a:p>
                  </a:txBody>
                  <a:tcPr marL="43083" marR="43083" marT="21541" marB="21541" anchor="ctr">
                    <a:lnL>
                      <a:noFill/>
                    </a:lnL>
                    <a:lnR>
                      <a:noFill/>
                    </a:lnR>
                    <a:lnT>
                      <a:noFill/>
                    </a:lnT>
                    <a:lnB>
                      <a:noFill/>
                    </a:lnB>
                    <a:noFill/>
                  </a:tcPr>
                </a:tc>
              </a:tr>
              <a:tr h="1016625">
                <a:tc>
                  <a:txBody>
                    <a:bodyPr/>
                    <a:lstStyle/>
                    <a:p>
                      <a:r>
                        <a:rPr lang="en-US" sz="1600" b="1"/>
                        <a:t>Hadoop</a:t>
                      </a:r>
                      <a:endParaRPr lang="en-US" sz="1600" b="1"/>
                    </a:p>
                  </a:txBody>
                  <a:tcPr marL="43083" marR="43083" marT="21541" marB="21541" anchor="ctr">
                    <a:lnL>
                      <a:noFill/>
                    </a:lnL>
                    <a:lnR>
                      <a:noFill/>
                    </a:lnR>
                    <a:lnT>
                      <a:noFill/>
                    </a:lnT>
                    <a:lnB>
                      <a:noFill/>
                    </a:lnB>
                    <a:noFill/>
                  </a:tcPr>
                </a:tc>
                <a:tc>
                  <a:txBody>
                    <a:bodyPr/>
                    <a:lstStyle/>
                    <a:p>
                      <a:r>
                        <a:rPr lang="en-US" sz="1600" b="1"/>
                        <a:t>Framework for distributed storage &amp; processing</a:t>
                      </a:r>
                      <a:endParaRPr lang="en-US" sz="1600" b="1"/>
                    </a:p>
                  </a:txBody>
                  <a:tcPr marL="43083" marR="43083" marT="21541" marB="21541" anchor="ctr">
                    <a:lnL>
                      <a:noFill/>
                    </a:lnL>
                    <a:lnR>
                      <a:noFill/>
                    </a:lnR>
                    <a:lnT>
                      <a:noFill/>
                    </a:lnT>
                    <a:lnB>
                      <a:noFill/>
                    </a:lnB>
                    <a:noFill/>
                  </a:tcPr>
                </a:tc>
                <a:tc>
                  <a:txBody>
                    <a:bodyPr/>
                    <a:lstStyle/>
                    <a:p>
                      <a:r>
                        <a:rPr lang="en-US" sz="1600" b="1"/>
                        <a:t>HDFS + MapReduce, fault-tolerant</a:t>
                      </a:r>
                      <a:endParaRPr lang="en-US" sz="1600" b="1"/>
                    </a:p>
                  </a:txBody>
                  <a:tcPr marL="43083" marR="43083" marT="21541" marB="21541" anchor="ctr">
                    <a:lnL>
                      <a:noFill/>
                    </a:lnL>
                    <a:lnR>
                      <a:noFill/>
                    </a:lnR>
                    <a:lnT>
                      <a:noFill/>
                    </a:lnT>
                    <a:lnB>
                      <a:noFill/>
                    </a:lnB>
                    <a:noFill/>
                  </a:tcPr>
                </a:tc>
                <a:tc>
                  <a:txBody>
                    <a:bodyPr/>
                    <a:lstStyle/>
                    <a:p>
                      <a:r>
                        <a:rPr lang="en-US" sz="1600" b="1"/>
                        <a:t>Scalable, cost-effective</a:t>
                      </a:r>
                      <a:endParaRPr lang="en-US" sz="1600" b="1"/>
                    </a:p>
                  </a:txBody>
                  <a:tcPr marL="43083" marR="43083" marT="21541" marB="21541" anchor="ctr">
                    <a:lnL>
                      <a:noFill/>
                    </a:lnL>
                    <a:lnR>
                      <a:noFill/>
                    </a:lnR>
                    <a:lnT>
                      <a:noFill/>
                    </a:lnT>
                    <a:lnB>
                      <a:noFill/>
                    </a:lnB>
                    <a:noFill/>
                  </a:tcPr>
                </a:tc>
                <a:tc>
                  <a:txBody>
                    <a:bodyPr/>
                    <a:lstStyle/>
                    <a:p>
                      <a:r>
                        <a:rPr lang="en-US" sz="1600" b="1"/>
                        <a:t>Batch-oriented, higher latency</a:t>
                      </a:r>
                      <a:endParaRPr lang="en-US" sz="1600" b="1"/>
                    </a:p>
                  </a:txBody>
                  <a:tcPr marL="43083" marR="43083" marT="21541" marB="21541" anchor="ctr">
                    <a:lnL>
                      <a:noFill/>
                    </a:lnL>
                    <a:lnR>
                      <a:noFill/>
                    </a:lnR>
                    <a:lnT>
                      <a:noFill/>
                    </a:lnT>
                    <a:lnB>
                      <a:noFill/>
                    </a:lnB>
                    <a:noFill/>
                  </a:tcPr>
                </a:tc>
                <a:tc>
                  <a:txBody>
                    <a:bodyPr/>
                    <a:lstStyle/>
                    <a:p>
                      <a:r>
                        <a:rPr lang="en-US" sz="1600" b="1" dirty="0"/>
                        <a:t>Log processing systems</a:t>
                      </a:r>
                      <a:endParaRPr lang="en-US" sz="1600" b="1" dirty="0"/>
                    </a:p>
                  </a:txBody>
                  <a:tcPr marL="43083" marR="43083" marT="21541" marB="21541" anchor="ctr">
                    <a:lnL>
                      <a:noFill/>
                    </a:lnL>
                    <a:lnR>
                      <a:noFill/>
                    </a:lnR>
                    <a:lnT>
                      <a:noFill/>
                    </a:lnT>
                    <a:lnB>
                      <a:noFill/>
                    </a:lnB>
                    <a:no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838200" y="3170783"/>
          <a:ext cx="10515600" cy="1828800"/>
        </p:xfrm>
        <a:graphic>
          <a:graphicData uri="http://schemas.openxmlformats.org/drawingml/2006/table">
            <a:tbl>
              <a:tblPr/>
              <a:tblGrid>
                <a:gridCol w="3505200"/>
                <a:gridCol w="3505200"/>
                <a:gridCol w="3505200"/>
              </a:tblGrid>
              <a:tr h="0">
                <a:tc>
                  <a:txBody>
                    <a:bodyPr/>
                    <a:lstStyle/>
                    <a:p>
                      <a:r>
                        <a:rPr lang="en-US"/>
                        <a:t>Feature</a:t>
                      </a:r>
                      <a:endParaRPr lang="en-US"/>
                    </a:p>
                  </a:txBody>
                  <a:tcPr anchor="ctr">
                    <a:lnL>
                      <a:noFill/>
                    </a:lnL>
                    <a:lnR>
                      <a:noFill/>
                    </a:lnR>
                    <a:lnT>
                      <a:noFill/>
                    </a:lnT>
                    <a:lnB>
                      <a:noFill/>
                    </a:lnB>
                    <a:noFill/>
                  </a:tcPr>
                </a:tc>
                <a:tc>
                  <a:txBody>
                    <a:bodyPr/>
                    <a:lstStyle/>
                    <a:p>
                      <a:r>
                        <a:rPr lang="en-US"/>
                        <a:t>Batch Processing</a:t>
                      </a:r>
                      <a:endParaRPr lang="en-US"/>
                    </a:p>
                  </a:txBody>
                  <a:tcPr anchor="ctr">
                    <a:lnL>
                      <a:noFill/>
                    </a:lnL>
                    <a:lnR>
                      <a:noFill/>
                    </a:lnR>
                    <a:lnT>
                      <a:noFill/>
                    </a:lnT>
                    <a:lnB>
                      <a:noFill/>
                    </a:lnB>
                    <a:noFill/>
                  </a:tcPr>
                </a:tc>
                <a:tc>
                  <a:txBody>
                    <a:bodyPr/>
                    <a:lstStyle/>
                    <a:p>
                      <a:r>
                        <a:rPr lang="en-US"/>
                        <a:t>Real-Time Processing</a:t>
                      </a:r>
                      <a:endParaRPr lang="en-US"/>
                    </a:p>
                  </a:txBody>
                  <a:tcPr anchor="ctr">
                    <a:lnL>
                      <a:noFill/>
                    </a:lnL>
                    <a:lnR>
                      <a:noFill/>
                    </a:lnR>
                    <a:lnT>
                      <a:noFill/>
                    </a:lnT>
                    <a:lnB>
                      <a:noFill/>
                    </a:lnB>
                    <a:noFill/>
                  </a:tcPr>
                </a:tc>
              </a:tr>
              <a:tr h="0">
                <a:tc>
                  <a:txBody>
                    <a:bodyPr/>
                    <a:lstStyle/>
                    <a:p>
                      <a:r>
                        <a:rPr lang="en-US"/>
                        <a:t>Data Type</a:t>
                      </a:r>
                      <a:endParaRPr lang="en-US"/>
                    </a:p>
                  </a:txBody>
                  <a:tcPr anchor="ctr">
                    <a:lnL>
                      <a:noFill/>
                    </a:lnL>
                    <a:lnR>
                      <a:noFill/>
                    </a:lnR>
                    <a:lnT>
                      <a:noFill/>
                    </a:lnT>
                    <a:lnB>
                      <a:noFill/>
                    </a:lnB>
                    <a:noFill/>
                  </a:tcPr>
                </a:tc>
                <a:tc>
                  <a:txBody>
                    <a:bodyPr/>
                    <a:lstStyle/>
                    <a:p>
                      <a:r>
                        <a:rPr lang="en-US"/>
                        <a:t>Historical</a:t>
                      </a:r>
                      <a:endParaRPr lang="en-US"/>
                    </a:p>
                  </a:txBody>
                  <a:tcPr anchor="ctr">
                    <a:lnL>
                      <a:noFill/>
                    </a:lnL>
                    <a:lnR>
                      <a:noFill/>
                    </a:lnR>
                    <a:lnT>
                      <a:noFill/>
                    </a:lnT>
                    <a:lnB>
                      <a:noFill/>
                    </a:lnB>
                    <a:noFill/>
                  </a:tcPr>
                </a:tc>
                <a:tc>
                  <a:txBody>
                    <a:bodyPr/>
                    <a:lstStyle/>
                    <a:p>
                      <a:r>
                        <a:rPr lang="en-US"/>
                        <a:t>Streaming</a:t>
                      </a:r>
                      <a:endParaRPr lang="en-US"/>
                    </a:p>
                  </a:txBody>
                  <a:tcPr anchor="ctr">
                    <a:lnL>
                      <a:noFill/>
                    </a:lnL>
                    <a:lnR>
                      <a:noFill/>
                    </a:lnR>
                    <a:lnT>
                      <a:noFill/>
                    </a:lnT>
                    <a:lnB>
                      <a:noFill/>
                    </a:lnB>
                    <a:noFill/>
                  </a:tcPr>
                </a:tc>
              </a:tr>
              <a:tr h="0">
                <a:tc>
                  <a:txBody>
                    <a:bodyPr/>
                    <a:lstStyle/>
                    <a:p>
                      <a:r>
                        <a:rPr lang="en-US"/>
                        <a:t>Latency</a:t>
                      </a:r>
                      <a:endParaRPr lang="en-US"/>
                    </a:p>
                  </a:txBody>
                  <a:tcPr anchor="ctr">
                    <a:lnL>
                      <a:noFill/>
                    </a:lnL>
                    <a:lnR>
                      <a:noFill/>
                    </a:lnR>
                    <a:lnT>
                      <a:noFill/>
                    </a:lnT>
                    <a:lnB>
                      <a:noFill/>
                    </a:lnB>
                    <a:noFill/>
                  </a:tcPr>
                </a:tc>
                <a:tc>
                  <a:txBody>
                    <a:bodyPr/>
                    <a:lstStyle/>
                    <a:p>
                      <a:r>
                        <a:rPr lang="en-US"/>
                        <a:t>High</a:t>
                      </a:r>
                      <a:endParaRPr lang="en-US"/>
                    </a:p>
                  </a:txBody>
                  <a:tcPr anchor="ctr">
                    <a:lnL>
                      <a:noFill/>
                    </a:lnL>
                    <a:lnR>
                      <a:noFill/>
                    </a:lnR>
                    <a:lnT>
                      <a:noFill/>
                    </a:lnT>
                    <a:lnB>
                      <a:noFill/>
                    </a:lnB>
                    <a:noFill/>
                  </a:tcPr>
                </a:tc>
                <a:tc>
                  <a:txBody>
                    <a:bodyPr/>
                    <a:lstStyle/>
                    <a:p>
                      <a:r>
                        <a:rPr lang="en-US"/>
                        <a:t>Low</a:t>
                      </a:r>
                      <a:endParaRPr lang="en-US"/>
                    </a:p>
                  </a:txBody>
                  <a:tcPr anchor="ctr">
                    <a:lnL>
                      <a:noFill/>
                    </a:lnL>
                    <a:lnR>
                      <a:noFill/>
                    </a:lnR>
                    <a:lnT>
                      <a:noFill/>
                    </a:lnT>
                    <a:lnB>
                      <a:noFill/>
                    </a:lnB>
                    <a:noFill/>
                  </a:tcPr>
                </a:tc>
              </a:tr>
              <a:tr h="0">
                <a:tc>
                  <a:txBody>
                    <a:bodyPr/>
                    <a:lstStyle/>
                    <a:p>
                      <a:r>
                        <a:rPr lang="en-US"/>
                        <a:t>Output</a:t>
                      </a:r>
                      <a:endParaRPr lang="en-US"/>
                    </a:p>
                  </a:txBody>
                  <a:tcPr anchor="ctr">
                    <a:lnL>
                      <a:noFill/>
                    </a:lnL>
                    <a:lnR>
                      <a:noFill/>
                    </a:lnR>
                    <a:lnT>
                      <a:noFill/>
                    </a:lnT>
                    <a:lnB>
                      <a:noFill/>
                    </a:lnB>
                    <a:noFill/>
                  </a:tcPr>
                </a:tc>
                <a:tc>
                  <a:txBody>
                    <a:bodyPr/>
                    <a:lstStyle/>
                    <a:p>
                      <a:r>
                        <a:rPr lang="en-US"/>
                        <a:t>Delayed</a:t>
                      </a:r>
                      <a:endParaRPr lang="en-US"/>
                    </a:p>
                  </a:txBody>
                  <a:tcPr anchor="ctr">
                    <a:lnL>
                      <a:noFill/>
                    </a:lnL>
                    <a:lnR>
                      <a:noFill/>
                    </a:lnR>
                    <a:lnT>
                      <a:noFill/>
                    </a:lnT>
                    <a:lnB>
                      <a:noFill/>
                    </a:lnB>
                    <a:noFill/>
                  </a:tcPr>
                </a:tc>
                <a:tc>
                  <a:txBody>
                    <a:bodyPr/>
                    <a:lstStyle/>
                    <a:p>
                      <a:r>
                        <a:rPr lang="en-US"/>
                        <a:t>Instant</a:t>
                      </a:r>
                      <a:endParaRPr lang="en-US"/>
                    </a:p>
                  </a:txBody>
                  <a:tcPr anchor="ctr">
                    <a:lnL>
                      <a:noFill/>
                    </a:lnL>
                    <a:lnR>
                      <a:noFill/>
                    </a:lnR>
                    <a:lnT>
                      <a:noFill/>
                    </a:lnT>
                    <a:lnB>
                      <a:noFill/>
                    </a:lnB>
                    <a:noFill/>
                  </a:tcPr>
                </a:tc>
              </a:tr>
              <a:tr h="0">
                <a:tc>
                  <a:txBody>
                    <a:bodyPr/>
                    <a:lstStyle/>
                    <a:p>
                      <a:r>
                        <a:rPr lang="en-US"/>
                        <a:t>Use Case</a:t>
                      </a:r>
                      <a:endParaRPr lang="en-US"/>
                    </a:p>
                  </a:txBody>
                  <a:tcPr anchor="ctr">
                    <a:lnL>
                      <a:noFill/>
                    </a:lnL>
                    <a:lnR>
                      <a:noFill/>
                    </a:lnR>
                    <a:lnT>
                      <a:noFill/>
                    </a:lnT>
                    <a:lnB>
                      <a:noFill/>
                    </a:lnB>
                    <a:noFill/>
                  </a:tcPr>
                </a:tc>
                <a:tc>
                  <a:txBody>
                    <a:bodyPr/>
                    <a:lstStyle/>
                    <a:p>
                      <a:r>
                        <a:rPr lang="en-US"/>
                        <a:t>Reports</a:t>
                      </a:r>
                      <a:endParaRPr lang="en-US"/>
                    </a:p>
                  </a:txBody>
                  <a:tcPr anchor="ctr">
                    <a:lnL>
                      <a:noFill/>
                    </a:lnL>
                    <a:lnR>
                      <a:noFill/>
                    </a:lnR>
                    <a:lnT>
                      <a:noFill/>
                    </a:lnT>
                    <a:lnB>
                      <a:noFill/>
                    </a:lnB>
                    <a:noFill/>
                  </a:tcPr>
                </a:tc>
                <a:tc>
                  <a:txBody>
                    <a:bodyPr/>
                    <a:lstStyle/>
                    <a:p>
                      <a:r>
                        <a:rPr lang="en-US" dirty="0"/>
                        <a:t>Alerts/Monitoring</a:t>
                      </a:r>
                      <a:endParaRPr lang="en-US" dirty="0"/>
                    </a:p>
                  </a:txBody>
                  <a:tcPr anchor="ctr">
                    <a:lnL>
                      <a:noFill/>
                    </a:lnL>
                    <a:lnR>
                      <a:noFill/>
                    </a:lnR>
                    <a:lnT>
                      <a:noFill/>
                    </a:lnT>
                    <a:lnB>
                      <a:noFill/>
                    </a:lnB>
                    <a:noFill/>
                  </a:tcPr>
                </a:tc>
              </a:tr>
            </a:tbl>
          </a:graphicData>
        </a:graphic>
      </p:graphicFrame>
      <p:graphicFrame>
        <p:nvGraphicFramePr>
          <p:cNvPr id="6" name="Table 5"/>
          <p:cNvGraphicFramePr>
            <a:graphicFrameLocks noGrp="1"/>
          </p:cNvGraphicFramePr>
          <p:nvPr/>
        </p:nvGraphicFramePr>
        <p:xfrm>
          <a:off x="930479" y="519862"/>
          <a:ext cx="10515600" cy="1828800"/>
        </p:xfrm>
        <a:graphic>
          <a:graphicData uri="http://schemas.openxmlformats.org/drawingml/2006/table">
            <a:tbl>
              <a:tblPr/>
              <a:tblGrid>
                <a:gridCol w="3505200"/>
                <a:gridCol w="3505200"/>
                <a:gridCol w="3505200"/>
              </a:tblGrid>
              <a:tr h="0">
                <a:tc>
                  <a:txBody>
                    <a:bodyPr/>
                    <a:lstStyle/>
                    <a:p>
                      <a:r>
                        <a:rPr lang="en-US"/>
                        <a:t>Feature</a:t>
                      </a:r>
                      <a:endParaRPr lang="en-US"/>
                    </a:p>
                  </a:txBody>
                  <a:tcPr anchor="ctr">
                    <a:lnL>
                      <a:noFill/>
                    </a:lnL>
                    <a:lnR>
                      <a:noFill/>
                    </a:lnR>
                    <a:lnT>
                      <a:noFill/>
                    </a:lnT>
                    <a:lnB>
                      <a:noFill/>
                    </a:lnB>
                    <a:noFill/>
                  </a:tcPr>
                </a:tc>
                <a:tc>
                  <a:txBody>
                    <a:bodyPr/>
                    <a:lstStyle/>
                    <a:p>
                      <a:r>
                        <a:rPr lang="en-US"/>
                        <a:t>Parallel</a:t>
                      </a:r>
                      <a:endParaRPr lang="en-US"/>
                    </a:p>
                  </a:txBody>
                  <a:tcPr anchor="ctr">
                    <a:lnL>
                      <a:noFill/>
                    </a:lnL>
                    <a:lnR>
                      <a:noFill/>
                    </a:lnR>
                    <a:lnT>
                      <a:noFill/>
                    </a:lnT>
                    <a:lnB>
                      <a:noFill/>
                    </a:lnB>
                    <a:noFill/>
                  </a:tcPr>
                </a:tc>
                <a:tc>
                  <a:txBody>
                    <a:bodyPr/>
                    <a:lstStyle/>
                    <a:p>
                      <a:r>
                        <a:rPr lang="en-US"/>
                        <a:t>Distributed</a:t>
                      </a:r>
                      <a:endParaRPr lang="en-US"/>
                    </a:p>
                  </a:txBody>
                  <a:tcPr anchor="ctr">
                    <a:lnL>
                      <a:noFill/>
                    </a:lnL>
                    <a:lnR>
                      <a:noFill/>
                    </a:lnR>
                    <a:lnT>
                      <a:noFill/>
                    </a:lnT>
                    <a:lnB>
                      <a:noFill/>
                    </a:lnB>
                    <a:noFill/>
                  </a:tcPr>
                </a:tc>
              </a:tr>
              <a:tr h="0">
                <a:tc>
                  <a:txBody>
                    <a:bodyPr/>
                    <a:lstStyle/>
                    <a:p>
                      <a:r>
                        <a:rPr lang="en-US"/>
                        <a:t>Machines</a:t>
                      </a:r>
                      <a:endParaRPr lang="en-US"/>
                    </a:p>
                  </a:txBody>
                  <a:tcPr anchor="ctr">
                    <a:lnL>
                      <a:noFill/>
                    </a:lnL>
                    <a:lnR>
                      <a:noFill/>
                    </a:lnR>
                    <a:lnT>
                      <a:noFill/>
                    </a:lnT>
                    <a:lnB>
                      <a:noFill/>
                    </a:lnB>
                    <a:noFill/>
                  </a:tcPr>
                </a:tc>
                <a:tc>
                  <a:txBody>
                    <a:bodyPr/>
                    <a:lstStyle/>
                    <a:p>
                      <a:r>
                        <a:rPr lang="en-US"/>
                        <a:t>Single</a:t>
                      </a:r>
                      <a:endParaRPr lang="en-US"/>
                    </a:p>
                  </a:txBody>
                  <a:tcPr anchor="ctr">
                    <a:lnL>
                      <a:noFill/>
                    </a:lnL>
                    <a:lnR>
                      <a:noFill/>
                    </a:lnR>
                    <a:lnT>
                      <a:noFill/>
                    </a:lnT>
                    <a:lnB>
                      <a:noFill/>
                    </a:lnB>
                    <a:noFill/>
                  </a:tcPr>
                </a:tc>
                <a:tc>
                  <a:txBody>
                    <a:bodyPr/>
                    <a:lstStyle/>
                    <a:p>
                      <a:r>
                        <a:rPr lang="en-US"/>
                        <a:t>Multiple</a:t>
                      </a:r>
                      <a:endParaRPr lang="en-US"/>
                    </a:p>
                  </a:txBody>
                  <a:tcPr anchor="ctr">
                    <a:lnL>
                      <a:noFill/>
                    </a:lnL>
                    <a:lnR>
                      <a:noFill/>
                    </a:lnR>
                    <a:lnT>
                      <a:noFill/>
                    </a:lnT>
                    <a:lnB>
                      <a:noFill/>
                    </a:lnB>
                    <a:noFill/>
                  </a:tcPr>
                </a:tc>
              </a:tr>
              <a:tr h="0">
                <a:tc>
                  <a:txBody>
                    <a:bodyPr/>
                    <a:lstStyle/>
                    <a:p>
                      <a:r>
                        <a:rPr lang="en-US"/>
                        <a:t>Scalability</a:t>
                      </a:r>
                      <a:endParaRPr lang="en-US"/>
                    </a:p>
                  </a:txBody>
                  <a:tcPr anchor="ctr">
                    <a:lnL>
                      <a:noFill/>
                    </a:lnL>
                    <a:lnR>
                      <a:noFill/>
                    </a:lnR>
                    <a:lnT>
                      <a:noFill/>
                    </a:lnT>
                    <a:lnB>
                      <a:noFill/>
                    </a:lnB>
                    <a:noFill/>
                  </a:tcPr>
                </a:tc>
                <a:tc>
                  <a:txBody>
                    <a:bodyPr/>
                    <a:lstStyle/>
                    <a:p>
                      <a:r>
                        <a:rPr lang="en-US"/>
                        <a:t>Low</a:t>
                      </a:r>
                      <a:endParaRPr lang="en-US"/>
                    </a:p>
                  </a:txBody>
                  <a:tcPr anchor="ctr">
                    <a:lnL>
                      <a:noFill/>
                    </a:lnL>
                    <a:lnR>
                      <a:noFill/>
                    </a:lnR>
                    <a:lnT>
                      <a:noFill/>
                    </a:lnT>
                    <a:lnB>
                      <a:noFill/>
                    </a:lnB>
                    <a:noFill/>
                  </a:tcPr>
                </a:tc>
                <a:tc>
                  <a:txBody>
                    <a:bodyPr/>
                    <a:lstStyle/>
                    <a:p>
                      <a:r>
                        <a:rPr lang="en-US"/>
                        <a:t>High</a:t>
                      </a:r>
                      <a:endParaRPr lang="en-US"/>
                    </a:p>
                  </a:txBody>
                  <a:tcPr anchor="ctr">
                    <a:lnL>
                      <a:noFill/>
                    </a:lnL>
                    <a:lnR>
                      <a:noFill/>
                    </a:lnR>
                    <a:lnT>
                      <a:noFill/>
                    </a:lnT>
                    <a:lnB>
                      <a:noFill/>
                    </a:lnB>
                    <a:noFill/>
                  </a:tcPr>
                </a:tc>
              </a:tr>
              <a:tr h="0">
                <a:tc>
                  <a:txBody>
                    <a:bodyPr/>
                    <a:lstStyle/>
                    <a:p>
                      <a:r>
                        <a:rPr lang="en-US"/>
                        <a:t>Speed</a:t>
                      </a:r>
                      <a:endParaRPr lang="en-US"/>
                    </a:p>
                  </a:txBody>
                  <a:tcPr anchor="ctr">
                    <a:lnL>
                      <a:noFill/>
                    </a:lnL>
                    <a:lnR>
                      <a:noFill/>
                    </a:lnR>
                    <a:lnT>
                      <a:noFill/>
                    </a:lnT>
                    <a:lnB>
                      <a:noFill/>
                    </a:lnB>
                    <a:noFill/>
                  </a:tcPr>
                </a:tc>
                <a:tc>
                  <a:txBody>
                    <a:bodyPr/>
                    <a:lstStyle/>
                    <a:p>
                      <a:r>
                        <a:rPr lang="en-US"/>
                        <a:t>Fast</a:t>
                      </a:r>
                      <a:endParaRPr lang="en-US"/>
                    </a:p>
                  </a:txBody>
                  <a:tcPr anchor="ctr">
                    <a:lnL>
                      <a:noFill/>
                    </a:lnL>
                    <a:lnR>
                      <a:noFill/>
                    </a:lnR>
                    <a:lnT>
                      <a:noFill/>
                    </a:lnT>
                    <a:lnB>
                      <a:noFill/>
                    </a:lnB>
                    <a:noFill/>
                  </a:tcPr>
                </a:tc>
                <a:tc>
                  <a:txBody>
                    <a:bodyPr/>
                    <a:lstStyle/>
                    <a:p>
                      <a:r>
                        <a:rPr lang="en-US"/>
                        <a:t>Very fast</a:t>
                      </a:r>
                      <a:endParaRPr lang="en-US"/>
                    </a:p>
                  </a:txBody>
                  <a:tcPr anchor="ctr">
                    <a:lnL>
                      <a:noFill/>
                    </a:lnL>
                    <a:lnR>
                      <a:noFill/>
                    </a:lnR>
                    <a:lnT>
                      <a:noFill/>
                    </a:lnT>
                    <a:lnB>
                      <a:noFill/>
                    </a:lnB>
                    <a:noFill/>
                  </a:tcPr>
                </a:tc>
              </a:tr>
              <a:tr h="0">
                <a:tc>
                  <a:txBody>
                    <a:bodyPr/>
                    <a:lstStyle/>
                    <a:p>
                      <a:r>
                        <a:rPr lang="en-US"/>
                        <a:t>Complexity</a:t>
                      </a:r>
                      <a:endParaRPr lang="en-US"/>
                    </a:p>
                  </a:txBody>
                  <a:tcPr anchor="ctr">
                    <a:lnL>
                      <a:noFill/>
                    </a:lnL>
                    <a:lnR>
                      <a:noFill/>
                    </a:lnR>
                    <a:lnT>
                      <a:noFill/>
                    </a:lnT>
                    <a:lnB>
                      <a:noFill/>
                    </a:lnB>
                    <a:noFill/>
                  </a:tcPr>
                </a:tc>
                <a:tc>
                  <a:txBody>
                    <a:bodyPr/>
                    <a:lstStyle/>
                    <a:p>
                      <a:r>
                        <a:rPr lang="en-US"/>
                        <a:t>Low</a:t>
                      </a:r>
                      <a:endParaRPr lang="en-US"/>
                    </a:p>
                  </a:txBody>
                  <a:tcPr anchor="ctr">
                    <a:lnL>
                      <a:noFill/>
                    </a:lnL>
                    <a:lnR>
                      <a:noFill/>
                    </a:lnR>
                    <a:lnT>
                      <a:noFill/>
                    </a:lnT>
                    <a:lnB>
                      <a:noFill/>
                    </a:lnB>
                    <a:noFill/>
                  </a:tcPr>
                </a:tc>
                <a:tc>
                  <a:txBody>
                    <a:bodyPr/>
                    <a:lstStyle/>
                    <a:p>
                      <a:r>
                        <a:rPr lang="en-US" dirty="0"/>
                        <a:t>High</a:t>
                      </a:r>
                      <a:endParaRPr lang="en-US" dirty="0"/>
                    </a:p>
                  </a:txBody>
                  <a:tcPr anchor="ctr">
                    <a:lnL>
                      <a:noFill/>
                    </a:lnL>
                    <a:lnR>
                      <a:noFill/>
                    </a:lnR>
                    <a:lnT>
                      <a:noFill/>
                    </a:lnT>
                    <a:lnB>
                      <a:noFill/>
                    </a:lnB>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69179" y="1025935"/>
          <a:ext cx="11853642" cy="5670964"/>
        </p:xfrm>
        <a:graphic>
          <a:graphicData uri="http://schemas.openxmlformats.org/drawingml/2006/table">
            <a:tbl>
              <a:tblPr/>
              <a:tblGrid>
                <a:gridCol w="1975607"/>
                <a:gridCol w="1975607"/>
                <a:gridCol w="1975607"/>
                <a:gridCol w="1975607"/>
                <a:gridCol w="1975607"/>
                <a:gridCol w="1975607"/>
              </a:tblGrid>
              <a:tr h="696598">
                <a:tc>
                  <a:txBody>
                    <a:bodyPr/>
                    <a:lstStyle/>
                    <a:p>
                      <a:r>
                        <a:rPr lang="en-US" sz="1600" b="1" dirty="0"/>
                        <a:t>Concept</a:t>
                      </a:r>
                      <a:endParaRPr lang="en-US" sz="1600" b="1" dirty="0"/>
                    </a:p>
                  </a:txBody>
                  <a:tcPr marL="43083" marR="43083" marT="21541" marB="21541" anchor="ctr">
                    <a:lnL>
                      <a:noFill/>
                    </a:lnL>
                    <a:lnR>
                      <a:noFill/>
                    </a:lnR>
                    <a:lnT>
                      <a:noFill/>
                    </a:lnT>
                    <a:lnB>
                      <a:noFill/>
                    </a:lnB>
                    <a:noFill/>
                  </a:tcPr>
                </a:tc>
                <a:tc>
                  <a:txBody>
                    <a:bodyPr/>
                    <a:lstStyle/>
                    <a:p>
                      <a:r>
                        <a:rPr lang="en-US" sz="1600" b="1"/>
                        <a:t>Definition</a:t>
                      </a:r>
                      <a:endParaRPr lang="en-US" sz="1600" b="1"/>
                    </a:p>
                  </a:txBody>
                  <a:tcPr marL="43083" marR="43083" marT="21541" marB="21541" anchor="ctr">
                    <a:lnL>
                      <a:noFill/>
                    </a:lnL>
                    <a:lnR>
                      <a:noFill/>
                    </a:lnR>
                    <a:lnT>
                      <a:noFill/>
                    </a:lnT>
                    <a:lnB>
                      <a:noFill/>
                    </a:lnB>
                    <a:noFill/>
                  </a:tcPr>
                </a:tc>
                <a:tc>
                  <a:txBody>
                    <a:bodyPr/>
                    <a:lstStyle/>
                    <a:p>
                      <a:r>
                        <a:rPr lang="en-US" sz="1600" b="1"/>
                        <a:t>Key Characteristics</a:t>
                      </a:r>
                      <a:endParaRPr lang="en-US" sz="1600" b="1"/>
                    </a:p>
                  </a:txBody>
                  <a:tcPr marL="43083" marR="43083" marT="21541" marB="21541" anchor="ctr">
                    <a:lnL>
                      <a:noFill/>
                    </a:lnL>
                    <a:lnR>
                      <a:noFill/>
                    </a:lnR>
                    <a:lnT>
                      <a:noFill/>
                    </a:lnT>
                    <a:lnB>
                      <a:noFill/>
                    </a:lnB>
                    <a:noFill/>
                  </a:tcPr>
                </a:tc>
                <a:tc>
                  <a:txBody>
                    <a:bodyPr/>
                    <a:lstStyle/>
                    <a:p>
                      <a:r>
                        <a:rPr lang="en-US" sz="1600" b="1"/>
                        <a:t>Advantages</a:t>
                      </a:r>
                      <a:endParaRPr lang="en-US" sz="1600" b="1"/>
                    </a:p>
                  </a:txBody>
                  <a:tcPr marL="43083" marR="43083" marT="21541" marB="21541" anchor="ctr">
                    <a:lnL>
                      <a:noFill/>
                    </a:lnL>
                    <a:lnR>
                      <a:noFill/>
                    </a:lnR>
                    <a:lnT>
                      <a:noFill/>
                    </a:lnT>
                    <a:lnB>
                      <a:noFill/>
                    </a:lnB>
                    <a:noFill/>
                  </a:tcPr>
                </a:tc>
                <a:tc>
                  <a:txBody>
                    <a:bodyPr/>
                    <a:lstStyle/>
                    <a:p>
                      <a:r>
                        <a:rPr lang="en-US" sz="1600" b="1"/>
                        <a:t>Limitations</a:t>
                      </a:r>
                      <a:endParaRPr lang="en-US" sz="1600" b="1"/>
                    </a:p>
                  </a:txBody>
                  <a:tcPr marL="43083" marR="43083" marT="21541" marB="21541" anchor="ctr">
                    <a:lnL>
                      <a:noFill/>
                    </a:lnL>
                    <a:lnR>
                      <a:noFill/>
                    </a:lnR>
                    <a:lnT>
                      <a:noFill/>
                    </a:lnT>
                    <a:lnB>
                      <a:noFill/>
                    </a:lnB>
                    <a:noFill/>
                  </a:tcPr>
                </a:tc>
                <a:tc>
                  <a:txBody>
                    <a:bodyPr/>
                    <a:lstStyle/>
                    <a:p>
                      <a:r>
                        <a:rPr lang="en-US" sz="1600" b="1"/>
                        <a:t>Real-World Example</a:t>
                      </a:r>
                      <a:endParaRPr lang="en-US" sz="1600" b="1"/>
                    </a:p>
                  </a:txBody>
                  <a:tcPr marL="43083" marR="43083" marT="21541" marB="21541" anchor="ctr">
                    <a:lnL>
                      <a:noFill/>
                    </a:lnL>
                    <a:lnR>
                      <a:noFill/>
                    </a:lnR>
                    <a:lnT>
                      <a:noFill/>
                    </a:lnT>
                    <a:lnB>
                      <a:noFill/>
                    </a:lnB>
                    <a:noFill/>
                  </a:tcPr>
                </a:tc>
              </a:tr>
              <a:tr h="1470558">
                <a:tc>
                  <a:txBody>
                    <a:bodyPr/>
                    <a:lstStyle/>
                    <a:p>
                      <a:r>
                        <a:rPr lang="en-US" sz="1600" b="1" dirty="0"/>
                        <a:t>Processing Workloads</a:t>
                      </a:r>
                      <a:endParaRPr lang="en-US" sz="1600" b="1" dirty="0"/>
                    </a:p>
                  </a:txBody>
                  <a:tcPr marL="43083" marR="43083" marT="21541" marB="21541" anchor="ctr">
                    <a:lnL>
                      <a:noFill/>
                    </a:lnL>
                    <a:lnR>
                      <a:noFill/>
                    </a:lnR>
                    <a:lnT>
                      <a:noFill/>
                    </a:lnT>
                    <a:lnB>
                      <a:noFill/>
                    </a:lnB>
                    <a:noFill/>
                  </a:tcPr>
                </a:tc>
                <a:tc>
                  <a:txBody>
                    <a:bodyPr/>
                    <a:lstStyle/>
                    <a:p>
                      <a:r>
                        <a:rPr lang="en-US" sz="1600" b="1"/>
                        <a:t>Type of processing tasks</a:t>
                      </a:r>
                      <a:endParaRPr lang="en-US" sz="1600" b="1"/>
                    </a:p>
                  </a:txBody>
                  <a:tcPr marL="43083" marR="43083" marT="21541" marB="21541" anchor="ctr">
                    <a:lnL>
                      <a:noFill/>
                    </a:lnL>
                    <a:lnR>
                      <a:noFill/>
                    </a:lnR>
                    <a:lnT>
                      <a:noFill/>
                    </a:lnT>
                    <a:lnB>
                      <a:noFill/>
                    </a:lnB>
                    <a:noFill/>
                  </a:tcPr>
                </a:tc>
                <a:tc>
                  <a:txBody>
                    <a:bodyPr/>
                    <a:lstStyle/>
                    <a:p>
                      <a:r>
                        <a:rPr lang="en-US" sz="1600" b="1"/>
                        <a:t>CPU-intensive, I/O-intensive, mixed</a:t>
                      </a:r>
                      <a:endParaRPr lang="en-US" sz="1600" b="1"/>
                    </a:p>
                  </a:txBody>
                  <a:tcPr marL="43083" marR="43083" marT="21541" marB="21541" anchor="ctr">
                    <a:lnL>
                      <a:noFill/>
                    </a:lnL>
                    <a:lnR>
                      <a:noFill/>
                    </a:lnR>
                    <a:lnT>
                      <a:noFill/>
                    </a:lnT>
                    <a:lnB>
                      <a:noFill/>
                    </a:lnB>
                    <a:noFill/>
                  </a:tcPr>
                </a:tc>
                <a:tc>
                  <a:txBody>
                    <a:bodyPr/>
                    <a:lstStyle/>
                    <a:p>
                      <a:r>
                        <a:rPr lang="en-US" sz="1600" b="1"/>
                        <a:t>Helps optimize system design</a:t>
                      </a:r>
                      <a:endParaRPr lang="en-US" sz="1600" b="1"/>
                    </a:p>
                  </a:txBody>
                  <a:tcPr marL="43083" marR="43083" marT="21541" marB="21541" anchor="ctr">
                    <a:lnL>
                      <a:noFill/>
                    </a:lnL>
                    <a:lnR>
                      <a:noFill/>
                    </a:lnR>
                    <a:lnT>
                      <a:noFill/>
                    </a:lnT>
                    <a:lnB>
                      <a:noFill/>
                    </a:lnB>
                    <a:noFill/>
                  </a:tcPr>
                </a:tc>
                <a:tc>
                  <a:txBody>
                    <a:bodyPr/>
                    <a:lstStyle/>
                    <a:p>
                      <a:r>
                        <a:rPr lang="en-US" sz="1600" b="1"/>
                        <a:t>Misclassification affects performance</a:t>
                      </a:r>
                      <a:endParaRPr lang="en-US" sz="1600" b="1"/>
                    </a:p>
                  </a:txBody>
                  <a:tcPr marL="43083" marR="43083" marT="21541" marB="21541" anchor="ctr">
                    <a:lnL>
                      <a:noFill/>
                    </a:lnL>
                    <a:lnR>
                      <a:noFill/>
                    </a:lnR>
                    <a:lnT>
                      <a:noFill/>
                    </a:lnT>
                    <a:lnB>
                      <a:noFill/>
                    </a:lnB>
                    <a:noFill/>
                  </a:tcPr>
                </a:tc>
                <a:tc>
                  <a:txBody>
                    <a:bodyPr/>
                    <a:lstStyle/>
                    <a:p>
                      <a:r>
                        <a:rPr lang="pt-BR" sz="1600" b="1"/>
                        <a:t>ML training (CPU), DB queries (I/O)</a:t>
                      </a:r>
                      <a:endParaRPr lang="pt-BR" sz="1600" b="1"/>
                    </a:p>
                  </a:txBody>
                  <a:tcPr marL="43083" marR="43083" marT="21541" marB="21541" anchor="ctr">
                    <a:lnL>
                      <a:noFill/>
                    </a:lnL>
                    <a:lnR>
                      <a:noFill/>
                    </a:lnR>
                    <a:lnT>
                      <a:noFill/>
                    </a:lnT>
                    <a:lnB>
                      <a:noFill/>
                    </a:lnB>
                    <a:noFill/>
                  </a:tcPr>
                </a:tc>
              </a:tr>
              <a:tr h="1470558">
                <a:tc>
                  <a:txBody>
                    <a:bodyPr/>
                    <a:lstStyle/>
                    <a:p>
                      <a:r>
                        <a:rPr lang="en-US" sz="1600" b="1" dirty="0"/>
                        <a:t>Cluster</a:t>
                      </a:r>
                      <a:endParaRPr lang="en-US" sz="1600" b="1" dirty="0"/>
                    </a:p>
                  </a:txBody>
                  <a:tcPr marL="43083" marR="43083" marT="21541" marB="21541" anchor="ctr">
                    <a:lnL>
                      <a:noFill/>
                    </a:lnL>
                    <a:lnR>
                      <a:noFill/>
                    </a:lnR>
                    <a:lnT>
                      <a:noFill/>
                    </a:lnT>
                    <a:lnB>
                      <a:noFill/>
                    </a:lnB>
                    <a:noFill/>
                  </a:tcPr>
                </a:tc>
                <a:tc>
                  <a:txBody>
                    <a:bodyPr/>
                    <a:lstStyle/>
                    <a:p>
                      <a:r>
                        <a:rPr lang="en-US" sz="1600" b="1"/>
                        <a:t>Group of connected machines acting as one system</a:t>
                      </a:r>
                      <a:endParaRPr lang="en-US" sz="1600" b="1"/>
                    </a:p>
                  </a:txBody>
                  <a:tcPr marL="43083" marR="43083" marT="21541" marB="21541" anchor="ctr">
                    <a:lnL>
                      <a:noFill/>
                    </a:lnL>
                    <a:lnR>
                      <a:noFill/>
                    </a:lnR>
                    <a:lnT>
                      <a:noFill/>
                    </a:lnT>
                    <a:lnB>
                      <a:noFill/>
                    </a:lnB>
                    <a:noFill/>
                  </a:tcPr>
                </a:tc>
                <a:tc>
                  <a:txBody>
                    <a:bodyPr/>
                    <a:lstStyle/>
                    <a:p>
                      <a:r>
                        <a:rPr lang="en-US" sz="1600" b="1"/>
                        <a:t>Distributed nodes, resource sharing</a:t>
                      </a:r>
                      <a:endParaRPr lang="en-US" sz="1600" b="1"/>
                    </a:p>
                  </a:txBody>
                  <a:tcPr marL="43083" marR="43083" marT="21541" marB="21541" anchor="ctr">
                    <a:lnL>
                      <a:noFill/>
                    </a:lnL>
                    <a:lnR>
                      <a:noFill/>
                    </a:lnR>
                    <a:lnT>
                      <a:noFill/>
                    </a:lnT>
                    <a:lnB>
                      <a:noFill/>
                    </a:lnB>
                    <a:noFill/>
                  </a:tcPr>
                </a:tc>
                <a:tc>
                  <a:txBody>
                    <a:bodyPr/>
                    <a:lstStyle/>
                    <a:p>
                      <a:r>
                        <a:rPr lang="en-US" sz="1600" b="1"/>
                        <a:t>High availability, scalability</a:t>
                      </a:r>
                      <a:endParaRPr lang="en-US" sz="1600" b="1"/>
                    </a:p>
                  </a:txBody>
                  <a:tcPr marL="43083" marR="43083" marT="21541" marB="21541" anchor="ctr">
                    <a:lnL>
                      <a:noFill/>
                    </a:lnL>
                    <a:lnR>
                      <a:noFill/>
                    </a:lnR>
                    <a:lnT>
                      <a:noFill/>
                    </a:lnT>
                    <a:lnB>
                      <a:noFill/>
                    </a:lnB>
                    <a:noFill/>
                  </a:tcPr>
                </a:tc>
                <a:tc>
                  <a:txBody>
                    <a:bodyPr/>
                    <a:lstStyle/>
                    <a:p>
                      <a:r>
                        <a:rPr lang="en-US" sz="1600" b="1"/>
                        <a:t>Setup &amp; maintenance complexity</a:t>
                      </a:r>
                      <a:endParaRPr lang="en-US" sz="1600" b="1"/>
                    </a:p>
                  </a:txBody>
                  <a:tcPr marL="43083" marR="43083" marT="21541" marB="21541" anchor="ctr">
                    <a:lnL>
                      <a:noFill/>
                    </a:lnL>
                    <a:lnR>
                      <a:noFill/>
                    </a:lnR>
                    <a:lnT>
                      <a:noFill/>
                    </a:lnT>
                    <a:lnB>
                      <a:noFill/>
                    </a:lnB>
                    <a:noFill/>
                  </a:tcPr>
                </a:tc>
                <a:tc>
                  <a:txBody>
                    <a:bodyPr/>
                    <a:lstStyle/>
                    <a:p>
                      <a:r>
                        <a:rPr lang="en-US" sz="1600" b="1" dirty="0"/>
                        <a:t>Data centers (AWS clusters)</a:t>
                      </a:r>
                      <a:endParaRPr lang="en-US" sz="1600" b="1" dirty="0"/>
                    </a:p>
                  </a:txBody>
                  <a:tcPr marL="43083" marR="43083" marT="21541" marB="21541" anchor="ctr">
                    <a:lnL>
                      <a:noFill/>
                    </a:lnL>
                    <a:lnR>
                      <a:noFill/>
                    </a:lnR>
                    <a:lnT>
                      <a:noFill/>
                    </a:lnT>
                    <a:lnB>
                      <a:noFill/>
                    </a:lnB>
                    <a:noFill/>
                  </a:tcPr>
                </a:tc>
              </a:tr>
              <a:tr h="1016625">
                <a:tc>
                  <a:txBody>
                    <a:bodyPr/>
                    <a:lstStyle/>
                    <a:p>
                      <a:r>
                        <a:rPr lang="en-US" sz="1600" b="1" dirty="0"/>
                        <a:t>Batch Processing</a:t>
                      </a:r>
                      <a:endParaRPr lang="en-US" sz="1600" b="1" dirty="0"/>
                    </a:p>
                  </a:txBody>
                  <a:tcPr marL="43083" marR="43083" marT="21541" marB="21541" anchor="ctr">
                    <a:lnL>
                      <a:noFill/>
                    </a:lnL>
                    <a:lnR>
                      <a:noFill/>
                    </a:lnR>
                    <a:lnT>
                      <a:noFill/>
                    </a:lnT>
                    <a:lnB>
                      <a:noFill/>
                    </a:lnB>
                    <a:noFill/>
                  </a:tcPr>
                </a:tc>
                <a:tc>
                  <a:txBody>
                    <a:bodyPr/>
                    <a:lstStyle/>
                    <a:p>
                      <a:r>
                        <a:rPr lang="en-US" sz="1600" b="1"/>
                        <a:t>Processing large data in chunks at intervals</a:t>
                      </a:r>
                      <a:endParaRPr lang="en-US" sz="1600" b="1"/>
                    </a:p>
                  </a:txBody>
                  <a:tcPr marL="43083" marR="43083" marT="21541" marB="21541" anchor="ctr">
                    <a:lnL>
                      <a:noFill/>
                    </a:lnL>
                    <a:lnR>
                      <a:noFill/>
                    </a:lnR>
                    <a:lnT>
                      <a:noFill/>
                    </a:lnT>
                    <a:lnB>
                      <a:noFill/>
                    </a:lnB>
                    <a:noFill/>
                  </a:tcPr>
                </a:tc>
                <a:tc>
                  <a:txBody>
                    <a:bodyPr/>
                    <a:lstStyle/>
                    <a:p>
                      <a:r>
                        <a:rPr lang="en-US" sz="1600" b="1"/>
                        <a:t>High latency, high throughput</a:t>
                      </a:r>
                      <a:endParaRPr lang="en-US" sz="1600" b="1"/>
                    </a:p>
                  </a:txBody>
                  <a:tcPr marL="43083" marR="43083" marT="21541" marB="21541" anchor="ctr">
                    <a:lnL>
                      <a:noFill/>
                    </a:lnL>
                    <a:lnR>
                      <a:noFill/>
                    </a:lnR>
                    <a:lnT>
                      <a:noFill/>
                    </a:lnT>
                    <a:lnB>
                      <a:noFill/>
                    </a:lnB>
                    <a:noFill/>
                  </a:tcPr>
                </a:tc>
                <a:tc>
                  <a:txBody>
                    <a:bodyPr/>
                    <a:lstStyle/>
                    <a:p>
                      <a:r>
                        <a:rPr lang="en-US" sz="1600" b="1"/>
                        <a:t>Efficient for large datasets</a:t>
                      </a:r>
                      <a:endParaRPr lang="en-US" sz="1600" b="1"/>
                    </a:p>
                  </a:txBody>
                  <a:tcPr marL="43083" marR="43083" marT="21541" marB="21541" anchor="ctr">
                    <a:lnL>
                      <a:noFill/>
                    </a:lnL>
                    <a:lnR>
                      <a:noFill/>
                    </a:lnR>
                    <a:lnT>
                      <a:noFill/>
                    </a:lnT>
                    <a:lnB>
                      <a:noFill/>
                    </a:lnB>
                    <a:noFill/>
                  </a:tcPr>
                </a:tc>
                <a:tc>
                  <a:txBody>
                    <a:bodyPr/>
                    <a:lstStyle/>
                    <a:p>
                      <a:r>
                        <a:rPr lang="en-US" sz="1600" b="1"/>
                        <a:t>Not real-time</a:t>
                      </a:r>
                      <a:endParaRPr lang="en-US" sz="1600" b="1"/>
                    </a:p>
                  </a:txBody>
                  <a:tcPr marL="43083" marR="43083" marT="21541" marB="21541" anchor="ctr">
                    <a:lnL>
                      <a:noFill/>
                    </a:lnL>
                    <a:lnR>
                      <a:noFill/>
                    </a:lnR>
                    <a:lnT>
                      <a:noFill/>
                    </a:lnT>
                    <a:lnB>
                      <a:noFill/>
                    </a:lnB>
                    <a:noFill/>
                  </a:tcPr>
                </a:tc>
                <a:tc>
                  <a:txBody>
                    <a:bodyPr/>
                    <a:lstStyle/>
                    <a:p>
                      <a:r>
                        <a:rPr lang="en-US" sz="1600" b="1"/>
                        <a:t>Monthly salary processing</a:t>
                      </a:r>
                      <a:endParaRPr lang="en-US" sz="1600" b="1"/>
                    </a:p>
                  </a:txBody>
                  <a:tcPr marL="43083" marR="43083" marT="21541" marB="21541" anchor="ctr">
                    <a:lnL>
                      <a:noFill/>
                    </a:lnL>
                    <a:lnR>
                      <a:noFill/>
                    </a:lnR>
                    <a:lnT>
                      <a:noFill/>
                    </a:lnT>
                    <a:lnB>
                      <a:noFill/>
                    </a:lnB>
                    <a:noFill/>
                  </a:tcPr>
                </a:tc>
              </a:tr>
              <a:tr h="1016625">
                <a:tc>
                  <a:txBody>
                    <a:bodyPr/>
                    <a:lstStyle/>
                    <a:p>
                      <a:r>
                        <a:rPr lang="en-US" sz="1600" b="1" dirty="0"/>
                        <a:t>Real-Time Processing</a:t>
                      </a:r>
                      <a:endParaRPr lang="en-US" sz="1600" b="1" dirty="0"/>
                    </a:p>
                  </a:txBody>
                  <a:tcPr marL="43083" marR="43083" marT="21541" marB="21541" anchor="ctr">
                    <a:lnL>
                      <a:noFill/>
                    </a:lnL>
                    <a:lnR>
                      <a:noFill/>
                    </a:lnR>
                    <a:lnT>
                      <a:noFill/>
                    </a:lnT>
                    <a:lnB>
                      <a:noFill/>
                    </a:lnB>
                    <a:noFill/>
                  </a:tcPr>
                </a:tc>
                <a:tc>
                  <a:txBody>
                    <a:bodyPr/>
                    <a:lstStyle/>
                    <a:p>
                      <a:r>
                        <a:rPr lang="en-US" sz="1600" b="1" dirty="0"/>
                        <a:t>Processing data instantly as it arrives</a:t>
                      </a:r>
                      <a:endParaRPr lang="en-US" sz="1600" b="1" dirty="0"/>
                    </a:p>
                  </a:txBody>
                  <a:tcPr marL="43083" marR="43083" marT="21541" marB="21541" anchor="ctr">
                    <a:lnL>
                      <a:noFill/>
                    </a:lnL>
                    <a:lnR>
                      <a:noFill/>
                    </a:lnR>
                    <a:lnT>
                      <a:noFill/>
                    </a:lnT>
                    <a:lnB>
                      <a:noFill/>
                    </a:lnB>
                    <a:noFill/>
                  </a:tcPr>
                </a:tc>
                <a:tc>
                  <a:txBody>
                    <a:bodyPr/>
                    <a:lstStyle/>
                    <a:p>
                      <a:r>
                        <a:rPr lang="en-US" sz="1600" b="1" dirty="0"/>
                        <a:t>Low latency, continuous streams</a:t>
                      </a:r>
                      <a:endParaRPr lang="en-US" sz="1600" b="1" dirty="0"/>
                    </a:p>
                  </a:txBody>
                  <a:tcPr marL="43083" marR="43083" marT="21541" marB="21541" anchor="ctr">
                    <a:lnL>
                      <a:noFill/>
                    </a:lnL>
                    <a:lnR>
                      <a:noFill/>
                    </a:lnR>
                    <a:lnT>
                      <a:noFill/>
                    </a:lnT>
                    <a:lnB>
                      <a:noFill/>
                    </a:lnB>
                    <a:noFill/>
                  </a:tcPr>
                </a:tc>
                <a:tc>
                  <a:txBody>
                    <a:bodyPr/>
                    <a:lstStyle/>
                    <a:p>
                      <a:r>
                        <a:rPr lang="en-US" sz="1600" b="1" dirty="0"/>
                        <a:t>Immediate insights, fast decisions</a:t>
                      </a:r>
                      <a:endParaRPr lang="en-US" sz="1600" b="1" dirty="0"/>
                    </a:p>
                  </a:txBody>
                  <a:tcPr marL="43083" marR="43083" marT="21541" marB="21541" anchor="ctr">
                    <a:lnL>
                      <a:noFill/>
                    </a:lnL>
                    <a:lnR>
                      <a:noFill/>
                    </a:lnR>
                    <a:lnT>
                      <a:noFill/>
                    </a:lnT>
                    <a:lnB>
                      <a:noFill/>
                    </a:lnB>
                    <a:noFill/>
                  </a:tcPr>
                </a:tc>
                <a:tc>
                  <a:txBody>
                    <a:bodyPr/>
                    <a:lstStyle/>
                    <a:p>
                      <a:r>
                        <a:rPr lang="en-US" sz="1600" b="1" dirty="0"/>
                        <a:t>Complex system design</a:t>
                      </a:r>
                      <a:endParaRPr lang="en-US" sz="1600" b="1" dirty="0"/>
                    </a:p>
                  </a:txBody>
                  <a:tcPr marL="43083" marR="43083" marT="21541" marB="21541" anchor="ctr">
                    <a:lnL>
                      <a:noFill/>
                    </a:lnL>
                    <a:lnR>
                      <a:noFill/>
                    </a:lnR>
                    <a:lnT>
                      <a:noFill/>
                    </a:lnT>
                    <a:lnB>
                      <a:noFill/>
                    </a:lnB>
                    <a:noFill/>
                  </a:tcPr>
                </a:tc>
                <a:tc>
                  <a:txBody>
                    <a:bodyPr/>
                    <a:lstStyle/>
                    <a:p>
                      <a:r>
                        <a:rPr lang="en-US" sz="1600" b="1" dirty="0"/>
                        <a:t>Fraud detection, stock trading</a:t>
                      </a:r>
                      <a:endParaRPr lang="en-US" sz="1600" b="1" dirty="0"/>
                    </a:p>
                  </a:txBody>
                  <a:tcPr marL="43083" marR="43083" marT="21541" marB="21541" anchor="ctr">
                    <a:lnL>
                      <a:noFill/>
                    </a:lnL>
                    <a:lnR>
                      <a:noFill/>
                    </a:lnR>
                    <a:lnT>
                      <a:noFill/>
                    </a:lnT>
                    <a:lnB>
                      <a:noFill/>
                    </a:lnB>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Netflix</a:t>
            </a:r>
          </a:p>
        </p:txBody>
      </p:sp>
      <p:sp>
        <p:nvSpPr>
          <p:cNvPr id="3" name="Content Placeholder 2"/>
          <p:cNvSpPr>
            <a:spLocks noGrp="1"/>
          </p:cNvSpPr>
          <p:nvPr>
            <p:ph idx="1"/>
          </p:nvPr>
        </p:nvSpPr>
        <p:spPr/>
        <p:txBody>
          <a:bodyPr/>
          <a:lstStyle/>
          <a:p>
            <a:endParaRPr dirty="0"/>
          </a:p>
          <a:p>
            <a:r>
              <a:rPr dirty="0"/>
              <a:t>Real-time recommendations</a:t>
            </a:r>
            <a:endParaRPr dirty="0"/>
          </a:p>
          <a:p>
            <a:r>
              <a:rPr dirty="0"/>
              <a:t>Batch content analysis</a:t>
            </a:r>
            <a:endParaRPr dirty="0"/>
          </a:p>
          <a:p>
            <a:r>
              <a:rPr dirty="0"/>
              <a:t>Distributed systems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Healthcare</a:t>
            </a:r>
          </a:p>
        </p:txBody>
      </p:sp>
      <p:sp>
        <p:nvSpPr>
          <p:cNvPr id="3" name="Content Placeholder 2"/>
          <p:cNvSpPr>
            <a:spLocks noGrp="1"/>
          </p:cNvSpPr>
          <p:nvPr>
            <p:ph idx="1"/>
          </p:nvPr>
        </p:nvSpPr>
        <p:spPr/>
        <p:txBody>
          <a:bodyPr/>
          <a:lstStyle/>
          <a:p/>
          <a:p>
            <a:r>
              <a:t>Real-time patient monitoring</a:t>
            </a:r>
          </a:p>
          <a:p>
            <a:r>
              <a:t>Batch medical reports</a:t>
            </a:r>
          </a:p>
          <a:p>
            <a:r>
              <a:t>Data privacy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Finance</a:t>
            </a:r>
          </a:p>
        </p:txBody>
      </p:sp>
      <p:sp>
        <p:nvSpPr>
          <p:cNvPr id="3" name="Content Placeholder 2"/>
          <p:cNvSpPr>
            <a:spLocks noGrp="1"/>
          </p:cNvSpPr>
          <p:nvPr>
            <p:ph idx="1"/>
          </p:nvPr>
        </p:nvSpPr>
        <p:spPr/>
        <p:txBody>
          <a:bodyPr/>
          <a:lstStyle/>
          <a:p/>
          <a:p>
            <a:r>
              <a:t>Fraud detection (real-time)</a:t>
            </a:r>
          </a:p>
          <a:p>
            <a:r>
              <a:t>Risk analysis (batch)</a:t>
            </a:r>
          </a:p>
          <a:p>
            <a:r>
              <a:t>High-frequency trading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endParaRPr dirty="0"/>
          </a:p>
          <a:p>
            <a:r>
              <a:rPr dirty="0"/>
              <a:t>Big Data requires distributed systems</a:t>
            </a:r>
            <a:endParaRPr dirty="0"/>
          </a:p>
          <a:p>
            <a:r>
              <a:rPr dirty="0"/>
              <a:t>Choose right </a:t>
            </a:r>
            <a:r>
              <a:rPr b="1" dirty="0"/>
              <a:t>processing model</a:t>
            </a:r>
            <a:endParaRPr b="1" dirty="0"/>
          </a:p>
          <a:p>
            <a:r>
              <a:rPr dirty="0"/>
              <a:t>Real-world hybrid systems</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4246</Words>
  <Application>WPS 演示</Application>
  <PresentationFormat>Widescreen</PresentationFormat>
  <Paragraphs>287</Paragraphs>
  <Slides>24</Slides>
  <Notes>16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Arial</vt:lpstr>
      <vt:lpstr>SimSun</vt:lpstr>
      <vt:lpstr>Wingdings</vt:lpstr>
      <vt:lpstr>Inter</vt:lpstr>
      <vt:lpstr>Segoe Print</vt:lpstr>
      <vt:lpstr>DengXian Light</vt:lpstr>
      <vt:lpstr>DengXian</vt:lpstr>
      <vt:lpstr>Microsoft YaHei</vt:lpstr>
      <vt:lpstr>Arial Unicode MS</vt:lpstr>
      <vt:lpstr>Calibri</vt:lpstr>
      <vt:lpstr>Inter</vt:lpstr>
      <vt:lpstr>Office Theme</vt:lpstr>
      <vt:lpstr>Ch#6 Big Data Processing Concepts</vt:lpstr>
      <vt:lpstr>Quick Questions – Write answers on your 📔 </vt:lpstr>
      <vt:lpstr>Possible answers</vt:lpstr>
      <vt:lpstr>Chapter Outline</vt:lpstr>
      <vt:lpstr>Parallel Processing Architecture</vt:lpstr>
      <vt:lpstr>Parallel Processing Architecture</vt:lpstr>
      <vt:lpstr>Distributed Processing Architecture</vt:lpstr>
      <vt:lpstr>Distributed Processing Architecture</vt:lpstr>
      <vt:lpstr>Parallel vs Distributed</vt:lpstr>
      <vt:lpstr>Hadoop Ecosystem</vt:lpstr>
      <vt:lpstr>PowerPoint 演示文稿</vt:lpstr>
      <vt:lpstr>MapReduce Pipeline</vt:lpstr>
      <vt:lpstr>Processing Workloads</vt:lpstr>
      <vt:lpstr>Cluster Architecture</vt:lpstr>
      <vt:lpstr>Batch Processing Pipeline</vt:lpstr>
      <vt:lpstr>Real-Time Processing Pipeline</vt:lpstr>
      <vt:lpstr>Batch vs Real-Time</vt:lpstr>
      <vt:lpstr>PowerPoint 演示文稿</vt:lpstr>
      <vt:lpstr>PowerPoint 演示文稿</vt:lpstr>
      <vt:lpstr>PowerPoint 演示文稿</vt:lpstr>
      <vt:lpstr>Case Study: Netflix</vt:lpstr>
      <vt:lpstr>Case Study: Healthcare</vt:lpstr>
      <vt:lpstr>Case Study: Finance</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awais ahmed</dc:creator>
  <cp:lastModifiedBy>WPS_1671077781</cp:lastModifiedBy>
  <cp:revision>31</cp:revision>
  <dcterms:created xsi:type="dcterms:W3CDTF">2026-03-30T02:59:00Z</dcterms:created>
  <dcterms:modified xsi:type="dcterms:W3CDTF">2026-03-31T03:13:39Z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C38C68F8C7504881B6A03BD5D5203E50_12</vt:lpwstr>
  </property>
</Properties>
</file>