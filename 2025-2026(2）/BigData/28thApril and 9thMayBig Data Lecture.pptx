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7" r:id="rId5"/>
    <p:sldId id="259" r:id="rId6"/>
    <p:sldId id="260" r:id="rId7"/>
    <p:sldId id="261" r:id="rId8"/>
    <p:sldId id="262" r:id="rId9"/>
    <p:sldId id="264" r:id="rId10"/>
    <p:sldId id="290" r:id="rId11"/>
    <p:sldId id="258" r:id="rId12"/>
    <p:sldId id="265" r:id="rId13"/>
    <p:sldId id="291" r:id="rId14"/>
    <p:sldId id="266" r:id="rId15"/>
    <p:sldId id="267" r:id="rId16"/>
    <p:sldId id="268" r:id="rId17"/>
    <p:sldId id="269" r:id="rId18"/>
    <p:sldId id="270" r:id="rId19"/>
    <p:sldId id="271" r:id="rId20"/>
    <p:sldId id="273" r:id="rId21"/>
    <p:sldId id="274" r:id="rId22"/>
    <p:sldId id="272" r:id="rId23"/>
    <p:sldId id="275" r:id="rId24"/>
    <p:sldId id="278" r:id="rId25"/>
    <p:sldId id="276" r:id="rId26"/>
    <p:sldId id="277" r:id="rId27"/>
    <p:sldId id="283" r:id="rId28"/>
    <p:sldId id="284" r:id="rId29"/>
    <p:sldId id="285" r:id="rId30"/>
    <p:sldId id="286" r:id="rId31"/>
    <p:sldId id="287" r:id="rId32"/>
    <p:sldId id="289" r:id="rId33"/>
    <p:sldId id="293" r:id="rId34"/>
    <p:sldId id="294" r:id="rId35"/>
    <p:sldId id="295" r:id="rId36"/>
    <p:sldId id="292"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1" d="100"/>
          <a:sy n="61" d="100"/>
        </p:scale>
        <p:origin x="336"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Date Placeholder 6"/>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Date Placeholder 6"/>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A7F44C-67FB-4DCC-8413-C795DC96753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7F44C-67FB-4DCC-8413-C795DC96753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65812D-C26E-4F1D-8A8F-8D17F5363D63}"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7F44C-67FB-4DCC-8413-C795DC96753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t>Big Data Storage</a:t>
            </a:r>
            <a:endParaRPr lang="zh-CN" altLang="en-US" dirty="0"/>
          </a:p>
        </p:txBody>
      </p:sp>
      <p:sp>
        <p:nvSpPr>
          <p:cNvPr id="3" name="Subtitle 2"/>
          <p:cNvSpPr>
            <a:spLocks noGrp="1"/>
          </p:cNvSpPr>
          <p:nvPr>
            <p:ph type="subTitle" idx="1"/>
          </p:nvPr>
        </p:nvSpPr>
        <p:spPr/>
        <p:txBody>
          <a:bodyPr/>
          <a:lstStyle/>
          <a:p>
            <a:r>
              <a:rPr lang="en-US" altLang="zh-CN" dirty="0"/>
              <a:t>Dr Awais Ahmed</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sp>
        <p:nvSpPr>
          <p:cNvPr id="3" name="Content Placeholder 2"/>
          <p:cNvSpPr>
            <a:spLocks noGrp="1"/>
          </p:cNvSpPr>
          <p:nvPr>
            <p:ph idx="1"/>
          </p:nvPr>
        </p:nvSpPr>
        <p:spPr/>
        <p:txBody>
          <a:bodyPr/>
          <a:lstStyle/>
          <a:p>
            <a:r>
              <a:rPr lang="en-US" altLang="zh-CN" b="0" i="0" dirty="0">
                <a:solidFill>
                  <a:srgbClr val="0F1115"/>
                </a:solidFill>
                <a:effectLst/>
                <a:latin typeface="quote-cjk-patch"/>
              </a:rPr>
              <a:t>Columnar Storage for Efficient Big Data Analytics</a:t>
            </a:r>
            <a:endParaRPr lang="en-US" altLang="zh-CN" b="0" i="0" dirty="0">
              <a:solidFill>
                <a:srgbClr val="0F1115"/>
              </a:solidFill>
              <a:effectLst/>
              <a:latin typeface="quote-cjk-patch"/>
            </a:endParaRPr>
          </a:p>
          <a:p>
            <a:pPr lvl="1"/>
            <a:r>
              <a:rPr lang="fr-FR" altLang="zh-CN" b="0" i="0" dirty="0">
                <a:solidFill>
                  <a:srgbClr val="0F1115"/>
                </a:solidFill>
                <a:effectLst/>
                <a:latin typeface="quote-cjk-patch"/>
              </a:rPr>
              <a:t>Storage Formats – CSV vs. Parquet</a:t>
            </a:r>
            <a:endParaRPr lang="en-US" altLang="zh-CN" dirty="0">
              <a:solidFill>
                <a:srgbClr val="0F1115"/>
              </a:solidFill>
              <a:latin typeface="quote-cjk-patch"/>
            </a:endParaRPr>
          </a:p>
          <a:p>
            <a:pPr algn="l">
              <a:buFont typeface="Arial" panose="020B0604020202020204" pitchFamily="34" charset="0"/>
              <a:buChar char="•"/>
            </a:pPr>
            <a:r>
              <a:rPr lang="en-US" altLang="zh-CN" b="0" i="0" dirty="0">
                <a:solidFill>
                  <a:srgbClr val="0F1115"/>
                </a:solidFill>
                <a:effectLst/>
                <a:latin typeface="quote-cjk-patch"/>
              </a:rPr>
              <a:t>Explain what Parquet is and why it was created</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Describe columnar storage and its advantages over row‑based storage</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Compare Parquet with CSV in terms of size, speed, and schema handling</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Identify use cases where Parquet is the best choice</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Use Parquet with Pandas and </a:t>
            </a:r>
            <a:r>
              <a:rPr lang="en-US" altLang="zh-CN" b="0" i="0" dirty="0" err="1">
                <a:solidFill>
                  <a:srgbClr val="0F1115"/>
                </a:solidFill>
                <a:effectLst/>
                <a:latin typeface="quote-cjk-patch"/>
              </a:rPr>
              <a:t>PySpark</a:t>
            </a:r>
            <a:r>
              <a:rPr lang="en-US" altLang="zh-CN" b="0" i="0" dirty="0">
                <a:solidFill>
                  <a:srgbClr val="0F1115"/>
                </a:solidFill>
                <a:effectLst/>
                <a:latin typeface="quote-cjk-patch"/>
              </a:rPr>
              <a:t> (basic I/O)</a:t>
            </a:r>
            <a:endParaRPr lang="en-US" altLang="zh-CN" b="0" i="0" dirty="0">
              <a:solidFill>
                <a:srgbClr val="0F1115"/>
              </a:solidFill>
              <a:effectLst/>
              <a:latin typeface="quote-cjk-patch"/>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graphicFrame>
        <p:nvGraphicFramePr>
          <p:cNvPr id="15" name="Content Placeholder 14"/>
          <p:cNvGraphicFramePr>
            <a:graphicFrameLocks noGrp="1"/>
          </p:cNvGraphicFramePr>
          <p:nvPr>
            <p:ph idx="1"/>
          </p:nvPr>
        </p:nvGraphicFramePr>
        <p:xfrm>
          <a:off x="1000370" y="1606795"/>
          <a:ext cx="4392246" cy="4351338"/>
        </p:xfrm>
        <a:graphic>
          <a:graphicData uri="http://schemas.openxmlformats.org/drawingml/2006/table">
            <a:tbl>
              <a:tblPr/>
              <a:tblGrid>
                <a:gridCol w="2196123"/>
                <a:gridCol w="2196123"/>
              </a:tblGrid>
              <a:tr h="312883">
                <a:tc>
                  <a:txBody>
                    <a:bodyPr/>
                    <a:lstStyle/>
                    <a:p>
                      <a:pPr algn="l"/>
                      <a:r>
                        <a:rPr lang="en-US" sz="1500">
                          <a:effectLst/>
                        </a:rPr>
                        <a:t>Issue</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pPr algn="l"/>
                      <a:r>
                        <a:rPr lang="en-US" sz="1500">
                          <a:effectLst/>
                        </a:rPr>
                        <a:t>Explanation</a:t>
                      </a:r>
                      <a:endParaRPr lang="en-US" sz="1500">
                        <a:effectLst/>
                      </a:endParaRPr>
                    </a:p>
                  </a:txBody>
                  <a:tcPr marL="64512" marR="64512" marT="40320" marB="40320" anchor="ctr">
                    <a:lnL>
                      <a:noFill/>
                    </a:lnL>
                    <a:lnR>
                      <a:noFill/>
                    </a:lnR>
                    <a:lnT>
                      <a:noFill/>
                    </a:lnT>
                    <a:lnB>
                      <a:noFill/>
                    </a:lnB>
                    <a:solidFill>
                      <a:srgbClr val="FFFFFF"/>
                    </a:solidFill>
                  </a:tcPr>
                </a:tc>
              </a:tr>
              <a:tr h="1009614">
                <a:tc>
                  <a:txBody>
                    <a:bodyPr/>
                    <a:lstStyle/>
                    <a:p>
                      <a:r>
                        <a:rPr lang="en-US" sz="1500" b="1">
                          <a:effectLst/>
                        </a:rPr>
                        <a:t>Row‑based</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r>
                        <a:rPr lang="en-US" sz="1500">
                          <a:effectLst/>
                        </a:rPr>
                        <a:t>To read one column, you must read every row of the file</a:t>
                      </a:r>
                      <a:endParaRPr lang="en-US" sz="1500">
                        <a:effectLst/>
                      </a:endParaRPr>
                    </a:p>
                  </a:txBody>
                  <a:tcPr marL="64512" marR="77414" marT="40320" marB="40320" anchor="ctr">
                    <a:lnL>
                      <a:noFill/>
                    </a:lnL>
                    <a:lnR>
                      <a:noFill/>
                    </a:lnR>
                    <a:lnT>
                      <a:noFill/>
                    </a:lnT>
                    <a:lnB>
                      <a:noFill/>
                    </a:lnB>
                    <a:solidFill>
                      <a:srgbClr val="FFFFFF"/>
                    </a:solidFill>
                  </a:tcPr>
                </a:tc>
              </a:tr>
              <a:tr h="777370">
                <a:tc>
                  <a:txBody>
                    <a:bodyPr/>
                    <a:lstStyle/>
                    <a:p>
                      <a:r>
                        <a:rPr lang="en-US" sz="1500" b="1">
                          <a:effectLst/>
                        </a:rPr>
                        <a:t>No compression</a:t>
                      </a:r>
                      <a:r>
                        <a:rPr lang="en-US" sz="1500">
                          <a:effectLst/>
                        </a:rPr>
                        <a:t> (by default)</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r>
                        <a:rPr lang="en-US" sz="1500">
                          <a:effectLst/>
                        </a:rPr>
                        <a:t>Large file sizes, slow I/O</a:t>
                      </a:r>
                      <a:endParaRPr lang="en-US" sz="1500">
                        <a:effectLst/>
                      </a:endParaRPr>
                    </a:p>
                  </a:txBody>
                  <a:tcPr marL="64512" marR="77414" marT="40320" marB="40320" anchor="ctr">
                    <a:lnL>
                      <a:noFill/>
                    </a:lnL>
                    <a:lnR>
                      <a:noFill/>
                    </a:lnR>
                    <a:lnT>
                      <a:noFill/>
                    </a:lnT>
                    <a:lnB>
                      <a:noFill/>
                    </a:lnB>
                    <a:solidFill>
                      <a:srgbClr val="FFFFFF"/>
                    </a:solidFill>
                  </a:tcPr>
                </a:tc>
              </a:tr>
              <a:tr h="1009614">
                <a:tc>
                  <a:txBody>
                    <a:bodyPr/>
                    <a:lstStyle/>
                    <a:p>
                      <a:r>
                        <a:rPr lang="en-US" sz="1500" b="1">
                          <a:effectLst/>
                        </a:rPr>
                        <a:t>No schema</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r>
                        <a:rPr lang="en-US" sz="1500">
                          <a:effectLst/>
                        </a:rPr>
                        <a:t>Column types must be inferred or specified every time</a:t>
                      </a:r>
                      <a:endParaRPr lang="en-US" sz="1500">
                        <a:effectLst/>
                      </a:endParaRPr>
                    </a:p>
                  </a:txBody>
                  <a:tcPr marL="64512" marR="77414" marT="40320" marB="40320" anchor="ctr">
                    <a:lnL>
                      <a:noFill/>
                    </a:lnL>
                    <a:lnR>
                      <a:noFill/>
                    </a:lnR>
                    <a:lnT>
                      <a:noFill/>
                    </a:lnT>
                    <a:lnB>
                      <a:noFill/>
                    </a:lnB>
                    <a:solidFill>
                      <a:srgbClr val="FFFFFF"/>
                    </a:solidFill>
                  </a:tcPr>
                </a:tc>
              </a:tr>
              <a:tr h="1241857">
                <a:tc>
                  <a:txBody>
                    <a:bodyPr/>
                    <a:lstStyle/>
                    <a:p>
                      <a:r>
                        <a:rPr lang="en-US" sz="1500" b="1">
                          <a:effectLst/>
                        </a:rPr>
                        <a:t>Slow for analytics</a:t>
                      </a:r>
                      <a:endParaRPr lang="en-US" sz="1500">
                        <a:effectLst/>
                      </a:endParaRPr>
                    </a:p>
                  </a:txBody>
                  <a:tcPr marL="77414" marR="64512" marT="40320" marB="40320" anchor="ctr">
                    <a:lnL>
                      <a:noFill/>
                    </a:lnL>
                    <a:lnR>
                      <a:noFill/>
                    </a:lnR>
                    <a:lnT>
                      <a:noFill/>
                    </a:lnT>
                    <a:lnB>
                      <a:noFill/>
                    </a:lnB>
                    <a:solidFill>
                      <a:srgbClr val="FFFFFF"/>
                    </a:solidFill>
                  </a:tcPr>
                </a:tc>
                <a:tc>
                  <a:txBody>
                    <a:bodyPr/>
                    <a:lstStyle/>
                    <a:p>
                      <a:r>
                        <a:rPr lang="en-US" sz="1500" dirty="0">
                          <a:effectLst/>
                        </a:rPr>
                        <a:t>Aggregations on a few columns still scan entire dataset</a:t>
                      </a:r>
                      <a:endParaRPr lang="en-US" sz="1500" dirty="0">
                        <a:effectLst/>
                      </a:endParaRPr>
                    </a:p>
                  </a:txBody>
                  <a:tcPr marL="64512" marR="77414" marT="40320" marB="40320" anchor="ctr">
                    <a:lnL>
                      <a:noFill/>
                    </a:lnL>
                    <a:lnR>
                      <a:noFill/>
                    </a:lnR>
                    <a:lnT>
                      <a:noFill/>
                    </a:lnT>
                    <a:lnB>
                      <a:noFill/>
                    </a:lnB>
                    <a:solidFill>
                      <a:srgbClr val="FFFFFF"/>
                    </a:solidFill>
                  </a:tcPr>
                </a:tc>
              </a:tr>
            </a:tbl>
          </a:graphicData>
        </a:graphic>
      </p:graphicFrame>
      <p:sp>
        <p:nvSpPr>
          <p:cNvPr id="17" name="TextBox 16"/>
          <p:cNvSpPr txBox="1"/>
          <p:nvPr/>
        </p:nvSpPr>
        <p:spPr>
          <a:xfrm>
            <a:off x="5257800" y="1435296"/>
            <a:ext cx="6096000" cy="646331"/>
          </a:xfrm>
          <a:prstGeom prst="rect">
            <a:avLst/>
          </a:prstGeom>
          <a:noFill/>
        </p:spPr>
        <p:txBody>
          <a:bodyPr wrap="square">
            <a:spAutoFit/>
          </a:bodyPr>
          <a:lstStyle/>
          <a:p>
            <a:r>
              <a:rPr lang="en-US" altLang="zh-CN" b="1" i="0" dirty="0">
                <a:solidFill>
                  <a:srgbClr val="0F1115"/>
                </a:solidFill>
                <a:effectLst/>
                <a:latin typeface="quote-cjk-patch"/>
              </a:rPr>
              <a:t>CSV is simple, universal, human‑readable – but inefficient at scale</a:t>
            </a:r>
            <a:endParaRPr lang="zh-CN" altLang="en-US" dirty="0"/>
          </a:p>
        </p:txBody>
      </p:sp>
      <p:sp>
        <p:nvSpPr>
          <p:cNvPr id="19" name="TextBox 18"/>
          <p:cNvSpPr txBox="1"/>
          <p:nvPr/>
        </p:nvSpPr>
        <p:spPr>
          <a:xfrm>
            <a:off x="5257800" y="5206302"/>
            <a:ext cx="6096000" cy="923330"/>
          </a:xfrm>
          <a:prstGeom prst="rect">
            <a:avLst/>
          </a:prstGeom>
          <a:noFill/>
        </p:spPr>
        <p:txBody>
          <a:bodyPr wrap="square">
            <a:spAutoFit/>
          </a:bodyPr>
          <a:lstStyle/>
          <a:p>
            <a:r>
              <a:rPr lang="en-US" altLang="zh-CN" b="0" i="0" dirty="0">
                <a:solidFill>
                  <a:srgbClr val="0F1115"/>
                </a:solidFill>
                <a:effectLst/>
                <a:latin typeface="quote-cjk-patch"/>
              </a:rPr>
              <a:t>A 1 GB CSV file with 100 columns – reading 2 columns still costs 1 GB disk I/O.</a:t>
            </a:r>
            <a:br>
              <a:rPr lang="en-US" altLang="zh-CN" dirty="0"/>
            </a:b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sp>
        <p:nvSpPr>
          <p:cNvPr id="7" name="TextBox 6"/>
          <p:cNvSpPr txBox="1"/>
          <p:nvPr/>
        </p:nvSpPr>
        <p:spPr>
          <a:xfrm>
            <a:off x="1015999" y="1531816"/>
            <a:ext cx="9394093" cy="3416320"/>
          </a:xfrm>
          <a:prstGeom prst="rect">
            <a:avLst/>
          </a:prstGeom>
          <a:noFill/>
        </p:spPr>
        <p:txBody>
          <a:bodyPr wrap="square">
            <a:spAutoFit/>
          </a:bodyPr>
          <a:lstStyle/>
          <a:p>
            <a:r>
              <a:rPr lang="zh-CN" altLang="en-US" sz="2400" dirty="0"/>
              <a:t>Parquet was designed for analytic workloads on large datasets </a:t>
            </a:r>
            <a:endParaRPr lang="en-US" altLang="zh-CN" sz="2400" dirty="0"/>
          </a:p>
          <a:p>
            <a:r>
              <a:rPr lang="zh-CN" altLang="en-US" sz="2400" dirty="0"/>
              <a:t>Developed in 2013 by Twitter and Cloudera (now an Apache project) </a:t>
            </a:r>
            <a:endParaRPr lang="en-US" altLang="zh-CN" sz="2400" dirty="0"/>
          </a:p>
          <a:p>
            <a:pPr marL="342900" indent="-342900">
              <a:buFont typeface="Arial" panose="020B0604020202020204" pitchFamily="34" charset="0"/>
              <a:buChar char="•"/>
            </a:pPr>
            <a:r>
              <a:rPr lang="zh-CN" altLang="en-US" sz="2400" dirty="0"/>
              <a:t>Columnar: stores data by column, not by row </a:t>
            </a:r>
            <a:endParaRPr lang="en-US" altLang="zh-CN" sz="2400" dirty="0"/>
          </a:p>
          <a:p>
            <a:pPr marL="342900" indent="-342900">
              <a:buFont typeface="Arial" panose="020B0604020202020204" pitchFamily="34" charset="0"/>
              <a:buChar char="•"/>
            </a:pPr>
            <a:r>
              <a:rPr lang="zh-CN" altLang="en-US" sz="2400" dirty="0"/>
              <a:t>Highly compressed: uses efficient encoding (dictionary, run‑length, snappy/gzip) </a:t>
            </a:r>
            <a:endParaRPr lang="en-US" altLang="zh-CN" sz="2400" dirty="0"/>
          </a:p>
          <a:p>
            <a:pPr marL="342900" indent="-342900">
              <a:buFont typeface="Arial" panose="020B0604020202020204" pitchFamily="34" charset="0"/>
              <a:buChar char="•"/>
            </a:pPr>
            <a:r>
              <a:rPr lang="zh-CN" altLang="en-US" sz="2400" dirty="0"/>
              <a:t>Self‑describing: schema is stored inside the file Supports complex nested data (e.g., arrays, structs, maps) </a:t>
            </a:r>
            <a:endParaRPr lang="en-US" altLang="zh-CN" sz="2400" dirty="0"/>
          </a:p>
          <a:p>
            <a:r>
              <a:rPr lang="zh-CN" altLang="en-US" sz="2400" b="1" dirty="0"/>
              <a:t>“Parquet is the de facto storage format for data lakes and lakehouses.”</a:t>
            </a:r>
            <a:endParaRPr lang="zh-CN" altLang="en-US"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sp>
        <p:nvSpPr>
          <p:cNvPr id="4" name="TextBox 3"/>
          <p:cNvSpPr txBox="1"/>
          <p:nvPr/>
        </p:nvSpPr>
        <p:spPr>
          <a:xfrm>
            <a:off x="838200" y="1600314"/>
            <a:ext cx="6291385" cy="1754326"/>
          </a:xfrm>
          <a:prstGeom prst="rect">
            <a:avLst/>
          </a:prstGeom>
          <a:noFill/>
        </p:spPr>
        <p:txBody>
          <a:bodyPr wrap="square">
            <a:spAutoFit/>
          </a:bodyPr>
          <a:lstStyle/>
          <a:p>
            <a:r>
              <a:rPr lang="zh-CN" altLang="en-US" dirty="0"/>
              <a:t>Row-based (CSV)                     Columnar (Parquet)</a:t>
            </a:r>
            <a:endParaRPr lang="zh-CN" altLang="en-US" dirty="0"/>
          </a:p>
          <a:p>
            <a:r>
              <a:rPr lang="zh-CN" altLang="en-US" dirty="0"/>
              <a:t>----------------                    -------------------</a:t>
            </a:r>
            <a:endParaRPr lang="zh-CN" altLang="en-US" dirty="0"/>
          </a:p>
          <a:p>
            <a:r>
              <a:rPr lang="zh-CN" altLang="en-US" dirty="0"/>
              <a:t>File content:                       File content:</a:t>
            </a:r>
            <a:endParaRPr lang="zh-CN" altLang="en-US" dirty="0"/>
          </a:p>
          <a:p>
            <a:r>
              <a:rPr lang="zh-CN" altLang="en-US" dirty="0"/>
              <a:t>Row1: A1, B1, C1                    Column A: A1, A2, A3</a:t>
            </a:r>
            <a:endParaRPr lang="zh-CN" altLang="en-US" dirty="0"/>
          </a:p>
          <a:p>
            <a:r>
              <a:rPr lang="zh-CN" altLang="en-US" dirty="0"/>
              <a:t>Row2: A2, B2, C2                    Column B: B1, B2, B3</a:t>
            </a:r>
            <a:endParaRPr lang="zh-CN" altLang="en-US" dirty="0"/>
          </a:p>
          <a:p>
            <a:r>
              <a:rPr lang="zh-CN" altLang="en-US" dirty="0"/>
              <a:t>Row3: A3, B3, C3                    Column C: C1, C2, C3</a:t>
            </a:r>
            <a:endParaRPr lang="zh-CN" altLang="en-US" dirty="0"/>
          </a:p>
        </p:txBody>
      </p:sp>
      <p:sp>
        <p:nvSpPr>
          <p:cNvPr id="8" name="TextBox 7"/>
          <p:cNvSpPr txBox="1"/>
          <p:nvPr/>
        </p:nvSpPr>
        <p:spPr>
          <a:xfrm>
            <a:off x="838200" y="4162866"/>
            <a:ext cx="6096000" cy="923330"/>
          </a:xfrm>
          <a:prstGeom prst="rect">
            <a:avLst/>
          </a:prstGeom>
          <a:noFill/>
        </p:spPr>
        <p:txBody>
          <a:bodyPr wrap="square">
            <a:spAutoFit/>
          </a:bodyPr>
          <a:lstStyle/>
          <a:p>
            <a:r>
              <a:rPr kumimoji="0" lang="zh-CN" altLang="zh-CN" b="1" i="0" u="none" strike="noStrike" cap="none" normalizeH="0" baseline="0" dirty="0">
                <a:ln>
                  <a:noFill/>
                </a:ln>
                <a:solidFill>
                  <a:srgbClr val="0F1115"/>
                </a:solidFill>
                <a:effectLst/>
                <a:latin typeface="Arial Unicode MS"/>
                <a:ea typeface="var(--ds-font-family-code)"/>
              </a:rPr>
              <a:t>SELECT B FROM table</a:t>
            </a:r>
            <a:r>
              <a:rPr kumimoji="0" lang="zh-CN" altLang="zh-CN" sz="600" b="0" i="0" u="none" strike="noStrike" cap="none" normalizeH="0" baseline="0" dirty="0">
                <a:ln>
                  <a:noFill/>
                </a:ln>
                <a:solidFill>
                  <a:schemeClr val="tx1"/>
                </a:solidFill>
                <a:effectLst/>
              </a:rPr>
              <a:t> </a:t>
            </a:r>
            <a:endParaRPr lang="en-US" altLang="zh-CN" b="1"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CSV</a:t>
            </a:r>
            <a:r>
              <a:rPr lang="en-US" altLang="zh-CN" b="0" i="0" dirty="0">
                <a:solidFill>
                  <a:srgbClr val="0F1115"/>
                </a:solidFill>
                <a:effectLst/>
                <a:latin typeface="quote-cjk-patch"/>
              </a:rPr>
              <a:t>: scans all rows (A,B,C) → discards A and C</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Parquet</a:t>
            </a:r>
            <a:r>
              <a:rPr lang="en-US" altLang="zh-CN" b="0" i="0" dirty="0">
                <a:solidFill>
                  <a:srgbClr val="0F1115"/>
                </a:solidFill>
                <a:effectLst/>
                <a:latin typeface="quote-cjk-patch"/>
              </a:rPr>
              <a:t>: reads only column B’s data chunk → much less I/O</a:t>
            </a:r>
            <a:endParaRPr lang="en-US" altLang="zh-CN" b="0" i="0" dirty="0">
              <a:solidFill>
                <a:srgbClr val="0F1115"/>
              </a:solidFill>
              <a:effectLst/>
              <a:latin typeface="quote-cjk-patch"/>
            </a:endParaRPr>
          </a:p>
        </p:txBody>
      </p:sp>
      <p:sp>
        <p:nvSpPr>
          <p:cNvPr id="9"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1" name="TextBox 10"/>
          <p:cNvSpPr txBox="1"/>
          <p:nvPr/>
        </p:nvSpPr>
        <p:spPr>
          <a:xfrm>
            <a:off x="756920" y="5590540"/>
            <a:ext cx="10948670" cy="694690"/>
          </a:xfrm>
          <a:prstGeom prst="rect">
            <a:avLst/>
          </a:prstGeom>
          <a:noFill/>
        </p:spPr>
        <p:txBody>
          <a:bodyPr wrap="square">
            <a:noAutofit/>
          </a:bodyPr>
          <a:lstStyle/>
          <a:p>
            <a:r>
              <a:rPr lang="en-US" altLang="zh-CN" b="0" i="0" dirty="0">
                <a:solidFill>
                  <a:srgbClr val="0F1115"/>
                </a:solidFill>
                <a:effectLst/>
                <a:latin typeface="quote-cjk-patch"/>
              </a:rPr>
              <a:t> Row‑based = filing entire folders; Columnar = pulling only the pages you need.</a:t>
            </a:r>
            <a:endParaRPr lang="en-US" altLang="zh-CN" b="0" i="0" dirty="0">
              <a:solidFill>
                <a:srgbClr val="0F1115"/>
              </a:solidFill>
              <a:effectLst/>
              <a:latin typeface="quote-cjk-patch"/>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The Apache </a:t>
            </a:r>
            <a:r>
              <a:rPr lang="en-US" altLang="zh-CN" b="0" i="0" dirty="0">
                <a:solidFill>
                  <a:srgbClr val="FF0000"/>
                </a:solidFill>
                <a:effectLst/>
                <a:latin typeface="Consolas" panose="020B0609020204030204" pitchFamily="49" charset="0"/>
              </a:rPr>
              <a:t>Parquet – </a:t>
            </a:r>
            <a:br>
              <a:rPr lang="en-US" altLang="zh-CN" b="0" i="0" dirty="0">
                <a:solidFill>
                  <a:srgbClr val="FF0000"/>
                </a:solidFill>
                <a:effectLst/>
                <a:latin typeface="Consolas" panose="020B0609020204030204" pitchFamily="49" charset="0"/>
              </a:rPr>
            </a:br>
            <a:r>
              <a:rPr lang="en-US" altLang="zh-CN" sz="3100" b="1" i="0" dirty="0">
                <a:solidFill>
                  <a:srgbClr val="0F1115"/>
                </a:solidFill>
                <a:effectLst/>
                <a:latin typeface="quote-cjk-patch"/>
              </a:rPr>
              <a:t>Compression &amp; Encoding – Why Parquet Saves Space</a:t>
            </a:r>
            <a:endParaRPr lang="en-US" altLang="zh-CN" sz="3100" b="1" i="0" dirty="0">
              <a:solidFill>
                <a:srgbClr val="0F1115"/>
              </a:solidFill>
              <a:effectLst/>
              <a:latin typeface="quote-cjk-patch"/>
            </a:endParaRPr>
          </a:p>
        </p:txBody>
      </p:sp>
      <p:sp>
        <p:nvSpPr>
          <p:cNvPr id="9"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p:cNvGraphicFramePr>
            <a:graphicFrameLocks noGrp="1"/>
          </p:cNvGraphicFramePr>
          <p:nvPr/>
        </p:nvGraphicFramePr>
        <p:xfrm>
          <a:off x="945660" y="1755287"/>
          <a:ext cx="6228862" cy="2531214"/>
        </p:xfrm>
        <a:graphic>
          <a:graphicData uri="http://schemas.openxmlformats.org/drawingml/2006/table">
            <a:tbl>
              <a:tblPr/>
              <a:tblGrid>
                <a:gridCol w="3114431"/>
                <a:gridCol w="3114431"/>
              </a:tblGrid>
              <a:tr h="158748">
                <a:tc>
                  <a:txBody>
                    <a:bodyPr/>
                    <a:lstStyle/>
                    <a:p>
                      <a:pPr algn="l"/>
                      <a:r>
                        <a:rPr lang="en-US" sz="1400">
                          <a:effectLst/>
                        </a:rPr>
                        <a:t>Technique</a:t>
                      </a:r>
                      <a:endParaRPr lang="en-US" sz="1400">
                        <a:effectLst/>
                      </a:endParaRPr>
                    </a:p>
                  </a:txBody>
                  <a:tcPr marL="71139" marR="59283" marT="37052" marB="37052" anchor="ctr">
                    <a:lnL>
                      <a:noFill/>
                    </a:lnL>
                    <a:lnR>
                      <a:noFill/>
                    </a:lnR>
                    <a:lnT>
                      <a:noFill/>
                    </a:lnT>
                    <a:lnB>
                      <a:noFill/>
                    </a:lnB>
                    <a:solidFill>
                      <a:srgbClr val="FFFFFF"/>
                    </a:solidFill>
                  </a:tcPr>
                </a:tc>
                <a:tc>
                  <a:txBody>
                    <a:bodyPr/>
                    <a:lstStyle/>
                    <a:p>
                      <a:pPr algn="l"/>
                      <a:r>
                        <a:rPr lang="en-US" sz="1400">
                          <a:effectLst/>
                        </a:rPr>
                        <a:t>Effect</a:t>
                      </a:r>
                      <a:endParaRPr lang="en-US" sz="1400">
                        <a:effectLst/>
                      </a:endParaRPr>
                    </a:p>
                  </a:txBody>
                  <a:tcPr marL="59283" marR="59283" marT="37052" marB="37052" anchor="ctr">
                    <a:lnL>
                      <a:noFill/>
                    </a:lnL>
                    <a:lnR>
                      <a:noFill/>
                    </a:lnR>
                    <a:lnT>
                      <a:noFill/>
                    </a:lnT>
                    <a:lnB>
                      <a:noFill/>
                    </a:lnB>
                    <a:solidFill>
                      <a:srgbClr val="FFFFFF"/>
                    </a:solidFill>
                  </a:tcPr>
                </a:tc>
              </a:tr>
              <a:tr h="983584">
                <a:tc>
                  <a:txBody>
                    <a:bodyPr/>
                    <a:lstStyle/>
                    <a:p>
                      <a:r>
                        <a:rPr lang="en-US" sz="1400" b="1">
                          <a:effectLst/>
                        </a:rPr>
                        <a:t>Dictionary encoding</a:t>
                      </a:r>
                      <a:endParaRPr lang="en-US" sz="1400">
                        <a:effectLst/>
                      </a:endParaRPr>
                    </a:p>
                  </a:txBody>
                  <a:tcPr marL="71139" marR="59283" marT="37052" marB="37052" anchor="ctr">
                    <a:lnL>
                      <a:noFill/>
                    </a:lnL>
                    <a:lnR>
                      <a:noFill/>
                    </a:lnR>
                    <a:lnT>
                      <a:noFill/>
                    </a:lnT>
                    <a:lnB>
                      <a:noFill/>
                    </a:lnB>
                    <a:solidFill>
                      <a:srgbClr val="FFFFFF"/>
                    </a:solidFill>
                  </a:tcPr>
                </a:tc>
                <a:tc>
                  <a:txBody>
                    <a:bodyPr/>
                    <a:lstStyle/>
                    <a:p>
                      <a:r>
                        <a:rPr lang="en-US" sz="1400">
                          <a:effectLst/>
                        </a:rPr>
                        <a:t>For low‑cardinality columns (e.g., weather = Clear/Rain/Storm) – store codes instead of strings</a:t>
                      </a:r>
                      <a:endParaRPr lang="en-US" sz="1400">
                        <a:effectLst/>
                      </a:endParaRPr>
                    </a:p>
                  </a:txBody>
                  <a:tcPr marL="59283" marR="71139" marT="37052" marB="37052" anchor="ctr">
                    <a:lnL>
                      <a:noFill/>
                    </a:lnL>
                    <a:lnR>
                      <a:noFill/>
                    </a:lnR>
                    <a:lnT>
                      <a:noFill/>
                    </a:lnT>
                    <a:lnB>
                      <a:noFill/>
                    </a:lnB>
                    <a:solidFill>
                      <a:srgbClr val="FFFFFF"/>
                    </a:solidFill>
                  </a:tcPr>
                </a:tc>
              </a:tr>
              <a:tr h="747917">
                <a:tc>
                  <a:txBody>
                    <a:bodyPr/>
                    <a:lstStyle/>
                    <a:p>
                      <a:r>
                        <a:rPr lang="en-US" sz="1400" b="1">
                          <a:effectLst/>
                        </a:rPr>
                        <a:t>Run‑length encoding</a:t>
                      </a:r>
                      <a:endParaRPr lang="en-US" sz="1400">
                        <a:effectLst/>
                      </a:endParaRPr>
                    </a:p>
                  </a:txBody>
                  <a:tcPr marL="71139" marR="59283" marT="37052" marB="37052" anchor="ctr">
                    <a:lnL>
                      <a:noFill/>
                    </a:lnL>
                    <a:lnR>
                      <a:noFill/>
                    </a:lnR>
                    <a:lnT>
                      <a:noFill/>
                    </a:lnT>
                    <a:lnB>
                      <a:noFill/>
                    </a:lnB>
                    <a:solidFill>
                      <a:srgbClr val="FFFFFF"/>
                    </a:solidFill>
                  </a:tcPr>
                </a:tc>
                <a:tc>
                  <a:txBody>
                    <a:bodyPr/>
                    <a:lstStyle/>
                    <a:p>
                      <a:r>
                        <a:rPr lang="en-US" sz="1400" dirty="0">
                          <a:effectLst/>
                        </a:rPr>
                        <a:t>For repeated consecutive values (e.g., many rows of traffic=Moderate)</a:t>
                      </a:r>
                      <a:endParaRPr lang="en-US" sz="1400" dirty="0">
                        <a:effectLst/>
                      </a:endParaRPr>
                    </a:p>
                  </a:txBody>
                  <a:tcPr marL="59283" marR="71139" marT="37052" marB="37052" anchor="ctr">
                    <a:lnL>
                      <a:noFill/>
                    </a:lnL>
                    <a:lnR>
                      <a:noFill/>
                    </a:lnR>
                    <a:lnT>
                      <a:noFill/>
                    </a:lnT>
                    <a:lnB>
                      <a:noFill/>
                    </a:lnB>
                    <a:solidFill>
                      <a:srgbClr val="FFFFFF"/>
                    </a:solidFill>
                  </a:tcPr>
                </a:tc>
              </a:tr>
              <a:tr h="512249">
                <a:tc>
                  <a:txBody>
                    <a:bodyPr/>
                    <a:lstStyle/>
                    <a:p>
                      <a:r>
                        <a:rPr lang="en-US" sz="1400" b="1">
                          <a:effectLst/>
                        </a:rPr>
                        <a:t>Snappy / Gzip compression</a:t>
                      </a:r>
                      <a:endParaRPr lang="en-US" sz="1400">
                        <a:effectLst/>
                      </a:endParaRPr>
                    </a:p>
                  </a:txBody>
                  <a:tcPr marL="71139" marR="59283" marT="37052" marB="37052" anchor="ctr">
                    <a:lnL>
                      <a:noFill/>
                    </a:lnL>
                    <a:lnR>
                      <a:noFill/>
                    </a:lnR>
                    <a:lnT>
                      <a:noFill/>
                    </a:lnT>
                    <a:lnB>
                      <a:noFill/>
                    </a:lnB>
                    <a:solidFill>
                      <a:srgbClr val="FFFFFF"/>
                    </a:solidFill>
                  </a:tcPr>
                </a:tc>
                <a:tc>
                  <a:txBody>
                    <a:bodyPr/>
                    <a:lstStyle/>
                    <a:p>
                      <a:r>
                        <a:rPr lang="en-US" sz="1400" dirty="0">
                          <a:effectLst/>
                        </a:rPr>
                        <a:t>General compression on top of column chunks</a:t>
                      </a:r>
                      <a:endParaRPr lang="en-US" sz="1400" dirty="0">
                        <a:effectLst/>
                      </a:endParaRPr>
                    </a:p>
                  </a:txBody>
                  <a:tcPr marL="59283" marR="71139" marT="37052" marB="37052" anchor="ctr">
                    <a:lnL>
                      <a:noFill/>
                    </a:lnL>
                    <a:lnR>
                      <a:noFill/>
                    </a:lnR>
                    <a:lnT>
                      <a:noFill/>
                    </a:lnT>
                    <a:lnB>
                      <a:no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The Apache </a:t>
            </a:r>
            <a:r>
              <a:rPr lang="en-US" altLang="zh-CN" b="0" i="0" dirty="0">
                <a:solidFill>
                  <a:srgbClr val="FF0000"/>
                </a:solidFill>
                <a:effectLst/>
                <a:latin typeface="Consolas" panose="020B0609020204030204" pitchFamily="49" charset="0"/>
              </a:rPr>
              <a:t>Parquet</a:t>
            </a:r>
            <a:endParaRPr lang="zh-CN" altLang="en-US" dirty="0">
              <a:solidFill>
                <a:srgbClr val="FF0000"/>
              </a:solidFill>
            </a:endParaRPr>
          </a:p>
        </p:txBody>
      </p:sp>
      <p:sp>
        <p:nvSpPr>
          <p:cNvPr id="9"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p:cNvGraphicFramePr>
            <a:graphicFrameLocks noGrp="1"/>
          </p:cNvGraphicFramePr>
          <p:nvPr/>
        </p:nvGraphicFramePr>
        <p:xfrm>
          <a:off x="838200" y="1846056"/>
          <a:ext cx="10515600" cy="2609850"/>
        </p:xfrm>
        <a:graphic>
          <a:graphicData uri="http://schemas.openxmlformats.org/drawingml/2006/table">
            <a:tbl>
              <a:tblPr/>
              <a:tblGrid>
                <a:gridCol w="2736937"/>
                <a:gridCol w="2520863"/>
                <a:gridCol w="2520863"/>
                <a:gridCol w="2736937"/>
              </a:tblGrid>
              <a:tr h="0">
                <a:tc>
                  <a:txBody>
                    <a:bodyPr/>
                    <a:lstStyle/>
                    <a:p>
                      <a:pPr algn="l"/>
                      <a:r>
                        <a:rPr lang="en-US" sz="2000" b="1">
                          <a:effectLst/>
                        </a:rPr>
                        <a:t>Operation</a:t>
                      </a:r>
                      <a:endParaRPr lang="en-US" sz="2000" b="1">
                        <a:effectLst/>
                      </a:endParaRPr>
                    </a:p>
                  </a:txBody>
                  <a:tcPr marR="76200" marT="47625" marB="47625" anchor="ctr">
                    <a:lnL>
                      <a:noFill/>
                    </a:lnL>
                    <a:lnR>
                      <a:noFill/>
                    </a:lnR>
                    <a:lnT>
                      <a:noFill/>
                    </a:lnT>
                    <a:lnB>
                      <a:noFill/>
                    </a:lnB>
                    <a:solidFill>
                      <a:srgbClr val="FFFFFF"/>
                    </a:solidFill>
                  </a:tcPr>
                </a:tc>
                <a:tc>
                  <a:txBody>
                    <a:bodyPr/>
                    <a:lstStyle/>
                    <a:p>
                      <a:pPr algn="l"/>
                      <a:r>
                        <a:rPr lang="en-US" sz="2000" b="1">
                          <a:effectLst/>
                        </a:rPr>
                        <a:t>CSV</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pPr algn="l"/>
                      <a:r>
                        <a:rPr lang="en-US" sz="2000" b="1">
                          <a:effectLst/>
                        </a:rPr>
                        <a:t>Parquet</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pPr algn="l"/>
                      <a:r>
                        <a:rPr lang="en-US" sz="2000" b="1">
                          <a:effectLst/>
                        </a:rPr>
                        <a:t>Parquet Advantage</a:t>
                      </a:r>
                      <a:endParaRPr lang="en-US" sz="2000" b="1">
                        <a:effectLst/>
                      </a:endParaRPr>
                    </a:p>
                  </a:txBody>
                  <a:tcPr marL="76200" marR="76200" marT="47625" marB="47625" anchor="ctr">
                    <a:lnL>
                      <a:noFill/>
                    </a:lnL>
                    <a:lnR>
                      <a:noFill/>
                    </a:lnR>
                    <a:lnT>
                      <a:noFill/>
                    </a:lnT>
                    <a:lnB>
                      <a:noFill/>
                    </a:lnB>
                    <a:solidFill>
                      <a:srgbClr val="FFFFFF"/>
                    </a:solidFill>
                  </a:tcPr>
                </a:tc>
              </a:tr>
              <a:tr h="0">
                <a:tc>
                  <a:txBody>
                    <a:bodyPr/>
                    <a:lstStyle/>
                    <a:p>
                      <a:r>
                        <a:rPr lang="en-US" sz="2000" b="1">
                          <a:effectLst/>
                        </a:rPr>
                        <a:t>Write time</a:t>
                      </a:r>
                      <a:endParaRPr lang="en-US" sz="2000" b="1">
                        <a:effectLst/>
                      </a:endParaRPr>
                    </a:p>
                  </a:txBody>
                  <a:tcPr marR="76200" marT="47625" marB="47625" anchor="ctr">
                    <a:lnL>
                      <a:noFill/>
                    </a:lnL>
                    <a:lnR>
                      <a:noFill/>
                    </a:lnR>
                    <a:lnT>
                      <a:noFill/>
                    </a:lnT>
                    <a:lnB>
                      <a:noFill/>
                    </a:lnB>
                    <a:solidFill>
                      <a:srgbClr val="FFFFFF"/>
                    </a:solidFill>
                  </a:tcPr>
                </a:tc>
                <a:tc>
                  <a:txBody>
                    <a:bodyPr/>
                    <a:lstStyle/>
                    <a:p>
                      <a:r>
                        <a:rPr lang="en-US" sz="2000" b="1">
                          <a:effectLst/>
                        </a:rPr>
                        <a:t>27.7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4.2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6.6× faster</a:t>
                      </a:r>
                      <a:endParaRPr lang="en-US" sz="2000" b="1">
                        <a:effectLst/>
                      </a:endParaRPr>
                    </a:p>
                  </a:txBody>
                  <a:tcPr marL="76200" marT="47625" marB="47625" anchor="ctr">
                    <a:lnL>
                      <a:noFill/>
                    </a:lnL>
                    <a:lnR>
                      <a:noFill/>
                    </a:lnR>
                    <a:lnT>
                      <a:noFill/>
                    </a:lnT>
                    <a:lnB>
                      <a:noFill/>
                    </a:lnB>
                    <a:solidFill>
                      <a:srgbClr val="FFFFFF"/>
                    </a:solidFill>
                  </a:tcPr>
                </a:tc>
              </a:tr>
              <a:tr h="0">
                <a:tc>
                  <a:txBody>
                    <a:bodyPr/>
                    <a:lstStyle/>
                    <a:p>
                      <a:r>
                        <a:rPr lang="en-US" sz="2000" b="1">
                          <a:effectLst/>
                        </a:rPr>
                        <a:t>File size</a:t>
                      </a:r>
                      <a:endParaRPr lang="en-US" sz="2000" b="1">
                        <a:effectLst/>
                      </a:endParaRPr>
                    </a:p>
                  </a:txBody>
                  <a:tcPr marR="76200" marT="47625" marB="47625" anchor="ctr">
                    <a:lnL>
                      <a:noFill/>
                    </a:lnL>
                    <a:lnR>
                      <a:noFill/>
                    </a:lnR>
                    <a:lnT>
                      <a:noFill/>
                    </a:lnT>
                    <a:lnB>
                      <a:noFill/>
                    </a:lnB>
                    <a:solidFill>
                      <a:srgbClr val="FFFFFF"/>
                    </a:solidFill>
                  </a:tcPr>
                </a:tc>
                <a:tc>
                  <a:txBody>
                    <a:bodyPr/>
                    <a:lstStyle/>
                    <a:p>
                      <a:r>
                        <a:rPr lang="en-US" sz="2000" b="1" dirty="0">
                          <a:effectLst/>
                        </a:rPr>
                        <a:t>446 MB</a:t>
                      </a:r>
                      <a:endParaRPr lang="en-US" sz="2000" b="1" dirty="0">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231 MB</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1.9× smaller (more for real data)</a:t>
                      </a:r>
                      <a:endParaRPr lang="en-US" sz="2000" b="1">
                        <a:effectLst/>
                      </a:endParaRPr>
                    </a:p>
                  </a:txBody>
                  <a:tcPr marL="76200" marT="47625" marB="47625" anchor="ctr">
                    <a:lnL>
                      <a:noFill/>
                    </a:lnL>
                    <a:lnR>
                      <a:noFill/>
                    </a:lnR>
                    <a:lnT>
                      <a:noFill/>
                    </a:lnT>
                    <a:lnB>
                      <a:noFill/>
                    </a:lnB>
                    <a:solidFill>
                      <a:srgbClr val="FFFFFF"/>
                    </a:solidFill>
                  </a:tcPr>
                </a:tc>
              </a:tr>
              <a:tr h="0">
                <a:tc>
                  <a:txBody>
                    <a:bodyPr/>
                    <a:lstStyle/>
                    <a:p>
                      <a:r>
                        <a:rPr lang="en-US" sz="2000" b="1">
                          <a:effectLst/>
                        </a:rPr>
                        <a:t>Read full file</a:t>
                      </a:r>
                      <a:endParaRPr lang="en-US" sz="2000" b="1">
                        <a:effectLst/>
                      </a:endParaRPr>
                    </a:p>
                  </a:txBody>
                  <a:tcPr marR="76200" marT="47625" marB="47625" anchor="ctr">
                    <a:lnL>
                      <a:noFill/>
                    </a:lnL>
                    <a:lnR>
                      <a:noFill/>
                    </a:lnR>
                    <a:lnT>
                      <a:noFill/>
                    </a:lnT>
                    <a:lnB>
                      <a:noFill/>
                    </a:lnB>
                    <a:solidFill>
                      <a:srgbClr val="FFFFFF"/>
                    </a:solidFill>
                  </a:tcPr>
                </a:tc>
                <a:tc>
                  <a:txBody>
                    <a:bodyPr/>
                    <a:lstStyle/>
                    <a:p>
                      <a:r>
                        <a:rPr lang="en-US" sz="2000" b="1">
                          <a:effectLst/>
                        </a:rPr>
                        <a:t>5.6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1.8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3.1× faster</a:t>
                      </a:r>
                      <a:endParaRPr lang="en-US" sz="2000" b="1">
                        <a:effectLst/>
                      </a:endParaRPr>
                    </a:p>
                  </a:txBody>
                  <a:tcPr marL="76200" marT="47625" marB="47625" anchor="ctr">
                    <a:lnL>
                      <a:noFill/>
                    </a:lnL>
                    <a:lnR>
                      <a:noFill/>
                    </a:lnR>
                    <a:lnT>
                      <a:noFill/>
                    </a:lnT>
                    <a:lnB>
                      <a:noFill/>
                    </a:lnB>
                    <a:solidFill>
                      <a:srgbClr val="FFFFFF"/>
                    </a:solidFill>
                  </a:tcPr>
                </a:tc>
              </a:tr>
              <a:tr h="0">
                <a:tc>
                  <a:txBody>
                    <a:bodyPr/>
                    <a:lstStyle/>
                    <a:p>
                      <a:r>
                        <a:rPr lang="en-US" sz="2000" b="1">
                          <a:effectLst/>
                        </a:rPr>
                        <a:t>Read 2 columns (all rows)</a:t>
                      </a:r>
                      <a:endParaRPr lang="en-US" sz="2000" b="1">
                        <a:effectLst/>
                      </a:endParaRPr>
                    </a:p>
                  </a:txBody>
                  <a:tcPr marR="76200" marT="47625" marB="47625" anchor="ctr">
                    <a:lnL>
                      <a:noFill/>
                    </a:lnL>
                    <a:lnR>
                      <a:noFill/>
                    </a:lnR>
                    <a:lnT>
                      <a:noFill/>
                    </a:lnT>
                    <a:lnB>
                      <a:noFill/>
                    </a:lnB>
                    <a:solidFill>
                      <a:srgbClr val="FFFFFF"/>
                    </a:solidFill>
                  </a:tcPr>
                </a:tc>
                <a:tc>
                  <a:txBody>
                    <a:bodyPr/>
                    <a:lstStyle/>
                    <a:p>
                      <a:r>
                        <a:rPr lang="en-US" sz="2000" b="1">
                          <a:effectLst/>
                        </a:rPr>
                        <a:t>5.6 sec (full scan)</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a:effectLst/>
                        </a:rPr>
                        <a:t>0.20 sec</a:t>
                      </a:r>
                      <a:endParaRPr lang="en-US" sz="2000" b="1">
                        <a:effectLst/>
                      </a:endParaRPr>
                    </a:p>
                  </a:txBody>
                  <a:tcPr marL="76200" marR="76200" marT="47625" marB="47625" anchor="ctr">
                    <a:lnL>
                      <a:noFill/>
                    </a:lnL>
                    <a:lnR>
                      <a:noFill/>
                    </a:lnR>
                    <a:lnT>
                      <a:noFill/>
                    </a:lnT>
                    <a:lnB>
                      <a:noFill/>
                    </a:lnB>
                    <a:solidFill>
                      <a:srgbClr val="FFFFFF"/>
                    </a:solidFill>
                  </a:tcPr>
                </a:tc>
                <a:tc>
                  <a:txBody>
                    <a:bodyPr/>
                    <a:lstStyle/>
                    <a:p>
                      <a:r>
                        <a:rPr lang="en-US" sz="2000" b="1" dirty="0">
                          <a:effectLst/>
                        </a:rPr>
                        <a:t>28× faster</a:t>
                      </a:r>
                      <a:endParaRPr lang="en-US" sz="2000" b="1" dirty="0">
                        <a:effectLst/>
                      </a:endParaRPr>
                    </a:p>
                  </a:txBody>
                  <a:tcPr marL="76200" marT="47625" marB="47625" anchor="ctr">
                    <a:lnL>
                      <a:noFill/>
                    </a:lnL>
                    <a:lnR>
                      <a:noFill/>
                    </a:lnR>
                    <a:lnT>
                      <a:noFill/>
                    </a:lnT>
                    <a:lnB>
                      <a:noFill/>
                    </a:lnB>
                    <a:solidFill>
                      <a:srgbClr val="FFFFFF"/>
                    </a:solidFill>
                  </a:tcPr>
                </a:tc>
              </a:tr>
            </a:tbl>
          </a:graphicData>
        </a:graphic>
      </p:graphicFrame>
      <p:sp>
        <p:nvSpPr>
          <p:cNvPr id="6" name="TextBox 5"/>
          <p:cNvSpPr txBox="1"/>
          <p:nvPr/>
        </p:nvSpPr>
        <p:spPr>
          <a:xfrm>
            <a:off x="5697416" y="1214374"/>
            <a:ext cx="6096000" cy="369332"/>
          </a:xfrm>
          <a:prstGeom prst="rect">
            <a:avLst/>
          </a:prstGeom>
          <a:noFill/>
        </p:spPr>
        <p:txBody>
          <a:bodyPr wrap="square">
            <a:spAutoFit/>
          </a:bodyPr>
          <a:lstStyle/>
          <a:p>
            <a:pPr algn="l"/>
            <a:r>
              <a:rPr lang="en-US" altLang="zh-CN" b="1" i="0" dirty="0">
                <a:solidFill>
                  <a:srgbClr val="0F1115"/>
                </a:solidFill>
                <a:effectLst/>
                <a:latin typeface="quote-cjk-patch"/>
              </a:rPr>
              <a:t>Performance Numbers (with 10M rows)</a:t>
            </a:r>
            <a:endParaRPr lang="en-US" altLang="zh-CN" b="1" i="0" dirty="0">
              <a:solidFill>
                <a:srgbClr val="0F1115"/>
              </a:solidFill>
              <a:effectLst/>
              <a:latin typeface="quote-cjk-patch"/>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sz="4000"/>
              <a:t>The Standard for Big Data &amp; Cloud Analytics</a:t>
            </a:r>
            <a:endParaRPr lang="en-US" altLang="zh-CN" sz="4000"/>
          </a:p>
        </p:txBody>
      </p:sp>
      <p:sp>
        <p:nvSpPr>
          <p:cNvPr id="3" name="内容占位符 2"/>
          <p:cNvSpPr>
            <a:spLocks noGrp="1"/>
          </p:cNvSpPr>
          <p:nvPr>
            <p:ph idx="1"/>
          </p:nvPr>
        </p:nvSpPr>
        <p:spPr/>
        <p:txBody>
          <a:bodyPr/>
          <a:lstStyle/>
          <a:p>
            <a:pPr algn="just"/>
            <a:r>
              <a:rPr lang="en-US" altLang="zh-CN"/>
              <a:t>Parquet is the preferred format for major platforms like AWS, Azure, Google Cloud, Databricks, and Snowflake, used to store massive datasets efficiently. </a:t>
            </a:r>
            <a:endParaRPr lang="en-US" altLang="zh-CN"/>
          </a:p>
          <a:p>
            <a:pPr algn="just"/>
            <a:r>
              <a:rPr lang="en-US" altLang="zh-CN"/>
              <a:t>It is the backbone of modern data architectures, serving as the standard underlying file format for leading open table formats like Apache Iceberg and Delta Lake. </a:t>
            </a:r>
            <a:endParaRPr lang="en-US" altLang="zh-CN"/>
          </a:p>
          <a:p>
            <a:pPr algn="just"/>
            <a:r>
              <a:rPr lang="en-US" altLang="zh-CN"/>
              <a:t>Major cloud providers and government agencies, including the NYC Taxi &amp; Limousine Commission, have migrated their large public datasets to Parquet for its superior performance and efficiency.</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Summary</a:t>
            </a:r>
            <a:endParaRPr lang="zh-CN" altLang="en-US" dirty="0"/>
          </a:p>
        </p:txBody>
      </p:sp>
      <p:graphicFrame>
        <p:nvGraphicFramePr>
          <p:cNvPr id="4" name="Content Placeholder 3"/>
          <p:cNvGraphicFramePr>
            <a:graphicFrameLocks noGrp="1"/>
          </p:cNvGraphicFramePr>
          <p:nvPr>
            <p:ph idx="1"/>
          </p:nvPr>
        </p:nvGraphicFramePr>
        <p:xfrm>
          <a:off x="1305169" y="1423509"/>
          <a:ext cx="9292491" cy="5069366"/>
        </p:xfrm>
        <a:graphic>
          <a:graphicData uri="http://schemas.openxmlformats.org/drawingml/2006/table">
            <a:tbl>
              <a:tblPr/>
              <a:tblGrid>
                <a:gridCol w="3097497"/>
                <a:gridCol w="3097497"/>
                <a:gridCol w="3097497"/>
              </a:tblGrid>
              <a:tr h="208434">
                <a:tc>
                  <a:txBody>
                    <a:bodyPr/>
                    <a:lstStyle/>
                    <a:p>
                      <a:pPr algn="l"/>
                      <a:r>
                        <a:rPr lang="en-US" sz="2400">
                          <a:effectLst/>
                        </a:rPr>
                        <a:t>Feature</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pPr algn="l"/>
                      <a:r>
                        <a:rPr lang="en-US" sz="2400">
                          <a:effectLst/>
                        </a:rPr>
                        <a:t>CSV</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pPr algn="l"/>
                      <a:r>
                        <a:rPr lang="en-US" sz="2400">
                          <a:effectLst/>
                        </a:rPr>
                        <a:t>Parquet</a:t>
                      </a:r>
                      <a:endParaRPr lang="en-US" sz="2400">
                        <a:effectLst/>
                      </a:endParaRPr>
                    </a:p>
                  </a:txBody>
                  <a:tcPr marL="42976" marR="42976" marT="26860" marB="26860" anchor="ctr">
                    <a:lnL>
                      <a:noFill/>
                    </a:lnL>
                    <a:lnR>
                      <a:noFill/>
                    </a:lnR>
                    <a:lnT>
                      <a:noFill/>
                    </a:lnT>
                    <a:lnB>
                      <a:noFill/>
                    </a:lnB>
                    <a:solidFill>
                      <a:srgbClr val="FFFFFF"/>
                    </a:solidFill>
                  </a:tcPr>
                </a:tc>
              </a:tr>
              <a:tr h="363149">
                <a:tc>
                  <a:txBody>
                    <a:bodyPr/>
                    <a:lstStyle/>
                    <a:p>
                      <a:r>
                        <a:rPr lang="en-US" sz="2400" b="1">
                          <a:effectLst/>
                        </a:rPr>
                        <a:t>Storage type</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Row-based</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Columnar</a:t>
                      </a:r>
                      <a:endParaRPr lang="en-US" sz="2400">
                        <a:effectLst/>
                      </a:endParaRPr>
                    </a:p>
                  </a:txBody>
                  <a:tcPr marL="42976" marR="51571" marT="26860" marB="26860" anchor="ctr">
                    <a:lnL>
                      <a:noFill/>
                    </a:lnL>
                    <a:lnR>
                      <a:noFill/>
                    </a:lnR>
                    <a:lnT>
                      <a:noFill/>
                    </a:lnT>
                    <a:lnB>
                      <a:noFill/>
                    </a:lnB>
                    <a:solidFill>
                      <a:srgbClr val="FFFFFF"/>
                    </a:solidFill>
                  </a:tcPr>
                </a:tc>
              </a:tr>
              <a:tr h="517863">
                <a:tc>
                  <a:txBody>
                    <a:bodyPr/>
                    <a:lstStyle/>
                    <a:p>
                      <a:r>
                        <a:rPr lang="en-US" sz="2400" b="1">
                          <a:effectLst/>
                        </a:rPr>
                        <a:t>Compression</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None (or external)</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Built-in (snappy, gzip)</a:t>
                      </a:r>
                      <a:endParaRPr lang="en-US" sz="2400">
                        <a:effectLst/>
                      </a:endParaRPr>
                    </a:p>
                  </a:txBody>
                  <a:tcPr marL="42976" marR="51571" marT="26860" marB="26860" anchor="ctr">
                    <a:lnL>
                      <a:noFill/>
                    </a:lnL>
                    <a:lnR>
                      <a:noFill/>
                    </a:lnR>
                    <a:lnT>
                      <a:noFill/>
                    </a:lnT>
                    <a:lnB>
                      <a:noFill/>
                    </a:lnB>
                    <a:solidFill>
                      <a:srgbClr val="FFFFFF"/>
                    </a:solidFill>
                  </a:tcPr>
                </a:tc>
              </a:tr>
              <a:tr h="363149">
                <a:tc>
                  <a:txBody>
                    <a:bodyPr/>
                    <a:lstStyle/>
                    <a:p>
                      <a:r>
                        <a:rPr lang="en-US" sz="2400" b="1">
                          <a:effectLst/>
                        </a:rPr>
                        <a:t>Schema</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External or inferred</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Stored in file</a:t>
                      </a:r>
                      <a:endParaRPr lang="en-US" sz="2400">
                        <a:effectLst/>
                      </a:endParaRPr>
                    </a:p>
                  </a:txBody>
                  <a:tcPr marL="42976" marR="51571" marT="26860" marB="26860" anchor="ctr">
                    <a:lnL>
                      <a:noFill/>
                    </a:lnL>
                    <a:lnR>
                      <a:noFill/>
                    </a:lnR>
                    <a:lnT>
                      <a:noFill/>
                    </a:lnT>
                    <a:lnB>
                      <a:noFill/>
                    </a:lnB>
                    <a:solidFill>
                      <a:srgbClr val="FFFFFF"/>
                    </a:solidFill>
                  </a:tcPr>
                </a:tc>
              </a:tr>
              <a:tr h="672577">
                <a:tc>
                  <a:txBody>
                    <a:bodyPr/>
                    <a:lstStyle/>
                    <a:p>
                      <a:r>
                        <a:rPr lang="en-US" sz="2400" b="1">
                          <a:effectLst/>
                        </a:rPr>
                        <a:t>Column projection</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dirty="0">
                          <a:effectLst/>
                        </a:rPr>
                        <a:t>Reads whole file then discards</a:t>
                      </a:r>
                      <a:endParaRPr lang="en-US" sz="2400" dirty="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Reads only requested columns</a:t>
                      </a:r>
                      <a:endParaRPr lang="en-US" sz="2400">
                        <a:effectLst/>
                      </a:endParaRPr>
                    </a:p>
                  </a:txBody>
                  <a:tcPr marL="42976" marR="51571" marT="26860" marB="26860" anchor="ctr">
                    <a:lnL>
                      <a:noFill/>
                    </a:lnL>
                    <a:lnR>
                      <a:noFill/>
                    </a:lnR>
                    <a:lnT>
                      <a:noFill/>
                    </a:lnT>
                    <a:lnB>
                      <a:noFill/>
                    </a:lnB>
                    <a:solidFill>
                      <a:srgbClr val="FFFFFF"/>
                    </a:solidFill>
                  </a:tcPr>
                </a:tc>
              </a:tr>
              <a:tr h="672577">
                <a:tc>
                  <a:txBody>
                    <a:bodyPr/>
                    <a:lstStyle/>
                    <a:p>
                      <a:r>
                        <a:rPr lang="en-US" sz="2400" b="1">
                          <a:effectLst/>
                        </a:rPr>
                        <a:t>Predicate pushdown</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No</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Yes (with row group statistics)</a:t>
                      </a:r>
                      <a:endParaRPr lang="en-US" sz="2400">
                        <a:effectLst/>
                      </a:endParaRPr>
                    </a:p>
                  </a:txBody>
                  <a:tcPr marL="42976" marR="51571" marT="26860" marB="26860" anchor="ctr">
                    <a:lnL>
                      <a:noFill/>
                    </a:lnL>
                    <a:lnR>
                      <a:noFill/>
                    </a:lnR>
                    <a:lnT>
                      <a:noFill/>
                    </a:lnT>
                    <a:lnB>
                      <a:noFill/>
                    </a:lnB>
                    <a:solidFill>
                      <a:srgbClr val="FFFFFF"/>
                    </a:solidFill>
                  </a:tcPr>
                </a:tc>
              </a:tr>
              <a:tr h="517863">
                <a:tc>
                  <a:txBody>
                    <a:bodyPr/>
                    <a:lstStyle/>
                    <a:p>
                      <a:r>
                        <a:rPr lang="en-US" sz="2400" b="1">
                          <a:effectLst/>
                        </a:rPr>
                        <a:t>Nested data support</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Poor</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Excellent</a:t>
                      </a:r>
                      <a:endParaRPr lang="en-US" sz="2400">
                        <a:effectLst/>
                      </a:endParaRPr>
                    </a:p>
                  </a:txBody>
                  <a:tcPr marL="42976" marR="51571" marT="26860" marB="26860" anchor="ctr">
                    <a:lnL>
                      <a:noFill/>
                    </a:lnL>
                    <a:lnR>
                      <a:noFill/>
                    </a:lnR>
                    <a:lnT>
                      <a:noFill/>
                    </a:lnT>
                    <a:lnB>
                      <a:noFill/>
                    </a:lnB>
                    <a:solidFill>
                      <a:srgbClr val="FFFFFF"/>
                    </a:solidFill>
                  </a:tcPr>
                </a:tc>
              </a:tr>
              <a:tr h="363149">
                <a:tc>
                  <a:txBody>
                    <a:bodyPr/>
                    <a:lstStyle/>
                    <a:p>
                      <a:r>
                        <a:rPr lang="en-US" sz="2400" b="1">
                          <a:effectLst/>
                        </a:rPr>
                        <a:t>Human-readable</a:t>
                      </a:r>
                      <a:endParaRPr lang="en-US" sz="240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Yes</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a:effectLst/>
                        </a:rPr>
                        <a:t>No (binary)</a:t>
                      </a:r>
                      <a:endParaRPr lang="en-US" sz="2400">
                        <a:effectLst/>
                      </a:endParaRPr>
                    </a:p>
                  </a:txBody>
                  <a:tcPr marL="42976" marR="51571" marT="26860" marB="26860" anchor="ctr">
                    <a:lnL>
                      <a:noFill/>
                    </a:lnL>
                    <a:lnR>
                      <a:noFill/>
                    </a:lnR>
                    <a:lnT>
                      <a:noFill/>
                    </a:lnT>
                    <a:lnB>
                      <a:noFill/>
                    </a:lnB>
                    <a:solidFill>
                      <a:srgbClr val="FFFFFF"/>
                    </a:solidFill>
                  </a:tcPr>
                </a:tc>
              </a:tr>
              <a:tr h="672577">
                <a:tc>
                  <a:txBody>
                    <a:bodyPr/>
                    <a:lstStyle/>
                    <a:p>
                      <a:r>
                        <a:rPr lang="en-US" sz="2400" b="1" dirty="0">
                          <a:effectLst/>
                        </a:rPr>
                        <a:t>Best for</a:t>
                      </a:r>
                      <a:endParaRPr lang="en-US" sz="2400" dirty="0">
                        <a:effectLst/>
                      </a:endParaRPr>
                    </a:p>
                  </a:txBody>
                  <a:tcPr marL="51571" marR="42976" marT="26860" marB="26860" anchor="ctr">
                    <a:lnL>
                      <a:noFill/>
                    </a:lnL>
                    <a:lnR>
                      <a:noFill/>
                    </a:lnR>
                    <a:lnT>
                      <a:noFill/>
                    </a:lnT>
                    <a:lnB>
                      <a:noFill/>
                    </a:lnB>
                    <a:solidFill>
                      <a:srgbClr val="FFFFFF"/>
                    </a:solidFill>
                  </a:tcPr>
                </a:tc>
                <a:tc>
                  <a:txBody>
                    <a:bodyPr/>
                    <a:lstStyle/>
                    <a:p>
                      <a:r>
                        <a:rPr lang="en-US" sz="2400">
                          <a:effectLst/>
                        </a:rPr>
                        <a:t>Data exchange, debugging</a:t>
                      </a:r>
                      <a:endParaRPr lang="en-US" sz="2400">
                        <a:effectLst/>
                      </a:endParaRPr>
                    </a:p>
                  </a:txBody>
                  <a:tcPr marL="42976" marR="42976" marT="26860" marB="26860" anchor="ctr">
                    <a:lnL>
                      <a:noFill/>
                    </a:lnL>
                    <a:lnR>
                      <a:noFill/>
                    </a:lnR>
                    <a:lnT>
                      <a:noFill/>
                    </a:lnT>
                    <a:lnB>
                      <a:noFill/>
                    </a:lnB>
                    <a:solidFill>
                      <a:srgbClr val="FFFFFF"/>
                    </a:solidFill>
                  </a:tcPr>
                </a:tc>
                <a:tc>
                  <a:txBody>
                    <a:bodyPr/>
                    <a:lstStyle/>
                    <a:p>
                      <a:r>
                        <a:rPr lang="en-US" sz="2400" dirty="0">
                          <a:effectLst/>
                        </a:rPr>
                        <a:t>Analytical queries, Big Data</a:t>
                      </a:r>
                      <a:endParaRPr lang="en-US" sz="2400" dirty="0">
                        <a:effectLst/>
                      </a:endParaRPr>
                    </a:p>
                  </a:txBody>
                  <a:tcPr marL="42976" marR="51571" marT="26860" marB="26860" anchor="ctr">
                    <a:lnL>
                      <a:noFill/>
                    </a:lnL>
                    <a:lnR>
                      <a:noFill/>
                    </a:lnR>
                    <a:lnT>
                      <a:noFill/>
                    </a:lnT>
                    <a:lnB>
                      <a:no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575"/>
            <a:ext cx="10515600" cy="1325563"/>
          </a:xfrm>
        </p:spPr>
        <p:txBody>
          <a:bodyPr/>
          <a:lstStyle/>
          <a:p>
            <a:r>
              <a:rPr lang="en-US" altLang="zh-CN" dirty="0"/>
              <a:t>Big Data Storage</a:t>
            </a:r>
            <a:endParaRPr lang="zh-CN" altLang="en-US" dirty="0"/>
          </a:p>
        </p:txBody>
      </p:sp>
      <p:sp>
        <p:nvSpPr>
          <p:cNvPr id="3" name="Content Placeholder 2"/>
          <p:cNvSpPr>
            <a:spLocks noGrp="1"/>
          </p:cNvSpPr>
          <p:nvPr>
            <p:ph idx="1"/>
          </p:nvPr>
        </p:nvSpPr>
        <p:spPr>
          <a:xfrm>
            <a:off x="838200" y="1450340"/>
            <a:ext cx="10515600" cy="4351338"/>
          </a:xfrm>
        </p:spPr>
        <p:txBody>
          <a:bodyPr>
            <a:noAutofit/>
          </a:bodyPr>
          <a:lstStyle/>
          <a:p>
            <a:pPr algn="just"/>
            <a:r>
              <a:rPr lang="en-US" altLang="zh-CN" sz="2400" b="0" i="0" dirty="0">
                <a:solidFill>
                  <a:srgbClr val="0F1115"/>
                </a:solidFill>
                <a:effectLst/>
                <a:latin typeface="quote-cjk-patch"/>
              </a:rPr>
              <a:t>This lecture covers the foundational concepts of how data is stored in a distributed environment. The goal is to underst practical trade-offs that shape how real systems are built.</a:t>
            </a:r>
            <a:endParaRPr lang="en-US" altLang="zh-CN" sz="2400" b="0" i="0" dirty="0">
              <a:solidFill>
                <a:srgbClr val="0F1115"/>
              </a:solidFill>
              <a:effectLst/>
              <a:latin typeface="quote-cjk-patch"/>
            </a:endParaRPr>
          </a:p>
          <a:p>
            <a:pPr algn="just"/>
            <a:r>
              <a:rPr lang="en-US" altLang="zh-CN" sz="2400" b="0" i="0" dirty="0">
                <a:solidFill>
                  <a:srgbClr val="0F1115"/>
                </a:solidFill>
                <a:effectLst/>
                <a:latin typeface="quote-cjk-patch"/>
              </a:rPr>
              <a:t>Clusters · Sharding · Replication · CAP Theorem · ACID vs. BASE</a:t>
            </a:r>
            <a:endParaRPr lang="en-US" altLang="zh-CN" sz="2400" dirty="0">
              <a:solidFill>
                <a:srgbClr val="0F1115"/>
              </a:solidFill>
              <a:latin typeface="quote-cjk-patch"/>
            </a:endParaRPr>
          </a:p>
          <a:p>
            <a:pPr lvl="1"/>
            <a:r>
              <a:rPr lang="en-US" altLang="zh-CN" b="0" i="0" dirty="0">
                <a:solidFill>
                  <a:srgbClr val="0F1115"/>
                </a:solidFill>
                <a:effectLst/>
                <a:latin typeface="quote-cjk-patch"/>
              </a:rPr>
              <a:t>Explain why clusters are essential for Big Data storage</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Define </a:t>
            </a:r>
            <a:r>
              <a:rPr lang="en-US" altLang="zh-CN" b="1" i="0" dirty="0">
                <a:solidFill>
                  <a:srgbClr val="0F1115"/>
                </a:solidFill>
                <a:effectLst/>
                <a:latin typeface="quote-cjk-patch"/>
              </a:rPr>
              <a:t>sharding</a:t>
            </a:r>
            <a:r>
              <a:rPr lang="en-US" altLang="zh-CN" b="0" i="0" dirty="0">
                <a:solidFill>
                  <a:srgbClr val="0F1115"/>
                </a:solidFill>
                <a:effectLst/>
                <a:latin typeface="quote-cjk-patch"/>
              </a:rPr>
              <a:t> and </a:t>
            </a:r>
            <a:r>
              <a:rPr lang="en-US" altLang="zh-CN" b="1" i="0" dirty="0">
                <a:solidFill>
                  <a:srgbClr val="0F1115"/>
                </a:solidFill>
                <a:effectLst/>
                <a:latin typeface="quote-cjk-patch"/>
              </a:rPr>
              <a:t>replication</a:t>
            </a:r>
            <a:r>
              <a:rPr lang="en-US" altLang="zh-CN" b="0" i="0" dirty="0">
                <a:solidFill>
                  <a:srgbClr val="0F1115"/>
                </a:solidFill>
                <a:effectLst/>
                <a:latin typeface="quote-cjk-patch"/>
              </a:rPr>
              <a:t> and describe their trade‑offs</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Understand the </a:t>
            </a:r>
            <a:r>
              <a:rPr lang="en-US" altLang="zh-CN" b="1" i="0" dirty="0">
                <a:solidFill>
                  <a:srgbClr val="0F1115"/>
                </a:solidFill>
                <a:effectLst/>
                <a:latin typeface="quote-cjk-patch"/>
              </a:rPr>
              <a:t>CAP theorem</a:t>
            </a:r>
            <a:r>
              <a:rPr lang="en-US" altLang="zh-CN" b="0" i="0" dirty="0">
                <a:solidFill>
                  <a:srgbClr val="0F1115"/>
                </a:solidFill>
                <a:effectLst/>
                <a:latin typeface="quote-cjk-patch"/>
              </a:rPr>
              <a:t> and its implications for distributed databases</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Differentiate between </a:t>
            </a:r>
            <a:r>
              <a:rPr lang="en-US" altLang="zh-CN" b="1" i="0" dirty="0">
                <a:solidFill>
                  <a:srgbClr val="0F1115"/>
                </a:solidFill>
                <a:effectLst/>
                <a:latin typeface="quote-cjk-patch"/>
              </a:rPr>
              <a:t>ACID</a:t>
            </a:r>
            <a:r>
              <a:rPr lang="en-US" altLang="zh-CN" b="0" i="0" dirty="0">
                <a:solidFill>
                  <a:srgbClr val="0F1115"/>
                </a:solidFill>
                <a:effectLst/>
                <a:latin typeface="quote-cjk-patch"/>
              </a:rPr>
              <a:t> and </a:t>
            </a:r>
            <a:r>
              <a:rPr lang="en-US" altLang="zh-CN" b="1" i="0" dirty="0">
                <a:solidFill>
                  <a:srgbClr val="0F1115"/>
                </a:solidFill>
                <a:effectLst/>
                <a:latin typeface="quote-cjk-patch"/>
              </a:rPr>
              <a:t>BASE</a:t>
            </a:r>
            <a:r>
              <a:rPr lang="en-US" altLang="zh-CN" b="0" i="0" dirty="0">
                <a:solidFill>
                  <a:srgbClr val="0F1115"/>
                </a:solidFill>
                <a:effectLst/>
                <a:latin typeface="quote-cjk-patch"/>
              </a:rPr>
              <a:t> database design principles</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Choose appropriate storage strategies based on application requirements</a:t>
            </a:r>
            <a:endParaRPr lang="en-US" altLang="zh-CN" b="0" i="0" dirty="0">
              <a:solidFill>
                <a:srgbClr val="0F1115"/>
              </a:solidFill>
              <a:effectLst/>
              <a:latin typeface="quote-cjk-patch"/>
            </a:endParaRPr>
          </a:p>
          <a:p>
            <a:pPr algn="just"/>
            <a:endParaRPr lang="en-US" altLang="zh-CN" b="0" i="0" dirty="0">
              <a:solidFill>
                <a:srgbClr val="0F1115"/>
              </a:solidFill>
              <a:effectLst/>
              <a:latin typeface="quote-cjk-patch"/>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605" y="1986280"/>
            <a:ext cx="10515600" cy="1325563"/>
          </a:xfrm>
        </p:spPr>
        <p:txBody>
          <a:bodyPr/>
          <a:lstStyle/>
          <a:p>
            <a:pPr algn="just"/>
            <a:r>
              <a:rPr lang="en-US" altLang="zh-CN" sz="3600" b="1" i="0" dirty="0">
                <a:solidFill>
                  <a:srgbClr val="0F1115"/>
                </a:solidFill>
                <a:effectLst/>
                <a:latin typeface="quote-cjk-patch"/>
              </a:rPr>
              <a:t>Why Traditional Storage Fails for Big Data?</a:t>
            </a:r>
            <a:endParaRPr lang="en-US" altLang="zh-CN" sz="3600" b="1" i="0" dirty="0">
              <a:solidFill>
                <a:srgbClr val="0F1115"/>
              </a:solidFill>
              <a:effectLst/>
              <a:latin typeface="quote-cjk-patch"/>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b="1" i="0" dirty="0">
                <a:solidFill>
                  <a:srgbClr val="0F1115"/>
                </a:solidFill>
                <a:effectLst/>
                <a:latin typeface="quote-cjk-patch"/>
              </a:rPr>
              <a:t>Why Traditional Storage Fails for Big Data</a:t>
            </a:r>
            <a:endParaRPr lang="en-US" altLang="zh-CN" b="1" i="0" dirty="0">
              <a:solidFill>
                <a:srgbClr val="0F1115"/>
              </a:solidFill>
              <a:effectLst/>
              <a:latin typeface="quote-cjk-patch"/>
            </a:endParaRPr>
          </a:p>
        </p:txBody>
      </p:sp>
      <p:sp>
        <p:nvSpPr>
          <p:cNvPr id="3" name="Content Placeholder 2"/>
          <p:cNvSpPr>
            <a:spLocks noGrp="1"/>
          </p:cNvSpPr>
          <p:nvPr>
            <p:ph idx="1"/>
          </p:nvPr>
        </p:nvSpPr>
        <p:spPr/>
        <p:txBody>
          <a:bodyPr>
            <a:normAutofit/>
          </a:bodyPr>
          <a:lstStyle/>
          <a:p>
            <a:pPr algn="l"/>
            <a:r>
              <a:rPr lang="en-US" altLang="zh-CN" b="1" i="0" dirty="0">
                <a:solidFill>
                  <a:srgbClr val="0F1115"/>
                </a:solidFill>
                <a:effectLst/>
                <a:latin typeface="quote-cjk-patch"/>
              </a:rPr>
              <a:t>Single‑server databases cannot handle:</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Volume</a:t>
            </a:r>
            <a:r>
              <a:rPr lang="en-US" altLang="zh-CN" b="0" i="0" dirty="0">
                <a:solidFill>
                  <a:srgbClr val="0F1115"/>
                </a:solidFill>
                <a:effectLst/>
                <a:latin typeface="quote-cjk-patch"/>
              </a:rPr>
              <a:t> – terabytes to petabytes of data</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Velocity</a:t>
            </a:r>
            <a:r>
              <a:rPr lang="en-US" altLang="zh-CN" b="0" i="0" dirty="0">
                <a:solidFill>
                  <a:srgbClr val="0F1115"/>
                </a:solidFill>
                <a:effectLst/>
                <a:latin typeface="quote-cjk-patch"/>
              </a:rPr>
              <a:t> – millions of writes per second</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Variety</a:t>
            </a:r>
            <a:r>
              <a:rPr lang="en-US" altLang="zh-CN" b="0" i="0" dirty="0">
                <a:solidFill>
                  <a:srgbClr val="0F1115"/>
                </a:solidFill>
                <a:effectLst/>
                <a:latin typeface="quote-cjk-patch"/>
              </a:rPr>
              <a:t> – unstructured and semi‑structured data</a:t>
            </a:r>
            <a:endParaRPr lang="en-US" altLang="zh-CN" b="0" i="0" dirty="0">
              <a:solidFill>
                <a:srgbClr val="0F1115"/>
              </a:solidFill>
              <a:effectLst/>
              <a:latin typeface="quote-cjk-patch"/>
            </a:endParaRPr>
          </a:p>
          <a:p>
            <a:pPr algn="l"/>
            <a:r>
              <a:rPr lang="en-US" altLang="zh-CN" b="1" i="0" dirty="0">
                <a:solidFill>
                  <a:srgbClr val="0F1115"/>
                </a:solidFill>
                <a:effectLst/>
                <a:latin typeface="quote-cjk-patch"/>
              </a:rPr>
              <a:t>Limitations of scaling up (vertical scaling):</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Add more CPU, RAM, disk to one machine</a:t>
            </a:r>
            <a:endParaRPr lang="en-US" altLang="zh-CN"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Very expensive, physical limits, single point of failure</a:t>
            </a:r>
            <a:endParaRPr lang="en-US" altLang="zh-CN" b="0" i="0" dirty="0">
              <a:solidFill>
                <a:srgbClr val="0F1115"/>
              </a:solidFill>
              <a:effectLst/>
              <a:latin typeface="quote-cjk-patch"/>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3200" b="1" i="0" dirty="0">
                <a:solidFill>
                  <a:srgbClr val="0F1115"/>
                </a:solidFill>
                <a:effectLst/>
                <a:latin typeface="quote-cjk-patch"/>
              </a:rPr>
              <a:t>Clusters – The Foundation of Big Data Storage</a:t>
            </a:r>
            <a:endParaRPr lang="en-US" altLang="zh-CN" sz="3200" b="1" i="0" dirty="0">
              <a:solidFill>
                <a:srgbClr val="0F1115"/>
              </a:solidFill>
              <a:effectLst/>
              <a:latin typeface="quote-cjk-patch"/>
            </a:endParaRPr>
          </a:p>
        </p:txBody>
      </p:sp>
      <p:sp>
        <p:nvSpPr>
          <p:cNvPr id="9" name="TextBox 8"/>
          <p:cNvSpPr txBox="1"/>
          <p:nvPr/>
        </p:nvSpPr>
        <p:spPr>
          <a:xfrm>
            <a:off x="584200" y="2049145"/>
            <a:ext cx="10153015" cy="1774190"/>
          </a:xfrm>
          <a:prstGeom prst="rect">
            <a:avLst/>
          </a:prstGeom>
          <a:noFill/>
        </p:spPr>
        <p:txBody>
          <a:bodyPr wrap="square">
            <a:noAutofit/>
          </a:bodyPr>
          <a:lstStyle/>
          <a:p>
            <a:pPr algn="l">
              <a:buFont typeface="Arial" panose="020B0604020202020204" pitchFamily="34" charset="0"/>
              <a:buChar char="•"/>
            </a:pPr>
            <a:r>
              <a:rPr lang="en-US" altLang="zh-CN" sz="2400" b="1" i="0" dirty="0">
                <a:solidFill>
                  <a:srgbClr val="0F1115"/>
                </a:solidFill>
                <a:effectLst/>
                <a:latin typeface="quote-cjk-patch"/>
              </a:rPr>
              <a:t>Horizontal scalability</a:t>
            </a:r>
            <a:r>
              <a:rPr lang="en-US" altLang="zh-CN" sz="2400" b="0" i="0" dirty="0">
                <a:solidFill>
                  <a:srgbClr val="0F1115"/>
                </a:solidFill>
                <a:effectLst/>
                <a:latin typeface="quote-cjk-patch"/>
              </a:rPr>
              <a:t> – add more nodes to increase capacity</a:t>
            </a:r>
            <a:endParaRPr lang="en-US" altLang="zh-CN" sz="2400" b="0" i="0" dirty="0">
              <a:solidFill>
                <a:srgbClr val="0F1115"/>
              </a:solidFill>
              <a:effectLst/>
              <a:latin typeface="quote-cjk-patch"/>
            </a:endParaRPr>
          </a:p>
          <a:p>
            <a:pPr algn="l">
              <a:buFont typeface="Arial" panose="020B0604020202020204" pitchFamily="34" charset="0"/>
              <a:buChar char="•"/>
            </a:pPr>
            <a:r>
              <a:rPr lang="en-US" altLang="zh-CN" sz="2400" b="1" i="0" dirty="0">
                <a:solidFill>
                  <a:srgbClr val="0F1115"/>
                </a:solidFill>
                <a:effectLst/>
                <a:latin typeface="quote-cjk-patch"/>
              </a:rPr>
              <a:t>Fault tolerance</a:t>
            </a:r>
            <a:r>
              <a:rPr lang="en-US" altLang="zh-CN" sz="2400" b="0" i="0" dirty="0">
                <a:solidFill>
                  <a:srgbClr val="0F1115"/>
                </a:solidFill>
                <a:effectLst/>
                <a:latin typeface="quote-cjk-patch"/>
              </a:rPr>
              <a:t> – if one node fails, others continue</a:t>
            </a:r>
            <a:endParaRPr lang="en-US" altLang="zh-CN" sz="2400" b="0" i="0" dirty="0">
              <a:solidFill>
                <a:srgbClr val="0F1115"/>
              </a:solidFill>
              <a:effectLst/>
              <a:latin typeface="quote-cjk-patch"/>
            </a:endParaRPr>
          </a:p>
          <a:p>
            <a:pPr algn="l">
              <a:buFont typeface="Arial" panose="020B0604020202020204" pitchFamily="34" charset="0"/>
              <a:buChar char="•"/>
            </a:pPr>
            <a:r>
              <a:rPr lang="en-US" altLang="zh-CN" sz="2400" b="1" i="0" dirty="0">
                <a:solidFill>
                  <a:srgbClr val="0F1115"/>
                </a:solidFill>
                <a:effectLst/>
                <a:latin typeface="quote-cjk-patch"/>
              </a:rPr>
              <a:t>Commodity hardware</a:t>
            </a:r>
            <a:r>
              <a:rPr lang="en-US" altLang="zh-CN" sz="2400" b="0" i="0" dirty="0">
                <a:solidFill>
                  <a:srgbClr val="0F1115"/>
                </a:solidFill>
                <a:effectLst/>
                <a:latin typeface="quote-cjk-patch"/>
              </a:rPr>
              <a:t> – reduces cost</a:t>
            </a:r>
            <a:endParaRPr lang="en-US" altLang="zh-CN" sz="2400" b="0" i="0" dirty="0">
              <a:solidFill>
                <a:srgbClr val="0F1115"/>
              </a:solidFill>
              <a:effectLst/>
              <a:latin typeface="quote-cjk-patch"/>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000" b="1" i="0" dirty="0">
                <a:solidFill>
                  <a:srgbClr val="0F1115"/>
                </a:solidFill>
                <a:effectLst/>
                <a:latin typeface="quote-cjk-patch"/>
              </a:rPr>
              <a:t>Sharding – Horizontal Partitioning</a:t>
            </a:r>
            <a:endParaRPr lang="en-US" altLang="zh-CN" sz="4000" b="1" i="0" dirty="0">
              <a:solidFill>
                <a:srgbClr val="0F1115"/>
              </a:solidFill>
              <a:effectLst/>
              <a:latin typeface="quote-cjk-patch"/>
            </a:endParaRPr>
          </a:p>
        </p:txBody>
      </p:sp>
      <p:graphicFrame>
        <p:nvGraphicFramePr>
          <p:cNvPr id="10" name="Table 9"/>
          <p:cNvGraphicFramePr>
            <a:graphicFrameLocks noGrp="1"/>
          </p:cNvGraphicFramePr>
          <p:nvPr/>
        </p:nvGraphicFramePr>
        <p:xfrm>
          <a:off x="2657231" y="3282034"/>
          <a:ext cx="6198660" cy="1207006"/>
        </p:xfrm>
        <a:graphic>
          <a:graphicData uri="http://schemas.openxmlformats.org/drawingml/2006/table">
            <a:tbl>
              <a:tblPr/>
              <a:tblGrid>
                <a:gridCol w="2066220"/>
                <a:gridCol w="2066220"/>
                <a:gridCol w="2066220"/>
              </a:tblGrid>
              <a:tr h="188311">
                <a:tc>
                  <a:txBody>
                    <a:bodyPr/>
                    <a:lstStyle/>
                    <a:p>
                      <a:pPr algn="l"/>
                      <a:r>
                        <a:rPr lang="en-US">
                          <a:effectLst/>
                        </a:rPr>
                        <a:t>Shard 1</a:t>
                      </a:r>
                      <a:endParaRPr lang="en-US">
                        <a:effectLst/>
                      </a:endParaRPr>
                    </a:p>
                  </a:txBody>
                  <a:tcPr marR="76200" marT="47625" marB="47625" anchor="ctr">
                    <a:lnL>
                      <a:noFill/>
                    </a:lnL>
                    <a:lnR>
                      <a:noFill/>
                    </a:lnR>
                    <a:lnT>
                      <a:noFill/>
                    </a:lnT>
                    <a:lnB>
                      <a:noFill/>
                    </a:lnB>
                    <a:solidFill>
                      <a:srgbClr val="FFFFFF"/>
                    </a:solidFill>
                  </a:tcPr>
                </a:tc>
                <a:tc>
                  <a:txBody>
                    <a:bodyPr/>
                    <a:lstStyle/>
                    <a:p>
                      <a:pPr algn="l"/>
                      <a:r>
                        <a:rPr lang="en-US">
                          <a:effectLst/>
                        </a:rPr>
                        <a:t>Shard 2</a:t>
                      </a:r>
                      <a:endParaRPr lang="en-US">
                        <a:effectLst/>
                      </a:endParaRPr>
                    </a:p>
                  </a:txBody>
                  <a:tcPr marL="76200" marR="76200" marT="47625" marB="47625" anchor="ctr">
                    <a:lnL>
                      <a:noFill/>
                    </a:lnL>
                    <a:lnR>
                      <a:noFill/>
                    </a:lnR>
                    <a:lnT>
                      <a:noFill/>
                    </a:lnT>
                    <a:lnB>
                      <a:noFill/>
                    </a:lnB>
                    <a:solidFill>
                      <a:srgbClr val="FFFFFF"/>
                    </a:solidFill>
                  </a:tcPr>
                </a:tc>
                <a:tc>
                  <a:txBody>
                    <a:bodyPr/>
                    <a:lstStyle/>
                    <a:p>
                      <a:pPr algn="l"/>
                      <a:r>
                        <a:rPr lang="en-US">
                          <a:effectLst/>
                        </a:rPr>
                        <a:t>Shard 3</a:t>
                      </a:r>
                      <a:endParaRPr lang="en-US">
                        <a:effectLst/>
                      </a:endParaRPr>
                    </a:p>
                  </a:txBody>
                  <a:tcPr marL="76200" marR="76200" marT="47625" marB="47625" anchor="ctr">
                    <a:lnL>
                      <a:noFill/>
                    </a:lnL>
                    <a:lnR>
                      <a:noFill/>
                    </a:lnR>
                    <a:lnT>
                      <a:noFill/>
                    </a:lnT>
                    <a:lnB>
                      <a:noFill/>
                    </a:lnB>
                    <a:solidFill>
                      <a:srgbClr val="FFFFFF"/>
                    </a:solidFill>
                  </a:tcPr>
                </a:tc>
              </a:tr>
              <a:tr h="467866">
                <a:tc>
                  <a:txBody>
                    <a:bodyPr/>
                    <a:lstStyle/>
                    <a:p>
                      <a:r>
                        <a:rPr lang="en-US">
                          <a:effectLst/>
                        </a:rPr>
                        <a:t>Rows 1-1000</a:t>
                      </a:r>
                      <a:endParaRPr lang="en-US">
                        <a:effectLst/>
                      </a:endParaRPr>
                    </a:p>
                  </a:txBody>
                  <a:tcPr marR="76200" marT="47625" marB="47625" anchor="ctr">
                    <a:lnL>
                      <a:noFill/>
                    </a:lnL>
                    <a:lnR>
                      <a:noFill/>
                    </a:lnR>
                    <a:lnT>
                      <a:noFill/>
                    </a:lnT>
                    <a:lnB>
                      <a:noFill/>
                    </a:lnB>
                    <a:solidFill>
                      <a:srgbClr val="FFFFFF"/>
                    </a:solidFill>
                  </a:tcPr>
                </a:tc>
                <a:tc>
                  <a:txBody>
                    <a:bodyPr/>
                    <a:lstStyle/>
                    <a:p>
                      <a:r>
                        <a:rPr lang="en-US">
                          <a:effectLst/>
                        </a:rPr>
                        <a:t>Rows 1001-2000</a:t>
                      </a:r>
                      <a:endParaRPr lang="en-US">
                        <a:effectLst/>
                      </a:endParaRPr>
                    </a:p>
                  </a:txBody>
                  <a:tcPr marL="76200" marR="76200" marT="47625" marB="47625" anchor="ctr">
                    <a:lnL>
                      <a:noFill/>
                    </a:lnL>
                    <a:lnR>
                      <a:noFill/>
                    </a:lnR>
                    <a:lnT>
                      <a:noFill/>
                    </a:lnT>
                    <a:lnB>
                      <a:noFill/>
                    </a:lnB>
                    <a:solidFill>
                      <a:srgbClr val="FFFFFF"/>
                    </a:solidFill>
                  </a:tcPr>
                </a:tc>
                <a:tc>
                  <a:txBody>
                    <a:bodyPr/>
                    <a:lstStyle/>
                    <a:p>
                      <a:r>
                        <a:rPr lang="en-US">
                          <a:effectLst/>
                        </a:rPr>
                        <a:t>Rows 2001-3000</a:t>
                      </a:r>
                      <a:endParaRPr lang="en-US">
                        <a:effectLst/>
                      </a:endParaRPr>
                    </a:p>
                  </a:txBody>
                  <a:tcPr marL="76200" marT="47625" marB="47625" anchor="ctr">
                    <a:lnL>
                      <a:noFill/>
                    </a:lnL>
                    <a:lnR>
                      <a:noFill/>
                    </a:lnR>
                    <a:lnT>
                      <a:noFill/>
                    </a:lnT>
                    <a:lnB>
                      <a:noFill/>
                    </a:lnB>
                    <a:solidFill>
                      <a:srgbClr val="FFFFFF"/>
                    </a:solidFill>
                  </a:tcPr>
                </a:tc>
              </a:tr>
              <a:tr h="188311">
                <a:tc>
                  <a:txBody>
                    <a:bodyPr/>
                    <a:lstStyle/>
                    <a:p>
                      <a:r>
                        <a:rPr lang="en-US">
                          <a:effectLst/>
                        </a:rPr>
                        <a:t>Node A</a:t>
                      </a:r>
                      <a:endParaRPr lang="en-US">
                        <a:effectLst/>
                      </a:endParaRPr>
                    </a:p>
                  </a:txBody>
                  <a:tcPr marR="76200" marT="47625" marB="47625" anchor="ctr">
                    <a:lnL>
                      <a:noFill/>
                    </a:lnL>
                    <a:lnR>
                      <a:noFill/>
                    </a:lnR>
                    <a:lnT>
                      <a:noFill/>
                    </a:lnT>
                    <a:lnB>
                      <a:noFill/>
                    </a:lnB>
                    <a:solidFill>
                      <a:srgbClr val="FFFFFF"/>
                    </a:solidFill>
                  </a:tcPr>
                </a:tc>
                <a:tc>
                  <a:txBody>
                    <a:bodyPr/>
                    <a:lstStyle/>
                    <a:p>
                      <a:r>
                        <a:rPr lang="en-US" dirty="0">
                          <a:effectLst/>
                        </a:rPr>
                        <a:t>Node B</a:t>
                      </a:r>
                      <a:endParaRPr lang="en-US" dirty="0">
                        <a:effectLst/>
                      </a:endParaRPr>
                    </a:p>
                  </a:txBody>
                  <a:tcPr marL="76200" marR="76200" marT="47625" marB="47625" anchor="ctr">
                    <a:lnL>
                      <a:noFill/>
                    </a:lnL>
                    <a:lnR>
                      <a:noFill/>
                    </a:lnR>
                    <a:lnT>
                      <a:noFill/>
                    </a:lnT>
                    <a:lnB>
                      <a:noFill/>
                    </a:lnB>
                    <a:solidFill>
                      <a:srgbClr val="FFFFFF"/>
                    </a:solidFill>
                  </a:tcPr>
                </a:tc>
                <a:tc>
                  <a:txBody>
                    <a:bodyPr/>
                    <a:lstStyle/>
                    <a:p>
                      <a:r>
                        <a:rPr lang="en-US" dirty="0">
                          <a:effectLst/>
                        </a:rPr>
                        <a:t>Node C</a:t>
                      </a:r>
                      <a:endParaRPr lang="en-US" dirty="0">
                        <a:effectLst/>
                      </a:endParaRPr>
                    </a:p>
                  </a:txBody>
                  <a:tcPr marL="76200" marT="47625" marB="47625" anchor="ctr">
                    <a:lnL>
                      <a:noFill/>
                    </a:lnL>
                    <a:lnR>
                      <a:noFill/>
                    </a:lnR>
                    <a:lnT>
                      <a:noFill/>
                    </a:lnT>
                    <a:lnB>
                      <a:noFill/>
                    </a:lnB>
                    <a:solidFill>
                      <a:srgbClr val="FFFFFF"/>
                    </a:solidFill>
                  </a:tcPr>
                </a:tc>
              </a:tr>
            </a:tbl>
          </a:graphicData>
        </a:graphic>
      </p:graphicFrame>
      <p:sp>
        <p:nvSpPr>
          <p:cNvPr id="12" name="TextBox 11"/>
          <p:cNvSpPr txBox="1"/>
          <p:nvPr/>
        </p:nvSpPr>
        <p:spPr>
          <a:xfrm>
            <a:off x="703384" y="1982327"/>
            <a:ext cx="10515599" cy="830997"/>
          </a:xfrm>
          <a:prstGeom prst="rect">
            <a:avLst/>
          </a:prstGeom>
          <a:noFill/>
        </p:spPr>
        <p:txBody>
          <a:bodyPr wrap="square">
            <a:spAutoFit/>
          </a:bodyPr>
          <a:lstStyle/>
          <a:p>
            <a:r>
              <a:rPr lang="en-US" altLang="zh-CN" sz="2400" b="1" i="0" dirty="0">
                <a:solidFill>
                  <a:srgbClr val="0F1115"/>
                </a:solidFill>
                <a:effectLst/>
                <a:latin typeface="quote-cjk-patch"/>
              </a:rPr>
              <a:t>Sharding splits a large dataset into smaller, independent parts called shards, each stored on a different node.</a:t>
            </a:r>
            <a:endParaRPr lang="zh-CN" altLang="en-US" sz="2400" b="1" dirty="0"/>
          </a:p>
        </p:txBody>
      </p:sp>
      <p:sp>
        <p:nvSpPr>
          <p:cNvPr id="4" name="TextBox 3"/>
          <p:cNvSpPr txBox="1"/>
          <p:nvPr/>
        </p:nvSpPr>
        <p:spPr>
          <a:xfrm>
            <a:off x="2776582" y="4895334"/>
            <a:ext cx="6096000" cy="369332"/>
          </a:xfrm>
          <a:prstGeom prst="rect">
            <a:avLst/>
          </a:prstGeom>
          <a:noFill/>
        </p:spPr>
        <p:txBody>
          <a:bodyPr wrap="square">
            <a:spAutoFit/>
          </a:bodyPr>
          <a:lstStyle/>
          <a:p>
            <a:r>
              <a:rPr lang="en-US" altLang="zh-CN" b="0" i="0" dirty="0">
                <a:solidFill>
                  <a:srgbClr val="0F1115"/>
                </a:solidFill>
                <a:effectLst/>
                <a:latin typeface="quote-cjk-patch"/>
              </a:rPr>
              <a:t>No single node holds all data – read/write load is distributed.</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000" b="1" i="0" dirty="0">
                <a:solidFill>
                  <a:srgbClr val="0F1115"/>
                </a:solidFill>
                <a:effectLst/>
                <a:latin typeface="quote-cjk-patch"/>
              </a:rPr>
              <a:t>Sharding – </a:t>
            </a:r>
            <a:r>
              <a:rPr kumimoji="0" lang="zh-CN" altLang="zh-CN" sz="4000" b="1" i="0" u="none" strike="noStrike" cap="none" normalizeH="0" baseline="0" dirty="0">
                <a:ln>
                  <a:noFill/>
                </a:ln>
                <a:solidFill>
                  <a:srgbClr val="0F1115"/>
                </a:solidFill>
                <a:effectLst/>
                <a:latin typeface="Arial" panose="020B0604020202020204" pitchFamily="34" charset="0"/>
                <a:ea typeface="quote-cjk-patch"/>
              </a:rPr>
              <a:t>Advantages</a:t>
            </a:r>
            <a:r>
              <a:rPr kumimoji="0" lang="en-US" altLang="zh-CN" sz="4000" b="1" i="0" u="none" strike="noStrike" cap="none" normalizeH="0" baseline="0" dirty="0">
                <a:ln>
                  <a:noFill/>
                </a:ln>
                <a:solidFill>
                  <a:srgbClr val="0F1115"/>
                </a:solidFill>
                <a:effectLst/>
                <a:latin typeface="Arial" panose="020B0604020202020204" pitchFamily="34" charset="0"/>
                <a:ea typeface="quote-cjk-patch"/>
              </a:rPr>
              <a:t> and </a:t>
            </a:r>
            <a:endParaRPr lang="en-US" altLang="zh-CN" sz="4000" b="1" i="0" dirty="0">
              <a:solidFill>
                <a:srgbClr val="0F1115"/>
              </a:solidFill>
              <a:effectLst/>
              <a:latin typeface="quote-cjk-patch"/>
            </a:endParaRPr>
          </a:p>
        </p:txBody>
      </p:sp>
      <p:sp>
        <p:nvSpPr>
          <p:cNvPr id="3" name="Rectangle 1"/>
          <p:cNvSpPr>
            <a:spLocks noChangeArrowheads="1"/>
          </p:cNvSpPr>
          <p:nvPr/>
        </p:nvSpPr>
        <p:spPr bwMode="auto">
          <a:xfrm>
            <a:off x="1520092" y="1436046"/>
            <a:ext cx="9323754" cy="37933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7763" rIns="0" bIns="7776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Advantages:</a:t>
            </a:r>
            <a:endParaRPr kumimoji="0" lang="zh-CN" altLang="zh-CN" sz="1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Scales linearly – add more nodes, add more shards</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Each node handles only a subset of queries → faster response</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Partial fault tolerance – losing one shard doesn’t lose entire dataset</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None/>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Challenges:</a:t>
            </a:r>
            <a:endParaRPr kumimoji="0" lang="zh-CN" altLang="zh-CN" sz="1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Complex queries</a:t>
            </a: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 across shards (joins, aggregations) become slow</a:t>
            </a:r>
            <a:endParaRPr kumimoji="0" lang="en-US"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Rebalancing</a:t>
            </a: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 when adding/removing nodes is difficult</a:t>
            </a:r>
            <a:endParaRPr kumimoji="0" lang="en-US" altLang="zh-CN" sz="2000" b="0" i="0" u="none" strike="noStrike" cap="none" normalizeH="0" baseline="0" dirty="0">
              <a:ln>
                <a:noFill/>
              </a:ln>
              <a:solidFill>
                <a:srgbClr val="0F1115"/>
              </a:solidFill>
              <a:effectLst/>
              <a:latin typeface="Arial" panose="020B0604020202020204" pitchFamily="34" charset="0"/>
              <a:ea typeface="quote-cjk-patch"/>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zh-CN" altLang="zh-CN" sz="2000" b="1" i="0" u="none" strike="noStrike" cap="none" normalizeH="0" baseline="0" dirty="0">
                <a:ln>
                  <a:noFill/>
                </a:ln>
                <a:solidFill>
                  <a:srgbClr val="0F1115"/>
                </a:solidFill>
                <a:effectLst/>
                <a:latin typeface="Arial" panose="020B0604020202020204" pitchFamily="34" charset="0"/>
                <a:ea typeface="quote-cjk-patch"/>
              </a:rPr>
              <a:t>Hot shards</a:t>
            </a:r>
            <a:r>
              <a:rPr kumimoji="0" lang="zh-CN" altLang="zh-CN" sz="2000" b="0" i="0" u="none" strike="noStrike" cap="none" normalizeH="0" baseline="0" dirty="0">
                <a:ln>
                  <a:noFill/>
                </a:ln>
                <a:solidFill>
                  <a:srgbClr val="0F1115"/>
                </a:solidFill>
                <a:effectLst/>
                <a:latin typeface="Arial" panose="020B0604020202020204" pitchFamily="34" charset="0"/>
                <a:ea typeface="quote-cjk-patch"/>
              </a:rPr>
              <a:t> – uneven distribution of data or access patterns</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p:txBody>
      </p:sp>
      <p:sp>
        <p:nvSpPr>
          <p:cNvPr id="6" name="TextBox 5"/>
          <p:cNvSpPr txBox="1"/>
          <p:nvPr/>
        </p:nvSpPr>
        <p:spPr>
          <a:xfrm>
            <a:off x="261816" y="5229407"/>
            <a:ext cx="11668368" cy="1109406"/>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pPr>
            <a:r>
              <a:rPr kumimoji="0" lang="zh-CN" altLang="zh-CN" sz="1800" b="1" i="0" u="none" strike="noStrike" cap="none" normalizeH="0" baseline="0" dirty="0">
                <a:ln>
                  <a:noFill/>
                </a:ln>
                <a:solidFill>
                  <a:srgbClr val="0F1115"/>
                </a:solidFill>
                <a:effectLst/>
                <a:latin typeface="Arial" panose="020B0604020202020204" pitchFamily="34" charset="0"/>
                <a:ea typeface="quote-cjk-patch"/>
              </a:rPr>
              <a:t>Example:</a:t>
            </a:r>
            <a:r>
              <a:rPr kumimoji="0" lang="zh-CN" altLang="zh-CN" sz="1800" b="0" i="0" u="none" strike="noStrike" cap="none" normalizeH="0" baseline="0" dirty="0">
                <a:ln>
                  <a:noFill/>
                </a:ln>
                <a:solidFill>
                  <a:srgbClr val="0F1115"/>
                </a:solidFill>
                <a:effectLst/>
                <a:latin typeface="Arial" panose="020B0604020202020204" pitchFamily="34" charset="0"/>
                <a:ea typeface="quote-cjk-patch"/>
              </a:rPr>
              <a:t> Sharding by </a:t>
            </a:r>
            <a:r>
              <a:rPr kumimoji="0" lang="zh-CN" altLang="zh-CN" sz="2800" b="0" i="0" u="none" strike="noStrike" cap="none" normalizeH="0" baseline="0" dirty="0">
                <a:ln>
                  <a:noFill/>
                </a:ln>
                <a:solidFill>
                  <a:srgbClr val="0F1115"/>
                </a:solidFill>
                <a:effectLst/>
                <a:latin typeface="Arial Unicode MS"/>
                <a:ea typeface="var(--ds-font-family-code)"/>
              </a:rPr>
              <a:t>rider_id</a:t>
            </a:r>
            <a:r>
              <a:rPr kumimoji="0" lang="zh-CN" altLang="zh-CN" sz="1800" b="0" i="0" u="none" strike="noStrike" cap="none" normalizeH="0" baseline="0" dirty="0">
                <a:ln>
                  <a:noFill/>
                </a:ln>
                <a:solidFill>
                  <a:srgbClr val="0F1115"/>
                </a:solidFill>
                <a:effectLst/>
                <a:ea typeface="quote-cjk-patch"/>
              </a:rPr>
              <a:t> </a:t>
            </a:r>
            <a:r>
              <a:rPr kumimoji="0" lang="zh-CN" altLang="zh-CN" sz="1800" b="0" i="0" u="none" strike="noStrike" cap="none" normalizeH="0" baseline="0" dirty="0">
                <a:ln>
                  <a:noFill/>
                </a:ln>
                <a:solidFill>
                  <a:srgbClr val="0F1115"/>
                </a:solidFill>
                <a:effectLst/>
                <a:latin typeface="Arial" panose="020B0604020202020204" pitchFamily="34" charset="0"/>
                <a:ea typeface="quote-cjk-patch"/>
              </a:rPr>
              <a:t>works well if queries are per rider. Sharding by </a:t>
            </a:r>
            <a:r>
              <a:rPr kumimoji="0" lang="zh-CN" altLang="zh-CN" sz="2800" b="0" i="0" u="none" strike="noStrike" cap="none" normalizeH="0" baseline="0" dirty="0">
                <a:ln>
                  <a:noFill/>
                </a:ln>
                <a:solidFill>
                  <a:srgbClr val="0F1115"/>
                </a:solidFill>
                <a:effectLst/>
                <a:latin typeface="Arial Unicode MS"/>
                <a:ea typeface="var(--ds-font-family-code)"/>
              </a:rPr>
              <a:t>trip_date</a:t>
            </a:r>
            <a:r>
              <a:rPr kumimoji="0" lang="zh-CN" altLang="zh-CN" sz="1800" b="0" i="0" u="none" strike="noStrike" cap="none" normalizeH="0" baseline="0" dirty="0">
                <a:ln>
                  <a:noFill/>
                </a:ln>
                <a:solidFill>
                  <a:srgbClr val="0F1115"/>
                </a:solidFill>
                <a:effectLst/>
                <a:ea typeface="quote-cjk-patch"/>
              </a:rPr>
              <a:t> </a:t>
            </a:r>
            <a:r>
              <a:rPr kumimoji="0" lang="zh-CN" altLang="zh-CN" sz="1800" b="0" i="0" u="none" strike="noStrike" cap="none" normalizeH="0" baseline="0" dirty="0">
                <a:ln>
                  <a:noFill/>
                </a:ln>
                <a:solidFill>
                  <a:srgbClr val="0F1115"/>
                </a:solidFill>
                <a:effectLst/>
                <a:latin typeface="Arial" panose="020B0604020202020204" pitchFamily="34" charset="0"/>
                <a:ea typeface="quote-cjk-patch"/>
              </a:rPr>
              <a:t>may create a hot shard for today’s data.</a:t>
            </a: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b="1" i="0" dirty="0">
                <a:solidFill>
                  <a:srgbClr val="0F1115"/>
                </a:solidFill>
                <a:effectLst/>
                <a:latin typeface="quote-cjk-patch"/>
              </a:rPr>
              <a:t>Replication – Copying Data for Safety</a:t>
            </a:r>
            <a:endParaRPr lang="en-US" altLang="zh-CN" sz="4000" b="1" i="0" dirty="0">
              <a:solidFill>
                <a:srgbClr val="0F1115"/>
              </a:solidFill>
              <a:effectLst/>
              <a:latin typeface="quote-cjk-patch"/>
            </a:endParaRPr>
          </a:p>
        </p:txBody>
      </p:sp>
      <p:sp>
        <p:nvSpPr>
          <p:cNvPr id="3" name="Rectangle 1"/>
          <p:cNvSpPr>
            <a:spLocks noChangeArrowheads="1"/>
          </p:cNvSpPr>
          <p:nvPr/>
        </p:nvSpPr>
        <p:spPr bwMode="auto">
          <a:xfrm>
            <a:off x="1574800" y="1961880"/>
            <a:ext cx="9323754" cy="5690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7763" rIns="0" bIns="7776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pPr>
            <a:r>
              <a:rPr lang="en-US" altLang="zh-CN" sz="2000" b="0" i="0" dirty="0">
                <a:solidFill>
                  <a:srgbClr val="0F1115"/>
                </a:solidFill>
                <a:effectLst/>
                <a:latin typeface="quote-cjk-patch"/>
              </a:rPr>
              <a:t>Replication stores multiple copies (replicas) of the same data on different nodes.</a:t>
            </a:r>
            <a:endParaRPr kumimoji="0" lang="zh-CN" altLang="zh-CN" sz="2000" b="0" i="0" u="none" strike="noStrike" cap="none" normalizeH="0" baseline="0" dirty="0">
              <a:ln>
                <a:noFill/>
              </a:ln>
              <a:solidFill>
                <a:srgbClr val="0F1115"/>
              </a:solidFill>
              <a:effectLst/>
              <a:latin typeface="Arial" panose="020B0604020202020204" pitchFamily="34" charset="0"/>
              <a:ea typeface="quote-cjk-patch"/>
            </a:endParaRPr>
          </a:p>
        </p:txBody>
      </p:sp>
      <p:sp>
        <p:nvSpPr>
          <p:cNvPr id="5" name="TextBox 4"/>
          <p:cNvSpPr txBox="1"/>
          <p:nvPr/>
        </p:nvSpPr>
        <p:spPr>
          <a:xfrm>
            <a:off x="944245" y="3429000"/>
            <a:ext cx="9954260" cy="2113915"/>
          </a:xfrm>
          <a:prstGeom prst="rect">
            <a:avLst/>
          </a:prstGeom>
          <a:noFill/>
        </p:spPr>
        <p:txBody>
          <a:bodyPr wrap="square">
            <a:noAutofit/>
          </a:bodyPr>
          <a:lstStyle/>
          <a:p>
            <a:pPr algn="l">
              <a:buFont typeface="Arial" panose="020B0604020202020204" pitchFamily="34" charset="0"/>
              <a:buChar char="•"/>
            </a:pPr>
            <a:r>
              <a:rPr lang="en-US" altLang="zh-CN" sz="2800" b="1" i="0" dirty="0">
                <a:solidFill>
                  <a:srgbClr val="0F1115"/>
                </a:solidFill>
                <a:effectLst/>
                <a:latin typeface="quote-cjk-patch"/>
              </a:rPr>
              <a:t>High availability</a:t>
            </a:r>
            <a:r>
              <a:rPr lang="en-US" altLang="zh-CN" sz="2800" b="0" i="0" dirty="0">
                <a:solidFill>
                  <a:srgbClr val="0F1115"/>
                </a:solidFill>
                <a:effectLst/>
                <a:latin typeface="quote-cjk-patch"/>
              </a:rPr>
              <a:t> – if one node fails, another replica serves requests</a:t>
            </a:r>
            <a:endParaRPr lang="en-US" altLang="zh-CN" sz="2800" b="0" i="0" dirty="0">
              <a:solidFill>
                <a:srgbClr val="0F1115"/>
              </a:solidFill>
              <a:effectLst/>
              <a:latin typeface="quote-cjk-patch"/>
            </a:endParaRPr>
          </a:p>
          <a:p>
            <a:pPr algn="l">
              <a:buFont typeface="Arial" panose="020B0604020202020204" pitchFamily="34" charset="0"/>
              <a:buChar char="•"/>
            </a:pPr>
            <a:r>
              <a:rPr lang="en-US" altLang="zh-CN" sz="2800" b="1" i="0" dirty="0">
                <a:solidFill>
                  <a:srgbClr val="0F1115"/>
                </a:solidFill>
                <a:effectLst/>
                <a:latin typeface="quote-cjk-patch"/>
              </a:rPr>
              <a:t>Read scalability</a:t>
            </a:r>
            <a:r>
              <a:rPr lang="en-US" altLang="zh-CN" sz="2800" b="0" i="0" dirty="0">
                <a:solidFill>
                  <a:srgbClr val="0F1115"/>
                </a:solidFill>
                <a:effectLst/>
                <a:latin typeface="quote-cjk-patch"/>
              </a:rPr>
              <a:t> – spread read queries across replicas</a:t>
            </a:r>
            <a:endParaRPr lang="en-US" altLang="zh-CN" sz="2800" b="0" i="0" dirty="0">
              <a:solidFill>
                <a:srgbClr val="0F1115"/>
              </a:solidFill>
              <a:effectLst/>
              <a:latin typeface="quote-cjk-patch"/>
            </a:endParaRPr>
          </a:p>
          <a:p>
            <a:pPr algn="l">
              <a:buFont typeface="Arial" panose="020B0604020202020204" pitchFamily="34" charset="0"/>
              <a:buChar char="•"/>
            </a:pPr>
            <a:r>
              <a:rPr lang="en-US" altLang="zh-CN" sz="2800" b="1" i="0" dirty="0">
                <a:solidFill>
                  <a:srgbClr val="0F1115"/>
                </a:solidFill>
                <a:effectLst/>
                <a:latin typeface="quote-cjk-patch"/>
              </a:rPr>
              <a:t>Disaster recovery</a:t>
            </a:r>
            <a:r>
              <a:rPr lang="en-US" altLang="zh-CN" sz="2800" b="0" i="0" dirty="0">
                <a:solidFill>
                  <a:srgbClr val="0F1115"/>
                </a:solidFill>
                <a:effectLst/>
                <a:latin typeface="quote-cjk-patch"/>
              </a:rPr>
              <a:t> – data survives node loss</a:t>
            </a:r>
            <a:endParaRPr lang="en-US" altLang="zh-CN" sz="2800" b="0" i="0" dirty="0">
              <a:solidFill>
                <a:srgbClr val="0F1115"/>
              </a:solidFill>
              <a:effectLst/>
              <a:latin typeface="quote-cjk-patch"/>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b="1" i="0" dirty="0">
                <a:solidFill>
                  <a:srgbClr val="0F1115"/>
                </a:solidFill>
                <a:effectLst/>
                <a:latin typeface="quote-cjk-patch"/>
              </a:rPr>
              <a:t>Replication – Master Slave</a:t>
            </a:r>
            <a:endParaRPr lang="en-US" altLang="zh-CN" sz="4000" b="1" i="0" dirty="0">
              <a:solidFill>
                <a:srgbClr val="0F1115"/>
              </a:solidFill>
              <a:effectLst/>
              <a:latin typeface="quote-cjk-patch"/>
            </a:endParaRPr>
          </a:p>
        </p:txBody>
      </p:sp>
      <p:graphicFrame>
        <p:nvGraphicFramePr>
          <p:cNvPr id="4" name="Table 3"/>
          <p:cNvGraphicFramePr>
            <a:graphicFrameLocks noGrp="1"/>
          </p:cNvGraphicFramePr>
          <p:nvPr/>
        </p:nvGraphicFramePr>
        <p:xfrm>
          <a:off x="1344246" y="1690688"/>
          <a:ext cx="9018954" cy="739140"/>
        </p:xfrm>
        <a:graphic>
          <a:graphicData uri="http://schemas.openxmlformats.org/drawingml/2006/table">
            <a:tbl>
              <a:tblPr/>
              <a:tblGrid>
                <a:gridCol w="1715119"/>
                <a:gridCol w="7303835"/>
              </a:tblGrid>
              <a:tr h="0">
                <a:tc>
                  <a:txBody>
                    <a:bodyPr/>
                    <a:lstStyle/>
                    <a:p>
                      <a:r>
                        <a:rPr lang="en-US" b="1">
                          <a:effectLst/>
                        </a:rPr>
                        <a:t>Master</a:t>
                      </a:r>
                      <a:endParaRPr lang="en-US">
                        <a:effectLst/>
                      </a:endParaRPr>
                    </a:p>
                  </a:txBody>
                  <a:tcPr marR="76200" marT="47625" marB="47625" anchor="ctr">
                    <a:lnL>
                      <a:noFill/>
                    </a:lnL>
                    <a:lnR>
                      <a:noFill/>
                    </a:lnR>
                    <a:lnT>
                      <a:noFill/>
                    </a:lnT>
                    <a:lnB>
                      <a:noFill/>
                    </a:lnB>
                    <a:solidFill>
                      <a:srgbClr val="FFFFFF"/>
                    </a:solidFill>
                  </a:tcPr>
                </a:tc>
                <a:tc>
                  <a:txBody>
                    <a:bodyPr/>
                    <a:lstStyle/>
                    <a:p>
                      <a:r>
                        <a:rPr lang="en-US" dirty="0">
                          <a:effectLst/>
                        </a:rPr>
                        <a:t>All writes go here. After write, propagates changes to slaves.</a:t>
                      </a:r>
                      <a:endParaRPr lang="en-US" dirty="0">
                        <a:effectLst/>
                      </a:endParaRPr>
                    </a:p>
                  </a:txBody>
                  <a:tcPr marL="76200" marT="47625" marB="47625" anchor="ctr">
                    <a:lnL>
                      <a:noFill/>
                    </a:lnL>
                    <a:lnR>
                      <a:noFill/>
                    </a:lnR>
                    <a:lnT>
                      <a:noFill/>
                    </a:lnT>
                    <a:lnB>
                      <a:noFill/>
                    </a:lnB>
                    <a:solidFill>
                      <a:srgbClr val="FFFFFF"/>
                    </a:solidFill>
                  </a:tcPr>
                </a:tc>
              </a:tr>
              <a:tr h="0">
                <a:tc>
                  <a:txBody>
                    <a:bodyPr/>
                    <a:lstStyle/>
                    <a:p>
                      <a:r>
                        <a:rPr lang="en-US" b="1">
                          <a:effectLst/>
                        </a:rPr>
                        <a:t>Slaves</a:t>
                      </a:r>
                      <a:endParaRPr lang="en-US">
                        <a:effectLst/>
                      </a:endParaRPr>
                    </a:p>
                  </a:txBody>
                  <a:tcPr marR="76200" marT="47625" marB="47625" anchor="ctr">
                    <a:lnL>
                      <a:noFill/>
                    </a:lnL>
                    <a:lnR>
                      <a:noFill/>
                    </a:lnR>
                    <a:lnT>
                      <a:noFill/>
                    </a:lnT>
                    <a:lnB>
                      <a:noFill/>
                    </a:lnB>
                    <a:solidFill>
                      <a:srgbClr val="FFFFFF"/>
                    </a:solidFill>
                  </a:tcPr>
                </a:tc>
                <a:tc>
                  <a:txBody>
                    <a:bodyPr/>
                    <a:lstStyle/>
                    <a:p>
                      <a:r>
                        <a:rPr lang="en-US" dirty="0">
                          <a:effectLst/>
                        </a:rPr>
                        <a:t>Serve read requests. Can be read‑only copies.</a:t>
                      </a:r>
                      <a:endParaRPr lang="en-US" dirty="0">
                        <a:effectLst/>
                      </a:endParaRPr>
                    </a:p>
                  </a:txBody>
                  <a:tcPr marL="76200" marT="47625" marB="47625" anchor="ctr">
                    <a:lnL>
                      <a:noFill/>
                    </a:lnL>
                    <a:lnR>
                      <a:noFill/>
                    </a:lnR>
                    <a:lnT>
                      <a:noFill/>
                    </a:lnT>
                    <a:lnB>
                      <a:noFill/>
                    </a:lnB>
                    <a:solidFill>
                      <a:srgbClr val="FFFFFF"/>
                    </a:solidFill>
                  </a:tcPr>
                </a:tc>
              </a:tr>
            </a:tbl>
          </a:graphicData>
        </a:graphic>
      </p:graphicFrame>
      <p:sp>
        <p:nvSpPr>
          <p:cNvPr id="7" name="TextBox 6"/>
          <p:cNvSpPr txBox="1"/>
          <p:nvPr/>
        </p:nvSpPr>
        <p:spPr>
          <a:xfrm>
            <a:off x="1860061" y="3227844"/>
            <a:ext cx="7799754" cy="2676525"/>
          </a:xfrm>
          <a:prstGeom prst="rect">
            <a:avLst/>
          </a:prstGeom>
          <a:noFill/>
        </p:spPr>
        <p:txBody>
          <a:bodyPr wrap="square">
            <a:spAutoFit/>
          </a:bodyPr>
          <a:lstStyle/>
          <a:p>
            <a:pPr algn="l">
              <a:buFont typeface="Arial" panose="020B0604020202020204" pitchFamily="34" charset="0"/>
              <a:buChar char="•"/>
            </a:pPr>
            <a:r>
              <a:rPr lang="en-US" altLang="zh-CN" sz="2800" b="0" i="0" dirty="0">
                <a:solidFill>
                  <a:srgbClr val="0F1115"/>
                </a:solidFill>
                <a:effectLst/>
                <a:latin typeface="quote-cjk-patch"/>
              </a:rPr>
              <a:t>Strong write consistency (single writer)</a:t>
            </a:r>
            <a:endParaRPr lang="en-US" altLang="zh-CN" sz="2800" b="0" i="0" dirty="0">
              <a:solidFill>
                <a:srgbClr val="0F1115"/>
              </a:solidFill>
              <a:effectLst/>
              <a:latin typeface="quote-cjk-patch"/>
            </a:endParaRPr>
          </a:p>
          <a:p>
            <a:pPr algn="l">
              <a:buFont typeface="Arial" panose="020B0604020202020204" pitchFamily="34" charset="0"/>
              <a:buChar char="•"/>
            </a:pPr>
            <a:r>
              <a:rPr lang="en-US" altLang="zh-CN" sz="2800" b="0" i="0" dirty="0">
                <a:solidFill>
                  <a:srgbClr val="0F1115"/>
                </a:solidFill>
                <a:effectLst/>
                <a:latin typeface="quote-cjk-patch"/>
              </a:rPr>
              <a:t>Read scalability (add more slaves)</a:t>
            </a:r>
            <a:endParaRPr lang="en-US" altLang="zh-CN" sz="2800" b="0" i="0" dirty="0">
              <a:solidFill>
                <a:srgbClr val="0F1115"/>
              </a:solidFill>
              <a:effectLst/>
              <a:latin typeface="quote-cjk-patch"/>
            </a:endParaRPr>
          </a:p>
          <a:p>
            <a:pPr algn="l">
              <a:buFont typeface="Arial" panose="020B0604020202020204" pitchFamily="34" charset="0"/>
              <a:buChar char="•"/>
            </a:pPr>
            <a:r>
              <a:rPr lang="en-US" altLang="zh-CN" sz="2800" b="0" i="0" dirty="0">
                <a:solidFill>
                  <a:srgbClr val="0F1115"/>
                </a:solidFill>
                <a:effectLst/>
                <a:latin typeface="quote-cjk-patch"/>
              </a:rPr>
              <a:t>If master fails, writes stop until a new master is elected.</a:t>
            </a:r>
            <a:endParaRPr lang="en-US" altLang="zh-CN" sz="2800" b="0" i="0" dirty="0">
              <a:solidFill>
                <a:srgbClr val="0F1115"/>
              </a:solidFill>
              <a:effectLst/>
              <a:latin typeface="quote-cjk-patch"/>
            </a:endParaRPr>
          </a:p>
          <a:p>
            <a:pPr algn="l"/>
            <a:r>
              <a:rPr lang="en-US" altLang="zh-CN" sz="2800" b="1" i="0" dirty="0">
                <a:solidFill>
                  <a:srgbClr val="0F1115"/>
                </a:solidFill>
                <a:effectLst/>
                <a:latin typeface="quote-cjk-patch"/>
              </a:rPr>
              <a:t>Use case:</a:t>
            </a:r>
            <a:r>
              <a:rPr lang="en-US" altLang="zh-CN" sz="2800" b="0" i="0" dirty="0">
                <a:solidFill>
                  <a:srgbClr val="0F1115"/>
                </a:solidFill>
                <a:effectLst/>
                <a:latin typeface="quote-cjk-patch"/>
              </a:rPr>
              <a:t> Read‑heavy applications (e.g., content delivery, reporting).</a:t>
            </a:r>
            <a:endParaRPr lang="en-US" altLang="zh-CN" sz="2800" b="0" i="0" dirty="0">
              <a:solidFill>
                <a:srgbClr val="0F1115"/>
              </a:solidFill>
              <a:effectLst/>
              <a:latin typeface="quote-cjk-patch"/>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b="1" i="0" dirty="0">
                <a:solidFill>
                  <a:srgbClr val="0F1115"/>
                </a:solidFill>
                <a:effectLst/>
                <a:latin typeface="quote-cjk-patch"/>
              </a:rPr>
              <a:t>The CAP Theorem – A Fundamental Trade‑off</a:t>
            </a:r>
            <a:endParaRPr lang="en-US" altLang="zh-CN" sz="4000" b="1" i="0" dirty="0">
              <a:solidFill>
                <a:srgbClr val="0F1115"/>
              </a:solidFill>
              <a:effectLst/>
              <a:latin typeface="quote-cjk-patch"/>
            </a:endParaRPr>
          </a:p>
        </p:txBody>
      </p:sp>
      <p:graphicFrame>
        <p:nvGraphicFramePr>
          <p:cNvPr id="6" name="Table 5"/>
          <p:cNvGraphicFramePr>
            <a:graphicFrameLocks noGrp="1"/>
          </p:cNvGraphicFramePr>
          <p:nvPr/>
        </p:nvGraphicFramePr>
        <p:xfrm>
          <a:off x="961390" y="1819275"/>
          <a:ext cx="10628630" cy="2088157"/>
        </p:xfrm>
        <a:graphic>
          <a:graphicData uri="http://schemas.openxmlformats.org/drawingml/2006/table">
            <a:tbl>
              <a:tblPr/>
              <a:tblGrid>
                <a:gridCol w="1750695"/>
                <a:gridCol w="8877935"/>
              </a:tblGrid>
              <a:tr h="306070">
                <a:tc>
                  <a:txBody>
                    <a:bodyPr/>
                    <a:lstStyle/>
                    <a:p>
                      <a:pPr algn="l"/>
                      <a:r>
                        <a:rPr lang="en-US" sz="2000" b="1">
                          <a:effectLst/>
                        </a:rPr>
                        <a:t>Property</a:t>
                      </a:r>
                      <a:endParaRPr lang="en-US" sz="2000" b="1">
                        <a:effectLst/>
                      </a:endParaRPr>
                    </a:p>
                  </a:txBody>
                  <a:tcPr marL="74808" marR="62340" marT="38963" marB="38963" anchor="ctr">
                    <a:lnL>
                      <a:noFill/>
                    </a:lnL>
                    <a:lnR>
                      <a:noFill/>
                    </a:lnR>
                    <a:lnT>
                      <a:noFill/>
                    </a:lnT>
                    <a:lnB>
                      <a:noFill/>
                    </a:lnB>
                    <a:solidFill>
                      <a:srgbClr val="FFFFFF"/>
                    </a:solidFill>
                  </a:tcPr>
                </a:tc>
                <a:tc>
                  <a:txBody>
                    <a:bodyPr/>
                    <a:lstStyle/>
                    <a:p>
                      <a:pPr algn="l"/>
                      <a:r>
                        <a:rPr lang="en-US" sz="2000" b="1">
                          <a:effectLst/>
                        </a:rPr>
                        <a:t>Meaning</a:t>
                      </a:r>
                      <a:endParaRPr lang="en-US" sz="2000" b="1">
                        <a:effectLst/>
                      </a:endParaRPr>
                    </a:p>
                  </a:txBody>
                  <a:tcPr marL="62340" marR="62340" marT="38963" marB="38963" anchor="ctr">
                    <a:lnL>
                      <a:noFill/>
                    </a:lnL>
                    <a:lnR>
                      <a:noFill/>
                    </a:lnR>
                    <a:lnT>
                      <a:noFill/>
                    </a:lnT>
                    <a:lnB>
                      <a:noFill/>
                    </a:lnB>
                    <a:solidFill>
                      <a:srgbClr val="FFFFFF"/>
                    </a:solidFill>
                  </a:tcPr>
                </a:tc>
              </a:tr>
              <a:tr h="509270">
                <a:tc>
                  <a:txBody>
                    <a:bodyPr/>
                    <a:lstStyle/>
                    <a:p>
                      <a:r>
                        <a:rPr lang="en-US" sz="2000" b="1">
                          <a:effectLst/>
                        </a:rPr>
                        <a:t>Consistency</a:t>
                      </a:r>
                      <a:endParaRPr lang="en-US" sz="2000" b="1">
                        <a:effectLst/>
                      </a:endParaRPr>
                    </a:p>
                  </a:txBody>
                  <a:tcPr marL="74808" marR="62340" marT="38963" marB="38963" anchor="ctr">
                    <a:lnL>
                      <a:noFill/>
                    </a:lnL>
                    <a:lnR>
                      <a:noFill/>
                    </a:lnR>
                    <a:lnT>
                      <a:noFill/>
                    </a:lnT>
                    <a:lnB>
                      <a:noFill/>
                    </a:lnB>
                    <a:solidFill>
                      <a:srgbClr val="FFFFFF"/>
                    </a:solidFill>
                  </a:tcPr>
                </a:tc>
                <a:tc>
                  <a:txBody>
                    <a:bodyPr/>
                    <a:lstStyle/>
                    <a:p>
                      <a:r>
                        <a:rPr lang="en-US" sz="2000" b="1">
                          <a:effectLst/>
                        </a:rPr>
                        <a:t>Every read receives the most recent write (all nodes see the same data)</a:t>
                      </a:r>
                      <a:endParaRPr lang="en-US" sz="2000" b="1">
                        <a:effectLst/>
                      </a:endParaRPr>
                    </a:p>
                  </a:txBody>
                  <a:tcPr marL="62340" marR="74808" marT="38963" marB="38963" anchor="ctr">
                    <a:lnL>
                      <a:noFill/>
                    </a:lnL>
                    <a:lnR>
                      <a:noFill/>
                    </a:lnR>
                    <a:lnT>
                      <a:noFill/>
                    </a:lnT>
                    <a:lnB>
                      <a:noFill/>
                    </a:lnB>
                    <a:solidFill>
                      <a:srgbClr val="FFFFFF"/>
                    </a:solidFill>
                  </a:tcPr>
                </a:tc>
              </a:tr>
              <a:tr h="508635">
                <a:tc>
                  <a:txBody>
                    <a:bodyPr/>
                    <a:lstStyle/>
                    <a:p>
                      <a:r>
                        <a:rPr lang="en-US" sz="2000" b="1">
                          <a:effectLst/>
                        </a:rPr>
                        <a:t>Availability</a:t>
                      </a:r>
                      <a:endParaRPr lang="en-US" sz="2000" b="1">
                        <a:effectLst/>
                      </a:endParaRPr>
                    </a:p>
                  </a:txBody>
                  <a:tcPr marL="74808" marR="62340" marT="38963" marB="38963" anchor="ctr">
                    <a:lnL>
                      <a:noFill/>
                    </a:lnL>
                    <a:lnR>
                      <a:noFill/>
                    </a:lnR>
                    <a:lnT>
                      <a:noFill/>
                    </a:lnT>
                    <a:lnB>
                      <a:noFill/>
                    </a:lnB>
                    <a:solidFill>
                      <a:srgbClr val="FFFFFF"/>
                    </a:solidFill>
                  </a:tcPr>
                </a:tc>
                <a:tc>
                  <a:txBody>
                    <a:bodyPr/>
                    <a:lstStyle/>
                    <a:p>
                      <a:r>
                        <a:rPr lang="en-US" sz="2000" b="1">
                          <a:effectLst/>
                        </a:rPr>
                        <a:t>Every request receives a non‑error response (system stays up)</a:t>
                      </a:r>
                      <a:endParaRPr lang="en-US" sz="2000" b="1">
                        <a:effectLst/>
                      </a:endParaRPr>
                    </a:p>
                  </a:txBody>
                  <a:tcPr marL="62340" marR="74808" marT="38963" marB="38963" anchor="ctr">
                    <a:lnL>
                      <a:noFill/>
                    </a:lnL>
                    <a:lnR>
                      <a:noFill/>
                    </a:lnR>
                    <a:lnT>
                      <a:noFill/>
                    </a:lnT>
                    <a:lnB>
                      <a:noFill/>
                    </a:lnB>
                    <a:solidFill>
                      <a:srgbClr val="FFFFFF"/>
                    </a:solidFill>
                  </a:tcPr>
                </a:tc>
              </a:tr>
              <a:tr h="509270">
                <a:tc>
                  <a:txBody>
                    <a:bodyPr/>
                    <a:lstStyle/>
                    <a:p>
                      <a:r>
                        <a:rPr lang="en-US" sz="2000" b="1" dirty="0">
                          <a:effectLst/>
                        </a:rPr>
                        <a:t>Partition tolerance</a:t>
                      </a:r>
                      <a:endParaRPr lang="en-US" sz="2000" b="1" dirty="0">
                        <a:effectLst/>
                      </a:endParaRPr>
                    </a:p>
                  </a:txBody>
                  <a:tcPr marL="74808" marR="62340" marT="38963" marB="38963" anchor="ctr">
                    <a:lnL>
                      <a:noFill/>
                    </a:lnL>
                    <a:lnR>
                      <a:noFill/>
                    </a:lnR>
                    <a:lnT>
                      <a:noFill/>
                    </a:lnT>
                    <a:lnB>
                      <a:noFill/>
                    </a:lnB>
                    <a:solidFill>
                      <a:srgbClr val="FFFFFF"/>
                    </a:solidFill>
                  </a:tcPr>
                </a:tc>
                <a:tc>
                  <a:txBody>
                    <a:bodyPr/>
                    <a:lstStyle/>
                    <a:p>
                      <a:r>
                        <a:rPr lang="en-US" sz="2000" b="1" dirty="0">
                          <a:effectLst/>
                        </a:rPr>
                        <a:t>System continues to operate despite network failures between nodes</a:t>
                      </a:r>
                      <a:endParaRPr lang="en-US" sz="2000" b="1" dirty="0">
                        <a:effectLst/>
                      </a:endParaRPr>
                    </a:p>
                  </a:txBody>
                  <a:tcPr marL="62340" marR="74808" marT="38963" marB="38963" anchor="ctr">
                    <a:lnL>
                      <a:noFill/>
                    </a:lnL>
                    <a:lnR>
                      <a:noFill/>
                    </a:lnR>
                    <a:lnT>
                      <a:noFill/>
                    </a:lnT>
                    <a:lnB>
                      <a:noFill/>
                    </a:lnB>
                    <a:solidFill>
                      <a:srgbClr val="FFFFFF"/>
                    </a:solidFill>
                  </a:tcPr>
                </a:tc>
              </a:tr>
            </a:tbl>
          </a:graphicData>
        </a:graphic>
      </p:graphicFrame>
      <p:sp>
        <p:nvSpPr>
          <p:cNvPr id="9" name="TextBox 8"/>
          <p:cNvSpPr txBox="1"/>
          <p:nvPr/>
        </p:nvSpPr>
        <p:spPr>
          <a:xfrm>
            <a:off x="1543685" y="4061460"/>
            <a:ext cx="8632190" cy="1353185"/>
          </a:xfrm>
          <a:prstGeom prst="rect">
            <a:avLst/>
          </a:prstGeom>
          <a:noFill/>
        </p:spPr>
        <p:txBody>
          <a:bodyPr wrap="square">
            <a:spAutoFit/>
          </a:bodyPr>
          <a:lstStyle/>
          <a:p>
            <a:r>
              <a:rPr lang="en-US" altLang="zh-CN" b="1" i="0" dirty="0">
                <a:solidFill>
                  <a:srgbClr val="0F1115"/>
                </a:solidFill>
                <a:effectLst/>
                <a:latin typeface="quote-cjk-patch"/>
              </a:rPr>
              <a:t>CAP Theorem (Eric Brewer’s, 2000, 2002):</a:t>
            </a:r>
            <a:r>
              <a:rPr lang="en-US" altLang="zh-CN" b="0" i="0" dirty="0">
                <a:solidFill>
                  <a:srgbClr val="0F1115"/>
                </a:solidFill>
                <a:effectLst/>
                <a:latin typeface="quote-cjk-patch"/>
              </a:rPr>
              <a:t> A distributed system can only provide </a:t>
            </a:r>
            <a:r>
              <a:rPr lang="en-US" altLang="zh-CN" b="1" i="0" dirty="0">
                <a:solidFill>
                  <a:srgbClr val="0F1115"/>
                </a:solidFill>
                <a:effectLst/>
                <a:latin typeface="quote-cjk-patch"/>
              </a:rPr>
              <a:t>two</a:t>
            </a:r>
            <a:r>
              <a:rPr lang="en-US" altLang="zh-CN" b="0" i="0" dirty="0">
                <a:solidFill>
                  <a:srgbClr val="0F1115"/>
                </a:solidFill>
                <a:effectLst/>
                <a:latin typeface="quote-cjk-patch"/>
              </a:rPr>
              <a:t> of three properties simultaneously. </a:t>
            </a:r>
            <a:r>
              <a:rPr lang="en-US" altLang="zh-CN" sz="3200" b="0" i="0" dirty="0">
                <a:solidFill>
                  <a:srgbClr val="FF0000"/>
                </a:solidFill>
                <a:effectLst/>
                <a:latin typeface="quote-cjk-patch"/>
              </a:rPr>
              <a:t>is it possible to achieve all three?</a:t>
            </a:r>
            <a:endParaRPr lang="en-US" altLang="zh-CN" sz="3200" b="0" i="0" dirty="0">
              <a:solidFill>
                <a:srgbClr val="FF0000"/>
              </a:solidFill>
              <a:effectLst/>
              <a:latin typeface="quote-cjk-patch"/>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b="1" i="0" dirty="0">
                <a:solidFill>
                  <a:srgbClr val="0F1115"/>
                </a:solidFill>
                <a:effectLst/>
                <a:latin typeface="quote-cjk-patch"/>
              </a:rPr>
              <a:t>The CAP Theorem – A Fundamental Trade‑off</a:t>
            </a:r>
            <a:endParaRPr lang="en-US" altLang="zh-CN" sz="4000" b="1" i="0" dirty="0">
              <a:solidFill>
                <a:srgbClr val="0F1115"/>
              </a:solidFill>
              <a:effectLst/>
              <a:latin typeface="quote-cjk-patch"/>
            </a:endParaRPr>
          </a:p>
        </p:txBody>
      </p:sp>
      <p:sp>
        <p:nvSpPr>
          <p:cNvPr id="3" name="文本框 2"/>
          <p:cNvSpPr txBox="1"/>
          <p:nvPr/>
        </p:nvSpPr>
        <p:spPr>
          <a:xfrm>
            <a:off x="1429385" y="1949450"/>
            <a:ext cx="8635365" cy="1938020"/>
          </a:xfrm>
          <a:prstGeom prst="rect">
            <a:avLst/>
          </a:prstGeom>
        </p:spPr>
        <p:txBody>
          <a:bodyPr wrap="square">
            <a:spAutoFit/>
          </a:bodyPr>
          <a:lstStyle/>
          <a:p>
            <a:pPr marL="0" indent="0" algn="just"/>
            <a:r>
              <a:rPr lang="en-US" altLang="zh-CN" sz="2000" b="0" i="0">
                <a:latin typeface="Roboto" panose="02000000000000000000"/>
                <a:ea typeface="Roboto" panose="02000000000000000000"/>
              </a:rPr>
              <a:t>The </a:t>
            </a:r>
            <a:r>
              <a:rPr lang="en-US" altLang="zh-CN" sz="2000" b="1" i="0">
                <a:latin typeface="Roboto" panose="02000000000000000000"/>
                <a:ea typeface="Roboto" panose="02000000000000000000"/>
              </a:rPr>
              <a:t>CAP Theorem</a:t>
            </a:r>
            <a:r>
              <a:rPr lang="en-US" altLang="zh-CN" sz="2000" b="0" i="0">
                <a:latin typeface="Roboto" panose="02000000000000000000"/>
                <a:ea typeface="Roboto" panose="02000000000000000000"/>
              </a:rPr>
              <a:t>, introduced by Eric Brewer in 2000 and formally proven in 2002, is a fundamental concept in distributed systems. It states that a distributed system can guarantee at most two out of three properties: </a:t>
            </a:r>
            <a:r>
              <a:rPr lang="en-US" altLang="zh-CN" sz="2000" b="1" i="0">
                <a:latin typeface="Roboto" panose="02000000000000000000"/>
                <a:ea typeface="Roboto" panose="02000000000000000000"/>
              </a:rPr>
              <a:t>Consistency</a:t>
            </a:r>
            <a:r>
              <a:rPr lang="en-US" altLang="zh-CN" sz="2000" b="0" i="0">
                <a:latin typeface="Roboto" panose="02000000000000000000"/>
                <a:ea typeface="Roboto" panose="02000000000000000000"/>
              </a:rPr>
              <a:t>, </a:t>
            </a:r>
            <a:r>
              <a:rPr lang="en-US" altLang="zh-CN" sz="2000" b="1" i="0">
                <a:latin typeface="Roboto" panose="02000000000000000000"/>
                <a:ea typeface="Roboto" panose="02000000000000000000"/>
              </a:rPr>
              <a:t>Availability</a:t>
            </a:r>
            <a:r>
              <a:rPr lang="en-US" altLang="zh-CN" sz="2000" b="0" i="0">
                <a:latin typeface="Roboto" panose="02000000000000000000"/>
                <a:ea typeface="Roboto" panose="02000000000000000000"/>
              </a:rPr>
              <a:t>, and </a:t>
            </a:r>
            <a:r>
              <a:rPr lang="en-US" altLang="zh-CN" sz="2000" b="1" i="0">
                <a:latin typeface="Roboto" panose="02000000000000000000"/>
                <a:ea typeface="Roboto" panose="02000000000000000000"/>
              </a:rPr>
              <a:t>Partition Tolerance</a:t>
            </a:r>
            <a:r>
              <a:rPr lang="en-US" altLang="zh-CN" sz="2000" b="0" i="0">
                <a:latin typeface="Roboto" panose="02000000000000000000"/>
                <a:ea typeface="Roboto" panose="02000000000000000000"/>
              </a:rPr>
              <a:t>. This theorem highlights the trade-offs system designers must make when building distributed systems.</a:t>
            </a:r>
            <a:endParaRPr lang="en-US" altLang="zh-CN" sz="2000" b="0" i="0">
              <a:latin typeface="Roboto" panose="02000000000000000000"/>
              <a:ea typeface="Roboto" panose="0200000000000000000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a:effectLst/>
                <a:sym typeface="+mn-ea"/>
              </a:rPr>
              <a:t>Key Properties of CAP Theorem</a:t>
            </a:r>
            <a:endParaRPr lang="en-US" altLang="zh-CN" sz="4000" b="1" i="0" dirty="0">
              <a:solidFill>
                <a:srgbClr val="0F1115"/>
              </a:solidFill>
              <a:effectLst/>
              <a:latin typeface="quote-cjk-patch"/>
            </a:endParaRPr>
          </a:p>
        </p:txBody>
      </p:sp>
      <p:sp>
        <p:nvSpPr>
          <p:cNvPr id="5" name="文本框 4"/>
          <p:cNvSpPr txBox="1"/>
          <p:nvPr/>
        </p:nvSpPr>
        <p:spPr>
          <a:xfrm>
            <a:off x="755015" y="1534160"/>
            <a:ext cx="10287635" cy="4892675"/>
          </a:xfrm>
          <a:prstGeom prst="rect">
            <a:avLst/>
          </a:prstGeom>
          <a:noFill/>
        </p:spPr>
        <p:txBody>
          <a:bodyPr wrap="square" rtlCol="0" anchor="t">
            <a:spAutoFit/>
          </a:bodyPr>
          <a:lstStyle/>
          <a:p>
            <a:pPr marL="342900" indent="-342900" algn="just">
              <a:buFont typeface="Arial" panose="020B0604020202020204" pitchFamily="34" charset="0"/>
              <a:buChar char="•"/>
            </a:pPr>
            <a:r>
              <a:rPr lang="en-US" altLang="zh-CN" sz="2400" b="1"/>
              <a:t>Consistency </a:t>
            </a:r>
            <a:r>
              <a:rPr lang="en-US" altLang="zh-CN" sz="2400"/>
              <a:t>ensures that all nodes in the system reflect the same data at any given time. When a write operation is performed, it must be propagated to all nodes before being acknowledged. For example, in a banking system, if a user spends money, all nodes must reflect the updated balance immediately to avoid inconsistencies. </a:t>
            </a:r>
            <a:endParaRPr lang="en-US" altLang="zh-CN" sz="2400"/>
          </a:p>
          <a:p>
            <a:pPr marL="342900" indent="-342900" algn="just">
              <a:buFont typeface="Arial" panose="020B0604020202020204" pitchFamily="34" charset="0"/>
              <a:buChar char="•"/>
            </a:pPr>
            <a:r>
              <a:rPr lang="en-US" altLang="zh-CN" sz="2400" b="1"/>
              <a:t>Availability </a:t>
            </a:r>
            <a:r>
              <a:rPr lang="en-US" altLang="zh-CN" sz="2400"/>
              <a:t>guarantees that every request to the system receives a response, even if some nodes are down. For instance, in a social media platform, users should be able to interact with the system without delays, even during partial failures. </a:t>
            </a:r>
            <a:endParaRPr lang="en-US" altLang="zh-CN" sz="2400"/>
          </a:p>
          <a:p>
            <a:pPr marL="342900" indent="-342900" algn="just">
              <a:buFont typeface="Arial" panose="020B0604020202020204" pitchFamily="34" charset="0"/>
              <a:buChar char="•"/>
            </a:pPr>
            <a:r>
              <a:rPr lang="en-US" altLang="zh-CN" sz="2400" b="1"/>
              <a:t>Partition </a:t>
            </a:r>
            <a:r>
              <a:rPr lang="en-US" altLang="zh-CN" sz="2400"/>
              <a:t>Tolerance means the system continues to function despite network partitions or communication breakdowns between nodes. For example, during a network outage, a system might rely on previously replicated data to maintain operations.</a:t>
            </a:r>
            <a:endParaRPr lang="en-US" altLang="zh-CN"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37565" y="432435"/>
            <a:ext cx="10287635" cy="3476625"/>
          </a:xfrm>
          <a:prstGeom prst="rect">
            <a:avLst/>
          </a:prstGeom>
          <a:noFill/>
        </p:spPr>
        <p:txBody>
          <a:bodyPr wrap="square" rtlCol="0" anchor="t">
            <a:spAutoFit/>
          </a:bodyPr>
          <a:lstStyle/>
          <a:p>
            <a:pPr indent="0" algn="just">
              <a:buFont typeface="Arial" panose="020B0604020202020204" pitchFamily="34" charset="0"/>
              <a:buNone/>
            </a:pPr>
            <a:r>
              <a:rPr lang="en-US" altLang="zh-CN" sz="2000" b="1"/>
              <a:t>A distributed system can only achieve two of the three properties simultaneously:</a:t>
            </a:r>
            <a:endParaRPr lang="en-US" altLang="zh-CN" sz="2000" b="1"/>
          </a:p>
          <a:p>
            <a:pPr marL="342900" indent="-342900" algn="just">
              <a:buFont typeface="Arial" panose="020B0604020202020204" pitchFamily="34" charset="0"/>
              <a:buChar char="•"/>
            </a:pPr>
            <a:r>
              <a:rPr lang="en-US" altLang="zh-CN" sz="2000" b="1"/>
              <a:t>CA (Consistency and Availability): These systems ensure consistent and available data but cannot tolerate network partitions. They are typically monolithic and not practical for distributed environments.</a:t>
            </a:r>
            <a:endParaRPr lang="en-US" altLang="zh-CN" sz="2000" b="1"/>
          </a:p>
          <a:p>
            <a:pPr marL="342900" indent="-342900" algn="just">
              <a:buFont typeface="Arial" panose="020B0604020202020204" pitchFamily="34" charset="0"/>
              <a:buChar char="•"/>
            </a:pPr>
            <a:r>
              <a:rPr lang="en-US" altLang="zh-CN" sz="2000" b="1"/>
              <a:t>AP (Availability and Partition Tolerance): These systems prioritize availability and partition tolerance, often at the cost of consistency. Social media platforms like Facebook and YouTube use this approach, where slight inconsistencies are acceptable.</a:t>
            </a:r>
            <a:endParaRPr lang="en-US" altLang="zh-CN" sz="2000" b="1"/>
          </a:p>
          <a:p>
            <a:pPr marL="342900" indent="-342900" algn="just">
              <a:buFont typeface="Arial" panose="020B0604020202020204" pitchFamily="34" charset="0"/>
              <a:buChar char="•"/>
            </a:pPr>
            <a:r>
              <a:rPr lang="en-US" altLang="zh-CN" sz="2000" b="1"/>
              <a:t>CP (Consistency and Partition Tolerance): These systems prioritize consistency and partition tolerance but may sacrifice availability. Critical applications like banking or stock trading systems often adopt this model to ensure data accuracy.</a:t>
            </a:r>
            <a:endParaRPr lang="en-US" altLang="zh-CN" sz="2000" b="1"/>
          </a:p>
        </p:txBody>
      </p:sp>
      <p:sp>
        <p:nvSpPr>
          <p:cNvPr id="4" name="文本框 3"/>
          <p:cNvSpPr txBox="1"/>
          <p:nvPr/>
        </p:nvSpPr>
        <p:spPr>
          <a:xfrm>
            <a:off x="1083310" y="3990975"/>
            <a:ext cx="10199370" cy="2680335"/>
          </a:xfrm>
          <a:prstGeom prst="rect">
            <a:avLst/>
          </a:prstGeom>
          <a:noFill/>
        </p:spPr>
        <p:txBody>
          <a:bodyPr wrap="square" rtlCol="0" anchor="t">
            <a:noAutofit/>
          </a:bodyPr>
          <a:p>
            <a:pPr marL="0" indent="0" algn="just">
              <a:spcBef>
                <a:spcPct val="0"/>
              </a:spcBef>
              <a:spcAft>
                <a:spcPct val="0"/>
              </a:spcAft>
              <a:buFont typeface="Arial" panose="020B0604020202020204"/>
              <a:buChar char="•"/>
            </a:pPr>
            <a:r>
              <a:rPr lang="en-US" altLang="zh-CN" sz="2400" b="1">
                <a:latin typeface="Roboto" panose="02000000000000000000"/>
                <a:ea typeface="Roboto" panose="02000000000000000000"/>
                <a:sym typeface="+mn-ea"/>
              </a:rPr>
              <a:t>Basically Available</a:t>
            </a:r>
            <a:r>
              <a:rPr lang="en-US" altLang="zh-CN" sz="2400">
                <a:latin typeface="Roboto" panose="02000000000000000000"/>
                <a:ea typeface="Roboto" panose="02000000000000000000"/>
                <a:sym typeface="+mn-ea"/>
              </a:rPr>
              <a:t> – The system guarantees availability as per the CAP theorem. Even if some nodes fail, the database remains operational and continues to accept requests.</a:t>
            </a:r>
            <a:endParaRPr lang="en-US" altLang="zh-CN" sz="2400" b="0" i="0">
              <a:latin typeface="Roboto" panose="02000000000000000000"/>
              <a:ea typeface="Roboto" panose="02000000000000000000"/>
            </a:endParaRPr>
          </a:p>
          <a:p>
            <a:pPr marL="0" indent="0" algn="just">
              <a:spcBef>
                <a:spcPct val="0"/>
              </a:spcBef>
              <a:spcAft>
                <a:spcPct val="0"/>
              </a:spcAft>
              <a:buFont typeface="Arial" panose="020B0604020202020204"/>
              <a:buChar char="•"/>
            </a:pPr>
            <a:r>
              <a:rPr lang="en-US" altLang="zh-CN" sz="2400" b="1">
                <a:latin typeface="Roboto" panose="02000000000000000000"/>
                <a:ea typeface="Roboto" panose="02000000000000000000"/>
                <a:sym typeface="+mn-ea"/>
              </a:rPr>
              <a:t>Soft State</a:t>
            </a:r>
            <a:r>
              <a:rPr lang="en-US" altLang="zh-CN" sz="2400">
                <a:latin typeface="Roboto" panose="02000000000000000000"/>
                <a:ea typeface="Roboto" panose="02000000000000000000"/>
                <a:sym typeface="+mn-ea"/>
              </a:rPr>
              <a:t> – The state of the system may change over time, even without new input, due to asynchronous replication and eventual consistency.</a:t>
            </a:r>
            <a:endParaRPr lang="en-US" altLang="zh-CN" sz="2400" b="0" i="0">
              <a:latin typeface="Roboto" panose="02000000000000000000"/>
              <a:ea typeface="Roboto" panose="02000000000000000000"/>
            </a:endParaRPr>
          </a:p>
          <a:p>
            <a:pPr marL="0" indent="0" algn="just">
              <a:spcBef>
                <a:spcPct val="0"/>
              </a:spcBef>
              <a:spcAft>
                <a:spcPct val="0"/>
              </a:spcAft>
              <a:buFont typeface="Arial" panose="020B0604020202020204"/>
              <a:buChar char="•"/>
            </a:pPr>
            <a:r>
              <a:rPr lang="en-US" altLang="zh-CN" sz="2400" b="1">
                <a:latin typeface="Roboto" panose="02000000000000000000"/>
                <a:ea typeface="Roboto" panose="02000000000000000000"/>
                <a:sym typeface="+mn-ea"/>
              </a:rPr>
              <a:t>Eventually Consistent</a:t>
            </a:r>
            <a:r>
              <a:rPr lang="en-US" altLang="zh-CN" sz="2400">
                <a:latin typeface="Roboto" panose="02000000000000000000"/>
                <a:ea typeface="Roboto" panose="02000000000000000000"/>
                <a:sym typeface="+mn-ea"/>
              </a:rPr>
              <a:t> – The system guarantees that, given enough time without new updates, all replicas will converge to the same state.</a:t>
            </a:r>
            <a:endParaRPr lang="en-US" altLang="zh-CN" sz="2400">
              <a:latin typeface="Roboto" panose="02000000000000000000"/>
              <a:ea typeface="Roboto" panose="0200000000000000000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zh-CN" sz="4000">
                <a:sym typeface="+mn-ea"/>
              </a:rPr>
              <a:t>Trade-Offs in CAP Theorem</a:t>
            </a:r>
            <a:endParaRPr lang="en-US" altLang="zh-CN" sz="4000" b="1" i="0" dirty="0">
              <a:solidFill>
                <a:srgbClr val="0F1115"/>
              </a:solidFill>
              <a:effectLst/>
              <a:latin typeface="quote-cjk-patch"/>
            </a:endParaRPr>
          </a:p>
        </p:txBody>
      </p:sp>
      <p:graphicFrame>
        <p:nvGraphicFramePr>
          <p:cNvPr id="3" name="表格 2"/>
          <p:cNvGraphicFramePr/>
          <p:nvPr/>
        </p:nvGraphicFramePr>
        <p:xfrm>
          <a:off x="780415" y="1449070"/>
          <a:ext cx="10485120" cy="5138416"/>
        </p:xfrm>
        <a:graphic>
          <a:graphicData uri="http://schemas.openxmlformats.org/drawingml/2006/table">
            <a:tbl>
              <a:tblPr/>
              <a:tblGrid>
                <a:gridCol w="2731135"/>
                <a:gridCol w="2511425"/>
                <a:gridCol w="2621280"/>
                <a:gridCol w="2621280"/>
              </a:tblGrid>
              <a:tr h="0">
                <a:tc>
                  <a:txBody>
                    <a:bodyPr/>
                    <a:lstStyle/>
                    <a:p>
                      <a:pPr algn="l"/>
                      <a:r>
                        <a:rPr lang="en-US" altLang="zh-CN" sz="2400" b="0">
                          <a:solidFill>
                            <a:srgbClr val="0F1115"/>
                          </a:solidFill>
                          <a:latin typeface="Times New Roman" panose="02020603050405020304" charset="0"/>
                          <a:ea typeface="var(--dsw-font-markdown-table-head)"/>
                          <a:cs typeface="Times New Roman" panose="02020603050405020304" charset="0"/>
                        </a:rPr>
                        <a:t>System Type</a:t>
                      </a:r>
                      <a:endParaRPr lang="en-US" altLang="zh-CN" sz="2400" b="0">
                        <a:solidFill>
                          <a:srgbClr val="0F1115"/>
                        </a:solidFill>
                        <a:latin typeface="Times New Roman" panose="02020603050405020304" charset="0"/>
                        <a:ea typeface="var(--dsw-font-markdown-table-head)"/>
                        <a:cs typeface="Times New Roman" panose="02020603050405020304" charset="0"/>
                      </a:endParaRPr>
                    </a:p>
                  </a:txBody>
                  <a:tcPr marL="0" marR="76517" marT="47942" marB="47942" anchor="ctr">
                    <a:lnL>
                      <a:noFill/>
                    </a:lnL>
                    <a:lnR>
                      <a:noFill/>
                    </a:lnR>
                    <a:lnT>
                      <a:noFill/>
                    </a:lnT>
                    <a:lnB>
                      <a:noFill/>
                    </a:lnB>
                    <a:noFill/>
                  </a:tcPr>
                </a:tc>
                <a:tc>
                  <a:txBody>
                    <a:bodyPr/>
                    <a:lstStyle/>
                    <a:p>
                      <a:pPr algn="l"/>
                      <a:r>
                        <a:rPr lang="en-US" altLang="zh-CN" sz="2400" b="0">
                          <a:solidFill>
                            <a:srgbClr val="0F1115"/>
                          </a:solidFill>
                          <a:latin typeface="Times New Roman" panose="02020603050405020304" charset="0"/>
                          <a:ea typeface="var(--dsw-font-markdown-table-head)"/>
                          <a:cs typeface="Times New Roman" panose="02020603050405020304" charset="0"/>
                        </a:rPr>
                        <a:t>Chooses</a:t>
                      </a:r>
                      <a:endParaRPr lang="en-US" altLang="zh-CN" sz="2400" b="0">
                        <a:solidFill>
                          <a:srgbClr val="0F1115"/>
                        </a:solidFill>
                        <a:latin typeface="Times New Roman" panose="02020603050405020304" charset="0"/>
                        <a:ea typeface="var(--dsw-font-markdown-table-head)"/>
                        <a:cs typeface="Times New Roman" panose="02020603050405020304" charset="0"/>
                      </a:endParaRPr>
                    </a:p>
                  </a:txBody>
                  <a:tcPr marL="76517" marR="76517" marT="47942" marB="47942" anchor="ctr">
                    <a:lnL>
                      <a:noFill/>
                    </a:lnL>
                    <a:lnR>
                      <a:noFill/>
                    </a:lnR>
                    <a:lnT>
                      <a:noFill/>
                    </a:lnT>
                    <a:lnB>
                      <a:noFill/>
                    </a:lnB>
                    <a:noFill/>
                  </a:tcPr>
                </a:tc>
                <a:tc>
                  <a:txBody>
                    <a:bodyPr/>
                    <a:lstStyle/>
                    <a:p>
                      <a:pPr algn="l"/>
                      <a:r>
                        <a:rPr lang="en-US" altLang="zh-CN" sz="2400" b="0">
                          <a:solidFill>
                            <a:srgbClr val="0F1115"/>
                          </a:solidFill>
                          <a:latin typeface="Times New Roman" panose="02020603050405020304" charset="0"/>
                          <a:ea typeface="var(--dsw-font-markdown-table-head)"/>
                          <a:cs typeface="Times New Roman" panose="02020603050405020304" charset="0"/>
                        </a:rPr>
                        <a:t>Example</a:t>
                      </a:r>
                      <a:endParaRPr lang="en-US" altLang="zh-CN" sz="2400" b="0">
                        <a:solidFill>
                          <a:srgbClr val="0F1115"/>
                        </a:solidFill>
                        <a:latin typeface="Times New Roman" panose="02020603050405020304" charset="0"/>
                        <a:ea typeface="var(--dsw-font-markdown-table-head)"/>
                        <a:cs typeface="Times New Roman" panose="02020603050405020304" charset="0"/>
                      </a:endParaRPr>
                    </a:p>
                  </a:txBody>
                  <a:tcPr marL="76517" marR="76517" marT="47942" marB="47942" anchor="ctr">
                    <a:lnL>
                      <a:noFill/>
                    </a:lnL>
                    <a:lnR>
                      <a:noFill/>
                    </a:lnR>
                    <a:lnT>
                      <a:noFill/>
                    </a:lnT>
                    <a:lnB>
                      <a:noFill/>
                    </a:lnB>
                    <a:noFill/>
                  </a:tcPr>
                </a:tc>
                <a:tc>
                  <a:txBody>
                    <a:bodyPr/>
                    <a:lstStyle/>
                    <a:p>
                      <a:pPr algn="l"/>
                      <a:r>
                        <a:rPr lang="en-US" altLang="zh-CN" sz="2400" b="0">
                          <a:solidFill>
                            <a:srgbClr val="0F1115"/>
                          </a:solidFill>
                          <a:latin typeface="Times New Roman" panose="02020603050405020304" charset="0"/>
                          <a:ea typeface="var(--dsw-font-markdown-table-head)"/>
                          <a:cs typeface="Times New Roman" panose="02020603050405020304" charset="0"/>
                        </a:rPr>
                        <a:t>Why</a:t>
                      </a:r>
                      <a:endParaRPr lang="en-US" altLang="zh-CN" sz="2400" b="0">
                        <a:solidFill>
                          <a:srgbClr val="0F1115"/>
                        </a:solidFill>
                        <a:latin typeface="Times New Roman" panose="02020603050405020304" charset="0"/>
                        <a:ea typeface="var(--dsw-font-markdown-table-head)"/>
                        <a:cs typeface="Times New Roman" panose="02020603050405020304" charset="0"/>
                      </a:endParaRPr>
                    </a:p>
                  </a:txBody>
                  <a:tcPr marL="76517" marR="76517" marT="47942" marB="47942" anchor="ctr">
                    <a:lnL>
                      <a:noFill/>
                    </a:lnL>
                    <a:lnR>
                      <a:noFill/>
                    </a:lnR>
                    <a:lnT>
                      <a:noFill/>
                    </a:lnT>
                    <a:lnB>
                      <a:noFill/>
                    </a:lnB>
                    <a:noFill/>
                  </a:tcPr>
                </a:tc>
              </a:tr>
              <a:tr h="0">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CP (Consistency + Partition tolerance)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0"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Consistency over Availability</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Traditional RDBMS cluster, HBase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Bank account balance must be accurate, even if some nodes become unavailable.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0" marT="47942" marB="47942" anchor="ctr">
                    <a:lnL>
                      <a:noFill/>
                    </a:lnL>
                    <a:lnR>
                      <a:noFill/>
                    </a:lnR>
                    <a:lnT>
                      <a:noFill/>
                    </a:lnT>
                    <a:lnB>
                      <a:noFill/>
                    </a:lnB>
                    <a:noFill/>
                  </a:tcPr>
                </a:tc>
              </a:tr>
              <a:tr h="0">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AP (Availability + Partition tolerance)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0"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Availability over Consistency</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Cassandra, DynamoDB, web caches</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Shopping cart – stale data is acceptable; refusing to add an item is not.</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0" marT="47942" marB="47942" anchor="ctr">
                    <a:lnL>
                      <a:noFill/>
                    </a:lnL>
                    <a:lnR>
                      <a:noFill/>
                    </a:lnR>
                    <a:lnT>
                      <a:noFill/>
                    </a:lnT>
                    <a:lnB>
                      <a:noFill/>
                    </a:lnB>
                    <a:noFill/>
                  </a:tcPr>
                </a:tc>
              </a:tr>
              <a:tr h="0">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CA (Consistency + Availability)</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0"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No partition tolerance</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Single‑node database (no distribution)</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76517" marT="47942" marB="47942" anchor="ctr">
                    <a:lnL>
                      <a:noFill/>
                    </a:lnL>
                    <a:lnR>
                      <a:noFill/>
                    </a:lnR>
                    <a:lnT>
                      <a:noFill/>
                    </a:lnT>
                    <a:lnB>
                      <a:noFill/>
                    </a:lnB>
                    <a:noFill/>
                  </a:tcPr>
                </a:tc>
                <a:tc>
                  <a:txBody>
                    <a:bodyPr/>
                    <a:lstStyle/>
                    <a:p>
                      <a:r>
                        <a:rPr lang="en-US" altLang="zh-CN" sz="2400" b="0">
                          <a:solidFill>
                            <a:srgbClr val="0F1115"/>
                          </a:solidFill>
                          <a:latin typeface="Times New Roman" panose="02020603050405020304" charset="0"/>
                          <a:ea typeface="var(--dsw-font-markdown-table)"/>
                          <a:cs typeface="Times New Roman" panose="02020603050405020304" charset="0"/>
                        </a:rPr>
                        <a:t>Impossible in a distributed system if network can fail.</a:t>
                      </a:r>
                      <a:endParaRPr lang="en-US" altLang="zh-CN" sz="2400" b="0">
                        <a:solidFill>
                          <a:srgbClr val="0F1115"/>
                        </a:solidFill>
                        <a:latin typeface="Times New Roman" panose="02020603050405020304" charset="0"/>
                        <a:ea typeface="var(--dsw-font-markdown-table)"/>
                        <a:cs typeface="Times New Roman" panose="02020603050405020304" charset="0"/>
                      </a:endParaRPr>
                    </a:p>
                  </a:txBody>
                  <a:tcPr marL="76517" marR="0" marT="47942" marB="47942" anchor="ctr">
                    <a:lnL>
                      <a:noFill/>
                    </a:lnL>
                    <a:lnR>
                      <a:noFill/>
                    </a:lnR>
                    <a:lnT>
                      <a:noFill/>
                    </a:lnT>
                    <a:lnB>
                      <a:noFill/>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3435"/>
          </a:xfrm>
        </p:spPr>
        <p:txBody>
          <a:bodyPr>
            <a:normAutofit/>
          </a:bodyPr>
          <a:lstStyle/>
          <a:p>
            <a:pPr algn="l"/>
            <a:r>
              <a:rPr lang="en-US" altLang="zh-CN" sz="4000">
                <a:sym typeface="+mn-ea"/>
              </a:rPr>
              <a:t>CAP - Practical Examples</a:t>
            </a:r>
            <a:endParaRPr lang="en-US" altLang="zh-CN" sz="4000" b="1" i="0" dirty="0">
              <a:solidFill>
                <a:srgbClr val="0F1115"/>
              </a:solidFill>
              <a:effectLst/>
              <a:latin typeface="quote-cjk-patch"/>
            </a:endParaRPr>
          </a:p>
        </p:txBody>
      </p:sp>
      <p:sp>
        <p:nvSpPr>
          <p:cNvPr id="5" name="文本框 4"/>
          <p:cNvSpPr txBox="1"/>
          <p:nvPr/>
        </p:nvSpPr>
        <p:spPr>
          <a:xfrm>
            <a:off x="755015" y="1534160"/>
            <a:ext cx="10287635" cy="4154170"/>
          </a:xfrm>
          <a:prstGeom prst="rect">
            <a:avLst/>
          </a:prstGeom>
          <a:noFill/>
        </p:spPr>
        <p:txBody>
          <a:bodyPr wrap="square" rtlCol="0" anchor="t">
            <a:spAutoFit/>
          </a:bodyPr>
          <a:lstStyle/>
          <a:p>
            <a:pPr indent="0" algn="just">
              <a:buFont typeface="Arial" panose="020B0604020202020204" pitchFamily="34" charset="0"/>
              <a:buNone/>
            </a:pPr>
            <a:r>
              <a:rPr lang="en-US" altLang="zh-CN" sz="2400"/>
              <a:t>Banking Systems (CP): Consistency is crucial to prevent issues like double spending. During network partitions, the system may become unavailable to maintain data integrity.</a:t>
            </a:r>
            <a:endParaRPr lang="en-US" altLang="zh-CN" sz="2400"/>
          </a:p>
          <a:p>
            <a:pPr indent="0" algn="just">
              <a:buFont typeface="Arial" panose="020B0604020202020204" pitchFamily="34" charset="0"/>
              <a:buNone/>
            </a:pPr>
            <a:endParaRPr lang="en-US" altLang="zh-CN" sz="2400"/>
          </a:p>
          <a:p>
            <a:pPr indent="0" algn="just">
              <a:buFont typeface="Arial" panose="020B0604020202020204" pitchFamily="34" charset="0"/>
              <a:buNone/>
            </a:pPr>
            <a:r>
              <a:rPr lang="en-US" altLang="zh-CN" sz="2400"/>
              <a:t>Social Media Platforms (AP): Availability is prioritized to ensure users can access content even during network failures, with eventual consistency resolving discrepancies later.</a:t>
            </a:r>
            <a:endParaRPr lang="en-US" altLang="zh-CN" sz="2400"/>
          </a:p>
          <a:p>
            <a:pPr indent="0" algn="just">
              <a:buFont typeface="Arial" panose="020B0604020202020204" pitchFamily="34" charset="0"/>
              <a:buNone/>
            </a:pPr>
            <a:endParaRPr lang="en-US" altLang="zh-CN" sz="2400"/>
          </a:p>
          <a:p>
            <a:pPr indent="0" algn="just">
              <a:buFont typeface="Arial" panose="020B0604020202020204" pitchFamily="34" charset="0"/>
              <a:buNone/>
            </a:pPr>
            <a:r>
              <a:rPr lang="en-US" altLang="zh-CN" sz="2400"/>
              <a:t>Hybrid Systems: Some systems dynamically balance CAP properties based on the operation. For example, an e-commerce platform might prioritize availability for browsing but consistency for payment processing.</a:t>
            </a:r>
            <a:endParaRPr lang="en-US" altLang="zh-CN"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3435"/>
          </a:xfrm>
        </p:spPr>
        <p:txBody>
          <a:bodyPr>
            <a:normAutofit/>
          </a:bodyPr>
          <a:lstStyle/>
          <a:p>
            <a:pPr algn="l"/>
            <a:r>
              <a:rPr lang="en-US" altLang="zh-CN" sz="4000">
                <a:sym typeface="+mn-ea"/>
              </a:rPr>
              <a:t>Summary</a:t>
            </a:r>
            <a:endParaRPr lang="en-US" altLang="zh-CN" sz="4000" b="1" i="0" dirty="0">
              <a:solidFill>
                <a:srgbClr val="0F1115"/>
              </a:solidFill>
              <a:effectLst/>
              <a:latin typeface="quote-cjk-patch"/>
            </a:endParaRPr>
          </a:p>
        </p:txBody>
      </p:sp>
      <p:sp>
        <p:nvSpPr>
          <p:cNvPr id="5" name="文本框 4"/>
          <p:cNvSpPr txBox="1"/>
          <p:nvPr/>
        </p:nvSpPr>
        <p:spPr>
          <a:xfrm>
            <a:off x="755015" y="1534160"/>
            <a:ext cx="10287635" cy="2306955"/>
          </a:xfrm>
          <a:prstGeom prst="rect">
            <a:avLst/>
          </a:prstGeom>
          <a:noFill/>
        </p:spPr>
        <p:txBody>
          <a:bodyPr wrap="square" rtlCol="0" anchor="t">
            <a:spAutoFit/>
          </a:bodyPr>
          <a:lstStyle/>
          <a:p>
            <a:pPr indent="0" algn="just">
              <a:buFont typeface="Arial" panose="020B0604020202020204" pitchFamily="34" charset="0"/>
              <a:buNone/>
            </a:pPr>
            <a:r>
              <a:rPr lang="en-US" altLang="zh-CN" sz="2400"/>
              <a:t>The CAP Theorem provides a framework for understanding the inherent trade-offs in distributed systems. While no system can achieve all three properties simultaneously, modern databases often allow configurations to balance these properties dynamically based on specific use cases. By understanding CAP, developers can design systems that align with their application's requirements, ensuring optimal performance and reliability.</a:t>
            </a:r>
            <a:endParaRPr lang="en-US" altLang="zh-CN"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200"/>
          </a:xfrm>
        </p:spPr>
        <p:txBody>
          <a:bodyPr>
            <a:normAutofit fontScale="90000"/>
          </a:bodyPr>
          <a:lstStyle/>
          <a:p>
            <a:pPr algn="l"/>
            <a:r>
              <a:rPr lang="en-US" altLang="zh-CN" sz="4000" b="1" i="0" dirty="0">
                <a:solidFill>
                  <a:srgbClr val="0F1115"/>
                </a:solidFill>
                <a:effectLst/>
                <a:latin typeface="quote-cjk-patch"/>
              </a:rPr>
              <a:t>ACID – Traditional Database Transactions</a:t>
            </a:r>
            <a:endParaRPr lang="en-US" altLang="zh-CN" sz="4000" b="1" i="0" dirty="0">
              <a:solidFill>
                <a:srgbClr val="0F1115"/>
              </a:solidFill>
              <a:effectLst/>
              <a:latin typeface="quote-cjk-patch"/>
            </a:endParaRPr>
          </a:p>
        </p:txBody>
      </p:sp>
      <p:pic>
        <p:nvPicPr>
          <p:cNvPr id="4" name="图片 3"/>
          <p:cNvPicPr>
            <a:picLocks noChangeAspect="1"/>
          </p:cNvPicPr>
          <p:nvPr/>
        </p:nvPicPr>
        <p:blipFill>
          <a:blip r:embed="rId1"/>
          <a:stretch>
            <a:fillRect/>
          </a:stretch>
        </p:blipFill>
        <p:spPr>
          <a:xfrm>
            <a:off x="1485900" y="1179830"/>
            <a:ext cx="9220200" cy="55352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200"/>
          </a:xfrm>
        </p:spPr>
        <p:txBody>
          <a:bodyPr>
            <a:normAutofit fontScale="90000"/>
          </a:bodyPr>
          <a:lstStyle/>
          <a:p>
            <a:pPr algn="l"/>
            <a:r>
              <a:rPr lang="en-US" altLang="zh-CN" sz="4000" b="1" i="0" dirty="0">
                <a:solidFill>
                  <a:srgbClr val="0F1115"/>
                </a:solidFill>
                <a:effectLst/>
                <a:latin typeface="quote-cjk-patch"/>
              </a:rPr>
              <a:t>BASE – The NoSQL Alternative</a:t>
            </a:r>
            <a:endParaRPr lang="en-US" altLang="zh-CN" sz="4000" b="1" i="0" dirty="0">
              <a:solidFill>
                <a:srgbClr val="0F1115"/>
              </a:solidFill>
              <a:effectLst/>
              <a:latin typeface="quote-cjk-patch"/>
            </a:endParaRPr>
          </a:p>
        </p:txBody>
      </p:sp>
      <p:sp>
        <p:nvSpPr>
          <p:cNvPr id="3" name="文本框 2"/>
          <p:cNvSpPr txBox="1"/>
          <p:nvPr/>
        </p:nvSpPr>
        <p:spPr>
          <a:xfrm>
            <a:off x="6550660" y="5627687"/>
            <a:ext cx="5080000" cy="583565"/>
          </a:xfrm>
          <a:prstGeom prst="rect">
            <a:avLst/>
          </a:prstGeom>
        </p:spPr>
        <p:txBody>
          <a:bodyPr>
            <a:spAutoFit/>
          </a:bodyPr>
          <a:lstStyle/>
          <a:p>
            <a:pPr marL="0" indent="0"/>
            <a:r>
              <a:rPr lang="en-US" altLang="zh-CN" sz="1600" b="0" i="0">
                <a:solidFill>
                  <a:srgbClr val="0F1115"/>
                </a:solidFill>
                <a:latin typeface="quote-cjk-patch"/>
                <a:ea typeface="quote-cjk-patch"/>
              </a:rPr>
              <a:t>BASE is a relaxed approach designed for distributed, highly available systems.</a:t>
            </a:r>
            <a:endParaRPr lang="en-US" altLang="zh-CN" sz="1600" b="0" i="0">
              <a:solidFill>
                <a:srgbClr val="0F1115"/>
              </a:solidFill>
              <a:latin typeface="quote-cjk-patch"/>
              <a:ea typeface="quote-cjk-patch"/>
            </a:endParaRPr>
          </a:p>
        </p:txBody>
      </p:sp>
      <p:sp>
        <p:nvSpPr>
          <p:cNvPr id="6" name="文本框 5"/>
          <p:cNvSpPr txBox="1"/>
          <p:nvPr/>
        </p:nvSpPr>
        <p:spPr>
          <a:xfrm>
            <a:off x="1137920" y="1344930"/>
            <a:ext cx="10116820" cy="156845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In the context of </a:t>
            </a:r>
            <a:r>
              <a:rPr lang="en-US" altLang="zh-CN" sz="2400" b="1" i="0">
                <a:latin typeface="Roboto" panose="02000000000000000000"/>
                <a:ea typeface="Roboto" panose="02000000000000000000"/>
              </a:rPr>
              <a:t>NoSQL databases</a:t>
            </a:r>
            <a:r>
              <a:rPr lang="en-US" altLang="zh-CN" sz="2400" b="0" i="0">
                <a:latin typeface="Roboto" panose="02000000000000000000"/>
                <a:ea typeface="Roboto" panose="02000000000000000000"/>
              </a:rPr>
              <a:t>, </a:t>
            </a:r>
            <a:r>
              <a:rPr lang="en-US" altLang="zh-CN" sz="2400" b="1" i="0">
                <a:latin typeface="Roboto" panose="02000000000000000000"/>
                <a:ea typeface="Roboto" panose="02000000000000000000"/>
              </a:rPr>
              <a:t>BASE</a:t>
            </a:r>
            <a:r>
              <a:rPr lang="en-US" altLang="zh-CN" sz="2400" b="0" i="0">
                <a:latin typeface="Roboto" panose="02000000000000000000"/>
                <a:ea typeface="Roboto" panose="02000000000000000000"/>
              </a:rPr>
              <a:t> is a transaction model that prioritizes </a:t>
            </a:r>
            <a:r>
              <a:rPr lang="en-US" altLang="zh-CN" sz="2400" b="1" i="0">
                <a:latin typeface="Roboto" panose="02000000000000000000"/>
                <a:ea typeface="Roboto" panose="02000000000000000000"/>
              </a:rPr>
              <a:t>availability and scalability</a:t>
            </a:r>
            <a:r>
              <a:rPr lang="en-US" altLang="zh-CN" sz="2400" b="0" i="0">
                <a:latin typeface="Roboto" panose="02000000000000000000"/>
                <a:ea typeface="Roboto" panose="02000000000000000000"/>
              </a:rPr>
              <a:t> over strict consistency, making it the conceptual opposite of the </a:t>
            </a:r>
            <a:r>
              <a:rPr lang="en-US" altLang="zh-CN" sz="2400" b="1" i="0">
                <a:latin typeface="Roboto" panose="02000000000000000000"/>
                <a:ea typeface="Roboto" panose="02000000000000000000"/>
              </a:rPr>
              <a:t>ACID</a:t>
            </a:r>
            <a:r>
              <a:rPr lang="en-US" altLang="zh-CN" sz="2400" b="0" i="0">
                <a:latin typeface="Roboto" panose="02000000000000000000"/>
                <a:ea typeface="Roboto" panose="02000000000000000000"/>
              </a:rPr>
              <a:t> model used in traditional relational databases. The acronym </a:t>
            </a:r>
            <a:r>
              <a:rPr lang="en-US" altLang="zh-CN" sz="2400" b="1" i="0">
                <a:latin typeface="Roboto" panose="02000000000000000000"/>
                <a:ea typeface="Roboto" panose="02000000000000000000"/>
              </a:rPr>
              <a:t>BASE</a:t>
            </a:r>
            <a:r>
              <a:rPr lang="en-US" altLang="zh-CN" sz="2400" b="0" i="0">
                <a:latin typeface="Roboto" panose="02000000000000000000"/>
                <a:ea typeface="Roboto" panose="02000000000000000000"/>
              </a:rPr>
              <a:t> stands for:</a:t>
            </a:r>
            <a:endParaRPr lang="en-US" altLang="zh-CN" sz="2400" b="0" i="0">
              <a:latin typeface="Roboto" panose="02000000000000000000"/>
              <a:ea typeface="Roboto" panose="02000000000000000000"/>
            </a:endParaRPr>
          </a:p>
        </p:txBody>
      </p:sp>
      <p:sp>
        <p:nvSpPr>
          <p:cNvPr id="7" name="文本框 6"/>
          <p:cNvSpPr txBox="1"/>
          <p:nvPr/>
        </p:nvSpPr>
        <p:spPr>
          <a:xfrm>
            <a:off x="1229995" y="3308985"/>
            <a:ext cx="10025380" cy="1753235"/>
          </a:xfrm>
          <a:prstGeom prst="rect">
            <a:avLst/>
          </a:prstGeom>
        </p:spPr>
        <p:txBody>
          <a:bodyPr wrap="square">
            <a:spAutoFit/>
          </a:bodyPr>
          <a:lstStyle/>
          <a:p>
            <a:pPr marL="0" indent="0" algn="just">
              <a:spcBef>
                <a:spcPct val="0"/>
              </a:spcBef>
              <a:spcAft>
                <a:spcPct val="0"/>
              </a:spcAft>
              <a:buFont typeface="Arial" panose="020B0604020202020204"/>
              <a:buChar char="•"/>
            </a:pPr>
            <a:r>
              <a:rPr lang="en-US" altLang="zh-CN" b="1" i="0">
                <a:latin typeface="Roboto" panose="02000000000000000000"/>
                <a:ea typeface="Roboto" panose="02000000000000000000"/>
              </a:rPr>
              <a:t>Basically Available</a:t>
            </a:r>
            <a:r>
              <a:rPr lang="en-US" altLang="zh-CN" b="0" i="0">
                <a:latin typeface="Roboto" panose="02000000000000000000"/>
                <a:ea typeface="Roboto" panose="02000000000000000000"/>
              </a:rPr>
              <a:t> – The system guarantees availability as per the CAP theorem. Even if some nodes fail, the database remains operational and continues to accept requests.</a:t>
            </a:r>
            <a:endParaRPr lang="en-US" altLang="zh-CN" b="0" i="0">
              <a:latin typeface="Roboto" panose="02000000000000000000"/>
              <a:ea typeface="Roboto" panose="02000000000000000000"/>
            </a:endParaRPr>
          </a:p>
          <a:p>
            <a:pPr marL="0" indent="0" algn="just">
              <a:spcBef>
                <a:spcPct val="0"/>
              </a:spcBef>
              <a:spcAft>
                <a:spcPct val="0"/>
              </a:spcAft>
              <a:buFont typeface="Arial" panose="020B0604020202020204"/>
              <a:buChar char="•"/>
            </a:pPr>
            <a:r>
              <a:rPr lang="en-US" altLang="zh-CN" b="1" i="0">
                <a:latin typeface="Roboto" panose="02000000000000000000"/>
                <a:ea typeface="Roboto" panose="02000000000000000000"/>
              </a:rPr>
              <a:t>Soft State</a:t>
            </a:r>
            <a:r>
              <a:rPr lang="en-US" altLang="zh-CN" b="0" i="0">
                <a:latin typeface="Roboto" panose="02000000000000000000"/>
                <a:ea typeface="Roboto" panose="02000000000000000000"/>
              </a:rPr>
              <a:t> – The state of the system may change over time, even without new input, due to asynchronous replication and eventual consistency.</a:t>
            </a:r>
            <a:endParaRPr lang="en-US" altLang="zh-CN" b="0" i="0">
              <a:latin typeface="Roboto" panose="02000000000000000000"/>
              <a:ea typeface="Roboto" panose="02000000000000000000"/>
            </a:endParaRPr>
          </a:p>
          <a:p>
            <a:pPr marL="0" indent="0" algn="just">
              <a:spcBef>
                <a:spcPct val="0"/>
              </a:spcBef>
              <a:spcAft>
                <a:spcPct val="0"/>
              </a:spcAft>
              <a:buFont typeface="Arial" panose="020B0604020202020204"/>
              <a:buChar char="•"/>
            </a:pPr>
            <a:r>
              <a:rPr lang="en-US" altLang="zh-CN" b="1" i="0">
                <a:latin typeface="Roboto" panose="02000000000000000000"/>
                <a:ea typeface="Roboto" panose="02000000000000000000"/>
              </a:rPr>
              <a:t>Eventually Consistent</a:t>
            </a:r>
            <a:r>
              <a:rPr lang="en-US" altLang="zh-CN" b="0" i="0">
                <a:latin typeface="Roboto" panose="02000000000000000000"/>
                <a:ea typeface="Roboto" panose="02000000000000000000"/>
              </a:rPr>
              <a:t> – The system guarantees that, given enough time without new updates, all replicas will converge to the same state.</a:t>
            </a:r>
            <a:endParaRPr lang="en-US" altLang="zh-CN" b="0" i="0">
              <a:latin typeface="Roboto" panose="02000000000000000000"/>
              <a:ea typeface="Roboto" panose="0200000000000000000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200"/>
          </a:xfrm>
        </p:spPr>
        <p:txBody>
          <a:bodyPr>
            <a:normAutofit fontScale="90000"/>
          </a:bodyPr>
          <a:lstStyle/>
          <a:p>
            <a:pPr algn="l"/>
            <a:r>
              <a:rPr lang="en-US" altLang="zh-CN" sz="4000" b="1" i="0" dirty="0">
                <a:solidFill>
                  <a:srgbClr val="0F1115"/>
                </a:solidFill>
                <a:effectLst/>
                <a:latin typeface="quote-cjk-patch"/>
              </a:rPr>
              <a:t>BASE – Key Characteristics</a:t>
            </a:r>
            <a:endParaRPr lang="en-US" altLang="zh-CN" sz="4000" b="1" i="0" dirty="0">
              <a:solidFill>
                <a:srgbClr val="0F1115"/>
              </a:solidFill>
              <a:effectLst/>
              <a:latin typeface="quote-cjk-patch"/>
            </a:endParaRPr>
          </a:p>
        </p:txBody>
      </p:sp>
      <p:sp>
        <p:nvSpPr>
          <p:cNvPr id="6" name="文本框 5"/>
          <p:cNvSpPr txBox="1"/>
          <p:nvPr/>
        </p:nvSpPr>
        <p:spPr>
          <a:xfrm>
            <a:off x="1137920" y="1344930"/>
            <a:ext cx="10116820" cy="415417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High Availability – Data is replicated across multiple nodes, ensuring the system can respond to requests even during partial failures.</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Horizontal Scalability – Designed for distributed environments, BASE databases scale by adding more nodes rather than upgrading hardware.</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Flexible Schema – Supports semi-structured or unstructured data, often schema-less, allowing rapid adaptation to changing requirements.</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Eventual Consistency Trade-off – Reads may return stale data temporarily, but consistency is restored over time.</a:t>
            </a:r>
            <a:endParaRPr lang="en-US" altLang="zh-CN" sz="2400" b="0" i="0">
              <a:latin typeface="Roboto" panose="02000000000000000000"/>
              <a:ea typeface="Roboto" panose="0200000000000000000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200"/>
          </a:xfrm>
        </p:spPr>
        <p:txBody>
          <a:bodyPr>
            <a:normAutofit fontScale="90000"/>
          </a:bodyPr>
          <a:lstStyle/>
          <a:p>
            <a:pPr algn="l"/>
            <a:r>
              <a:rPr lang="en-US" altLang="zh-CN" sz="4000" b="1" i="0" dirty="0">
                <a:solidFill>
                  <a:srgbClr val="0F1115"/>
                </a:solidFill>
                <a:effectLst/>
                <a:latin typeface="quote-cjk-patch"/>
              </a:rPr>
              <a:t>BASE – </a:t>
            </a:r>
            <a:r>
              <a:rPr lang="en-US" altLang="zh-CN" sz="4000">
                <a:latin typeface="Roboto" panose="02000000000000000000"/>
                <a:ea typeface="Roboto" panose="02000000000000000000"/>
                <a:sym typeface="+mn-ea"/>
              </a:rPr>
              <a:t>Example Use Cases:</a:t>
            </a:r>
            <a:endParaRPr lang="en-US" altLang="zh-CN" sz="4000" b="1" i="0" dirty="0">
              <a:solidFill>
                <a:srgbClr val="0F1115"/>
              </a:solidFill>
              <a:effectLst/>
              <a:latin typeface="quote-cjk-patch"/>
            </a:endParaRPr>
          </a:p>
        </p:txBody>
      </p:sp>
      <p:sp>
        <p:nvSpPr>
          <p:cNvPr id="6" name="文本框 5"/>
          <p:cNvSpPr txBox="1"/>
          <p:nvPr/>
        </p:nvSpPr>
        <p:spPr>
          <a:xfrm>
            <a:off x="744220" y="1344930"/>
            <a:ext cx="10510520" cy="341503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Social Media Platforms – Immediate availability is more important than perfect consistency (e.g., a post might take a few seconds to appear everywhere).</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Real-Time Analytics – Systems like recommendation engines or IoT platforms where speed and scalability outweigh strict accuracy.</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Content Delivery Networks (CDNs) – Prioritize fast access to data over synchronized updates.</a:t>
            </a:r>
            <a:endParaRPr lang="en-US" altLang="zh-CN" sz="2400" b="0" i="0">
              <a:latin typeface="Roboto" panose="02000000000000000000"/>
              <a:ea typeface="Roboto" panose="0200000000000000000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310" y="365125"/>
            <a:ext cx="10515600" cy="584200"/>
          </a:xfrm>
        </p:spPr>
        <p:txBody>
          <a:bodyPr>
            <a:normAutofit fontScale="90000"/>
          </a:bodyPr>
          <a:lstStyle/>
          <a:p>
            <a:pPr algn="l"/>
            <a:r>
              <a:rPr lang="en-US" altLang="zh-CN" sz="4000" b="1" i="0" dirty="0">
                <a:solidFill>
                  <a:srgbClr val="0F1115"/>
                </a:solidFill>
                <a:effectLst/>
                <a:latin typeface="quote-cjk-patch"/>
              </a:rPr>
              <a:t>Choosing Between ACID and BASE</a:t>
            </a:r>
            <a:endParaRPr lang="en-US" altLang="zh-CN" sz="4000" b="1" i="0" dirty="0">
              <a:solidFill>
                <a:srgbClr val="0F1115"/>
              </a:solidFill>
              <a:effectLst/>
              <a:latin typeface="quote-cjk-patch"/>
            </a:endParaRPr>
          </a:p>
        </p:txBody>
      </p:sp>
      <p:sp>
        <p:nvSpPr>
          <p:cNvPr id="6" name="文本框 5"/>
          <p:cNvSpPr txBox="1"/>
          <p:nvPr/>
        </p:nvSpPr>
        <p:spPr>
          <a:xfrm>
            <a:off x="744220" y="1344930"/>
            <a:ext cx="10510520" cy="119888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Scenario 1: Banking system (transfer money between accounts)</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Scenario 2: Social media “likes” counter</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Scenario 3: E‑commerce product inventory</a:t>
            </a:r>
            <a:endParaRPr lang="en-US" altLang="zh-CN" sz="2400" b="0" i="0">
              <a:latin typeface="Roboto" panose="02000000000000000000"/>
              <a:ea typeface="Roboto" panose="0200000000000000000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310" y="365125"/>
            <a:ext cx="10515600" cy="584200"/>
          </a:xfrm>
        </p:spPr>
        <p:txBody>
          <a:bodyPr>
            <a:normAutofit fontScale="90000"/>
          </a:bodyPr>
          <a:lstStyle/>
          <a:p>
            <a:pPr algn="l"/>
            <a:r>
              <a:rPr lang="en-US" altLang="zh-CN" sz="4000" b="1" i="0" dirty="0">
                <a:solidFill>
                  <a:srgbClr val="0F1115"/>
                </a:solidFill>
                <a:effectLst/>
                <a:latin typeface="quote-cjk-patch"/>
              </a:rPr>
              <a:t>Choosing Between ACID and BASE</a:t>
            </a:r>
            <a:endParaRPr lang="en-US" altLang="zh-CN" sz="4000" b="1" i="0" dirty="0">
              <a:solidFill>
                <a:srgbClr val="0F1115"/>
              </a:solidFill>
              <a:effectLst/>
              <a:latin typeface="quote-cjk-patch"/>
            </a:endParaRPr>
          </a:p>
        </p:txBody>
      </p:sp>
      <p:sp>
        <p:nvSpPr>
          <p:cNvPr id="6" name="文本框 5"/>
          <p:cNvSpPr txBox="1"/>
          <p:nvPr/>
        </p:nvSpPr>
        <p:spPr>
          <a:xfrm>
            <a:off x="744220" y="1344930"/>
            <a:ext cx="10510520" cy="4523105"/>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Scenario 1: Banking system (transfer money between accounts)</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Requires ACID – no partial updates, strong consistency, durability</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Availability is secondary – a 503 error is better than a double deduction</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Scenario 2: Social media “likes” counter</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BASE is fine – eventual consistency (count may be a few seconds stale)</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Availability is critical – users expect to see the page even if counts are slightly off</a:t>
            </a:r>
            <a:endParaRPr lang="en-US" altLang="zh-CN" sz="2400" b="0" i="0">
              <a:latin typeface="Roboto" panose="02000000000000000000"/>
              <a:ea typeface="Roboto" panose="02000000000000000000"/>
            </a:endParaRPr>
          </a:p>
          <a:p>
            <a:pPr marL="0" indent="0" algn="just"/>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Scenario 3: E‑commerce product inventory</a:t>
            </a:r>
            <a:endParaRPr lang="en-US" altLang="zh-CN" sz="2400" b="0" i="0">
              <a:latin typeface="Roboto" panose="02000000000000000000"/>
              <a:ea typeface="Roboto" panose="02000000000000000000"/>
            </a:endParaRPr>
          </a:p>
          <a:p>
            <a:pPr marL="0" indent="0" algn="just"/>
            <a:r>
              <a:rPr lang="en-US" altLang="zh-CN" sz="2400" b="0" i="0">
                <a:latin typeface="Roboto" panose="02000000000000000000"/>
                <a:ea typeface="Roboto" panose="02000000000000000000"/>
              </a:rPr>
              <a:t>Hybrid approach – decrement stock with ACID consistency, but product views can be BASE</a:t>
            </a:r>
            <a:endParaRPr lang="en-US" altLang="zh-CN" sz="2400" b="0" i="0">
              <a:latin typeface="Roboto" panose="02000000000000000000"/>
              <a:ea typeface="Roboto" panose="0200000000000000000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3430" y="2276475"/>
            <a:ext cx="10515600" cy="1325563"/>
          </a:xfrm>
        </p:spPr>
        <p:txBody>
          <a:bodyPr/>
          <a:lstStyle/>
          <a:p>
            <a:pPr algn="ctr"/>
            <a:r>
              <a:rPr lang="en-US" altLang="zh-CN" b="1" dirty="0"/>
              <a:t>Week#11</a:t>
            </a:r>
            <a:endParaRPr lang="en-US" altLang="zh-CN"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1798"/>
          </a:xfrm>
        </p:spPr>
        <p:txBody>
          <a:bodyPr>
            <a:normAutofit fontScale="90000"/>
          </a:bodyPr>
          <a:lstStyle/>
          <a:p>
            <a:r>
              <a:rPr lang="en-US" altLang="zh-CN" dirty="0"/>
              <a:t>Possible Answers Discussion</a:t>
            </a:r>
            <a:endParaRPr lang="zh-CN" altLang="en-US" dirty="0"/>
          </a:p>
        </p:txBody>
      </p:sp>
      <p:graphicFrame>
        <p:nvGraphicFramePr>
          <p:cNvPr id="4" name="Content Placeholder 3"/>
          <p:cNvGraphicFramePr>
            <a:graphicFrameLocks noGrp="1"/>
          </p:cNvGraphicFramePr>
          <p:nvPr>
            <p:ph idx="1"/>
          </p:nvPr>
        </p:nvGraphicFramePr>
        <p:xfrm>
          <a:off x="985715" y="1231631"/>
          <a:ext cx="10220569" cy="4357235"/>
        </p:xfrm>
        <a:graphic>
          <a:graphicData uri="http://schemas.openxmlformats.org/drawingml/2006/table">
            <a:tbl>
              <a:tblPr/>
              <a:tblGrid>
                <a:gridCol w="696081"/>
                <a:gridCol w="2477901"/>
                <a:gridCol w="4386439"/>
                <a:gridCol w="2660148"/>
              </a:tblGrid>
              <a:tr h="423673">
                <a:tc>
                  <a:txBody>
                    <a:bodyPr/>
                    <a:lstStyle/>
                    <a:p>
                      <a:pPr algn="l"/>
                      <a:r>
                        <a:rPr lang="en-US" sz="1800">
                          <a:effectLst/>
                          <a:latin typeface="Times" panose="02020603050405020304" pitchFamily="18" charset="0"/>
                        </a:rPr>
                        <a:t>Q#</a:t>
                      </a:r>
                      <a:endParaRPr lang="en-US" sz="18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pPr algn="l"/>
                      <a:r>
                        <a:rPr lang="en-US" sz="1800">
                          <a:effectLst/>
                          <a:latin typeface="Times" panose="02020603050405020304" pitchFamily="18" charset="0"/>
                        </a:rPr>
                        <a:t>Correct Model</a:t>
                      </a:r>
                      <a:endParaRPr lang="en-US" sz="18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pPr algn="l"/>
                      <a:r>
                        <a:rPr lang="en-US" sz="1800">
                          <a:effectLst/>
                          <a:latin typeface="Times" panose="02020603050405020304" pitchFamily="18" charset="0"/>
                        </a:rPr>
                        <a:t>Short Justification</a:t>
                      </a:r>
                      <a:endParaRPr lang="en-US" sz="18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pPr algn="l"/>
                      <a:r>
                        <a:rPr lang="en-US" sz="1800" dirty="0">
                          <a:effectLst/>
                          <a:latin typeface="Times" panose="02020603050405020304" pitchFamily="18" charset="0"/>
                        </a:rPr>
                        <a:t>Why the others could go wrong</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r>
              <a:tr h="1494053">
                <a:tc>
                  <a:txBody>
                    <a:bodyPr/>
                    <a:lstStyle/>
                    <a:p>
                      <a:r>
                        <a:rPr lang="en-US" altLang="zh-CN" sz="1800">
                          <a:effectLst/>
                          <a:latin typeface="Times" panose="02020603050405020304" pitchFamily="18" charset="0"/>
                        </a:rPr>
                        <a:t>1</a:t>
                      </a:r>
                      <a:endParaRPr lang="en-US" altLang="zh-CN" sz="18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800" b="1">
                          <a:effectLst/>
                          <a:latin typeface="Times" panose="02020603050405020304" pitchFamily="18" charset="0"/>
                        </a:rPr>
                        <a:t>CAP – Consistency (CP)</a:t>
                      </a:r>
                      <a:endParaRPr lang="en-US" sz="18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Legal documents cannot tolerate conflicting edits; temporary unavailability (loading) is acceptable.`</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AP would allow different lawyers to see different document versions; BASE eventual consistency would cause merge hell.</a:t>
                      </a:r>
                      <a:endParaRPr lang="en-US" sz="1800" dirty="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137260">
                <a:tc>
                  <a:txBody>
                    <a:bodyPr/>
                    <a:lstStyle/>
                    <a:p>
                      <a:r>
                        <a:rPr lang="en-US" altLang="zh-CN" sz="1800">
                          <a:effectLst/>
                          <a:latin typeface="Times" panose="02020603050405020304" pitchFamily="18" charset="0"/>
                        </a:rPr>
                        <a:t>2</a:t>
                      </a:r>
                      <a:endParaRPr lang="en-US" altLang="zh-CN" sz="18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800" b="1">
                          <a:effectLst/>
                          <a:latin typeface="Times" panose="02020603050405020304" pitchFamily="18" charset="0"/>
                        </a:rPr>
                        <a:t>CAP – Availability (AP) or BASE</a:t>
                      </a:r>
                      <a:endParaRPr lang="en-US" sz="18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Production line cannot stop; losing a tiny fraction of scores is better than slowing the line.</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a:effectLst/>
                          <a:latin typeface="Times" panose="02020603050405020304" pitchFamily="18" charset="0"/>
                        </a:rPr>
                        <a:t>ACID would introduce blocking; CP would force waiting for writes, disrupting throughput.</a:t>
                      </a:r>
                      <a:endParaRPr lang="en-US" sz="180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137260">
                <a:tc>
                  <a:txBody>
                    <a:bodyPr/>
                    <a:lstStyle/>
                    <a:p>
                      <a:r>
                        <a:rPr lang="en-US" altLang="zh-CN" sz="1800">
                          <a:effectLst/>
                          <a:latin typeface="Times" panose="02020603050405020304" pitchFamily="18" charset="0"/>
                        </a:rPr>
                        <a:t>3</a:t>
                      </a:r>
                      <a:endParaRPr lang="en-US" altLang="zh-CN" sz="18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800" b="1" dirty="0">
                          <a:effectLst/>
                          <a:latin typeface="Times" panose="02020603050405020304" pitchFamily="18" charset="0"/>
                        </a:rPr>
                        <a:t>CAP – Consistency (CP)</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Air traffic safety requires </a:t>
                      </a:r>
                      <a:r>
                        <a:rPr lang="en-US" sz="1800" b="1" dirty="0">
                          <a:effectLst/>
                          <a:latin typeface="Times" panose="02020603050405020304" pitchFamily="18" charset="0"/>
                        </a:rPr>
                        <a:t>no</a:t>
                      </a:r>
                      <a:r>
                        <a:rPr lang="en-US" sz="1800" dirty="0">
                          <a:effectLst/>
                          <a:latin typeface="Times" panose="02020603050405020304" pitchFamily="18" charset="0"/>
                        </a:rPr>
                        <a:t> inconsistent position data – better to show nothing than a wrong position.</a:t>
                      </a:r>
                      <a:endParaRPr lang="en-US" sz="18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800" dirty="0">
                          <a:effectLst/>
                          <a:latin typeface="Times" panose="02020603050405020304" pitchFamily="18" charset="0"/>
                        </a:rPr>
                        <a:t>AP would display conflicting data; ACID 2PC is too slow and doesn't handle partitions well.</a:t>
                      </a:r>
                      <a:endParaRPr lang="en-US" sz="1800" dirty="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1798"/>
          </a:xfrm>
        </p:spPr>
        <p:txBody>
          <a:bodyPr>
            <a:normAutofit fontScale="90000"/>
          </a:bodyPr>
          <a:lstStyle/>
          <a:p>
            <a:r>
              <a:rPr lang="en-US" altLang="zh-CN" dirty="0"/>
              <a:t>Possible Answers Discussion</a:t>
            </a:r>
            <a:endParaRPr lang="zh-CN" altLang="en-US" dirty="0"/>
          </a:p>
        </p:txBody>
      </p:sp>
      <p:graphicFrame>
        <p:nvGraphicFramePr>
          <p:cNvPr id="4" name="Content Placeholder 3"/>
          <p:cNvGraphicFramePr>
            <a:graphicFrameLocks noGrp="1"/>
          </p:cNvGraphicFramePr>
          <p:nvPr>
            <p:ph idx="1"/>
          </p:nvPr>
        </p:nvGraphicFramePr>
        <p:xfrm>
          <a:off x="923192" y="1062893"/>
          <a:ext cx="10220569" cy="4997683"/>
        </p:xfrm>
        <a:graphic>
          <a:graphicData uri="http://schemas.openxmlformats.org/drawingml/2006/table">
            <a:tbl>
              <a:tblPr/>
              <a:tblGrid>
                <a:gridCol w="696081"/>
                <a:gridCol w="2477901"/>
                <a:gridCol w="4386439"/>
                <a:gridCol w="2660148"/>
              </a:tblGrid>
              <a:tr h="405383">
                <a:tc>
                  <a:txBody>
                    <a:bodyPr/>
                    <a:lstStyle/>
                    <a:p>
                      <a:pPr algn="l"/>
                      <a:r>
                        <a:rPr lang="en-US" sz="2000">
                          <a:effectLst/>
                          <a:latin typeface="Times" panose="02020603050405020304" pitchFamily="18" charset="0"/>
                        </a:rPr>
                        <a:t>Q#</a:t>
                      </a:r>
                      <a:endParaRPr lang="en-US" sz="200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pPr algn="l"/>
                      <a:r>
                        <a:rPr lang="en-US" sz="2000">
                          <a:effectLst/>
                          <a:latin typeface="Times" panose="02020603050405020304" pitchFamily="18" charset="0"/>
                        </a:rPr>
                        <a:t>Correct Model</a:t>
                      </a:r>
                      <a:endParaRPr lang="en-US" sz="20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pPr algn="l"/>
                      <a:r>
                        <a:rPr lang="en-US" sz="2000">
                          <a:effectLst/>
                          <a:latin typeface="Times" panose="02020603050405020304" pitchFamily="18" charset="0"/>
                        </a:rPr>
                        <a:t>Short Justification</a:t>
                      </a:r>
                      <a:endParaRPr lang="en-US" sz="20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pPr algn="l"/>
                      <a:r>
                        <a:rPr lang="en-US" sz="2000" dirty="0">
                          <a:effectLst/>
                          <a:latin typeface="Times" panose="02020603050405020304" pitchFamily="18" charset="0"/>
                        </a:rPr>
                        <a:t>Why the others could go wrong</a:t>
                      </a:r>
                      <a:endParaRPr lang="en-US" sz="20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r>
              <a:tr h="1022898">
                <a:tc>
                  <a:txBody>
                    <a:bodyPr/>
                    <a:lstStyle/>
                    <a:p>
                      <a:r>
                        <a:rPr lang="en-US" altLang="zh-CN" sz="1600" dirty="0">
                          <a:effectLst/>
                          <a:latin typeface="Times" panose="02020603050405020304" pitchFamily="18" charset="0"/>
                        </a:rPr>
                        <a:t>4</a:t>
                      </a:r>
                      <a:endParaRPr lang="en-US" altLang="zh-CN" sz="1600" dirty="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600" b="1" dirty="0">
                          <a:effectLst/>
                          <a:latin typeface="Times" panose="02020603050405020304" pitchFamily="18" charset="0"/>
                        </a:rPr>
                        <a:t>CAP – Availability (AP) or BASE</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dirty="0">
                          <a:effectLst/>
                          <a:latin typeface="Times" panose="02020603050405020304" pitchFamily="18" charset="0"/>
                        </a:rPr>
                        <a:t>Commuters must enter immediately; occasional false approval is less harmful than false denial.</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a:effectLst/>
                          <a:latin typeface="Times" panose="02020603050405020304" pitchFamily="18" charset="0"/>
                        </a:rPr>
                        <a:t>ACID or CP would block during network outage, causing passenger chaos.</a:t>
                      </a:r>
                      <a:endParaRPr lang="en-US" sz="160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148861">
                <a:tc>
                  <a:txBody>
                    <a:bodyPr/>
                    <a:lstStyle/>
                    <a:p>
                      <a:r>
                        <a:rPr lang="en-US" altLang="zh-CN" sz="1600" dirty="0">
                          <a:effectLst/>
                          <a:latin typeface="Times" panose="02020603050405020304" pitchFamily="18" charset="0"/>
                        </a:rPr>
                        <a:t>5</a:t>
                      </a:r>
                      <a:endParaRPr lang="en-US" altLang="zh-CN" sz="1600" dirty="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600" b="1">
                          <a:effectLst/>
                          <a:latin typeface="Times" panose="02020603050405020304" pitchFamily="18" charset="0"/>
                        </a:rPr>
                        <a:t>CAP – Consistency (CP) with quorum</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a:effectLst/>
                          <a:latin typeface="Times" panose="02020603050405020304" pitchFamily="18" charset="0"/>
                        </a:rPr>
                        <a:t>Zero data loss is mandatory; the system can block writes during partition to ensure all nodes agree.</a:t>
                      </a:r>
                      <a:endParaRPr lang="en-US" sz="16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a:effectLst/>
                          <a:latin typeface="Times" panose="02020603050405020304" pitchFamily="18" charset="0"/>
                        </a:rPr>
                        <a:t>BASE loses data; AP would accept writes on one node and might lose them.</a:t>
                      </a:r>
                      <a:endParaRPr lang="en-US" sz="160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088165">
                <a:tc>
                  <a:txBody>
                    <a:bodyPr/>
                    <a:lstStyle/>
                    <a:p>
                      <a:r>
                        <a:rPr lang="en-US" altLang="zh-CN" sz="1600" dirty="0">
                          <a:effectLst/>
                          <a:latin typeface="Times" panose="02020603050405020304" pitchFamily="18" charset="0"/>
                        </a:rPr>
                        <a:t>6</a:t>
                      </a:r>
                      <a:endParaRPr lang="en-US" altLang="zh-CN" sz="1600" dirty="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600" b="1">
                          <a:effectLst/>
                          <a:latin typeface="Times" panose="02020603050405020304" pitchFamily="18" charset="0"/>
                        </a:rPr>
                        <a:t>BASE (fire‑and‑forget)</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a:effectLst/>
                          <a:latin typeface="Times" panose="02020603050405020304" pitchFamily="18" charset="0"/>
                        </a:rPr>
                        <a:t>Log loss is acceptable; exam stability is critical; no need for consistency or transaction.</a:t>
                      </a:r>
                      <a:endParaRPr lang="en-US" sz="160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dirty="0">
                          <a:effectLst/>
                          <a:latin typeface="Times" panose="02020603050405020304" pitchFamily="18" charset="0"/>
                        </a:rPr>
                        <a:t>ACID/CP would add latency and risk freezing the exam.</a:t>
                      </a:r>
                      <a:endParaRPr lang="en-US" sz="1600" dirty="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r h="1088165">
                <a:tc>
                  <a:txBody>
                    <a:bodyPr/>
                    <a:lstStyle/>
                    <a:p>
                      <a:r>
                        <a:rPr lang="en-US" altLang="zh-CN" sz="1600" dirty="0">
                          <a:effectLst/>
                          <a:latin typeface="Times" panose="02020603050405020304" pitchFamily="18" charset="0"/>
                        </a:rPr>
                        <a:t>7</a:t>
                      </a:r>
                      <a:endParaRPr lang="en-US" altLang="zh-CN" sz="1600" dirty="0">
                        <a:effectLst/>
                        <a:latin typeface="Times" panose="02020603050405020304" pitchFamily="18" charset="0"/>
                      </a:endParaRPr>
                    </a:p>
                  </a:txBody>
                  <a:tcPr marL="38394" marR="31995" marT="19997" marB="19997" anchor="ctr">
                    <a:lnL>
                      <a:noFill/>
                    </a:lnL>
                    <a:lnR>
                      <a:noFill/>
                    </a:lnR>
                    <a:lnT>
                      <a:noFill/>
                    </a:lnT>
                    <a:lnB>
                      <a:noFill/>
                    </a:lnB>
                    <a:solidFill>
                      <a:srgbClr val="FFFFFF"/>
                    </a:solidFill>
                  </a:tcPr>
                </a:tc>
                <a:tc>
                  <a:txBody>
                    <a:bodyPr/>
                    <a:lstStyle/>
                    <a:p>
                      <a:r>
                        <a:rPr lang="en-US" sz="1600" b="1" dirty="0">
                          <a:effectLst/>
                          <a:latin typeface="Times" panose="02020603050405020304" pitchFamily="18" charset="0"/>
                        </a:rPr>
                        <a:t>CAP – Consistency (CP) with majority quorum</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dirty="0">
                          <a:effectLst/>
                          <a:latin typeface="Times" panose="02020603050405020304" pitchFamily="18" charset="0"/>
                        </a:rPr>
                        <a:t>All active drones must execute the same command to avoid collision; temporary loss of control is acceptable.</a:t>
                      </a:r>
                      <a:endParaRPr lang="en-US" sz="1600" dirty="0">
                        <a:effectLst/>
                        <a:latin typeface="Times" panose="02020603050405020304" pitchFamily="18" charset="0"/>
                      </a:endParaRPr>
                    </a:p>
                  </a:txBody>
                  <a:tcPr marL="31995" marR="31995" marT="19997" marB="19997" anchor="ctr">
                    <a:lnL>
                      <a:noFill/>
                    </a:lnL>
                    <a:lnR>
                      <a:noFill/>
                    </a:lnR>
                    <a:lnT>
                      <a:noFill/>
                    </a:lnT>
                    <a:lnB>
                      <a:noFill/>
                    </a:lnB>
                    <a:solidFill>
                      <a:srgbClr val="FFFFFF"/>
                    </a:solidFill>
                  </a:tcPr>
                </a:tc>
                <a:tc>
                  <a:txBody>
                    <a:bodyPr/>
                    <a:lstStyle/>
                    <a:p>
                      <a:r>
                        <a:rPr lang="en-US" sz="1600" dirty="0">
                          <a:effectLst/>
                          <a:latin typeface="Times" panose="02020603050405020304" pitchFamily="18" charset="0"/>
                        </a:rPr>
                        <a:t>AP would cause split decisions; BASE could lead to inconsistent turns; PC is too slow for 200ms deadline.</a:t>
                      </a:r>
                      <a:endParaRPr lang="en-US" sz="1600" dirty="0">
                        <a:effectLst/>
                        <a:latin typeface="Times" panose="02020603050405020304" pitchFamily="18" charset="0"/>
                      </a:endParaRPr>
                    </a:p>
                  </a:txBody>
                  <a:tcPr marL="31995" marR="38394" marT="19997" marB="19997" anchor="ctr">
                    <a:lnL>
                      <a:noFill/>
                    </a:lnL>
                    <a:lnR>
                      <a:noFill/>
                    </a:lnR>
                    <a:lnT>
                      <a:noFill/>
                    </a:lnT>
                    <a:lnB>
                      <a:noFill/>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310" y="365125"/>
            <a:ext cx="10515600" cy="584200"/>
          </a:xfrm>
        </p:spPr>
        <p:txBody>
          <a:bodyPr>
            <a:normAutofit fontScale="90000"/>
          </a:bodyPr>
          <a:lstStyle/>
          <a:p>
            <a:pPr algn="ctr"/>
            <a:r>
              <a:rPr lang="en-US" altLang="zh-CN" sz="4000" b="1" i="0" dirty="0">
                <a:solidFill>
                  <a:srgbClr val="0F1115"/>
                </a:solidFill>
                <a:effectLst/>
                <a:latin typeface="quote-cjk-patch"/>
              </a:rPr>
              <a:t>Choosing Between CAP</a:t>
            </a:r>
            <a:r>
              <a:rPr lang="en-US" altLang="zh-CN" sz="4000" b="1" dirty="0">
                <a:solidFill>
                  <a:srgbClr val="0F1115"/>
                </a:solidFill>
                <a:latin typeface="quote-cjk-patch"/>
              </a:rPr>
              <a:t>,</a:t>
            </a:r>
            <a:r>
              <a:rPr lang="zh-CN" altLang="en-US" sz="4000" b="1" dirty="0">
                <a:solidFill>
                  <a:srgbClr val="0F1115"/>
                </a:solidFill>
                <a:latin typeface="quote-cjk-patch"/>
              </a:rPr>
              <a:t> </a:t>
            </a:r>
            <a:r>
              <a:rPr lang="en-US" altLang="zh-CN" sz="4000" b="1" i="0" dirty="0">
                <a:solidFill>
                  <a:srgbClr val="0F1115"/>
                </a:solidFill>
                <a:effectLst/>
                <a:latin typeface="quote-cjk-patch"/>
              </a:rPr>
              <a:t>ACID and BASE</a:t>
            </a:r>
            <a:endParaRPr lang="en-US" altLang="zh-CN" sz="4000" b="1" i="0" dirty="0">
              <a:solidFill>
                <a:srgbClr val="0F1115"/>
              </a:solidFill>
              <a:effectLst/>
              <a:latin typeface="quote-cjk-patch"/>
            </a:endParaRPr>
          </a:p>
        </p:txBody>
      </p:sp>
      <p:sp>
        <p:nvSpPr>
          <p:cNvPr id="6" name="文本框 5"/>
          <p:cNvSpPr txBox="1"/>
          <p:nvPr/>
        </p:nvSpPr>
        <p:spPr>
          <a:xfrm>
            <a:off x="744220" y="1344930"/>
            <a:ext cx="10510520" cy="1198880"/>
          </a:xfrm>
          <a:prstGeom prst="rect">
            <a:avLst/>
          </a:prstGeom>
        </p:spPr>
        <p:txBody>
          <a:bodyPr wrap="square">
            <a:spAutoFit/>
          </a:bodyPr>
          <a:lstStyle/>
          <a:p>
            <a:pPr marL="0" indent="0" algn="just"/>
            <a:r>
              <a:rPr lang="en-US" altLang="zh-CN" sz="2400" b="0" i="0">
                <a:latin typeface="Roboto" panose="02000000000000000000"/>
                <a:ea typeface="Roboto" panose="02000000000000000000"/>
              </a:rPr>
              <a:t>No single model is “better”. The right choice depends on your business’s tolerance for inconsistency versus downtime. Always start by asking: Would a user prefer a slightly wrong answer (BASE) or no answer at all (CP)?</a:t>
            </a:r>
            <a:endParaRPr lang="en-US" altLang="zh-CN" sz="2400" b="0" i="0">
              <a:latin typeface="Roboto" panose="02000000000000000000"/>
              <a:ea typeface="Roboto" panose="020000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14971</Words>
  <Application>WPS 演示</Application>
  <PresentationFormat>Widescreen</PresentationFormat>
  <Paragraphs>493</Paragraphs>
  <Slides>34</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34</vt:i4>
      </vt:variant>
    </vt:vector>
  </HeadingPairs>
  <TitlesOfParts>
    <vt:vector size="59" baseType="lpstr">
      <vt:lpstr>Arial</vt:lpstr>
      <vt:lpstr>SimSun</vt:lpstr>
      <vt:lpstr>Wingdings</vt:lpstr>
      <vt:lpstr>Consolas</vt:lpstr>
      <vt:lpstr>quote-cjk-patch</vt:lpstr>
      <vt:lpstr>Segoe Print</vt:lpstr>
      <vt:lpstr>Arial Unicode MS</vt:lpstr>
      <vt:lpstr>var(--ds-font-family-code)</vt:lpstr>
      <vt:lpstr>DengXian Light</vt:lpstr>
      <vt:lpstr>DengXian</vt:lpstr>
      <vt:lpstr>Microsoft YaHei</vt:lpstr>
      <vt:lpstr>Arial Unicode MS</vt:lpstr>
      <vt:lpstr>Calibri</vt:lpstr>
      <vt:lpstr>Roboto</vt:lpstr>
      <vt:lpstr>Arial</vt:lpstr>
      <vt:lpstr>Times New Roman</vt:lpstr>
      <vt:lpstr>var(--dsw-font-markdown-table-head)</vt:lpstr>
      <vt:lpstr>var(--dsw-font-markdown-table)</vt:lpstr>
      <vt:lpstr>Times</vt:lpstr>
      <vt:lpstr>Times New Roman Cyr</vt:lpstr>
      <vt:lpstr>Segoe Sans Variable</vt:lpstr>
      <vt:lpstr>KSOF987E8EC0</vt:lpstr>
      <vt:lpstr>KSOF6398537F</vt:lpstr>
      <vt:lpstr>Office Theme</vt:lpstr>
      <vt:lpstr>1_Office Theme</vt:lpstr>
      <vt:lpstr>Big Data Storage</vt:lpstr>
      <vt:lpstr>The Apache Parquet</vt:lpstr>
      <vt:lpstr>The Apache Parquet</vt:lpstr>
      <vt:lpstr>The Apache Parquet</vt:lpstr>
      <vt:lpstr>The Apache Parquet</vt:lpstr>
      <vt:lpstr>The Apache Parquet –  Compression &amp; Encoding – Why Parquet Saves Space</vt:lpstr>
      <vt:lpstr>The Apache Parquet</vt:lpstr>
      <vt:lpstr>The Standard for Big Data &amp; Cloud Analytics</vt:lpstr>
      <vt:lpstr>Summary</vt:lpstr>
      <vt:lpstr>Big Data Storage</vt:lpstr>
      <vt:lpstr>Why Traditional Storage Fails for Big Data?</vt:lpstr>
      <vt:lpstr>Why Traditional Storage Fails for Big Data</vt:lpstr>
      <vt:lpstr>Clusters – The Foundation of Big Data Storage</vt:lpstr>
      <vt:lpstr>Sharding – Horizontal Partitioning</vt:lpstr>
      <vt:lpstr>Sharding – Advantages and </vt:lpstr>
      <vt:lpstr>Replication – Copying Data for Safety</vt:lpstr>
      <vt:lpstr>Replication – Master Slave</vt:lpstr>
      <vt:lpstr>The CAP Theorem – A Fundamental Trade‑off</vt:lpstr>
      <vt:lpstr>The CAP Theorem – A Fundamental Trade‑off</vt:lpstr>
      <vt:lpstr>Key Properties of CAP Theorem</vt:lpstr>
      <vt:lpstr>PowerPoint 演示文稿</vt:lpstr>
      <vt:lpstr>Trade-Offs in CAP Theorem</vt:lpstr>
      <vt:lpstr>CAP - Practical Examples</vt:lpstr>
      <vt:lpstr>Summary</vt:lpstr>
      <vt:lpstr>ACID – Traditional Database Transactions</vt:lpstr>
      <vt:lpstr>BASE – The NoSQL Alternative</vt:lpstr>
      <vt:lpstr>BASE – Key Characteristics</vt:lpstr>
      <vt:lpstr>BASE – Example Use Cases:</vt:lpstr>
      <vt:lpstr>Choosing Between ACID and BASE</vt:lpstr>
      <vt:lpstr>Choosing Between ACID and BASE</vt:lpstr>
      <vt:lpstr>Week#11</vt:lpstr>
      <vt:lpstr>Possible Answers Discussion</vt:lpstr>
      <vt:lpstr>Possible Answers Discussion</vt:lpstr>
      <vt:lpstr>Choosing Between CAP, ACID and BASE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awais ahmed</dc:creator>
  <cp:lastModifiedBy>WPS_1671077781</cp:lastModifiedBy>
  <cp:revision>87</cp:revision>
  <dcterms:created xsi:type="dcterms:W3CDTF">2026-04-24T03:58:00Z</dcterms:created>
  <dcterms:modified xsi:type="dcterms:W3CDTF">2026-05-23T07:37:22Z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6A47088012D746F7A98228560FBA27A0_12</vt:lpwstr>
  </property>
  <property fmtid="{D5CDD505-2E9C-101B-9397-08002B2CF9AE}" pid="3" name="KSOProductBuildVer">
    <vt:lpwstr>2052-12.1.0.26375</vt:lpwstr>
  </property>
</Properties>
</file>