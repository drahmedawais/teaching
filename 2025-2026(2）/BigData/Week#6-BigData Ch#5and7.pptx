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65" r:id="rId5"/>
    <p:sldId id="266" r:id="rId6"/>
    <p:sldId id="268" r:id="rId7"/>
    <p:sldId id="269" r:id="rId8"/>
    <p:sldId id="270" r:id="rId9"/>
    <p:sldId id="271" r:id="rId10"/>
    <p:sldId id="272" r:id="rId11"/>
    <p:sldId id="273" r:id="rId12"/>
    <p:sldId id="274" r:id="rId13"/>
    <p:sldId id="275" r:id="rId14"/>
    <p:sldId id="276" r:id="rId15"/>
    <p:sldId id="267" r:id="rId16"/>
    <p:sldId id="258" r:id="rId17"/>
    <p:sldId id="262" r:id="rId18"/>
    <p:sldId id="259" r:id="rId19"/>
    <p:sldId id="260" r:id="rId20"/>
    <p:sldId id="263" r:id="rId21"/>
    <p:sldId id="264"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https://www.linkedin.com/pulse/exploring-apache-big-data-technologies-hadoop-spark-flink-itwbf/</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6.xml"/><Relationship Id="rId2" Type="http://schemas.openxmlformats.org/officeDocument/2006/relationships/image" Target="../media/image1.png"/><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image" Target="../media/image2.png"/><Relationship Id="rId1" Type="http://schemas.openxmlformats.org/officeDocument/2006/relationships/tags" Target="../tags/tag77.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image" Target="../media/image3.png"/><Relationship Id="rId1" Type="http://schemas.openxmlformats.org/officeDocument/2006/relationships/tags" Target="../tags/tag83.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image" Target="../media/image4.png"/><Relationship Id="rId1" Type="http://schemas.openxmlformats.org/officeDocument/2006/relationships/tags" Target="../tags/tag86.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image" Target="../media/image5.png"/><Relationship Id="rId1" Type="http://schemas.openxmlformats.org/officeDocument/2006/relationships/tags" Target="../tags/tag89.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tags" Target="../tags/tag95.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9.xml"/><Relationship Id="rId2" Type="http://schemas.openxmlformats.org/officeDocument/2006/relationships/image" Target="../media/image6.jpeg"/><Relationship Id="rId1" Type="http://schemas.openxmlformats.org/officeDocument/2006/relationships/tags" Target="../tags/tag98.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798195" y="914400"/>
            <a:ext cx="10200005" cy="2570480"/>
          </a:xfrm>
        </p:spPr>
        <p:txBody>
          <a:bodyPr/>
          <a:p>
            <a:r>
              <a:rPr lang="en-US" altLang="zh-CN"/>
              <a:t>Big Data Storage</a:t>
            </a:r>
            <a:endParaRPr lang="en-US" altLang="zh-CN"/>
          </a:p>
        </p:txBody>
      </p:sp>
      <p:sp>
        <p:nvSpPr>
          <p:cNvPr id="3" name="副标题 2"/>
          <p:cNvSpPr>
            <a:spLocks noGrp="1"/>
          </p:cNvSpPr>
          <p:nvPr>
            <p:ph type="subTitle" idx="1"/>
            <p:custDataLst>
              <p:tags r:id="rId2"/>
            </p:custDataLst>
          </p:nvPr>
        </p:nvSpPr>
        <p:spPr/>
        <p:txBody>
          <a:bodyPr/>
          <a:p>
            <a:r>
              <a:rPr lang="en-US" altLang="zh-CN"/>
              <a:t>Dr. Ahmed Awais</a:t>
            </a:r>
            <a:endParaRPr lang="en-US" altLang="zh-CN"/>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Outline</a:t>
            </a:r>
            <a:endParaRPr lang="en-US" altLang="zh-CN"/>
          </a:p>
        </p:txBody>
      </p:sp>
      <p:sp>
        <p:nvSpPr>
          <p:cNvPr id="3" name="内容占位符 2"/>
          <p:cNvSpPr>
            <a:spLocks noGrp="1"/>
          </p:cNvSpPr>
          <p:nvPr>
            <p:ph idx="1"/>
            <p:custDataLst>
              <p:tags r:id="rId2"/>
            </p:custDataLst>
          </p:nvPr>
        </p:nvSpPr>
        <p:spPr/>
        <p:txBody>
          <a:bodyPr/>
          <a:p>
            <a:pPr algn="just"/>
            <a:r>
              <a:rPr lang="en-US" altLang="zh-CN" sz="2400">
                <a:sym typeface="+mn-ea"/>
              </a:rPr>
              <a:t>Big Data Storage Technologies</a:t>
            </a:r>
            <a:endParaRPr lang="en-US" altLang="zh-CN" sz="2400">
              <a:sym typeface="+mn-ea"/>
            </a:endParaRPr>
          </a:p>
          <a:p>
            <a:pPr lvl="1" algn="just"/>
            <a:r>
              <a:rPr lang="en-US" altLang="zh-CN" sz="2000">
                <a:sym typeface="+mn-ea"/>
              </a:rPr>
              <a:t>On-Disk	Storage Devices</a:t>
            </a:r>
            <a:endParaRPr lang="en-US" altLang="zh-CN" sz="2000">
              <a:sym typeface="+mn-ea"/>
            </a:endParaRPr>
          </a:p>
          <a:p>
            <a:pPr lvl="1" algn="just"/>
            <a:r>
              <a:rPr lang="en-US" altLang="zh-CN" sz="2000">
                <a:sym typeface="+mn-ea"/>
              </a:rPr>
              <a:t>In-Memory Storage Devices (maybe next lecture)</a:t>
            </a:r>
            <a:endParaRPr lang="en-US" altLang="zh-CN" sz="2000">
              <a:sym typeface="+mn-ea"/>
            </a:endParaRPr>
          </a:p>
          <a:p>
            <a:pPr algn="just"/>
            <a:r>
              <a:rPr lang="en-US" altLang="zh-CN" sz="2400">
                <a:sym typeface="+mn-ea"/>
              </a:rPr>
              <a:t>Storage Types Differences</a:t>
            </a:r>
            <a:endParaRPr lang="en-US" altLang="zh-CN" sz="2400"/>
          </a:p>
          <a:p>
            <a:pPr algn="just"/>
            <a:endParaRPr lang="en-US" altLang="zh-CN" sz="2400"/>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The background</a:t>
            </a:r>
            <a:endParaRPr lang="en-US" altLang="zh-CN"/>
          </a:p>
        </p:txBody>
      </p:sp>
      <p:sp>
        <p:nvSpPr>
          <p:cNvPr id="3" name="内容占位符 2"/>
          <p:cNvSpPr>
            <a:spLocks noGrp="1"/>
          </p:cNvSpPr>
          <p:nvPr>
            <p:ph idx="1"/>
            <p:custDataLst>
              <p:tags r:id="rId2"/>
            </p:custDataLst>
          </p:nvPr>
        </p:nvSpPr>
        <p:spPr/>
        <p:txBody>
          <a:bodyPr>
            <a:normAutofit lnSpcReduction="20000"/>
          </a:bodyPr>
          <a:p>
            <a:pPr algn="just"/>
            <a:r>
              <a:rPr lang="en-US" altLang="zh-CN" sz="2400"/>
              <a:t>Storage technology has changed over time, moving from inside the server to out on the network. Today's push for converged architecture puts compute, storage, memory, and network back into the box, where the architecture can be uniformly managed. Amidst these changes, the need to store Big Data has radically changed the relational, database-centric view that has been embraced by Enterprise ICT since the late 1980s. </a:t>
            </a:r>
            <a:r>
              <a:rPr lang="en-US" altLang="zh-CN" sz="2400">
                <a:highlight>
                  <a:srgbClr val="FFFF00"/>
                </a:highlight>
              </a:rPr>
              <a:t>The bottom line is that relational technology is simply not scalable in a manner to support Big Data volumes. Not to mention, businesses can find genuine value in processing semi-structured and unstructured data, which are generally incompatible with relational approaches.</a:t>
            </a:r>
            <a:endParaRPr lang="en-US" altLang="zh-CN" sz="2400">
              <a:highlight>
                <a:srgbClr val="FFFF00"/>
              </a:highlight>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The background</a:t>
            </a:r>
            <a:endParaRPr lang="en-US" altLang="zh-CN"/>
          </a:p>
        </p:txBody>
      </p:sp>
      <p:sp>
        <p:nvSpPr>
          <p:cNvPr id="3" name="内容占位符 2"/>
          <p:cNvSpPr>
            <a:spLocks noGrp="1"/>
          </p:cNvSpPr>
          <p:nvPr>
            <p:ph idx="1"/>
            <p:custDataLst>
              <p:tags r:id="rId2"/>
            </p:custDataLst>
          </p:nvPr>
        </p:nvSpPr>
        <p:spPr/>
        <p:txBody>
          <a:bodyPr>
            <a:normAutofit lnSpcReduction="20000"/>
          </a:bodyPr>
          <a:p>
            <a:pPr algn="just"/>
            <a:r>
              <a:rPr lang="en-US" altLang="zh-CN" sz="2400">
                <a:highlight>
                  <a:srgbClr val="FFFF00"/>
                </a:highlight>
              </a:rPr>
              <a:t>Big Data has pushed the storage boundary to unified views of the available memory and disk storage of a cluster. If more storage is needed, horizontal scalability allows the expansion of the cluster through the addition of more nodes. The fact that this is equally true for both memory and disk devices is important as innovative approaches deliver realtime analytics via in-memory storage. Even batch-based processing has accelerated by the performance of Solid State Drives (SSDs), which have become less expensive.</a:t>
            </a:r>
            <a:endParaRPr lang="en-US" altLang="zh-CN" sz="2400">
              <a:highlight>
                <a:srgbClr val="FFFF00"/>
              </a:highlight>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330" y="608330"/>
            <a:ext cx="2354580" cy="705485"/>
          </a:xfrm>
        </p:spPr>
        <p:txBody>
          <a:bodyPr/>
          <a:p>
            <a:r>
              <a:rPr lang="en-US" altLang="zh-CN"/>
              <a:t>O</a:t>
            </a:r>
            <a:r>
              <a:rPr lang="en-US" altLang="zh-CN"/>
              <a:t>n-DISK</a:t>
            </a:r>
            <a:endParaRPr lang="en-US" altLang="zh-CN"/>
          </a:p>
        </p:txBody>
      </p:sp>
      <p:pic>
        <p:nvPicPr>
          <p:cNvPr id="5" name="图片 4"/>
          <p:cNvPicPr>
            <a:picLocks noChangeAspect="1"/>
          </p:cNvPicPr>
          <p:nvPr/>
        </p:nvPicPr>
        <p:blipFill>
          <a:blip r:embed="rId2"/>
          <a:stretch>
            <a:fillRect/>
          </a:stretch>
        </p:blipFill>
        <p:spPr>
          <a:xfrm>
            <a:off x="3298825" y="267335"/>
            <a:ext cx="8808720" cy="6323330"/>
          </a:xfrm>
          <a:prstGeom prst="rect">
            <a:avLst/>
          </a:prstGeom>
        </p:spPr>
      </p:pic>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91440" y="608330"/>
            <a:ext cx="12028170" cy="705485"/>
          </a:xfrm>
        </p:spPr>
        <p:txBody>
          <a:bodyPr>
            <a:normAutofit fontScale="90000"/>
          </a:bodyPr>
          <a:p>
            <a:r>
              <a:rPr lang="en-US" altLang="zh-CN" sz="2800"/>
              <a:t>DFS prefer to have fewer larger size rather more small size - why?</a:t>
            </a:r>
            <a:endParaRPr lang="en-US" altLang="zh-CN" sz="2800"/>
          </a:p>
        </p:txBody>
      </p:sp>
      <p:pic>
        <p:nvPicPr>
          <p:cNvPr id="3" name="图片 2"/>
          <p:cNvPicPr>
            <a:picLocks noChangeAspect="1"/>
          </p:cNvPicPr>
          <p:nvPr/>
        </p:nvPicPr>
        <p:blipFill>
          <a:blip r:embed="rId2"/>
          <a:stretch>
            <a:fillRect/>
          </a:stretch>
        </p:blipFill>
        <p:spPr>
          <a:xfrm>
            <a:off x="0" y="1409065"/>
            <a:ext cx="12192000" cy="5359400"/>
          </a:xfrm>
          <a:prstGeom prst="rect">
            <a:avLst/>
          </a:prstGeom>
        </p:spPr>
      </p:pic>
      <p:sp>
        <p:nvSpPr>
          <p:cNvPr id="4" name="标题 1"/>
          <p:cNvSpPr>
            <a:spLocks noGrp="1"/>
          </p:cNvSpPr>
          <p:nvPr>
            <p:custDataLst>
              <p:tags r:id="rId3"/>
            </p:custDataLst>
          </p:nvPr>
        </p:nvSpPr>
        <p:spPr>
          <a:xfrm>
            <a:off x="474345" y="106680"/>
            <a:ext cx="2354580" cy="705485"/>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en-US" altLang="zh-CN"/>
              <a:t>O</a:t>
            </a:r>
            <a:r>
              <a:rPr lang="en-US" altLang="zh-CN"/>
              <a:t>n-DISK</a:t>
            </a:r>
            <a:endParaRPr lang="en-US" altLang="zh-CN"/>
          </a:p>
        </p:txBody>
      </p:sp>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91440" y="608330"/>
            <a:ext cx="12028170" cy="705485"/>
          </a:xfrm>
        </p:spPr>
        <p:txBody>
          <a:bodyPr/>
          <a:p>
            <a:r>
              <a:rPr lang="en-US" altLang="zh-CN" sz="2800"/>
              <a:t>RDBMS - Reading from book directly</a:t>
            </a:r>
            <a:endParaRPr lang="en-US" altLang="zh-CN" sz="2800"/>
          </a:p>
        </p:txBody>
      </p:sp>
      <p:sp>
        <p:nvSpPr>
          <p:cNvPr id="4" name="标题 1"/>
          <p:cNvSpPr>
            <a:spLocks noGrp="1"/>
          </p:cNvSpPr>
          <p:nvPr>
            <p:custDataLst>
              <p:tags r:id="rId2"/>
            </p:custDataLst>
          </p:nvPr>
        </p:nvSpPr>
        <p:spPr>
          <a:xfrm>
            <a:off x="474345" y="98425"/>
            <a:ext cx="2354580" cy="705485"/>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en-US" altLang="zh-CN"/>
              <a:t>O</a:t>
            </a:r>
            <a:r>
              <a:rPr lang="en-US" altLang="zh-CN"/>
              <a:t>n-DISK</a:t>
            </a:r>
            <a:endParaRPr lang="en-US" altLang="zh-CN"/>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91440" y="608330"/>
            <a:ext cx="12028170" cy="705485"/>
          </a:xfrm>
        </p:spPr>
        <p:txBody>
          <a:bodyPr/>
          <a:p>
            <a:r>
              <a:rPr lang="en-US" altLang="zh-CN" sz="2800"/>
              <a:t>NoSQL Databases</a:t>
            </a:r>
            <a:endParaRPr lang="en-US" altLang="zh-CN" sz="2800"/>
          </a:p>
        </p:txBody>
      </p:sp>
      <p:pic>
        <p:nvPicPr>
          <p:cNvPr id="3" name="图片 2"/>
          <p:cNvPicPr>
            <a:picLocks noChangeAspect="1"/>
          </p:cNvPicPr>
          <p:nvPr/>
        </p:nvPicPr>
        <p:blipFill>
          <a:blip r:embed="rId2"/>
          <a:stretch>
            <a:fillRect/>
          </a:stretch>
        </p:blipFill>
        <p:spPr>
          <a:xfrm>
            <a:off x="1372235" y="3199765"/>
            <a:ext cx="8963025" cy="3114675"/>
          </a:xfrm>
          <a:prstGeom prst="rect">
            <a:avLst/>
          </a:prstGeom>
        </p:spPr>
      </p:pic>
      <p:sp>
        <p:nvSpPr>
          <p:cNvPr id="4" name="文本框 3"/>
          <p:cNvSpPr txBox="1"/>
          <p:nvPr/>
        </p:nvSpPr>
        <p:spPr>
          <a:xfrm>
            <a:off x="6672580" y="757872"/>
            <a:ext cx="5080000" cy="1322070"/>
          </a:xfrm>
          <a:prstGeom prst="rect">
            <a:avLst/>
          </a:prstGeom>
        </p:spPr>
        <p:txBody>
          <a:bodyPr>
            <a:spAutoFit/>
          </a:bodyPr>
          <a:p>
            <a:pPr algn="just"/>
            <a:r>
              <a:rPr lang="en-US" altLang="zh-CN" sz="2000"/>
              <a:t>The emergence of NoSQL storage devices can primarily be attributed to the volume, velocity and variety characteristics of Big Data datasets.</a:t>
            </a:r>
            <a:endParaRPr lang="en-US" altLang="zh-CN" sz="2000"/>
          </a:p>
        </p:txBody>
      </p:sp>
      <p:sp>
        <p:nvSpPr>
          <p:cNvPr id="5" name="文本框 4"/>
          <p:cNvSpPr txBox="1"/>
          <p:nvPr/>
        </p:nvSpPr>
        <p:spPr>
          <a:xfrm>
            <a:off x="915670" y="2185035"/>
            <a:ext cx="7327265" cy="1014730"/>
          </a:xfrm>
          <a:prstGeom prst="rect">
            <a:avLst/>
          </a:prstGeom>
        </p:spPr>
        <p:txBody>
          <a:bodyPr wrap="square">
            <a:spAutoFit/>
          </a:bodyPr>
          <a:p>
            <a:pPr algn="just"/>
            <a:r>
              <a:rPr lang="en-US" altLang="zh-CN" sz="2000">
                <a:highlight>
                  <a:srgbClr val="FFFF00"/>
                </a:highlight>
              </a:rPr>
              <a:t>Not-only SQL (NoSQL) refers to technologies used to develop next generation non relational databases that are highly scalable and fault-tolerant. </a:t>
            </a:r>
            <a:endParaRPr lang="en-US" altLang="zh-CN" sz="2000">
              <a:highlight>
                <a:srgbClr val="FFFF00"/>
              </a:highlight>
            </a:endParaRPr>
          </a:p>
        </p:txBody>
      </p:sp>
      <p:sp>
        <p:nvSpPr>
          <p:cNvPr id="6" name="标题 1"/>
          <p:cNvSpPr>
            <a:spLocks noGrp="1"/>
          </p:cNvSpPr>
          <p:nvPr>
            <p:custDataLst>
              <p:tags r:id="rId3"/>
            </p:custDataLst>
          </p:nvPr>
        </p:nvSpPr>
        <p:spPr>
          <a:xfrm>
            <a:off x="474345" y="98425"/>
            <a:ext cx="2354580" cy="705485"/>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en-US" altLang="zh-CN"/>
              <a:t>O</a:t>
            </a:r>
            <a:r>
              <a:rPr lang="en-US" altLang="zh-CN"/>
              <a:t>n-DISK</a:t>
            </a:r>
            <a:endParaRPr lang="en-US" altLang="zh-CN"/>
          </a:p>
        </p:txBody>
      </p:sp>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91440" y="608330"/>
            <a:ext cx="12028170" cy="705485"/>
          </a:xfrm>
        </p:spPr>
        <p:txBody>
          <a:bodyPr/>
          <a:p>
            <a:r>
              <a:rPr lang="en-US" altLang="zh-CN" sz="2800"/>
              <a:t>NoSQL Databases</a:t>
            </a:r>
            <a:endParaRPr lang="en-US" altLang="zh-CN" sz="2800"/>
          </a:p>
        </p:txBody>
      </p:sp>
      <p:sp>
        <p:nvSpPr>
          <p:cNvPr id="4" name="文本框 3"/>
          <p:cNvSpPr txBox="1"/>
          <p:nvPr/>
        </p:nvSpPr>
        <p:spPr>
          <a:xfrm>
            <a:off x="222885" y="1831975"/>
            <a:ext cx="3517265" cy="3476625"/>
          </a:xfrm>
          <a:prstGeom prst="rect">
            <a:avLst/>
          </a:prstGeom>
        </p:spPr>
        <p:txBody>
          <a:bodyPr wrap="square">
            <a:spAutoFit/>
          </a:bodyPr>
          <a:p>
            <a:pPr marL="342900" indent="-342900" algn="just">
              <a:buFont typeface="Arial" panose="020B0604020202020204" pitchFamily="34" charset="0"/>
              <a:buChar char="•"/>
            </a:pPr>
            <a:r>
              <a:rPr lang="en-US" altLang="zh-CN" sz="2000">
                <a:highlight>
                  <a:srgbClr val="FFFF00"/>
                </a:highlight>
              </a:rPr>
              <a:t>List of the principal features of NoSQL storage devices that differentiate them from traditional RDBMSs. </a:t>
            </a:r>
            <a:endParaRPr lang="en-US" altLang="zh-CN" sz="2000">
              <a:highlight>
                <a:srgbClr val="FFFF00"/>
              </a:highlight>
            </a:endParaRPr>
          </a:p>
          <a:p>
            <a:pPr marL="342900" indent="-342900" algn="just">
              <a:buFont typeface="Arial" panose="020B0604020202020204" pitchFamily="34" charset="0"/>
              <a:buChar char="•"/>
            </a:pPr>
            <a:endParaRPr lang="en-US" altLang="zh-CN" sz="2000">
              <a:highlight>
                <a:srgbClr val="FFFF00"/>
              </a:highlight>
            </a:endParaRPr>
          </a:p>
          <a:p>
            <a:pPr marL="342900" indent="-342900" algn="just">
              <a:buFont typeface="Arial" panose="020B0604020202020204" pitchFamily="34" charset="0"/>
              <a:buChar char="•"/>
            </a:pPr>
            <a:r>
              <a:rPr lang="en-US" altLang="zh-CN" sz="2000">
                <a:highlight>
                  <a:srgbClr val="FFFF00"/>
                </a:highlight>
              </a:rPr>
              <a:t>This list should only be considered a general guide, as not all NoSQL storage devices exhibit all of these features.</a:t>
            </a:r>
            <a:endParaRPr lang="en-US" altLang="zh-CN" sz="2000">
              <a:highlight>
                <a:srgbClr val="FFFF00"/>
              </a:highlight>
            </a:endParaRPr>
          </a:p>
        </p:txBody>
      </p:sp>
      <p:pic>
        <p:nvPicPr>
          <p:cNvPr id="5" name="图片 4"/>
          <p:cNvPicPr>
            <a:picLocks noChangeAspect="1"/>
          </p:cNvPicPr>
          <p:nvPr/>
        </p:nvPicPr>
        <p:blipFill>
          <a:blip r:embed="rId2"/>
          <a:stretch>
            <a:fillRect/>
          </a:stretch>
        </p:blipFill>
        <p:spPr>
          <a:xfrm>
            <a:off x="3866515" y="0"/>
            <a:ext cx="8085455" cy="6858000"/>
          </a:xfrm>
          <a:prstGeom prst="rect">
            <a:avLst/>
          </a:prstGeom>
        </p:spPr>
      </p:pic>
      <p:sp>
        <p:nvSpPr>
          <p:cNvPr id="6" name="标题 1"/>
          <p:cNvSpPr>
            <a:spLocks noGrp="1"/>
          </p:cNvSpPr>
          <p:nvPr>
            <p:custDataLst>
              <p:tags r:id="rId3"/>
            </p:custDataLst>
          </p:nvPr>
        </p:nvSpPr>
        <p:spPr>
          <a:xfrm>
            <a:off x="474345" y="98425"/>
            <a:ext cx="2354580" cy="705485"/>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en-US" altLang="zh-CN"/>
              <a:t>O</a:t>
            </a:r>
            <a:r>
              <a:rPr lang="en-US" altLang="zh-CN"/>
              <a:t>n-DISK</a:t>
            </a:r>
            <a:endParaRPr lang="en-US" altLang="zh-CN"/>
          </a:p>
        </p:txBody>
      </p:sp>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91440" y="608330"/>
            <a:ext cx="12028170" cy="705485"/>
          </a:xfrm>
        </p:spPr>
        <p:txBody>
          <a:bodyPr/>
          <a:p>
            <a:r>
              <a:rPr lang="en-US" altLang="zh-CN" sz="2800"/>
              <a:t>NoSQL Databases</a:t>
            </a:r>
            <a:endParaRPr lang="en-US" altLang="zh-CN" sz="2800"/>
          </a:p>
        </p:txBody>
      </p:sp>
      <p:sp>
        <p:nvSpPr>
          <p:cNvPr id="4" name="文本框 3"/>
          <p:cNvSpPr txBox="1"/>
          <p:nvPr/>
        </p:nvSpPr>
        <p:spPr>
          <a:xfrm>
            <a:off x="222885" y="1831975"/>
            <a:ext cx="3517265" cy="3476625"/>
          </a:xfrm>
          <a:prstGeom prst="rect">
            <a:avLst/>
          </a:prstGeom>
        </p:spPr>
        <p:txBody>
          <a:bodyPr wrap="square">
            <a:spAutoFit/>
          </a:bodyPr>
          <a:p>
            <a:pPr marL="342900" indent="-342900" algn="just">
              <a:buFont typeface="Arial" panose="020B0604020202020204" pitchFamily="34" charset="0"/>
              <a:buChar char="•"/>
            </a:pPr>
            <a:r>
              <a:rPr lang="en-US" altLang="zh-CN" sz="2000">
                <a:highlight>
                  <a:srgbClr val="FFFF00"/>
                </a:highlight>
              </a:rPr>
              <a:t>List of the principal features of NoSQL storage devices that differentiate them from traditional RDBMSs. </a:t>
            </a:r>
            <a:endParaRPr lang="en-US" altLang="zh-CN" sz="2000">
              <a:highlight>
                <a:srgbClr val="FFFF00"/>
              </a:highlight>
            </a:endParaRPr>
          </a:p>
          <a:p>
            <a:pPr marL="342900" indent="-342900" algn="just">
              <a:buFont typeface="Arial" panose="020B0604020202020204" pitchFamily="34" charset="0"/>
              <a:buChar char="•"/>
            </a:pPr>
            <a:endParaRPr lang="en-US" altLang="zh-CN" sz="2000">
              <a:highlight>
                <a:srgbClr val="FFFF00"/>
              </a:highlight>
            </a:endParaRPr>
          </a:p>
          <a:p>
            <a:pPr marL="342900" indent="-342900" algn="just">
              <a:buFont typeface="Arial" panose="020B0604020202020204" pitchFamily="34" charset="0"/>
              <a:buChar char="•"/>
            </a:pPr>
            <a:r>
              <a:rPr lang="en-US" altLang="zh-CN" sz="2000">
                <a:highlight>
                  <a:srgbClr val="FFFF00"/>
                </a:highlight>
              </a:rPr>
              <a:t>This list should only be considered a general guide, as not all NoSQL storage devices exhibit all of these features.</a:t>
            </a:r>
            <a:endParaRPr lang="en-US" altLang="zh-CN" sz="2000">
              <a:highlight>
                <a:srgbClr val="FFFF00"/>
              </a:highlight>
            </a:endParaRPr>
          </a:p>
        </p:txBody>
      </p:sp>
      <p:pic>
        <p:nvPicPr>
          <p:cNvPr id="3" name="图片 2"/>
          <p:cNvPicPr>
            <a:picLocks noChangeAspect="1"/>
          </p:cNvPicPr>
          <p:nvPr/>
        </p:nvPicPr>
        <p:blipFill>
          <a:blip r:embed="rId2"/>
          <a:stretch>
            <a:fillRect/>
          </a:stretch>
        </p:blipFill>
        <p:spPr>
          <a:xfrm>
            <a:off x="4147820" y="141605"/>
            <a:ext cx="7789545" cy="5988050"/>
          </a:xfrm>
          <a:prstGeom prst="rect">
            <a:avLst/>
          </a:prstGeom>
        </p:spPr>
      </p:pic>
      <p:sp>
        <p:nvSpPr>
          <p:cNvPr id="6" name="标题 1"/>
          <p:cNvSpPr>
            <a:spLocks noGrp="1"/>
          </p:cNvSpPr>
          <p:nvPr>
            <p:custDataLst>
              <p:tags r:id="rId3"/>
            </p:custDataLst>
          </p:nvPr>
        </p:nvSpPr>
        <p:spPr>
          <a:xfrm>
            <a:off x="474345" y="98425"/>
            <a:ext cx="2354580" cy="705485"/>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en-US" altLang="zh-CN"/>
              <a:t>O</a:t>
            </a:r>
            <a:r>
              <a:rPr lang="en-US" altLang="zh-CN"/>
              <a:t>n-DISK</a:t>
            </a:r>
            <a:endParaRPr lang="en-US" altLang="zh-CN"/>
          </a:p>
        </p:txBody>
      </p:sp>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91440" y="608330"/>
            <a:ext cx="12028170" cy="705485"/>
          </a:xfrm>
        </p:spPr>
        <p:txBody>
          <a:bodyPr/>
          <a:p>
            <a:r>
              <a:rPr lang="en-US" altLang="zh-CN" sz="2800"/>
              <a:t>NoSQL Databases</a:t>
            </a:r>
            <a:endParaRPr lang="en-US" altLang="zh-CN" sz="2800"/>
          </a:p>
        </p:txBody>
      </p:sp>
      <p:sp>
        <p:nvSpPr>
          <p:cNvPr id="5" name="文本框 4"/>
          <p:cNvSpPr txBox="1"/>
          <p:nvPr/>
        </p:nvSpPr>
        <p:spPr>
          <a:xfrm>
            <a:off x="581660" y="1913890"/>
            <a:ext cx="10894060" cy="1568450"/>
          </a:xfrm>
          <a:prstGeom prst="rect">
            <a:avLst/>
          </a:prstGeom>
        </p:spPr>
        <p:txBody>
          <a:bodyPr wrap="square">
            <a:spAutoFit/>
          </a:bodyPr>
          <a:p>
            <a:pPr algn="just"/>
            <a:r>
              <a:rPr lang="en-US" altLang="zh-CN" sz="2400">
                <a:highlight>
                  <a:srgbClr val="00FFFF"/>
                </a:highlight>
              </a:rPr>
              <a:t>Types NoSQL storage devices can mainly be divided into four types based on the way they store data, as shown in Figures 7.7–7.10:</a:t>
            </a:r>
            <a:endParaRPr lang="en-US" altLang="zh-CN" sz="2400">
              <a:highlight>
                <a:srgbClr val="00FFFF"/>
              </a:highlight>
            </a:endParaRPr>
          </a:p>
          <a:p>
            <a:pPr algn="just"/>
            <a:r>
              <a:rPr lang="en-US" altLang="zh-CN" sz="2400">
                <a:highlight>
                  <a:srgbClr val="00FFFF"/>
                </a:highlight>
              </a:rPr>
              <a:t>• key-value • document • column-family • graph - Let’s visit textbook to interpret figures and further reading is also recommended for better understanding</a:t>
            </a:r>
            <a:endParaRPr lang="en-US" altLang="zh-CN" sz="2400">
              <a:highlight>
                <a:srgbClr val="00FFFF"/>
              </a:highlight>
            </a:endParaRPr>
          </a:p>
        </p:txBody>
      </p:sp>
      <p:sp>
        <p:nvSpPr>
          <p:cNvPr id="6" name="标题 1"/>
          <p:cNvSpPr>
            <a:spLocks noGrp="1"/>
          </p:cNvSpPr>
          <p:nvPr>
            <p:custDataLst>
              <p:tags r:id="rId2"/>
            </p:custDataLst>
          </p:nvPr>
        </p:nvSpPr>
        <p:spPr>
          <a:xfrm>
            <a:off x="474345" y="98425"/>
            <a:ext cx="2354580" cy="705485"/>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en-US" altLang="zh-CN"/>
              <a:t>O</a:t>
            </a:r>
            <a:r>
              <a:rPr lang="en-US" altLang="zh-CN"/>
              <a:t>n-DISK</a:t>
            </a:r>
            <a:endParaRPr lang="en-US" altLang="zh-CN"/>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3759200" y="2889250"/>
            <a:ext cx="4232910" cy="705485"/>
          </a:xfrm>
        </p:spPr>
        <p:txBody>
          <a:bodyPr/>
          <a:p>
            <a:r>
              <a:rPr lang="en-US" altLang="zh-CN" sz="2800"/>
              <a:t>Next lecture</a:t>
            </a:r>
            <a:endParaRPr lang="en-US" altLang="zh-CN" sz="2800"/>
          </a:p>
        </p:txBody>
      </p:sp>
      <p:sp>
        <p:nvSpPr>
          <p:cNvPr id="6" name="标题 1"/>
          <p:cNvSpPr>
            <a:spLocks noGrp="1"/>
          </p:cNvSpPr>
          <p:nvPr>
            <p:custDataLst>
              <p:tags r:id="rId2"/>
            </p:custDataLst>
          </p:nvPr>
        </p:nvSpPr>
        <p:spPr>
          <a:xfrm>
            <a:off x="474345" y="98425"/>
            <a:ext cx="2354580" cy="705485"/>
          </a:xfrm>
          <a:prstGeom prst="rect">
            <a:avLst/>
          </a:prstGeom>
        </p:spPr>
        <p:txBody>
          <a:bodyPr vert="horz" lIns="90000" tIns="46800" rIns="90000" bIns="46800" rtlCol="0" anchor="ctr" anchorCtr="0">
            <a:normAutofit fontScale="80000"/>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en-US" altLang="zh-CN"/>
              <a:t>In-Memory</a:t>
            </a:r>
            <a:endParaRPr lang="en-US" altLang="zh-CN"/>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The background</a:t>
            </a:r>
            <a:endParaRPr lang="en-US" altLang="zh-CN"/>
          </a:p>
        </p:txBody>
      </p:sp>
      <p:pic>
        <p:nvPicPr>
          <p:cNvPr id="4" name="图片 3"/>
          <p:cNvPicPr/>
          <p:nvPr/>
        </p:nvPicPr>
        <p:blipFill>
          <a:blip r:embed="rId2"/>
          <a:stretch>
            <a:fillRect/>
          </a:stretch>
        </p:blipFill>
        <p:spPr>
          <a:xfrm>
            <a:off x="2237740" y="2131060"/>
            <a:ext cx="7553325" cy="2899410"/>
          </a:xfrm>
          <a:prstGeom prst="rect">
            <a:avLst/>
          </a:prstGeom>
        </p:spPr>
      </p:pic>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D</a:t>
            </a:r>
            <a:r>
              <a:rPr lang="en-US" altLang="zh-CN"/>
              <a:t>atabase vs Data Warehouse vs Data Lakes</a:t>
            </a:r>
            <a:endParaRPr lang="en-US" altLang="zh-CN"/>
          </a:p>
        </p:txBody>
      </p:sp>
      <p:sp>
        <p:nvSpPr>
          <p:cNvPr id="3" name="内容占位符 2"/>
          <p:cNvSpPr>
            <a:spLocks noGrp="1"/>
          </p:cNvSpPr>
          <p:nvPr>
            <p:ph idx="1"/>
            <p:custDataLst>
              <p:tags r:id="rId2"/>
            </p:custDataLst>
          </p:nvPr>
        </p:nvSpPr>
        <p:spPr/>
        <p:txBody>
          <a:bodyPr/>
          <a:p>
            <a:pPr algn="just"/>
            <a:r>
              <a:rPr lang="en-US" altLang="zh-CN"/>
              <a:t>Databases, data warehouses, and data lakes serve distinct purposes in data storage. Databases handle real-time transactions, data warehouses analyze historical data for insights, and data lakes store diverse data types for future analysis. Choosing the right tool depends on specific needs, with many organizations using a combination of these solutions.</a:t>
            </a:r>
            <a:endParaRPr lang="en-US" altLang="zh-CN"/>
          </a:p>
          <a:p>
            <a:pPr lvl="1" algn="just"/>
            <a:r>
              <a:rPr lang="en-US" altLang="zh-CN"/>
              <a:t>What are the main differences between databases and data warehouses? </a:t>
            </a:r>
            <a:endParaRPr lang="en-US" altLang="zh-CN"/>
          </a:p>
          <a:p>
            <a:pPr lvl="1" algn="just"/>
            <a:r>
              <a:rPr lang="en-US" altLang="zh-CN"/>
              <a:t>When should I use a data lake over a data warehouse? </a:t>
            </a:r>
            <a:endParaRPr lang="en-US" altLang="zh-CN"/>
          </a:p>
          <a:p>
            <a:pPr lvl="1" algn="just"/>
            <a:r>
              <a:rPr lang="en-US" altLang="zh-CN"/>
              <a:t>How does a data lakehouse differ from a traditional data lake? </a:t>
            </a:r>
            <a:endParaRPr lang="en-US" altLang="zh-CN"/>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D</a:t>
            </a:r>
            <a:r>
              <a:rPr lang="en-US" altLang="zh-CN"/>
              <a:t>atabase vs Data Warehouse vs Data Lakes</a:t>
            </a:r>
            <a:endParaRPr lang="en-US" altLang="zh-CN"/>
          </a:p>
        </p:txBody>
      </p:sp>
      <p:sp>
        <p:nvSpPr>
          <p:cNvPr id="3" name="内容占位符 2"/>
          <p:cNvSpPr>
            <a:spLocks noGrp="1"/>
          </p:cNvSpPr>
          <p:nvPr>
            <p:ph idx="1"/>
            <p:custDataLst>
              <p:tags r:id="rId2"/>
            </p:custDataLst>
          </p:nvPr>
        </p:nvSpPr>
        <p:spPr/>
        <p:txBody>
          <a:bodyPr/>
          <a:p>
            <a:pPr algn="just"/>
            <a:r>
              <a:rPr lang="en-US" altLang="zh-CN">
                <a:sym typeface="+mn-ea"/>
              </a:rPr>
              <a:t>Databases are structured collections of data, typically organized into tables for efficient online transactional processing. They can be relational or non-relational, each serving distinct data needs.</a:t>
            </a:r>
            <a:endParaRPr lang="en-US" altLang="zh-CN"/>
          </a:p>
          <a:p>
            <a:pPr algn="just"/>
            <a:r>
              <a:rPr lang="en-US" altLang="zh-CN"/>
              <a:t>Data warehouses are specialized databases designed for analytical purposes, allowing businesses to analyze trends and generate reports over time. They store historical data for better decision-making.</a:t>
            </a:r>
            <a:endParaRPr lang="en-US" altLang="zh-CN"/>
          </a:p>
          <a:p>
            <a:pPr algn="just"/>
            <a:r>
              <a:rPr lang="en-US" altLang="zh-CN"/>
              <a:t>Data lakes differ from databases and warehouses by storing vast amounts of raw data in its native format. This flexibility allows for diverse data types and analytics applications.</a:t>
            </a:r>
            <a:endParaRPr lang="en-US" altLang="zh-CN"/>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D</a:t>
            </a:r>
            <a:r>
              <a:rPr lang="en-US" altLang="zh-CN"/>
              <a:t>atabase vs Data Warehouse vs Data Lakes</a:t>
            </a:r>
            <a:endParaRPr lang="en-US" altLang="zh-CN"/>
          </a:p>
        </p:txBody>
      </p:sp>
      <p:sp>
        <p:nvSpPr>
          <p:cNvPr id="3" name="内容占位符 2"/>
          <p:cNvSpPr>
            <a:spLocks noGrp="1"/>
          </p:cNvSpPr>
          <p:nvPr>
            <p:ph idx="1"/>
            <p:custDataLst>
              <p:tags r:id="rId2"/>
            </p:custDataLst>
          </p:nvPr>
        </p:nvSpPr>
        <p:spPr/>
        <p:txBody>
          <a:bodyPr/>
          <a:p>
            <a:pPr algn="just"/>
            <a:r>
              <a:rPr lang="en-US" altLang="zh-CN"/>
              <a:t>A data warehouse is designed to store structured information from multiple sources for analytical purposes, enabling the creation of insightful reports. It facilitates comprehensive analysis, uncovering insights and supporting strategic decision-making.</a:t>
            </a:r>
            <a:endParaRPr lang="en-US" altLang="zh-CN"/>
          </a:p>
          <a:p>
            <a:pPr algn="just"/>
            <a:r>
              <a:rPr lang="en-US" altLang="zh-CN"/>
              <a:t>Data warehouses consolidate information from various systems, acting as a centralized repository. This allows businesses to analyze trends and generate valuable business intelligence</a:t>
            </a:r>
            <a:r>
              <a:rPr lang="zh-CN" altLang="en-US"/>
              <a:t>。</a:t>
            </a:r>
            <a:endParaRPr lang="zh-CN" altLang="en-US"/>
          </a:p>
          <a:p>
            <a:pPr algn="just"/>
            <a:r>
              <a:rPr lang="en-US" altLang="zh-CN"/>
              <a:t>The process of moving data into a warehouse is known as ETL, which stands for extract, transform, and load. This process ensures data is formatted correctly for analysis.</a:t>
            </a:r>
            <a:endParaRPr lang="en-US" altLang="zh-CN"/>
          </a:p>
          <a:p>
            <a:pPr algn="just"/>
            <a:r>
              <a:rPr lang="en-US" altLang="zh-CN"/>
              <a:t>Methodology includes several designs such as: Star Schema</a:t>
            </a:r>
            <a:endParaRPr lang="en-US" altLang="zh-CN"/>
          </a:p>
          <a:p>
            <a:pPr lvl="1" algn="just"/>
            <a:r>
              <a:rPr lang="en-US" altLang="zh-CN"/>
              <a:t>These strategies enhance the efficiency of reporting and data retrieval.</a:t>
            </a:r>
            <a:endParaRPr lang="en-US" altLang="zh-CN"/>
          </a:p>
          <a:p>
            <a:pPr algn="just"/>
            <a:endParaRPr lang="en-US" altLang="zh-CN"/>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D</a:t>
            </a:r>
            <a:r>
              <a:rPr lang="en-US" altLang="zh-CN"/>
              <a:t>atabase vs Data Warehouse vs Data Lakes</a:t>
            </a:r>
            <a:endParaRPr lang="en-US" altLang="zh-CN"/>
          </a:p>
        </p:txBody>
      </p:sp>
      <p:sp>
        <p:nvSpPr>
          <p:cNvPr id="3" name="内容占位符 2"/>
          <p:cNvSpPr>
            <a:spLocks noGrp="1"/>
          </p:cNvSpPr>
          <p:nvPr>
            <p:ph idx="1"/>
            <p:custDataLst>
              <p:tags r:id="rId2"/>
            </p:custDataLst>
          </p:nvPr>
        </p:nvSpPr>
        <p:spPr/>
        <p:txBody>
          <a:bodyPr>
            <a:normAutofit fontScale="80000"/>
          </a:bodyPr>
          <a:p>
            <a:pPr algn="just"/>
            <a:r>
              <a:rPr lang="en-US" altLang="zh-CN"/>
              <a:t>A data lake is a centralized storage repository that preserves data in its original format, unlike structured databases or data warehouses. This enables advanced analytics and exploration of diverse data types for data scientists.</a:t>
            </a:r>
            <a:endParaRPr lang="en-US" altLang="zh-CN"/>
          </a:p>
          <a:p>
            <a:pPr algn="just"/>
            <a:r>
              <a:rPr lang="en-US" altLang="zh-CN"/>
              <a:t>Data lakes accommodate various data formats, including structured and unstructured data, making them suitable for machine learning and artificial intelligence applications. This versatility is crucial for modern data analysis.</a:t>
            </a:r>
            <a:endParaRPr lang="en-US" altLang="zh-CN"/>
          </a:p>
          <a:p>
            <a:pPr algn="just"/>
            <a:r>
              <a:rPr lang="en-US" altLang="zh-CN"/>
              <a:t>Microsoft has introduced innovations such as One Lake, a unified data lake that simplifies connectivity across Microsoft products, enhancing collaboration and efficiency within organizations.</a:t>
            </a:r>
            <a:endParaRPr lang="en-US" altLang="zh-CN"/>
          </a:p>
          <a:p>
            <a:pPr algn="just"/>
            <a:r>
              <a:rPr lang="en-US" altLang="zh-CN"/>
              <a:t>The concept of a data lakehouse merges the benefits of data lakes and data warehouses, providing flexibility along with effective data management and transaction capabilities for organizations.</a:t>
            </a:r>
            <a:endParaRPr lang="en-US" altLang="zh-CN"/>
          </a:p>
          <a:p>
            <a:pPr algn="just"/>
            <a:r>
              <a:rPr lang="en-US" altLang="zh-CN"/>
              <a:t>Can I say? </a:t>
            </a:r>
            <a:endParaRPr lang="en-US" altLang="zh-CN"/>
          </a:p>
          <a:p>
            <a:pPr lvl="1" algn="just"/>
            <a:r>
              <a:rPr lang="en-US" altLang="zh-CN"/>
              <a:t>datalake can be a folder on a disk?</a:t>
            </a:r>
            <a:endParaRPr lang="en-US" altLang="zh-CN"/>
          </a:p>
          <a:p>
            <a:pPr lvl="1" algn="just"/>
            <a:r>
              <a:rPr lang="en-US" altLang="zh-CN"/>
              <a:t>or folder on share point?</a:t>
            </a:r>
            <a:endParaRPr lang="en-US" altLang="zh-CN"/>
          </a:p>
          <a:p>
            <a:pPr lvl="1" algn="just"/>
            <a:r>
              <a:rPr lang="en-US" altLang="zh-CN"/>
              <a:t>Excel document with multiple sheets</a:t>
            </a:r>
            <a:endParaRPr lang="en-US" altLang="zh-CN"/>
          </a:p>
        </p:txBody>
      </p:sp>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Which one to Choose</a:t>
            </a:r>
            <a:endParaRPr lang="en-US" altLang="zh-CN"/>
          </a:p>
        </p:txBody>
      </p:sp>
      <p:sp>
        <p:nvSpPr>
          <p:cNvPr id="3" name="内容占位符 2"/>
          <p:cNvSpPr>
            <a:spLocks noGrp="1"/>
          </p:cNvSpPr>
          <p:nvPr>
            <p:ph idx="1"/>
            <p:custDataLst>
              <p:tags r:id="rId2"/>
            </p:custDataLst>
          </p:nvPr>
        </p:nvSpPr>
        <p:spPr/>
        <p:txBody>
          <a:bodyPr/>
          <a:p>
            <a:pPr algn="just"/>
            <a:endParaRPr lang="en-US" altLang="zh-CN"/>
          </a:p>
        </p:txBody>
      </p:sp>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Which one to Choose</a:t>
            </a:r>
            <a:endParaRPr lang="en-US" altLang="zh-CN"/>
          </a:p>
        </p:txBody>
      </p:sp>
      <p:sp>
        <p:nvSpPr>
          <p:cNvPr id="3" name="内容占位符 2"/>
          <p:cNvSpPr>
            <a:spLocks noGrp="1"/>
          </p:cNvSpPr>
          <p:nvPr>
            <p:ph idx="1"/>
            <p:custDataLst>
              <p:tags r:id="rId2"/>
            </p:custDataLst>
          </p:nvPr>
        </p:nvSpPr>
        <p:spPr/>
        <p:txBody>
          <a:bodyPr/>
          <a:p>
            <a:pPr algn="just"/>
            <a:r>
              <a:rPr lang="en-US" altLang="zh-CN"/>
              <a:t>Choosing the right data storage method is crucial for effective business operations. Each method, including databases, data warehouses, and data lakes, serves distinct purposes based on specific needs.</a:t>
            </a:r>
            <a:endParaRPr lang="en-US" altLang="zh-CN"/>
          </a:p>
          <a:p>
            <a:pPr algn="just"/>
            <a:r>
              <a:rPr lang="en-US" altLang="zh-CN"/>
              <a:t>__________________ ideal for managing day-to-day transactions and operational efficiency, such as recording purchases in an online store. They support real-time tracking of inventory and sales.</a:t>
            </a:r>
            <a:endParaRPr lang="en-US" altLang="zh-CN"/>
          </a:p>
          <a:p>
            <a:pPr algn="just"/>
            <a:r>
              <a:rPr lang="en-US" altLang="zh-CN"/>
              <a:t> _________________ are best suited for analyzing historical data and generating business insights. They are often integrated with business intelligence tools for reporting and dashboarding.</a:t>
            </a:r>
            <a:endParaRPr lang="en-US" altLang="zh-CN"/>
          </a:p>
          <a:p>
            <a:pPr algn="just"/>
            <a:r>
              <a:rPr lang="en-US" altLang="zh-CN"/>
              <a:t>__________________ offer a flexible solution for storing diverse data types in raw form, making future analysis easier. They can handle both structured and unstructured data like customer feedback.</a:t>
            </a:r>
            <a:endParaRPr lang="en-US" altLang="zh-CN"/>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BEAUTIFY_FLAG" val="#wm#"/>
  <p:tag name="KSO_WM_TEMPLATE_CATEGORY" val="custom"/>
  <p:tag name="KSO_WM_TEMPLATE_INDEX" val="2020508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BEAUTIFY_FLAG" val="#wm#"/>
  <p:tag name="KSO_WM_TEMPLATE_CATEGORY" val="custom"/>
  <p:tag name="KSO_WM_TEMPLATE_INDEX" val="20205081"/>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BEAUTIFY_FLAG" val="#wm#"/>
  <p:tag name="KSO_WM_TEMPLATE_CATEGORY" val="custom"/>
  <p:tag name="KSO_WM_TEMPLATE_INDEX" val="2020508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BEAUTIFY_FLAG" val="#wm#"/>
  <p:tag name="KSO_WM_TEMPLATE_CATEGORY" val="custom"/>
  <p:tag name="KSO_WM_TEMPLATE_INDEX" val="2020508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BEAUTIFY_FLAG" val="#wm#"/>
  <p:tag name="KSO_WM_TEMPLATE_CATEGORY" val="custom"/>
  <p:tag name="KSO_WM_TEMPLATE_INDEX" val="2020508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9.xml><?xml version="1.0" encoding="utf-8"?>
<p:tagLst xmlns:p="http://schemas.openxmlformats.org/presentationml/2006/main">
  <p:tag name="KSO_WM_BEAUTIFY_FLAG" val="#wm#"/>
  <p:tag name="KSO_WM_TEMPLATE_CATEGORY" val="custom"/>
  <p:tag name="KSO_WM_TEMPLATE_INDEX" val="2020508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2.xml><?xml version="1.0" encoding="utf-8"?>
<p:tagLst xmlns:p="http://schemas.openxmlformats.org/presentationml/2006/main">
  <p:tag name="KSO_WM_BEAUTIFY_FLAG" val="#wm#"/>
  <p:tag name="KSO_WM_TEMPLATE_CATEGORY" val="custom"/>
  <p:tag name="KSO_WM_TEMPLATE_INDEX" val="20205081"/>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5.xml><?xml version="1.0" encoding="utf-8"?>
<p:tagLst xmlns:p="http://schemas.openxmlformats.org/presentationml/2006/main">
  <p:tag name="KSO_WM_BEAUTIFY_FLAG" val="#wm#"/>
  <p:tag name="KSO_WM_TEMPLATE_CATEGORY" val="custom"/>
  <p:tag name="KSO_WM_TEMPLATE_INDEX" val="2020508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8.xml><?xml version="1.0" encoding="utf-8"?>
<p:tagLst xmlns:p="http://schemas.openxmlformats.org/presentationml/2006/main">
  <p:tag name="KSO_WM_BEAUTIFY_FLAG" val="#wm#"/>
  <p:tag name="KSO_WM_TEMPLATE_CATEGORY" val="custom"/>
  <p:tag name="KSO_WM_TEMPLATE_INDEX" val="2020508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1.xml><?xml version="1.0" encoding="utf-8"?>
<p:tagLst xmlns:p="http://schemas.openxmlformats.org/presentationml/2006/main">
  <p:tag name="KSO_WM_BEAUTIFY_FLAG" val="#wm#"/>
  <p:tag name="KSO_WM_TEMPLATE_CATEGORY" val="custom"/>
  <p:tag name="KSO_WM_TEMPLATE_INDEX" val="20205081"/>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4.xml><?xml version="1.0" encoding="utf-8"?>
<p:tagLst xmlns:p="http://schemas.openxmlformats.org/presentationml/2006/main">
  <p:tag name="KSO_WM_BEAUTIFY_FLAG" val="#wm#"/>
  <p:tag name="KSO_WM_TEMPLATE_CATEGORY" val="custom"/>
  <p:tag name="KSO_WM_TEMPLATE_INDEX" val="20205081"/>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7.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6431</Words>
  <Application>WPS 演示</Application>
  <PresentationFormat>宽屏</PresentationFormat>
  <Paragraphs>109</Paragraphs>
  <Slides>19</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19</vt:i4>
      </vt:variant>
    </vt:vector>
  </HeadingPairs>
  <TitlesOfParts>
    <vt:vector size="27" baseType="lpstr">
      <vt:lpstr>Arial</vt:lpstr>
      <vt:lpstr>SimSun</vt:lpstr>
      <vt:lpstr>Wingdings</vt:lpstr>
      <vt:lpstr>Wingdings</vt:lpstr>
      <vt:lpstr>Microsoft YaHei</vt:lpstr>
      <vt:lpstr>Arial Unicode MS</vt:lpstr>
      <vt:lpstr>Calibri</vt:lpstr>
      <vt:lpstr>WPS</vt:lpstr>
      <vt:lpstr>Big Data Storage</vt:lpstr>
      <vt:lpstr>Outline</vt:lpstr>
      <vt:lpstr>The background</vt:lpstr>
      <vt:lpstr>The background</vt:lpstr>
      <vt:lpstr>On-DISK</vt:lpstr>
      <vt:lpstr>DFS prefer to have fewer larger size rather small size - why?</vt:lpstr>
      <vt:lpstr>RDBMS - Reading from book directly</vt:lpstr>
      <vt:lpstr>NoSQL Databases</vt:lpstr>
      <vt:lpstr>NoSQL Databases</vt:lpstr>
      <vt:lpstr>NoSQL Databases</vt:lpstr>
      <vt:lpstr>NoSQL Databases</vt:lpstr>
      <vt:lpstr>Next lecture</vt:lpstr>
      <vt:lpstr>The background</vt:lpstr>
      <vt:lpstr>Database vs Data Warehouse vs Data Lakes</vt:lpstr>
      <vt:lpstr>Database vs Data Warehouse vs Data Lakes</vt:lpstr>
      <vt:lpstr>Database vs Data Warehouse vs Data Lakes</vt:lpstr>
      <vt:lpstr>Database vs Data Warehouse vs Data Lakes</vt:lpstr>
      <vt:lpstr>Which one to Choose</vt:lpstr>
      <vt:lpstr>Which one to Choose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awais</dc:creator>
  <cp:lastModifiedBy>WPS_1671077781</cp:lastModifiedBy>
  <cp:revision>188</cp:revision>
  <dcterms:created xsi:type="dcterms:W3CDTF">2019-06-19T02:08:00Z</dcterms:created>
  <dcterms:modified xsi:type="dcterms:W3CDTF">2026-04-07T02:05:08Z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10D2DF1492C34AE9BE04D440C5013DBF_11</vt:lpwstr>
  </property>
</Properties>
</file>