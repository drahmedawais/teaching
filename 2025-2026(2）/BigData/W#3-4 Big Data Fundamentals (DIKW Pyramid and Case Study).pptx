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86" r:id="rId4"/>
    <p:sldId id="287" r:id="rId5"/>
    <p:sldId id="277" r:id="rId6"/>
    <p:sldId id="274" r:id="rId7"/>
    <p:sldId id="280" r:id="rId8"/>
    <p:sldId id="282" r:id="rId9"/>
    <p:sldId id="283" r:id="rId10"/>
    <p:sldId id="284" r:id="rId11"/>
    <p:sldId id="275" r:id="rId12"/>
    <p:sldId id="279" r:id="rId13"/>
    <p:sldId id="276" r:id="rId14"/>
    <p:sldId id="285" r:id="rId15"/>
    <p:sldId id="257" r:id="rId16"/>
    <p:sldId id="278" r:id="rId17"/>
    <p:sldId id="273" r:id="rId18"/>
    <p:sldId id="288" r:id="rId19"/>
    <p:sldId id="292" r:id="rId20"/>
    <p:sldId id="289" r:id="rId21"/>
    <p:sldId id="290" r:id="rId22"/>
    <p:sldId id="291" r:id="rId24"/>
    <p:sldId id="293" r:id="rId25"/>
    <p:sldId id="294" r:id="rId26"/>
    <p:sldId id="295" r:id="rId27"/>
    <p:sldId id="296" r:id="rId28"/>
    <p:sldId id="297" r:id="rId29"/>
    <p:sldId id="299" r:id="rId30"/>
    <p:sldId id="302" r:id="rId31"/>
    <p:sldId id="303" r:id="rId32"/>
    <p:sldId id="304" r:id="rId33"/>
    <p:sldId id="305" r:id="rId34"/>
    <p:sldId id="306" r:id="rId35"/>
    <p:sldId id="300" r:id="rId36"/>
    <p:sldId id="301" r:id="rId37"/>
    <p:sldId id="298" r:id="rId38"/>
    <p:sldId id="307" r:id="rId39"/>
    <p:sldId id="308" r:id="rId40"/>
    <p:sldId id="309" r:id="rId41"/>
    <p:sldId id="310" r:id="rId42"/>
    <p:sldId id="764" r:id="rId43"/>
    <p:sldId id="761" r:id="rId44"/>
    <p:sldId id="759" r:id="rId45"/>
    <p:sldId id="762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459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FD2A-E361-419A-84F8-B64075781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0B98A-7424-4E60-8900-D9949C34CE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W,I,KD -?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W,I,KD -?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BB70E-009C-453C-B620-6AC4E6047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6B03A-CF0E-4298-8021-7F94908622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Big Data Fundamentals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Week#3</a:t>
            </a:r>
            <a:endParaRPr lang="en-US" altLang="zh-CN" dirty="0"/>
          </a:p>
          <a:p>
            <a:r>
              <a:rPr lang="en-US" altLang="zh-CN" dirty="0"/>
              <a:t>Dr. Ahmed Awais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V’s, </a:t>
            </a:r>
            <a:endParaRPr lang="en-US" altLang="zh-CN" dirty="0"/>
          </a:p>
          <a:p>
            <a:r>
              <a:rPr lang="en-US" altLang="zh-CN" dirty="0"/>
              <a:t>DIKW, </a:t>
            </a:r>
            <a:endParaRPr lang="en-US" altLang="zh-CN" dirty="0"/>
          </a:p>
          <a:p>
            <a:r>
              <a:rPr lang="en-US" altLang="zh-CN" dirty="0"/>
              <a:t>Challenges</a:t>
            </a:r>
            <a:endParaRPr lang="en-US" altLang="zh-CN" dirty="0"/>
          </a:p>
          <a:p>
            <a:r>
              <a:rPr lang="en-US" altLang="zh-CN" dirty="0"/>
              <a:t>KPIs &amp; Analytics – Maybe next lecture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05015" y="3606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V’s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Volume</a:t>
            </a:r>
            <a:endParaRPr lang="en-US" altLang="zh-CN" dirty="0"/>
          </a:p>
          <a:p>
            <a:r>
              <a:rPr lang="en-US" altLang="zh-CN" dirty="0"/>
              <a:t>Velocity</a:t>
            </a:r>
            <a:endParaRPr lang="en-US" altLang="zh-CN" dirty="0"/>
          </a:p>
          <a:p>
            <a:r>
              <a:rPr lang="en-US" altLang="zh-CN" dirty="0"/>
              <a:t>Value – Skip it, will consider it at last – but why </a:t>
            </a:r>
            <a:r>
              <a:rPr lang="zh-CN" altLang="en-US" dirty="0"/>
              <a:t>🤔</a:t>
            </a:r>
            <a:r>
              <a:rPr lang="en-US" altLang="zh-CN" dirty="0"/>
              <a:t>?</a:t>
            </a:r>
            <a:endParaRPr lang="en-US" altLang="zh-CN" dirty="0"/>
          </a:p>
          <a:p>
            <a:r>
              <a:rPr lang="en-US" altLang="zh-CN" dirty="0"/>
              <a:t>Variety</a:t>
            </a:r>
            <a:endParaRPr lang="en-US" altLang="zh-CN" dirty="0"/>
          </a:p>
          <a:p>
            <a:r>
              <a:rPr lang="en-US" altLang="zh-CN" dirty="0"/>
              <a:t>Veracity</a:t>
            </a:r>
            <a:endParaRPr lang="en-US" altLang="zh-CN" dirty="0"/>
          </a:p>
          <a:p>
            <a:r>
              <a:rPr lang="en-US" altLang="zh-CN" dirty="0"/>
              <a:t>…..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V’s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Volume</a:t>
            </a:r>
            <a:endParaRPr lang="en-US" altLang="zh-CN" dirty="0"/>
          </a:p>
          <a:p>
            <a:r>
              <a:rPr lang="en-US" altLang="zh-CN" dirty="0"/>
              <a:t>Velocity</a:t>
            </a:r>
            <a:endParaRPr lang="en-US" altLang="zh-CN" dirty="0"/>
          </a:p>
          <a:p>
            <a:r>
              <a:rPr lang="en-US" altLang="zh-CN" dirty="0"/>
              <a:t>Value – Skip it, will consider it at last – but why </a:t>
            </a:r>
            <a:r>
              <a:rPr lang="zh-CN" altLang="en-US" dirty="0"/>
              <a:t>🤔</a:t>
            </a:r>
            <a:r>
              <a:rPr lang="en-US" altLang="zh-CN" dirty="0"/>
              <a:t>?</a:t>
            </a:r>
            <a:endParaRPr lang="en-US" altLang="zh-CN" dirty="0"/>
          </a:p>
          <a:p>
            <a:r>
              <a:rPr lang="en-US" altLang="zh-CN" dirty="0"/>
              <a:t>Variety</a:t>
            </a:r>
            <a:endParaRPr lang="en-US" altLang="zh-CN" dirty="0"/>
          </a:p>
          <a:p>
            <a:r>
              <a:rPr lang="en-US" altLang="zh-CN" dirty="0"/>
              <a:t>Veracity</a:t>
            </a:r>
            <a:endParaRPr lang="en-US" altLang="zh-CN" dirty="0"/>
          </a:p>
          <a:p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Variability - </a:t>
            </a:r>
            <a:r>
              <a:rPr lang="en-US" altLang="zh-CN" dirty="0"/>
              <a:t>Data meaning changes over time or context.</a:t>
            </a:r>
            <a:endParaRPr lang="en-US" altLang="zh-CN" dirty="0"/>
          </a:p>
          <a:p>
            <a:pPr lvl="1"/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Apple is a fruit or company</a:t>
            </a:r>
            <a:endParaRPr lang="en-US" altLang="zh-CN" b="1" i="0" dirty="0">
              <a:solidFill>
                <a:srgbClr val="393E41"/>
              </a:solidFill>
              <a:effectLst/>
              <a:latin typeface="Avenir Next W05"/>
            </a:endParaRPr>
          </a:p>
          <a:p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Validity </a:t>
            </a:r>
            <a:r>
              <a:rPr lang="en-US" altLang="zh-CN" dirty="0"/>
              <a:t>(Correctness for Intended Use)</a:t>
            </a:r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 - </a:t>
            </a:r>
            <a:r>
              <a:rPr lang="en-US" altLang="zh-CN" dirty="0"/>
              <a:t>Data is correct and suitable for analysis.</a:t>
            </a:r>
            <a:endParaRPr lang="en-US" altLang="zh-CN" b="1" dirty="0">
              <a:solidFill>
                <a:srgbClr val="393E41"/>
              </a:solidFill>
              <a:latin typeface="Avenir Next W05"/>
            </a:endParaRPr>
          </a:p>
          <a:p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Vulnerability (Security threats) - </a:t>
            </a:r>
            <a:r>
              <a:rPr lang="en-US" altLang="zh-CN" dirty="0"/>
              <a:t>Exposure to cyber threats.</a:t>
            </a:r>
            <a:endParaRPr lang="en-US" altLang="zh-CN" dirty="0"/>
          </a:p>
          <a:p>
            <a:pPr lvl="1"/>
            <a:r>
              <a:rPr lang="en-US" altLang="zh-CN" dirty="0"/>
              <a:t>Patient data breaches in healthcare systems</a:t>
            </a:r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 </a:t>
            </a:r>
            <a:endParaRPr lang="en-US" altLang="zh-CN" b="1" i="0" dirty="0">
              <a:solidFill>
                <a:srgbClr val="393E41"/>
              </a:solidFill>
              <a:effectLst/>
              <a:latin typeface="Avenir Next W05"/>
            </a:endParaRPr>
          </a:p>
          <a:p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Volatility </a:t>
            </a:r>
            <a:r>
              <a:rPr lang="en-US" altLang="zh-CN" b="1" dirty="0">
                <a:solidFill>
                  <a:srgbClr val="393E41"/>
                </a:solidFill>
                <a:latin typeface="Avenir Next W05"/>
              </a:rPr>
              <a:t>(data lifespan) - </a:t>
            </a:r>
            <a:r>
              <a:rPr lang="en-US" altLang="zh-CN" dirty="0"/>
              <a:t>How long data remains useful.</a:t>
            </a:r>
            <a:endParaRPr lang="en-US" altLang="zh-CN" b="1" i="0" dirty="0">
              <a:solidFill>
                <a:srgbClr val="393E41"/>
              </a:solidFill>
              <a:effectLst/>
              <a:latin typeface="Avenir Next W05"/>
            </a:endParaRPr>
          </a:p>
          <a:p>
            <a:r>
              <a:rPr lang="en-US" altLang="zh-CN" b="1" i="0" dirty="0">
                <a:solidFill>
                  <a:srgbClr val="393E41"/>
                </a:solidFill>
                <a:effectLst/>
                <a:latin typeface="Avenir Next W05"/>
              </a:rPr>
              <a:t>Visualization - </a:t>
            </a:r>
            <a:r>
              <a:rPr lang="en-US" altLang="zh-CN" dirty="0"/>
              <a:t>Presenting data in charts/graphs.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87" y="365125"/>
            <a:ext cx="3333918" cy="1325563"/>
          </a:xfrm>
        </p:spPr>
        <p:txBody>
          <a:bodyPr/>
          <a:lstStyle/>
          <a:p>
            <a:r>
              <a:rPr lang="en-US" altLang="zh-CN" b="1" dirty="0"/>
              <a:t>The DIKW Pyramid</a:t>
            </a:r>
            <a:endParaRPr lang="zh-CN" alt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024" y="0"/>
            <a:ext cx="88091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3440"/>
            <a:ext cx="10515600" cy="4351338"/>
          </a:xfrm>
        </p:spPr>
        <p:txBody>
          <a:bodyPr/>
          <a:lstStyle/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 (Raw Facts)-&gt;such as raw data collected from stores: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Product A sold 120 units Monday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Product A sold 60 units Tuesday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Product A sold 200 units Friday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Customer purchases recorded in POS system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Website clickstream logs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These are raw numbers without meaning.</a:t>
            </a:r>
            <a:endParaRPr lang="en-US" altLang="zh-CN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45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Information (Context Added)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After processing the data: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Sales are higher on weekends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Product A sells more during promotions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Online traffic increases after social media ads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Now the data becomes information with context.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45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Knowledge (Patterns and Understanding)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Data analysts discover patterns: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Weekend promotions increase sales by 40%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Customers aged 18–30 respond strongly to social media ads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Stock shortages reduce potential revenue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This creates knowledge about customer behavior and sales patterns.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45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Wisdom (Strategic Decision)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Management decides: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Run targeted promotions on weekends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Increase inventory before weekend demand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Focus marketing campaigns on younger customers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This is wisdom: applying knowledge to make decisions.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87" y="365125"/>
            <a:ext cx="3333918" cy="1325563"/>
          </a:xfrm>
        </p:spPr>
        <p:txBody>
          <a:bodyPr/>
          <a:lstStyle/>
          <a:p>
            <a:r>
              <a:rPr lang="en-US" altLang="zh-CN" b="1" dirty="0"/>
              <a:t>The DIKW Pyramid</a:t>
            </a:r>
            <a:endParaRPr lang="zh-CN" alt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578" y="0"/>
            <a:ext cx="92262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86" y="365125"/>
            <a:ext cx="4627951" cy="1325563"/>
          </a:xfrm>
        </p:spPr>
        <p:txBody>
          <a:bodyPr/>
          <a:lstStyle/>
          <a:p>
            <a:r>
              <a:rPr lang="en-US" altLang="zh-CN" b="1" dirty="0"/>
              <a:t>The DIKW Pyramid</a:t>
            </a:r>
            <a:endParaRPr lang="zh-CN" altLang="en-US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9262" y="1279977"/>
          <a:ext cx="11293227" cy="4971351"/>
        </p:xfrm>
        <a:graphic>
          <a:graphicData uri="http://schemas.openxmlformats.org/drawingml/2006/table">
            <a:tbl>
              <a:tblPr/>
              <a:tblGrid>
                <a:gridCol w="3764409"/>
                <a:gridCol w="3764409"/>
                <a:gridCol w="3764409"/>
              </a:tblGrid>
              <a:tr h="452705">
                <a:tc>
                  <a:txBody>
                    <a:bodyPr/>
                    <a:lstStyle/>
                    <a:p>
                      <a:r>
                        <a:rPr lang="en-US" sz="2500" b="1" dirty="0"/>
                        <a:t>DIKW Level</a:t>
                      </a:r>
                      <a:endParaRPr lang="en-US" sz="2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/>
                        <a:t>Corporate Level</a:t>
                      </a:r>
                      <a:endParaRPr lang="en-US" sz="2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/>
                        <a:t>Example</a:t>
                      </a:r>
                      <a:endParaRPr lang="en-US" sz="2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5157">
                <a:tc>
                  <a:txBody>
                    <a:bodyPr/>
                    <a:lstStyle/>
                    <a:p>
                      <a:r>
                        <a:rPr lang="en-US" sz="2500" dirty="0"/>
                        <a:t>Data</a:t>
                      </a:r>
                      <a:endParaRPr lang="en-US" sz="2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Operational Level</a:t>
                      </a:r>
                      <a:endParaRPr lang="en-US" sz="2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Cash registers record sales transactions</a:t>
                      </a:r>
                      <a:endParaRPr lang="en-US" sz="2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99726">
                <a:tc>
                  <a:txBody>
                    <a:bodyPr/>
                    <a:lstStyle/>
                    <a:p>
                      <a:r>
                        <a:rPr lang="en-US" sz="2500" dirty="0"/>
                        <a:t>Information</a:t>
                      </a:r>
                      <a:endParaRPr lang="en-US" sz="2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Tactical Level</a:t>
                      </a:r>
                      <a:endParaRPr lang="en-US" sz="2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Sales reports show weekend demand</a:t>
                      </a:r>
                      <a:endParaRPr lang="en-US" sz="2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5157">
                <a:tc>
                  <a:txBody>
                    <a:bodyPr/>
                    <a:lstStyle/>
                    <a:p>
                      <a:r>
                        <a:rPr lang="en-US" sz="2500"/>
                        <a:t>Knowledge</a:t>
                      </a:r>
                      <a:endParaRPr lang="en-US" sz="2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Tactical / Managerial</a:t>
                      </a:r>
                      <a:endParaRPr lang="en-US" sz="2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Analysts identify promotion effectiveness</a:t>
                      </a:r>
                      <a:endParaRPr lang="en-US" sz="2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15157">
                <a:tc>
                  <a:txBody>
                    <a:bodyPr/>
                    <a:lstStyle/>
                    <a:p>
                      <a:r>
                        <a:rPr lang="en-US" sz="2500"/>
                        <a:t>Wisdom</a:t>
                      </a:r>
                      <a:endParaRPr lang="en-US" sz="2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Strategic Level</a:t>
                      </a:r>
                      <a:endParaRPr lang="en-US" sz="2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Executives design long-term marketing strategy</a:t>
                      </a:r>
                      <a:endParaRPr lang="en-US" sz="2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87" y="365125"/>
            <a:ext cx="3333918" cy="1325563"/>
          </a:xfrm>
        </p:spPr>
        <p:txBody>
          <a:bodyPr/>
          <a:lstStyle/>
          <a:p>
            <a:r>
              <a:rPr lang="en-US" altLang="zh-CN" b="1" dirty="0"/>
              <a:t>The DIKW Pyramid</a:t>
            </a:r>
            <a:endParaRPr lang="zh-CN" alt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8738" y="1062891"/>
            <a:ext cx="9212475" cy="55684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031" y="521433"/>
            <a:ext cx="9934599" cy="1325563"/>
          </a:xfrm>
        </p:spPr>
        <p:txBody>
          <a:bodyPr>
            <a:normAutofit/>
          </a:bodyPr>
          <a:lstStyle/>
          <a:p>
            <a:r>
              <a:rPr lang="en-US" altLang="zh-CN" b="1" dirty="0"/>
              <a:t>The DIKW Pyramid- </a:t>
            </a:r>
            <a:r>
              <a:rPr lang="en-US" altLang="zh-CN" b="1" u="sng" dirty="0"/>
              <a:t>Virtuous Cycle with Feedback Loop</a:t>
            </a:r>
            <a:endParaRPr lang="zh-CN" alt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3509108" y="1942013"/>
            <a:ext cx="73620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Company launches weekend promotions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New sales data is generated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Data is analyzed again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Strategies are refined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585"/>
            <a:ext cx="10515600" cy="730885"/>
          </a:xfrm>
        </p:spPr>
        <p:txBody>
          <a:bodyPr/>
          <a:lstStyle/>
          <a:p>
            <a:r>
              <a:rPr lang="en-US" altLang="zh-CN" b="1"/>
              <a:t>Putting Earlier three pyramids together</a:t>
            </a:r>
            <a:endParaRPr lang="en-US" altLang="zh-CN" b="1"/>
          </a:p>
        </p:txBody>
      </p:sp>
      <p:pic>
        <p:nvPicPr>
          <p:cNvPr id="4" name="图片 3" descr="ChatGPT Image Mar 17, 2026, 08_47_12 AM"/>
          <p:cNvPicPr>
            <a:picLocks noChangeAspect="1"/>
          </p:cNvPicPr>
          <p:nvPr/>
        </p:nvPicPr>
        <p:blipFill>
          <a:blip r:embed="rId1"/>
          <a:srcRect t="9170" b="14016"/>
          <a:stretch>
            <a:fillRect/>
          </a:stretch>
        </p:blipFill>
        <p:spPr>
          <a:xfrm>
            <a:off x="633876" y="962952"/>
            <a:ext cx="10287000" cy="52679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585"/>
            <a:ext cx="10515600" cy="730885"/>
          </a:xfrm>
        </p:spPr>
        <p:txBody>
          <a:bodyPr/>
          <a:lstStyle/>
          <a:p>
            <a:r>
              <a:rPr lang="en-US" altLang="zh-CN" b="1"/>
              <a:t>Putting Earlier three pyramids together</a:t>
            </a:r>
            <a:endParaRPr lang="en-US" altLang="zh-CN" b="1"/>
          </a:p>
        </p:txBody>
      </p:sp>
      <p:sp>
        <p:nvSpPr>
          <p:cNvPr id="5" name="TextBox 4"/>
          <p:cNvSpPr txBox="1"/>
          <p:nvPr/>
        </p:nvSpPr>
        <p:spPr>
          <a:xfrm>
            <a:off x="242277" y="1482248"/>
            <a:ext cx="1111152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 retail company collects </a:t>
            </a:r>
            <a:r>
              <a:rPr lang="en-US" altLang="zh-CN" b="1" dirty="0"/>
              <a:t>sales transaction data</a:t>
            </a:r>
            <a:r>
              <a:rPr lang="en-US" altLang="zh-CN" b="1" dirty="0">
                <a:highlight>
                  <a:srgbClr val="FFFF00"/>
                </a:highlight>
              </a:rPr>
              <a:t> (data)</a:t>
            </a:r>
            <a:r>
              <a:rPr lang="en-US" altLang="zh-CN" dirty="0">
                <a:highlight>
                  <a:srgbClr val="FFFF00"/>
                </a:highlight>
              </a:rPr>
              <a:t>. </a:t>
            </a:r>
            <a:r>
              <a:rPr lang="en-US" altLang="zh-CN" sz="3200" dirty="0">
                <a:highlight>
                  <a:srgbClr val="FFFF00"/>
                </a:highlight>
              </a:rPr>
              <a:t>D</a:t>
            </a:r>
            <a:br>
              <a:rPr lang="en-US" altLang="zh-CN" dirty="0"/>
            </a:br>
            <a:r>
              <a:rPr lang="en-US" altLang="zh-CN" dirty="0"/>
              <a:t>When the data is analyzed, it shows </a:t>
            </a:r>
            <a:r>
              <a:rPr lang="en-US" altLang="zh-CN" b="1" dirty="0"/>
              <a:t>higher weekend sales (information)</a:t>
            </a:r>
            <a:r>
              <a:rPr lang="en-US" altLang="zh-CN" dirty="0"/>
              <a:t>. </a:t>
            </a:r>
            <a:r>
              <a:rPr lang="en-US" altLang="zh-CN" sz="3200" dirty="0">
                <a:highlight>
                  <a:srgbClr val="FFFF00"/>
                </a:highlight>
              </a:rPr>
              <a:t>I</a:t>
            </a:r>
            <a:br>
              <a:rPr lang="en-US" altLang="zh-CN" dirty="0"/>
            </a:br>
            <a:r>
              <a:rPr lang="en-US" altLang="zh-CN" dirty="0"/>
              <a:t>Further analysis reveals that </a:t>
            </a:r>
            <a:r>
              <a:rPr lang="en-US" altLang="zh-CN" b="1" dirty="0"/>
              <a:t>promotions significantly increase weekend purchases (knowledge)</a:t>
            </a:r>
            <a:r>
              <a:rPr lang="en-US" altLang="zh-CN" dirty="0"/>
              <a:t>.</a:t>
            </a:r>
            <a:r>
              <a:rPr lang="en-US" altLang="zh-CN" sz="1800" dirty="0">
                <a:highlight>
                  <a:srgbClr val="FFFF00"/>
                </a:highlight>
              </a:rPr>
              <a:t> </a:t>
            </a:r>
            <a:r>
              <a:rPr lang="en-US" altLang="zh-CN" sz="3200" dirty="0">
                <a:highlight>
                  <a:srgbClr val="FFFF00"/>
                </a:highlight>
              </a:rPr>
              <a:t>K</a:t>
            </a:r>
            <a:br>
              <a:rPr lang="en-US" altLang="zh-CN" dirty="0"/>
            </a:br>
            <a:r>
              <a:rPr lang="en-US" altLang="zh-CN" dirty="0"/>
              <a:t>Management then decides to </a:t>
            </a:r>
            <a:r>
              <a:rPr lang="en-US" altLang="zh-CN" b="1" dirty="0"/>
              <a:t>launch targeted weekend promotions and increase inventory (wisdom)</a:t>
            </a:r>
            <a:r>
              <a:rPr lang="en-US" altLang="zh-CN" dirty="0"/>
              <a:t>.</a:t>
            </a:r>
            <a:r>
              <a:rPr lang="en-US" altLang="zh-CN" sz="1800" dirty="0">
                <a:highlight>
                  <a:srgbClr val="FFFF00"/>
                </a:highlight>
              </a:rPr>
              <a:t> </a:t>
            </a:r>
            <a:r>
              <a:rPr lang="en-US" altLang="zh-CN" sz="3200" dirty="0">
                <a:highlight>
                  <a:srgbClr val="FFFF00"/>
                </a:highlight>
              </a:rPr>
              <a:t>W</a:t>
            </a:r>
            <a:endParaRPr lang="en-US" altLang="zh-CN" sz="3200" dirty="0"/>
          </a:p>
          <a:p>
            <a:r>
              <a:rPr lang="en-US" altLang="zh-CN" dirty="0"/>
              <a:t>Operational systems collect data, managers analyze reports at the tactical level, and executives make strategic decisions. The results generate new data, creating a </a:t>
            </a:r>
            <a:r>
              <a:rPr lang="en-US" altLang="zh-CN" b="1" dirty="0"/>
              <a:t>feedback loop that continuously improves business strategy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075" y="1868170"/>
            <a:ext cx="11572875" cy="1163955"/>
          </a:xfrm>
          <a:prstGeom prst="rect">
            <a:avLst/>
          </a:prstGeom>
        </p:spPr>
        <p:txBody>
          <a:bodyPr vert="horz" wrap="square" lIns="0" tIns="16912" rIns="0" bIns="0" rtlCol="0" anchor="ctr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35"/>
              </a:spcBef>
            </a:pPr>
            <a:r>
              <a:rPr sz="3730" dirty="0">
                <a:latin typeface="Arial MT"/>
                <a:cs typeface="Arial MT"/>
              </a:rPr>
              <a:t>Big</a:t>
            </a:r>
            <a:r>
              <a:rPr sz="3730" spc="-73" dirty="0">
                <a:latin typeface="Arial MT"/>
                <a:cs typeface="Arial MT"/>
              </a:rPr>
              <a:t> </a:t>
            </a:r>
            <a:r>
              <a:rPr sz="3730" dirty="0">
                <a:latin typeface="Arial MT"/>
                <a:cs typeface="Arial MT"/>
              </a:rPr>
              <a:t>Data</a:t>
            </a:r>
            <a:r>
              <a:rPr sz="3730" spc="-73" dirty="0">
                <a:latin typeface="Arial MT"/>
                <a:cs typeface="Arial MT"/>
              </a:rPr>
              <a:t> </a:t>
            </a:r>
            <a:r>
              <a:rPr sz="3730" spc="-13" dirty="0">
                <a:latin typeface="Arial MT"/>
                <a:cs typeface="Arial MT"/>
              </a:rPr>
              <a:t>Challenges</a:t>
            </a:r>
            <a:r>
              <a:rPr lang="en-US" sz="3730" spc="-13" dirty="0">
                <a:latin typeface="Arial MT"/>
                <a:cs typeface="Arial MT"/>
              </a:rPr>
              <a:t> &amp; HDFS - Slide#18 of week#3 and onwards</a:t>
            </a:r>
            <a:endParaRPr sz="373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4790" y="2072958"/>
            <a:ext cx="6784340" cy="755015"/>
          </a:xfrm>
          <a:prstGeom prst="rect">
            <a:avLst/>
          </a:prstGeom>
        </p:spPr>
        <p:txBody>
          <a:bodyPr vert="horz" wrap="square" lIns="0" tIns="16912" rIns="0" bIns="0" rtlCol="0" anchor="ctr">
            <a:spAutoFit/>
          </a:bodyPr>
          <a:lstStyle/>
          <a:p>
            <a:pPr marL="17145">
              <a:lnSpc>
                <a:spcPct val="100000"/>
              </a:lnSpc>
              <a:spcBef>
                <a:spcPts val="135"/>
              </a:spcBef>
            </a:pPr>
            <a:r>
              <a:rPr lang="en-US" sz="4800" dirty="0">
                <a:latin typeface="Arial MT"/>
                <a:cs typeface="Arial MT"/>
              </a:rPr>
              <a:t>Week#4 24 March 2026</a:t>
            </a:r>
            <a:endParaRPr lang="en-US" sz="4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19100" y="1475105"/>
            <a:ext cx="11353800" cy="2622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02945" indent="-685800" algn="just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  <a:cs typeface="Arial MT"/>
                <a:sym typeface="+mn-ea"/>
              </a:rPr>
              <a:t>Quick Recall of DIKW Pyramid (from last lecture)</a:t>
            </a:r>
            <a:endParaRPr lang="en-US" sz="3200" dirty="0">
              <a:latin typeface="Arial MT"/>
              <a:cs typeface="Arial MT"/>
              <a:sym typeface="+mn-ea"/>
            </a:endParaRPr>
          </a:p>
          <a:p>
            <a:pPr marL="702945" indent="-685800" algn="just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  <a:cs typeface="Arial MT"/>
                <a:sym typeface="+mn-ea"/>
              </a:rPr>
              <a:t>Understanding the Insights </a:t>
            </a:r>
            <a:endParaRPr lang="en-US" sz="3200" dirty="0">
              <a:latin typeface="Arial MT"/>
              <a:cs typeface="Arial MT"/>
              <a:sym typeface="+mn-ea"/>
            </a:endParaRPr>
          </a:p>
          <a:p>
            <a:pPr marL="702945" indent="-685800" algn="just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  <a:cs typeface="Arial MT"/>
                <a:sym typeface="+mn-ea"/>
              </a:rPr>
              <a:t>Extracting Insights (valuable vs Trivial) </a:t>
            </a:r>
            <a:endParaRPr lang="en-US" sz="3200" dirty="0">
              <a:latin typeface="Arial MT"/>
              <a:cs typeface="Arial MT"/>
              <a:sym typeface="+mn-ea"/>
            </a:endParaRPr>
          </a:p>
          <a:p>
            <a:pPr marL="702945" indent="-685800" algn="just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  <a:cs typeface="Arial MT"/>
                <a:sym typeface="+mn-ea"/>
              </a:rPr>
              <a:t>KPI </a:t>
            </a:r>
            <a:endParaRPr lang="en-US" sz="3200" dirty="0">
              <a:latin typeface="Arial MT"/>
              <a:cs typeface="Arial MT"/>
              <a:sym typeface="+mn-ea"/>
            </a:endParaRPr>
          </a:p>
          <a:p>
            <a:pPr marL="702945" indent="-685800" algn="just">
              <a:lnSpc>
                <a:spcPct val="100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 MT"/>
                <a:cs typeface="Arial MT"/>
                <a:sym typeface="+mn-ea"/>
              </a:rPr>
              <a:t>Types of Analytics</a:t>
            </a:r>
            <a:endParaRPr lang="en-US" altLang="en-US" sz="3200" dirty="0">
              <a:latin typeface="Arial MT"/>
              <a:cs typeface="Arial MT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Healthcare – Patient Readmission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0520" y="1691005"/>
            <a:ext cx="10849610" cy="4285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Data (D) – Hospital collects electronic health records: patient demographics, diagnoses, treatments, length of stay, and discharge dates.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Information (I) – Analysis shows that patients with heart failure are readmitted within 30 days at a rate of 22%, significantly higher than the hospital average of 8%.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Knowledge (K) – Further analysis reveals that the majority of readmissions occur among patients who had no follow‑up appointment scheduled before discharge.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Wisdom (W) – Hospital administration mandates that every heart‑failure patient must have a follow‑up appointment scheduled and confirmed prior to discharge, and a care coordinator calls within 48 hours.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Feedback loop – The intervention reduces 30‑day readmissions to 12%; new readmission data is continuously monitored, enabling further refinement of discharge protocols.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Finance – Credit Card Fraud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50520" y="1691005"/>
            <a:ext cx="10849610" cy="4285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Fraud detection rules are updated: transactions matching that profile are automatically blocked unless verified by a one‑time passcode sent to the customer’s registered phone.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Alerts flag that transactions from a certain geographic region have a fraud rate five times higher than the overall average.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Further, Machine learning models reveal that fraud patterns cluster around small‑dollar purchases made late at night in that region, often followed by larger withdrawal attempts.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Transaction logs include timestamp, amount, merchant category, location, and customer device information.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Feedback loop – Fraud losses in that region drop by 80%; flagged transactions are reviewed weekly to refine the detection algorithm.</a:t>
            </a:r>
            <a:endParaRPr lang="en-US" altLang="zh-CN" sz="20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Agriculture – Crop Yield Optimization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50520" y="1691005"/>
            <a:ext cx="10849610" cy="4285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Sensors and satellite imagery collect soil moisture, nutrient levels, weather data, and historical yield per field.</a:t>
            </a:r>
            <a:endParaRPr lang="en-US" altLang="zh-CN" sz="2000" b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 dashboard shows that the southeast field produces 20% less corn than the farm average, despite similar inputs.</a:t>
            </a:r>
            <a:endParaRPr lang="en-US" altLang="zh-CN" sz="2000" b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Correlation analysis reveals that the low‑yield area has poor drainage, leading to waterlogging after heavy rain; yields drop sharply following any rainfall &gt; 2 inches in a week.</a:t>
            </a:r>
            <a:endParaRPr lang="en-US" altLang="zh-CN" sz="2000" b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Farmers install subsurface drainage tiles, adjust irrigation schedules, and switch to a more flood‑tolerant corn variety for that specific field.</a:t>
            </a:r>
            <a:endParaRPr lang="en-US" altLang="zh-CN" sz="2000" b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Feedback loop – The following season, the field’s yield matches the farm average; continuous sensor data helps fine‑tune drainage and irrigation settings for future planting cycles.</a:t>
            </a:r>
            <a:endParaRPr lang="en-US" altLang="zh-CN" sz="2000" b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What is an Insights 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An insight is a deep, non‑obvious understanding derived from data that can inform decisions or create value.</a:t>
            </a: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It goes beyond simple reporting – it uncovers patterns, anomalies, or causal relationships that were previously hidden.</a:t>
            </a: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5220" y="3429000"/>
            <a:ext cx="9923145" cy="28809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Characteristics of a Valuable Insight:</a:t>
            </a:r>
            <a:endParaRPr lang="en-US" altLang="zh-CN" sz="32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2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Actionable – leads to a clear next step</a:t>
            </a:r>
            <a:endParaRPr lang="en-US" altLang="zh-CN" sz="32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2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Novel – not already known or obvious</a:t>
            </a:r>
            <a:endParaRPr lang="en-US" altLang="zh-CN" sz="32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2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Quantifiable – can be measured and validated</a:t>
            </a:r>
            <a:endParaRPr lang="en-US" altLang="zh-CN" sz="32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2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Timely – relevant for current decisions</a:t>
            </a:r>
            <a:endParaRPr lang="en-US" altLang="zh-CN" sz="32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What is an Insights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Customers who buy diapers are 3× more likely to buy formoula milk.” This insight is actionable (paired‑promotion),</a:t>
            </a:r>
            <a:r>
              <a:rPr lang="en-US" altLang="zh-CN" sz="2800" strike="sngStrike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 novel (not common sense)</a:t>
            </a: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, quantifiable (lift factor)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Customers who buy diapers are 3× more likely to buy beer on Thursday evenings.” This insight is actionable (cross‑promotion), novel (not common sense), quantifiable (lift factor), and timely (weekly pattern)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Valuable vs. Trivial Insights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Trivial: “Sales increase on weekends” – expected, no deep value.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Valuable: “Weekend sales surge only when both a discount code is used and the product category is electronics” – specific, unexpected, leads to targeted marketing.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The Insight Extraction Process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Identify relevant data – internal &amp; external sources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Clean &amp; prepare – handle missing values, standardize formats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Explore visually &amp; statistically – correlations, distributions, aggregations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Apply analytical techniques – machine learning, clustering, regression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Interpret &amp; validate – domain experts must confirm findings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/>
              <a:t>Key Performance Indicators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 KPI is a metric that gauges success within a particular business context. KPIs are linked with an enterprise’s overall strategic goals and objectives.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Characteristics: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Quantifiable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Aligned with strategy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Provides a reference point (target vs. actual)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Often displayed on dashboards / scorecards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Specific – clearly defined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Measurable – quantifiable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Attainable – realistic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Relevant – aligned to strategy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Timely – measured at appropriate intervals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Specific – clearly defined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Measurable – quantifiable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Attainable – realistic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Relevant – aligned to strategy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Timely – measured at appropriate intervals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483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Project scope and milestone completion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KPI: Complete 100% of project milestones on schedule (4 milestones) by the semester deadline.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Specific: Four defined milestones — literature review, data collection/cleaning, analysis/modeling, final report &amp; presentation.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Measurable: Milestone status (Not started / In progress / Complete).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Achievable: Milestones sized for student team capacity.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Relevant: Keeps project on track and avoids last-minute rush.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Time-bound: Each milestone has a date (e.g., literature review by Week 3, data cleaning by Week 6, modeling by Week 9, final report by Week 12).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483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Data ingestion and cleaning quality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KPI: Achieve &gt;= 95% successful ingestion and cleaning of the dataset (no critical missing values or schema errors) within 2 weeks of data acquisition.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Specific: Define "successful" as dataset loaded into the chosen storage (CSV/Parquet/HDFS) with key fields populated and documented.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Measurable: Percentage of records passing validation checks (schema present, required fields non-null, value ranges valid).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Achievable: Reasonable threshold for class project scale.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Relevant: Clean data is essential for valid analysis.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Time-bound: Complete within 2 weeks after acquiring raw data.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Code quality and reproducibility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Iterative Model performance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Documentation completeness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Presentation and reporting effectiveness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 u="sng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Learning outcomes (individual)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KPI: Each team member completes 3 targeted learning tasks (e.g., Hadoop basics, Spark ETL, SQL tuning, or data visualization best practices) and demonstrates competency through short peer-taught sessions by Week 11.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Specific: Assign tasks per member; require 15-minute demo or tutorial.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Measurable: Completion and peer feedback rating.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Achievable: Bite-sized learning goals.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Relevant: Ensures balanced skill growth across the team.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Time-bound: By Week 11.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 - Daily life Examples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SMART KPIs - Daily life Examples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Personal fitness Plan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Study routine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Household chores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Savings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Sleep Hygine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Learning new language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etc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KPIs Connect DIKW &amp; Analytics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928370" y="1568450"/>
            <a:ext cx="1026096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691005"/>
            <a:ext cx="1079500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Data </a:t>
            </a:r>
            <a:r>
              <a:rPr lang="en-US" altLang="en-US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→</a:t>
            </a: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raw numbers (e.g., sales revenue, number of transactions)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Information </a:t>
            </a:r>
            <a:r>
              <a:rPr lang="en-US" altLang="en-US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→</a:t>
            </a: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contextualized metrics (e.g., revenue per customer)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KPIs </a:t>
            </a:r>
            <a:r>
              <a:rPr lang="en-US" altLang="en-US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→</a:t>
            </a: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selected metrics that track strategic goals (e.g., customer lifetime value, churn rate)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Insights </a:t>
            </a:r>
            <a:r>
              <a:rPr lang="en-US" altLang="en-US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→</a:t>
            </a:r>
            <a:r>
              <a:rPr lang="en-US" altLang="zh-CN" sz="2800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explain why KPIs are moving (e.g., high churn due to poor service)</a:t>
            </a:r>
            <a:endParaRPr lang="en-US" altLang="zh-CN" sz="2800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Types of Analytics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432517" y="2334114"/>
          <a:ext cx="7305822" cy="1317620"/>
        </p:xfrm>
        <a:graphic>
          <a:graphicData uri="http://schemas.openxmlformats.org/drawingml/2006/table">
            <a:tbl>
              <a:tblPr/>
              <a:tblGrid>
                <a:gridCol w="744959"/>
                <a:gridCol w="1345064"/>
                <a:gridCol w="942089"/>
                <a:gridCol w="4273710"/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-head)"/>
                        <a:ea typeface="var(--dsw-font-markdown-table-head)"/>
                      </a:endParaRPr>
                    </a:p>
                  </a:txBody>
                  <a:tcPr marL="0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-head)"/>
                        <a:ea typeface="var(--dsw-font-markdown-table-head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100" b="0" i="0" dirty="0">
                        <a:solidFill>
                          <a:srgbClr val="0F1115"/>
                        </a:solidFill>
                        <a:latin typeface="var(--dsw-font-markdown-table-head)"/>
                        <a:ea typeface="var(--dsw-font-markdown-table-head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100" b="0" i="0" dirty="0">
                        <a:solidFill>
                          <a:srgbClr val="0F1115"/>
                        </a:solidFill>
                        <a:latin typeface="var(--dsw-font-markdown-table-head)"/>
                        <a:ea typeface="var(--dsw-font-markdown-table-head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 dirty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 dirty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76517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 b="0" i="0" dirty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34831" y="1690688"/>
          <a:ext cx="9370647" cy="3010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7292"/>
                <a:gridCol w="3102708"/>
                <a:gridCol w="2054843"/>
                <a:gridCol w="2235804"/>
              </a:tblGrid>
              <a:tr h="1765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Type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-h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Question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-h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Importance/Value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-h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Complexity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-h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</a:tr>
              <a:tr h="3429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Descriptive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What happened?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Low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Low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</a:tr>
              <a:tr h="3429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Diagnostic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 dirty="0">
                          <a:effectLst/>
                        </a:rPr>
                        <a:t>Why did it happen?</a:t>
                      </a:r>
                      <a:endParaRPr lang="en-US" sz="2800" b="0" i="0" u="none" strike="noStrike" dirty="0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Medium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Medium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</a:tr>
              <a:tr h="3429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Predictive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What will happen?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 dirty="0">
                          <a:effectLst/>
                        </a:rPr>
                        <a:t>High</a:t>
                      </a:r>
                      <a:endParaRPr lang="en-US" sz="2800" b="0" i="0" u="none" strike="noStrike" dirty="0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High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</a:tr>
              <a:tr h="3479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Prescriptive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What should we do?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>
                          <a:effectLst/>
                        </a:rPr>
                        <a:t>Highest</a:t>
                      </a:r>
                      <a:endParaRPr lang="en-US" sz="2800" b="0" i="0" u="none" strike="noStrike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 dirty="0">
                          <a:effectLst/>
                        </a:rPr>
                        <a:t>Highest</a:t>
                      </a:r>
                      <a:endParaRPr lang="en-US" sz="2800" b="0" i="0" u="none" strike="noStrike" dirty="0">
                        <a:solidFill>
                          <a:srgbClr val="0F1115"/>
                        </a:solidFill>
                        <a:effectLst/>
                        <a:latin typeface="var(--dsw-font-markdown-table)"/>
                        <a:ea typeface="DengXian" panose="02010600030101010101" charset="-122"/>
                      </a:endParaRPr>
                    </a:p>
                  </a:txBody>
                  <a:tcPr marL="4763" marR="4763" marT="4763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9890" y="365125"/>
            <a:ext cx="5139690" cy="1325880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Types of Analytics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7078" y="74224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Descriptive Analytics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Focus: historical reporting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Techniques: aggregations, dashboards, data visualization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Example: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Monthly sales report showing total revenue, top products, regional breakdown.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7015" y="1951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Diagnostic Analytics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Focus: root cause analysis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Techniques: drill‑down, correlation, data mining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Example: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Sales dropped in Q3; drill‑down reveals a specific product category underperformed due to a supply shortage.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4308" y="368998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Predictive Analytics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Focus: forecasting future outcomes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Techniques: regression, classification, time series, machine learning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Example: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Predict which customers are likely to churn in the next month based on usage patterns.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360" y="4899660"/>
            <a:ext cx="698436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Prescriptive Analytics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Focus: recommending actions to achieve goals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Techniques: optimization, simulation, decision rules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Example: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Given a budget of $10,000 and predicted churn probabilities, determine which customers to target with retention offers to maximize retained customers.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Analytics Progression in Organizations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5655" y="3015892"/>
            <a:ext cx="74584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Most Organizations start with descriptive (80% of efforts)</a:t>
            </a:r>
            <a:endParaRPr lang="en-US" altLang="zh-CN" sz="24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Evolve to diagnostic and predictive as data matures</a:t>
            </a:r>
            <a:endParaRPr lang="en-US" altLang="zh-CN" sz="24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solidFill>
                  <a:srgbClr val="0F1115"/>
                </a:solidFill>
                <a:effectLst/>
                <a:latin typeface="quote-cjk-patch"/>
              </a:rPr>
              <a:t>Prescriptive requires advanced skills, but yields highest ROI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636059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4 Types of Data Analytics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36059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1) Descriptive analytics. </a:t>
            </a:r>
            <a:endParaRPr lang="en-US" dirty="0"/>
          </a:p>
          <a:p>
            <a:pPr lvl="1"/>
            <a:r>
              <a:rPr lang="en-US" dirty="0"/>
              <a:t>What is happened in the past or what is happening now (past)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2) Diagnostics Analytics</a:t>
            </a:r>
            <a:endParaRPr lang="en-US" dirty="0"/>
          </a:p>
          <a:p>
            <a:pPr lvl="1"/>
            <a:r>
              <a:rPr lang="en-US" dirty="0"/>
              <a:t>Why did it happen (present)</a:t>
            </a:r>
            <a:endParaRPr lang="en-US" sz="800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marL="0" indent="0">
              <a:buNone/>
            </a:pPr>
            <a:r>
              <a:rPr lang="en-US" dirty="0"/>
              <a:t>3) Predictive Analytics</a:t>
            </a:r>
            <a:endParaRPr lang="en-US" dirty="0"/>
          </a:p>
          <a:p>
            <a:pPr lvl="1"/>
            <a:r>
              <a:rPr lang="en-US" dirty="0">
                <a:solidFill>
                  <a:srgbClr val="000000"/>
                </a:solidFill>
                <a:latin typeface="source_sans_proregular"/>
              </a:rPr>
              <a:t>What is likely to happen (future)</a:t>
            </a:r>
            <a:endParaRPr lang="en-US" dirty="0">
              <a:solidFill>
                <a:srgbClr val="000000"/>
              </a:solidFill>
              <a:latin typeface="source_sans_proregular"/>
            </a:endParaRPr>
          </a:p>
          <a:p>
            <a:pPr marL="0" indent="0">
              <a:buNone/>
            </a:pPr>
            <a:r>
              <a:rPr lang="en-US" dirty="0"/>
              <a:t>4) Prescriptive Analytics</a:t>
            </a:r>
            <a:endParaRPr lang="en-US" dirty="0"/>
          </a:p>
          <a:p>
            <a:pPr lvl="1"/>
            <a:r>
              <a:rPr lang="en-US" dirty="0">
                <a:solidFill>
                  <a:srgbClr val="000000"/>
                </a:solidFill>
                <a:latin typeface="source_sans_proregular"/>
              </a:rPr>
              <a:t>What should we do (future)</a:t>
            </a:r>
            <a:endParaRPr lang="en-US" dirty="0">
              <a:solidFill>
                <a:srgbClr val="000000"/>
              </a:solidFill>
              <a:latin typeface="source_sans_proregular"/>
            </a:endParaRP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943" y="2976126"/>
            <a:ext cx="4740998" cy="32541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868" y="-2595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Descriptive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" y="1390685"/>
            <a:ext cx="6252927" cy="4673897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/>
              </a:rPr>
              <a:t>Most basic and most used method.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/>
              </a:rPr>
              <a:t>It concentrates on reporting actual results 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Open Sans" panose="020B0606030504020204"/>
              </a:rPr>
              <a:t>Change in profit margin from prior month</a:t>
            </a:r>
            <a:endParaRPr lang="en-US" dirty="0">
              <a:solidFill>
                <a:srgbClr val="000000"/>
              </a:solidFill>
              <a:latin typeface="Open Sans" panose="020B0606030504020204"/>
            </a:endParaRPr>
          </a:p>
          <a:p>
            <a:pPr lvl="1"/>
            <a:r>
              <a:rPr lang="en-US" dirty="0"/>
              <a:t>Mean, mode average  of data</a:t>
            </a:r>
            <a:endParaRPr lang="en-US" dirty="0"/>
          </a:p>
          <a:p>
            <a:pPr lvl="1"/>
            <a:r>
              <a:rPr lang="en-US" dirty="0"/>
              <a:t>Monthly sales report</a:t>
            </a:r>
            <a:endParaRPr lang="en-US" dirty="0"/>
          </a:p>
          <a:p>
            <a:r>
              <a:rPr lang="en-US" dirty="0"/>
              <a:t>Concerned with understanding what is happening by examining past data.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5944" y="1883541"/>
            <a:ext cx="5622768" cy="2915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91" y="-15997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math_proregular"/>
              </a:rPr>
              <a:t>Diagnostics Analytics</a:t>
            </a:r>
            <a:br>
              <a:rPr lang="en-US" b="1" i="0" dirty="0">
                <a:solidFill>
                  <a:srgbClr val="000000"/>
                </a:solidFill>
                <a:effectLst/>
                <a:latin typeface="math_proregular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math_proregular"/>
              </a:rPr>
              <a:t>Why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_sans_proregular"/>
              </a:rPr>
              <a:t> did it happen?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498" y="1165587"/>
            <a:ext cx="4343400" cy="4845571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Detect correlations and pattern of interest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used to understand </a:t>
            </a:r>
            <a:r>
              <a:rPr lang="en-US" b="0" i="1" dirty="0">
                <a:solidFill>
                  <a:srgbClr val="000000"/>
                </a:solidFill>
                <a:effectLst/>
                <a:latin typeface="source_sans_proregular"/>
              </a:rPr>
              <a:t>why</a:t>
            </a: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 something happened.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/>
              </a:rPr>
              <a:t> provides insight into the reason certain results occur 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/>
              </a:rPr>
              <a:t>	Why did the profit margin changed</a:t>
            </a:r>
            <a:endParaRPr lang="en-US" dirty="0">
              <a:solidFill>
                <a:srgbClr val="000000"/>
              </a:solidFill>
              <a:latin typeface="Open Sans" panose="020B0606030504020204"/>
            </a:endParaRPr>
          </a:p>
          <a:p>
            <a:pPr marL="457200" lvl="1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/>
              </a:rPr>
              <a:t>	Explain the reason for change in revenue</a:t>
            </a: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 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6666" y="1479838"/>
            <a:ext cx="6981825" cy="3676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0922"/>
            <a:ext cx="10515600" cy="1325563"/>
          </a:xfrm>
        </p:spPr>
        <p:txBody>
          <a:bodyPr/>
          <a:lstStyle/>
          <a:p>
            <a:pPr algn="ctr"/>
            <a:r>
              <a:rPr lang="en-US" b="1" i="0" dirty="0">
                <a:solidFill>
                  <a:srgbClr val="000000"/>
                </a:solidFill>
                <a:effectLst/>
                <a:latin typeface="math_proregular"/>
              </a:rPr>
              <a:t>Predictive Analytics</a:t>
            </a:r>
            <a:br>
              <a:rPr lang="en-US" b="1" i="0" dirty="0">
                <a:solidFill>
                  <a:srgbClr val="000000"/>
                </a:solidFill>
                <a:effectLst/>
                <a:latin typeface="math_proregular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math_proregular"/>
              </a:rPr>
              <a:t>What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_sans_proregular"/>
              </a:rPr>
              <a:t> is likely to happen?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068" y="1174641"/>
            <a:ext cx="5914932" cy="4846104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Descriptive + Diagnostics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Predictive analytics (also called data mining) attempts to determine </a:t>
            </a:r>
            <a:r>
              <a:rPr lang="en-US" b="1" i="0" dirty="0">
                <a:solidFill>
                  <a:srgbClr val="000000"/>
                </a:solidFill>
                <a:effectLst/>
                <a:latin typeface="math_proregular"/>
              </a:rPr>
              <a:t>what</a:t>
            </a: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 is likely to occur. 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source_sans_proregular"/>
              </a:rPr>
              <a:t>Identifies common attributes or patterns that may be used to identify similar activity</a:t>
            </a:r>
            <a:endParaRPr lang="en-US" dirty="0">
              <a:solidFill>
                <a:srgbClr val="000000"/>
              </a:solidFill>
              <a:latin typeface="source_sans_proregular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source_sans_proregular"/>
              </a:rPr>
              <a:t>	Predict COGS</a:t>
            </a:r>
            <a:endParaRPr lang="en-US" dirty="0">
              <a:solidFill>
                <a:srgbClr val="000000"/>
              </a:solidFill>
              <a:latin typeface="source_sans_proregular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source_sans_proregular"/>
              </a:rPr>
              <a:t>	Predict Raw material need</a:t>
            </a:r>
            <a:endParaRPr lang="en-US" dirty="0">
              <a:solidFill>
                <a:srgbClr val="000000"/>
              </a:solidFill>
              <a:latin typeface="source_sans_proregular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source_sans_proregular"/>
              </a:rPr>
              <a:t>R</a:t>
            </a: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elies on advanced statistical methods, such as regression, cluster analysis, and pattern matching.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/>
              </a:rPr>
              <a:t>Involves applying assumptions to data and predicting future results 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706106"/>
            <a:ext cx="5743575" cy="3667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i="0" dirty="0">
                <a:solidFill>
                  <a:srgbClr val="000000"/>
                </a:solidFill>
                <a:effectLst/>
                <a:latin typeface="math_proregular"/>
              </a:rPr>
              <a:t>Prescriptive Analytics</a:t>
            </a:r>
            <a:br>
              <a:rPr lang="en-US" b="1" i="0" dirty="0">
                <a:solidFill>
                  <a:srgbClr val="000000"/>
                </a:solidFill>
                <a:effectLst/>
                <a:latin typeface="math_proregular"/>
              </a:rPr>
            </a:br>
            <a:r>
              <a:rPr lang="en-US" sz="2200" b="1" i="0" dirty="0">
                <a:solidFill>
                  <a:srgbClr val="000000"/>
                </a:solidFill>
                <a:effectLst/>
                <a:latin typeface="math_proregular"/>
              </a:rPr>
              <a:t>How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source_sans_proregular"/>
              </a:rPr>
              <a:t> should we act?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351" y="1563074"/>
            <a:ext cx="6938726" cy="5009741"/>
          </a:xfrm>
        </p:spPr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Based on diagnostics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Recommends actions on previously observed actions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Open Sans" panose="020B0606030504020204"/>
              </a:rPr>
              <a:t>concentrates on what an organization needs to do in order for the predicted future results to actually occur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Prescriptive analytics applies 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advanced statistical methods 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machine learning and 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neural network analyses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Artificial Intelligence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For example, hotels set room prices using complex prescriptive models that consider hundreds of variables including  </a:t>
            </a:r>
            <a:r>
              <a:rPr lang="en-US" dirty="0">
                <a:solidFill>
                  <a:srgbClr val="000000"/>
                </a:solidFill>
                <a:latin typeface="source_sans_proregular"/>
              </a:rPr>
              <a:t>days, weekend, holidays, </a:t>
            </a:r>
            <a:r>
              <a:rPr lang="en-US" b="0" i="0" dirty="0">
                <a:solidFill>
                  <a:srgbClr val="000000"/>
                </a:solidFill>
                <a:effectLst/>
                <a:latin typeface="source_sans_proregular"/>
              </a:rPr>
              <a:t> competition, amenities, customer rating, taxes, activities in the area, number of site visitation, number of click to check prices etc.</a:t>
            </a:r>
            <a:endParaRPr lang="en-US" b="0" i="0" dirty="0">
              <a:solidFill>
                <a:srgbClr val="000000"/>
              </a:solidFill>
              <a:effectLst/>
              <a:latin typeface="source_sans_proregular"/>
            </a:endParaRPr>
          </a:p>
          <a:p>
            <a:pPr algn="l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source_sans_proregular"/>
              </a:rPr>
              <a:t>Used by top executive or advanced analysts.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593" y="1690688"/>
            <a:ext cx="4262388" cy="3703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12995</Words>
  <Application>WPS 演示</Application>
  <PresentationFormat>Widescreen</PresentationFormat>
  <Paragraphs>422</Paragraphs>
  <Slides>43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4" baseType="lpstr">
      <vt:lpstr>Arial</vt:lpstr>
      <vt:lpstr>SimSun</vt:lpstr>
      <vt:lpstr>Wingdings</vt:lpstr>
      <vt:lpstr>Avenir Next W05</vt:lpstr>
      <vt:lpstr>Segoe Print</vt:lpstr>
      <vt:lpstr>Consolas</vt:lpstr>
      <vt:lpstr>DengXian Light</vt:lpstr>
      <vt:lpstr>DengXian</vt:lpstr>
      <vt:lpstr>Microsoft YaHei</vt:lpstr>
      <vt:lpstr>Arial Unicode MS</vt:lpstr>
      <vt:lpstr>Arial MT</vt:lpstr>
      <vt:lpstr>quote-cjk-patch</vt:lpstr>
      <vt:lpstr>Times New Roman</vt:lpstr>
      <vt:lpstr>Arial</vt:lpstr>
      <vt:lpstr>var(--dsw-font-markdown-table-head)</vt:lpstr>
      <vt:lpstr>var(--dsw-font-markdown-table)</vt:lpstr>
      <vt:lpstr>Var(--dsw-font-markdown-table-h</vt:lpstr>
      <vt:lpstr>source_sans_proregular</vt:lpstr>
      <vt:lpstr>Open Sans</vt:lpstr>
      <vt:lpstr>math_proregular</vt:lpstr>
      <vt:lpstr>Office Theme</vt:lpstr>
      <vt:lpstr>Big Data Fundamentals</vt:lpstr>
      <vt:lpstr>Outline</vt:lpstr>
      <vt:lpstr>The V’s</vt:lpstr>
      <vt:lpstr>The V’s</vt:lpstr>
      <vt:lpstr>The DIKW Pyramid</vt:lpstr>
      <vt:lpstr>D</vt:lpstr>
      <vt:lpstr>I</vt:lpstr>
      <vt:lpstr>K</vt:lpstr>
      <vt:lpstr>W</vt:lpstr>
      <vt:lpstr>The DIKW Pyramid</vt:lpstr>
      <vt:lpstr>The DIKW Pyramid</vt:lpstr>
      <vt:lpstr>The DIKW Pyramid</vt:lpstr>
      <vt:lpstr>The DIKW Pyramid- Virtuous Cycle with Feedback Loop</vt:lpstr>
      <vt:lpstr>Putting Earlier three pyramids together</vt:lpstr>
      <vt:lpstr>Putting Earlier three pyramids together</vt:lpstr>
      <vt:lpstr>Big Data Challenges - Slide#18 and onwards</vt:lpstr>
      <vt:lpstr>Week#4 24 March 2026</vt:lpstr>
      <vt:lpstr>Outline</vt:lpstr>
      <vt:lpstr>Healthcare – Patient Readmission</vt:lpstr>
      <vt:lpstr>Finance – Credit Card Fraud</vt:lpstr>
      <vt:lpstr>Agriculture – Crop Yield Optimization</vt:lpstr>
      <vt:lpstr>What is an Insights </vt:lpstr>
      <vt:lpstr>What is an Insights</vt:lpstr>
      <vt:lpstr>Valuable vs. Trivial Insights</vt:lpstr>
      <vt:lpstr>The Insight Extraction Process</vt:lpstr>
      <vt:lpstr>Key Performance Indicators</vt:lpstr>
      <vt:lpstr>SMART KPIs</vt:lpstr>
      <vt:lpstr>SMART KPIs</vt:lpstr>
      <vt:lpstr>SMART KPIs</vt:lpstr>
      <vt:lpstr>SMART KPIs</vt:lpstr>
      <vt:lpstr>SMART KPIs</vt:lpstr>
      <vt:lpstr>SMART KPIs</vt:lpstr>
      <vt:lpstr>SMART KPIs - Daily life Examples</vt:lpstr>
      <vt:lpstr>SMART KPIs - Daily life Examples</vt:lpstr>
      <vt:lpstr>KPIs Connect DIKW &amp; Analytics</vt:lpstr>
      <vt:lpstr>Types of Analytics</vt:lpstr>
      <vt:lpstr>Types of Analytics</vt:lpstr>
      <vt:lpstr>Analytics Progression in Organizations</vt:lpstr>
      <vt:lpstr>PowerPoint 演示文稿</vt:lpstr>
      <vt:lpstr>Descriptive analytics</vt:lpstr>
      <vt:lpstr>Diagnostics Analytics Why did it happen?</vt:lpstr>
      <vt:lpstr>Predictive Analytics What is likely to happen?</vt:lpstr>
      <vt:lpstr>Prescriptive Analytics How should we act?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awais ahmed</dc:creator>
  <cp:lastModifiedBy>WPS_1671077781</cp:lastModifiedBy>
  <cp:revision>85</cp:revision>
  <dcterms:created xsi:type="dcterms:W3CDTF">2026-03-17T00:49:00Z</dcterms:created>
  <dcterms:modified xsi:type="dcterms:W3CDTF">2026-03-26T14:30:24Z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A904E631D1C34806BD7DACC61276EBCF_12</vt:lpwstr>
  </property>
  <property fmtid="{D5CDD505-2E9C-101B-9397-08002B2CF9AE}" pid="3" name="KSOProductBuildVer">
    <vt:lpwstr>2052-12.1.0.25225</vt:lpwstr>
  </property>
</Properties>
</file>