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97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98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1455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1455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225890" y="362546"/>
            <a:ext cx="1740220" cy="97887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1395802"/>
            <a:ext cx="9753600" cy="114201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2754845"/>
            <a:ext cx="5283200" cy="1455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2754845"/>
            <a:ext cx="5283200" cy="1455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https://blog.datamaster.hr/disk-failure-probability/#:~:text=Introduction,will%20fail%20within%20one%20year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The probability of exactly one disk failing out of  is approximately 0.0436, while the probability of at least one disk failing is virtually certain at 99.996 or 1 in 2293.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47819" y="386183"/>
            <a:ext cx="848360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1">
                <a:solidFill>
                  <a:schemeClr val="tx1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7922" y="60746"/>
            <a:ext cx="7328154" cy="914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094" y="1476986"/>
            <a:ext cx="8193405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oreilly.com/ideas/what-is-big-data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domo.com/blog/data-never-sleeps-5/" TargetMode="Externa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domo.com/blog/data-never-sleeps-5/" TargetMode="Externa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domo.com/blog/data-never-sleeps-5/" TargetMode="Externa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domo.com/blog/data-never-sleeps-5/" TargetMode="Externa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://www.domo.com/blog/data-never-sleeps-5/" TargetMode="Externa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hyperlink" Target="https://en.wikipedia.org/wiki/Query_language" TargetMode="External"/><Relationship Id="rId8" Type="http://schemas.openxmlformats.org/officeDocument/2006/relationships/hyperlink" Target="https://en.wikipedia.org/wiki/Data_visualization" TargetMode="External"/><Relationship Id="rId7" Type="http://schemas.openxmlformats.org/officeDocument/2006/relationships/hyperlink" Target="https://en.wikipedia.org/wiki/Data_transmission" TargetMode="External"/><Relationship Id="rId6" Type="http://schemas.openxmlformats.org/officeDocument/2006/relationships/hyperlink" Target="https://en.wikipedia.org/wiki/Computer_data_storage" TargetMode="External"/><Relationship Id="rId5" Type="http://schemas.openxmlformats.org/officeDocument/2006/relationships/hyperlink" Target="https://en.wikipedia.org/wiki/Data_sharing" TargetMode="External"/><Relationship Id="rId4" Type="http://schemas.openxmlformats.org/officeDocument/2006/relationships/hyperlink" Target="https://en.wikipedia.org/wiki/Data_curation" TargetMode="External"/><Relationship Id="rId3" Type="http://schemas.openxmlformats.org/officeDocument/2006/relationships/hyperlink" Target="https://en.wikipedia.org/wiki/Data_analysis" TargetMode="External"/><Relationship Id="rId2" Type="http://schemas.openxmlformats.org/officeDocument/2006/relationships/hyperlink" Target="https://en.wikipedia.org/wiki/Data_processing" TargetMode="External"/><Relationship Id="rId12" Type="http://schemas.openxmlformats.org/officeDocument/2006/relationships/slideLayout" Target="../slideLayouts/slideLayout2.xml"/><Relationship Id="rId11" Type="http://schemas.openxmlformats.org/officeDocument/2006/relationships/hyperlink" Target="https://en.wikipedia.org/wiki/Predictive_analytics" TargetMode="External"/><Relationship Id="rId10" Type="http://schemas.openxmlformats.org/officeDocument/2006/relationships/hyperlink" Target="https://en.wikipedia.org/wiki/Information_privacy" TargetMode="External"/><Relationship Id="rId1" Type="http://schemas.openxmlformats.org/officeDocument/2006/relationships/hyperlink" Target="https://en.wikipedia.org/wiki/Data_set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://analytics-magazine.org/how-big-data-is-changing-the-oil-a-gas-industry/" TargetMode="Externa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://www.forbes.com/sites/amitchowdhry/2016/05/25/uber-low-battery/#19762c0474b3" TargetMode="Externa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hyperlink" Target="http://www.slideshare.net/BernardMarr/140228-big-data-volume-velocity-variety-varacity-value" TargetMode="External"/><Relationship Id="rId8" Type="http://schemas.openxmlformats.org/officeDocument/2006/relationships/hyperlink" Target="https://www-01.ibm.com/software/data/bigdata/use-cases.html" TargetMode="External"/><Relationship Id="rId7" Type="http://schemas.openxmlformats.org/officeDocument/2006/relationships/hyperlink" Target="https://www.qubole.com/resources/solution/best-use-cases-for-big-data-analytics/?nabe=5695374637924352%3A1" TargetMode="External"/><Relationship Id="rId6" Type="http://schemas.openxmlformats.org/officeDocument/2006/relationships/hyperlink" Target="http://www.informationweek.com/big-data/big-data-analytics/5-big-data-use-cases-to-watch/d/d-id/1251031" TargetMode="External"/><Relationship Id="rId5" Type="http://schemas.openxmlformats.org/officeDocument/2006/relationships/hyperlink" Target="http://www.forbes.com/sites/amitchowdhry/2016/05/25/uber-low-battery/#4f1281466f1d" TargetMode="External"/><Relationship Id="rId4" Type="http://schemas.openxmlformats.org/officeDocument/2006/relationships/hyperlink" Target="https://www.oreilly.com/ideas/what-is-big-data" TargetMode="External"/><Relationship Id="rId3" Type="http://schemas.openxmlformats.org/officeDocument/2006/relationships/hyperlink" Target="https://opensource.com/resources/big-data" TargetMode="External"/><Relationship Id="rId2" Type="http://schemas.openxmlformats.org/officeDocument/2006/relationships/hyperlink" Target="http://insidebigdata.com/2013/09/12/beyond-volume-variety-velocity-issue-big-data-veracity/" TargetMode="External"/><Relationship Id="rId12" Type="http://schemas.openxmlformats.org/officeDocument/2006/relationships/slideLayout" Target="../slideLayouts/slideLayout2.xml"/><Relationship Id="rId11" Type="http://schemas.openxmlformats.org/officeDocument/2006/relationships/hyperlink" Target="https://www.youtube.com/watch?v=zDAYZU4A3w0" TargetMode="External"/><Relationship Id="rId10" Type="http://schemas.openxmlformats.org/officeDocument/2006/relationships/hyperlink" Target="http://www.kdnuggets.com/2015/01/top-slideshare-presentations-big-data-updated.html" TargetMode="External"/><Relationship Id="rId1" Type="http://schemas.openxmlformats.org/officeDocument/2006/relationships/hyperlink" Target="https://www.linkedin.com/pulse/brief-history-big-data-everyone-should-read-bernard-marr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hadoop.apache.org/" TargetMode="Externa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-24765" y="136704"/>
            <a:ext cx="9143631" cy="45691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819" y="3540863"/>
            <a:ext cx="5586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 panose="020F0502020204030204"/>
                <a:cs typeface="Calibri" panose="020F0502020204030204"/>
              </a:rPr>
              <a:t>Introduction</a:t>
            </a:r>
            <a:r>
              <a:rPr sz="4400" b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latin typeface="Calibri" panose="020F0502020204030204"/>
                <a:cs typeface="Calibri" panose="020F0502020204030204"/>
              </a:rPr>
              <a:t>to</a:t>
            </a:r>
            <a:r>
              <a:rPr sz="4400" b="1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4400" b="1" dirty="0">
                <a:latin typeface="Calibri" panose="020F0502020204030204"/>
                <a:cs typeface="Calibri" panose="020F0502020204030204"/>
              </a:rPr>
              <a:t>Big</a:t>
            </a:r>
            <a:r>
              <a:rPr sz="4400" b="1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400" b="1" spc="-20" dirty="0">
                <a:latin typeface="Calibri" panose="020F0502020204030204"/>
                <a:cs typeface="Calibri" panose="020F0502020204030204"/>
              </a:rPr>
              <a:t>Data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4420" y="976501"/>
            <a:ext cx="8255000" cy="3736975"/>
            <a:chOff x="444420" y="976501"/>
            <a:chExt cx="8255000" cy="3736975"/>
          </a:xfrm>
        </p:grpSpPr>
        <p:sp>
          <p:nvSpPr>
            <p:cNvPr id="3" name="object 3"/>
            <p:cNvSpPr/>
            <p:nvPr/>
          </p:nvSpPr>
          <p:spPr>
            <a:xfrm>
              <a:off x="457200" y="1012318"/>
              <a:ext cx="8228965" cy="3688079"/>
            </a:xfrm>
            <a:custGeom>
              <a:avLst/>
              <a:gdLst/>
              <a:ahLst/>
              <a:cxnLst/>
              <a:rect l="l" t="t" r="r" b="b"/>
              <a:pathLst>
                <a:path w="8228965" h="3688079">
                  <a:moveTo>
                    <a:pt x="8228876" y="0"/>
                  </a:moveTo>
                  <a:lnTo>
                    <a:pt x="0" y="0"/>
                  </a:lnTo>
                  <a:lnTo>
                    <a:pt x="0" y="3687838"/>
                  </a:lnTo>
                  <a:lnTo>
                    <a:pt x="4114444" y="3687838"/>
                  </a:lnTo>
                  <a:lnTo>
                    <a:pt x="8228876" y="3687838"/>
                  </a:lnTo>
                  <a:lnTo>
                    <a:pt x="8228876" y="0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57200" y="1012318"/>
              <a:ext cx="8228965" cy="3688079"/>
            </a:xfrm>
            <a:custGeom>
              <a:avLst/>
              <a:gdLst/>
              <a:ahLst/>
              <a:cxnLst/>
              <a:rect l="l" t="t" r="r" b="b"/>
              <a:pathLst>
                <a:path w="8228965" h="3688079">
                  <a:moveTo>
                    <a:pt x="4114444" y="3687838"/>
                  </a:moveTo>
                  <a:lnTo>
                    <a:pt x="0" y="3687838"/>
                  </a:lnTo>
                  <a:lnTo>
                    <a:pt x="0" y="0"/>
                  </a:lnTo>
                  <a:lnTo>
                    <a:pt x="8228876" y="0"/>
                  </a:lnTo>
                  <a:lnTo>
                    <a:pt x="8228876" y="3687838"/>
                  </a:lnTo>
                  <a:lnTo>
                    <a:pt x="4114444" y="3687838"/>
                  </a:lnTo>
                  <a:close/>
                </a:path>
              </a:pathLst>
            </a:custGeom>
            <a:ln w="25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989281"/>
              <a:ext cx="8228965" cy="3688079"/>
            </a:xfrm>
            <a:custGeom>
              <a:avLst/>
              <a:gdLst/>
              <a:ahLst/>
              <a:cxnLst/>
              <a:rect l="l" t="t" r="r" b="b"/>
              <a:pathLst>
                <a:path w="8228965" h="3688079">
                  <a:moveTo>
                    <a:pt x="8228876" y="0"/>
                  </a:moveTo>
                  <a:lnTo>
                    <a:pt x="0" y="0"/>
                  </a:lnTo>
                  <a:lnTo>
                    <a:pt x="0" y="3687838"/>
                  </a:lnTo>
                  <a:lnTo>
                    <a:pt x="4114444" y="3687838"/>
                  </a:lnTo>
                  <a:lnTo>
                    <a:pt x="8228876" y="3687838"/>
                  </a:lnTo>
                  <a:lnTo>
                    <a:pt x="8228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989281"/>
              <a:ext cx="8228965" cy="3688079"/>
            </a:xfrm>
            <a:custGeom>
              <a:avLst/>
              <a:gdLst/>
              <a:ahLst/>
              <a:cxnLst/>
              <a:rect l="l" t="t" r="r" b="b"/>
              <a:pathLst>
                <a:path w="8228965" h="3688079">
                  <a:moveTo>
                    <a:pt x="4114444" y="3687838"/>
                  </a:moveTo>
                  <a:lnTo>
                    <a:pt x="0" y="3687838"/>
                  </a:lnTo>
                  <a:lnTo>
                    <a:pt x="0" y="0"/>
                  </a:lnTo>
                  <a:lnTo>
                    <a:pt x="8228876" y="0"/>
                  </a:lnTo>
                  <a:lnTo>
                    <a:pt x="8228876" y="3687838"/>
                  </a:lnTo>
                  <a:lnTo>
                    <a:pt x="4114444" y="3687838"/>
                  </a:lnTo>
                  <a:close/>
                </a:path>
              </a:pathLst>
            </a:custGeom>
            <a:ln w="2555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74103" y="1221742"/>
            <a:ext cx="7905750" cy="322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1910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431165" algn="l"/>
              </a:tabLst>
            </a:pPr>
            <a:r>
              <a:rPr sz="3000" dirty="0">
                <a:latin typeface="Arial MT"/>
                <a:cs typeface="Arial MT"/>
              </a:rPr>
              <a:t>Big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data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data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that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exceeds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processing </a:t>
            </a:r>
            <a:r>
              <a:rPr sz="3000" dirty="0">
                <a:latin typeface="Arial MT"/>
                <a:cs typeface="Arial MT"/>
              </a:rPr>
              <a:t>capacity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conventional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database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systems.</a:t>
            </a:r>
            <a:endParaRPr sz="3000">
              <a:latin typeface="Arial MT"/>
              <a:cs typeface="Arial MT"/>
            </a:endParaRPr>
          </a:p>
          <a:p>
            <a:pPr marL="431165" marR="492760" indent="-419100">
              <a:lnSpc>
                <a:spcPts val="3600"/>
              </a:lnSpc>
              <a:spcBef>
                <a:spcPts val="110"/>
              </a:spcBef>
              <a:buChar char="●"/>
              <a:tabLst>
                <a:tab pos="431165" algn="l"/>
              </a:tabLst>
            </a:pP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data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too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big,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moves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too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fast,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or </a:t>
            </a:r>
            <a:r>
              <a:rPr sz="3000" dirty="0">
                <a:latin typeface="Arial MT"/>
                <a:cs typeface="Arial MT"/>
              </a:rPr>
              <a:t>doesn’t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fit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structures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your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database architectures.</a:t>
            </a:r>
            <a:endParaRPr sz="3000">
              <a:latin typeface="Arial MT"/>
              <a:cs typeface="Arial MT"/>
            </a:endParaRPr>
          </a:p>
          <a:p>
            <a:pPr marL="431165" indent="-418465">
              <a:lnSpc>
                <a:spcPts val="3470"/>
              </a:lnSpc>
              <a:buChar char="●"/>
              <a:tabLst>
                <a:tab pos="431165" algn="l"/>
              </a:tabLst>
            </a:pPr>
            <a:r>
              <a:rPr sz="3000" spc="-155" dirty="0">
                <a:latin typeface="Arial MT"/>
                <a:cs typeface="Arial MT"/>
              </a:rPr>
              <a:t>To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gain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this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data,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you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must</a:t>
            </a:r>
            <a:endParaRPr sz="3000">
              <a:latin typeface="Arial MT"/>
              <a:cs typeface="Arial MT"/>
            </a:endParaRPr>
          </a:p>
          <a:p>
            <a:pPr marL="431165">
              <a:lnSpc>
                <a:spcPct val="100000"/>
              </a:lnSpc>
            </a:pPr>
            <a:r>
              <a:rPr sz="3000" dirty="0">
                <a:latin typeface="Arial MT"/>
                <a:cs typeface="Arial MT"/>
              </a:rPr>
              <a:t>choose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alternative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way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process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it.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6696" y="4845141"/>
            <a:ext cx="25704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https://</a:t>
            </a:r>
            <a:r>
              <a:rPr sz="1000" spc="-10" dirty="0">
                <a:latin typeface="Arial MT"/>
                <a:cs typeface="Arial MT"/>
                <a:hlinkClick r:id="rId1"/>
              </a:rPr>
              <a:t>www.oreilly.com/ideas/what-is-big-</a:t>
            </a:r>
            <a:r>
              <a:rPr sz="1000" spc="-20" dirty="0">
                <a:latin typeface="Arial MT"/>
                <a:cs typeface="Arial MT"/>
                <a:hlinkClick r:id="rId1"/>
              </a:rPr>
              <a:t>data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5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What</a:t>
            </a:r>
            <a:r>
              <a:rPr sz="2800" spc="-35" dirty="0"/>
              <a:t> </a:t>
            </a:r>
            <a:r>
              <a:rPr sz="2800" dirty="0"/>
              <a:t>is</a:t>
            </a:r>
            <a:r>
              <a:rPr sz="2800" spc="-40" dirty="0"/>
              <a:t> </a:t>
            </a:r>
            <a:r>
              <a:rPr sz="2800" dirty="0"/>
              <a:t>Big</a:t>
            </a:r>
            <a:r>
              <a:rPr sz="2800" spc="-35" dirty="0"/>
              <a:t> </a:t>
            </a:r>
            <a:r>
              <a:rPr sz="2800" spc="-20" dirty="0"/>
              <a:t>Data?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7779" y="386183"/>
            <a:ext cx="14890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Definition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094" y="961455"/>
            <a:ext cx="8194040" cy="3707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i="1" dirty="0">
                <a:latin typeface="Georgia" panose="02040502050405020303"/>
                <a:cs typeface="Georgia" panose="02040502050405020303"/>
              </a:rPr>
              <a:t>“Big</a:t>
            </a:r>
            <a:r>
              <a:rPr sz="2500" i="1" spc="-6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data”</a:t>
            </a:r>
            <a:r>
              <a:rPr sz="2500" i="1" spc="-55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25" dirty="0">
                <a:latin typeface="Georgia" panose="02040502050405020303"/>
                <a:cs typeface="Georgia" panose="02040502050405020303"/>
              </a:rPr>
              <a:t>is</a:t>
            </a:r>
            <a:endParaRPr sz="2500">
              <a:latin typeface="Georgia" panose="02040502050405020303"/>
              <a:cs typeface="Georgia" panose="02040502050405020303"/>
            </a:endParaRPr>
          </a:p>
          <a:p>
            <a:pPr marL="12700" marR="887730" indent="457200">
              <a:lnSpc>
                <a:spcPts val="2990"/>
              </a:lnSpc>
              <a:spcBef>
                <a:spcPts val="2105"/>
              </a:spcBef>
            </a:pPr>
            <a:r>
              <a:rPr sz="2500" i="1" spc="-25" dirty="0">
                <a:latin typeface="Georgia" panose="02040502050405020303"/>
                <a:cs typeface="Georgia" panose="02040502050405020303"/>
              </a:rPr>
              <a:t>high-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volume,</a:t>
            </a:r>
            <a:r>
              <a:rPr sz="2500" i="1" spc="-6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10" dirty="0">
                <a:latin typeface="Georgia" panose="02040502050405020303"/>
                <a:cs typeface="Georgia" panose="02040502050405020303"/>
              </a:rPr>
              <a:t>-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velocity</a:t>
            </a:r>
            <a:r>
              <a:rPr sz="2500" i="1" spc="-6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and</a:t>
            </a:r>
            <a:r>
              <a:rPr sz="2500" i="1" spc="-45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25" dirty="0">
                <a:latin typeface="Georgia" panose="02040502050405020303"/>
                <a:cs typeface="Georgia" panose="02040502050405020303"/>
              </a:rPr>
              <a:t>-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variety</a:t>
            </a:r>
            <a:r>
              <a:rPr sz="2500" i="1" spc="-6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10" dirty="0">
                <a:latin typeface="Georgia" panose="02040502050405020303"/>
                <a:cs typeface="Georgia" panose="02040502050405020303"/>
              </a:rPr>
              <a:t>information assets</a:t>
            </a:r>
            <a:endParaRPr sz="2500">
              <a:latin typeface="Georgia" panose="02040502050405020303"/>
              <a:cs typeface="Georgia" panose="02040502050405020303"/>
            </a:endParaRPr>
          </a:p>
          <a:p>
            <a:pPr marL="12700" marR="1031875" indent="457200">
              <a:lnSpc>
                <a:spcPct val="100000"/>
              </a:lnSpc>
              <a:spcBef>
                <a:spcPts val="1900"/>
              </a:spcBef>
            </a:pPr>
            <a:r>
              <a:rPr sz="2500" i="1" dirty="0">
                <a:latin typeface="Georgia" panose="02040502050405020303"/>
                <a:cs typeface="Georgia" panose="02040502050405020303"/>
              </a:rPr>
              <a:t>that</a:t>
            </a:r>
            <a:r>
              <a:rPr sz="2500" i="1" spc="-9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demand</a:t>
            </a:r>
            <a:r>
              <a:rPr sz="2500" i="1" spc="-85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10" dirty="0">
                <a:latin typeface="Georgia" panose="02040502050405020303"/>
                <a:cs typeface="Georgia" panose="02040502050405020303"/>
              </a:rPr>
              <a:t>cost-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effective,</a:t>
            </a:r>
            <a:r>
              <a:rPr sz="2500" i="1" spc="-9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innovative</a:t>
            </a:r>
            <a:r>
              <a:rPr sz="2500" i="1" spc="-85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forms</a:t>
            </a:r>
            <a:r>
              <a:rPr sz="2500" i="1" spc="-85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25" dirty="0">
                <a:latin typeface="Georgia" panose="02040502050405020303"/>
                <a:cs typeface="Georgia" panose="02040502050405020303"/>
              </a:rPr>
              <a:t>of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information</a:t>
            </a:r>
            <a:r>
              <a:rPr sz="2500" i="1" spc="-14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10" dirty="0">
                <a:latin typeface="Georgia" panose="02040502050405020303"/>
                <a:cs typeface="Georgia" panose="02040502050405020303"/>
              </a:rPr>
              <a:t>processing</a:t>
            </a:r>
            <a:endParaRPr sz="2500">
              <a:latin typeface="Georgia" panose="02040502050405020303"/>
              <a:cs typeface="Georgia" panose="02040502050405020303"/>
            </a:endParaRPr>
          </a:p>
          <a:p>
            <a:pPr marL="469900">
              <a:lnSpc>
                <a:spcPct val="100000"/>
              </a:lnSpc>
              <a:spcBef>
                <a:spcPts val="2005"/>
              </a:spcBef>
            </a:pPr>
            <a:r>
              <a:rPr sz="2500" i="1" dirty="0">
                <a:latin typeface="Georgia" panose="02040502050405020303"/>
                <a:cs typeface="Georgia" panose="02040502050405020303"/>
              </a:rPr>
              <a:t>for</a:t>
            </a:r>
            <a:r>
              <a:rPr sz="2500" i="1" spc="-7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enhanced</a:t>
            </a:r>
            <a:r>
              <a:rPr sz="2500" i="1" spc="-6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insight</a:t>
            </a:r>
            <a:r>
              <a:rPr sz="2500" i="1" spc="-7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and</a:t>
            </a:r>
            <a:r>
              <a:rPr sz="2500" i="1" spc="-60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dirty="0">
                <a:latin typeface="Georgia" panose="02040502050405020303"/>
                <a:cs typeface="Georgia" panose="02040502050405020303"/>
              </a:rPr>
              <a:t>decision</a:t>
            </a:r>
            <a:r>
              <a:rPr sz="2500" i="1" spc="-65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10" dirty="0">
                <a:latin typeface="Georgia" panose="02040502050405020303"/>
                <a:cs typeface="Georgia" panose="02040502050405020303"/>
              </a:rPr>
              <a:t>making</a:t>
            </a:r>
            <a:endParaRPr sz="2500">
              <a:latin typeface="Georgia" panose="02040502050405020303"/>
              <a:cs typeface="Georgia" panose="02040502050405020303"/>
            </a:endParaRPr>
          </a:p>
          <a:p>
            <a:pPr marR="5080" algn="r">
              <a:lnSpc>
                <a:spcPct val="100000"/>
              </a:lnSpc>
              <a:spcBef>
                <a:spcPts val="1995"/>
              </a:spcBef>
            </a:pPr>
            <a:r>
              <a:rPr sz="2500" i="1" dirty="0">
                <a:latin typeface="Georgia" panose="02040502050405020303"/>
                <a:cs typeface="Georgia" panose="02040502050405020303"/>
              </a:rPr>
              <a:t>By</a:t>
            </a:r>
            <a:r>
              <a:rPr sz="2500" i="1" spc="-55" dirty="0">
                <a:latin typeface="Georgia" panose="02040502050405020303"/>
                <a:cs typeface="Georgia" panose="02040502050405020303"/>
              </a:rPr>
              <a:t> </a:t>
            </a:r>
            <a:r>
              <a:rPr sz="2500" i="1" spc="-10" dirty="0">
                <a:latin typeface="Georgia" panose="02040502050405020303"/>
                <a:cs typeface="Georgia" panose="02040502050405020303"/>
              </a:rPr>
              <a:t>Gartner</a:t>
            </a:r>
            <a:endParaRPr sz="25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137" rIns="0" bIns="0" rtlCol="0">
            <a:spAutoFit/>
          </a:bodyPr>
          <a:lstStyle/>
          <a:p>
            <a:pPr marL="293243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Definition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“Big</a:t>
            </a:r>
            <a:r>
              <a:rPr spc="-30" dirty="0"/>
              <a:t> </a:t>
            </a:r>
            <a:r>
              <a:rPr dirty="0"/>
              <a:t>data”</a:t>
            </a:r>
            <a:r>
              <a:rPr spc="-30" dirty="0"/>
              <a:t> </a:t>
            </a:r>
            <a:r>
              <a:rPr spc="-25" dirty="0"/>
              <a:t>is</a:t>
            </a:r>
            <a:endParaRPr spc="-25" dirty="0"/>
          </a:p>
          <a:p>
            <a:pPr>
              <a:lnSpc>
                <a:spcPct val="100000"/>
              </a:lnSpc>
              <a:spcBef>
                <a:spcPts val="110"/>
              </a:spcBef>
            </a:p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pc="-10" dirty="0">
                <a:solidFill>
                  <a:srgbClr val="FF2500"/>
                </a:solidFill>
              </a:rPr>
              <a:t>high-</a:t>
            </a:r>
            <a:r>
              <a:rPr dirty="0">
                <a:solidFill>
                  <a:srgbClr val="FF2500"/>
                </a:solidFill>
              </a:rPr>
              <a:t>volume,</a:t>
            </a:r>
            <a:r>
              <a:rPr spc="-50" dirty="0">
                <a:solidFill>
                  <a:srgbClr val="FF2500"/>
                </a:solidFill>
              </a:rPr>
              <a:t> </a:t>
            </a:r>
            <a:r>
              <a:rPr spc="-20" dirty="0">
                <a:solidFill>
                  <a:srgbClr val="FF2500"/>
                </a:solidFill>
              </a:rPr>
              <a:t>-</a:t>
            </a:r>
            <a:r>
              <a:rPr dirty="0">
                <a:solidFill>
                  <a:srgbClr val="FF2500"/>
                </a:solidFill>
              </a:rPr>
              <a:t>velocity</a:t>
            </a:r>
            <a:r>
              <a:rPr spc="-40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and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spc="-10" dirty="0">
                <a:solidFill>
                  <a:srgbClr val="FF2500"/>
                </a:solidFill>
              </a:rPr>
              <a:t>-</a:t>
            </a:r>
            <a:r>
              <a:rPr dirty="0">
                <a:solidFill>
                  <a:srgbClr val="FF2500"/>
                </a:solidFill>
              </a:rPr>
              <a:t>variety</a:t>
            </a:r>
            <a:r>
              <a:rPr spc="-40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information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spc="-10" dirty="0">
                <a:solidFill>
                  <a:srgbClr val="FF2500"/>
                </a:solidFill>
              </a:rPr>
              <a:t>assets</a:t>
            </a:r>
            <a:endParaRPr spc="-10" dirty="0">
              <a:solidFill>
                <a:srgbClr val="FF2500"/>
              </a:solidFill>
            </a:endParaRPr>
          </a:p>
          <a:p>
            <a:pPr marL="469900" marR="441960">
              <a:lnSpc>
                <a:spcPct val="200000"/>
              </a:lnSpc>
            </a:pP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demand</a:t>
            </a:r>
            <a:r>
              <a:rPr spc="-50" dirty="0"/>
              <a:t> </a:t>
            </a:r>
            <a:r>
              <a:rPr spc="-10" dirty="0"/>
              <a:t>cost-</a:t>
            </a:r>
            <a:r>
              <a:rPr dirty="0"/>
              <a:t>effective,</a:t>
            </a:r>
            <a:r>
              <a:rPr spc="-45" dirty="0"/>
              <a:t> </a:t>
            </a:r>
            <a:r>
              <a:rPr dirty="0"/>
              <a:t>innovative</a:t>
            </a:r>
            <a:r>
              <a:rPr spc="-45" dirty="0"/>
              <a:t> </a:t>
            </a:r>
            <a:r>
              <a:rPr dirty="0"/>
              <a:t>forms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information</a:t>
            </a:r>
            <a:r>
              <a:rPr spc="-50" dirty="0"/>
              <a:t> </a:t>
            </a:r>
            <a:r>
              <a:rPr spc="-10" dirty="0"/>
              <a:t>processing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enhanced</a:t>
            </a:r>
            <a:r>
              <a:rPr spc="-50" dirty="0"/>
              <a:t> </a:t>
            </a:r>
            <a:r>
              <a:rPr dirty="0"/>
              <a:t>insight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decision</a:t>
            </a:r>
            <a:r>
              <a:rPr spc="-50" dirty="0"/>
              <a:t> </a:t>
            </a:r>
            <a:r>
              <a:rPr spc="-10" dirty="0"/>
              <a:t>making</a:t>
            </a:r>
            <a:endParaRPr spc="-10" dirty="0"/>
          </a:p>
          <a:p>
            <a:pPr>
              <a:lnSpc>
                <a:spcPct val="100000"/>
              </a:lnSpc>
              <a:spcBef>
                <a:spcPts val="1785"/>
              </a:spcBef>
            </a:pPr>
          </a:p>
          <a:p>
            <a:pPr marR="5080" algn="r">
              <a:lnSpc>
                <a:spcPct val="100000"/>
              </a:lnSpc>
            </a:pPr>
            <a:r>
              <a:rPr sz="1600" dirty="0"/>
              <a:t>By</a:t>
            </a:r>
            <a:r>
              <a:rPr sz="1600" spc="-35" dirty="0"/>
              <a:t> </a:t>
            </a:r>
            <a:r>
              <a:rPr sz="1600" spc="-10" dirty="0"/>
              <a:t>Gartner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5705" y="1542861"/>
            <a:ext cx="22923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 MT"/>
                <a:cs typeface="Arial MT"/>
              </a:rPr>
              <a:t>The</a:t>
            </a:r>
            <a:r>
              <a:rPr sz="2800" b="0" spc="-12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Three</a:t>
            </a:r>
            <a:r>
              <a:rPr sz="2800" b="0" spc="-65" dirty="0">
                <a:latin typeface="Arial MT"/>
                <a:cs typeface="Arial MT"/>
              </a:rPr>
              <a:t> </a:t>
            </a:r>
            <a:r>
              <a:rPr sz="2800" b="0" i="1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800" b="0" spc="-10" dirty="0">
                <a:latin typeface="Arial MT"/>
                <a:cs typeface="Arial MT"/>
              </a:rPr>
              <a:t>-</a:t>
            </a:r>
            <a:r>
              <a:rPr sz="2800" b="0" spc="-50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2096" y="1582460"/>
            <a:ext cx="3765550" cy="1548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indent="-386715">
              <a:lnSpc>
                <a:spcPts val="3000"/>
              </a:lnSpc>
              <a:spcBef>
                <a:spcPts val="100"/>
              </a:spcBef>
              <a:buFont typeface="Arial MT"/>
              <a:buChar char="●"/>
              <a:tabLst>
                <a:tab pos="399415" algn="l"/>
              </a:tabLst>
            </a:pPr>
            <a:r>
              <a:rPr sz="2500" dirty="0">
                <a:latin typeface="Arial MT"/>
                <a:cs typeface="Arial MT"/>
              </a:rPr>
              <a:t>Quantity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data</a:t>
            </a:r>
            <a:endParaRPr sz="2500">
              <a:latin typeface="Arial MT"/>
              <a:cs typeface="Arial MT"/>
            </a:endParaRPr>
          </a:p>
          <a:p>
            <a:pPr marL="400050" marR="5080" indent="-387985">
              <a:lnSpc>
                <a:spcPct val="100000"/>
              </a:lnSpc>
              <a:spcBef>
                <a:spcPts val="5"/>
              </a:spcBef>
              <a:buChar char="●"/>
              <a:tabLst>
                <a:tab pos="400050" algn="l"/>
              </a:tabLst>
            </a:pPr>
            <a:r>
              <a:rPr sz="2500" dirty="0">
                <a:latin typeface="Arial MT"/>
                <a:cs typeface="Arial MT"/>
              </a:rPr>
              <a:t>Data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sets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too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large</a:t>
            </a:r>
            <a:r>
              <a:rPr sz="2500" spc="-25" dirty="0">
                <a:latin typeface="Arial MT"/>
                <a:cs typeface="Arial MT"/>
              </a:rPr>
              <a:t> to </a:t>
            </a:r>
            <a:r>
              <a:rPr sz="2500" dirty="0">
                <a:latin typeface="Arial MT"/>
                <a:cs typeface="Arial MT"/>
              </a:rPr>
              <a:t>store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analyse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using </a:t>
            </a:r>
            <a:r>
              <a:rPr sz="2500" dirty="0">
                <a:latin typeface="Arial MT"/>
                <a:cs typeface="Arial MT"/>
              </a:rPr>
              <a:t>traditional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databases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4099" y="386183"/>
            <a:ext cx="11557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/>
              <a:t>Volume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794" y="1054089"/>
            <a:ext cx="3888714" cy="39200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90897" y="4851617"/>
            <a:ext cx="436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Source: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https://</a:t>
            </a:r>
            <a:r>
              <a:rPr sz="1200" spc="-10" dirty="0">
                <a:latin typeface="Arial MT"/>
                <a:cs typeface="Arial MT"/>
                <a:hlinkClick r:id="rId2"/>
              </a:rPr>
              <a:t>www.domo.com/blog/data-never-sleeps-</a:t>
            </a:r>
            <a:r>
              <a:rPr sz="1200" spc="-25" dirty="0">
                <a:latin typeface="Arial MT"/>
                <a:cs typeface="Arial MT"/>
                <a:hlinkClick r:id="rId2"/>
              </a:rPr>
              <a:t>5/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1416" y="386183"/>
            <a:ext cx="12001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/>
              <a:t>Velocity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7305" y="1473024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●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9458" y="1488492"/>
            <a:ext cx="3665854" cy="290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64565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Speed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data</a:t>
            </a:r>
            <a:r>
              <a:rPr sz="2100" spc="-25" dirty="0">
                <a:latin typeface="Arial MT"/>
                <a:cs typeface="Arial MT"/>
              </a:rPr>
              <a:t> is </a:t>
            </a:r>
            <a:r>
              <a:rPr sz="2100" spc="-10" dirty="0">
                <a:latin typeface="Arial MT"/>
                <a:cs typeface="Arial MT"/>
              </a:rPr>
              <a:t>generated</a:t>
            </a:r>
            <a:endParaRPr sz="2100">
              <a:latin typeface="Arial MT"/>
              <a:cs typeface="Arial MT"/>
            </a:endParaRPr>
          </a:p>
          <a:p>
            <a:pPr marL="12700" marR="31115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Speed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data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moving </a:t>
            </a:r>
            <a:r>
              <a:rPr sz="2100" dirty="0">
                <a:latin typeface="Arial MT"/>
                <a:cs typeface="Arial MT"/>
              </a:rPr>
              <a:t>around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analysed </a:t>
            </a:r>
            <a:r>
              <a:rPr sz="2100" dirty="0">
                <a:latin typeface="Arial MT"/>
                <a:cs typeface="Arial MT"/>
              </a:rPr>
              <a:t>Processing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should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faster </a:t>
            </a:r>
            <a:r>
              <a:rPr sz="2100" dirty="0">
                <a:latin typeface="Arial MT"/>
                <a:cs typeface="Arial MT"/>
              </a:rPr>
              <a:t>than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generation</a:t>
            </a: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Analyse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data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while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being </a:t>
            </a:r>
            <a:r>
              <a:rPr sz="2100" dirty="0">
                <a:latin typeface="Arial MT"/>
                <a:cs typeface="Arial MT"/>
              </a:rPr>
              <a:t>generated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without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even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putting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into</a:t>
            </a:r>
            <a:r>
              <a:rPr sz="2100" spc="-10" dirty="0">
                <a:latin typeface="Arial MT"/>
                <a:cs typeface="Arial MT"/>
              </a:rPr>
              <a:t> databases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7305" y="2113104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●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7305" y="2753184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●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57305" y="3393264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●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794" y="1054089"/>
            <a:ext cx="3888714" cy="39200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90897" y="4851617"/>
            <a:ext cx="436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Source: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https://</a:t>
            </a:r>
            <a:r>
              <a:rPr sz="1200" spc="-10" dirty="0">
                <a:latin typeface="Arial MT"/>
                <a:cs typeface="Arial MT"/>
                <a:hlinkClick r:id="rId2"/>
              </a:rPr>
              <a:t>www.domo.com/blog/data-never-sleeps-</a:t>
            </a:r>
            <a:r>
              <a:rPr sz="1200" spc="-25" dirty="0">
                <a:latin typeface="Arial MT"/>
                <a:cs typeface="Arial MT"/>
                <a:hlinkClick r:id="rId2"/>
              </a:rPr>
              <a:t>5/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137" rIns="0" bIns="0" rtlCol="0">
            <a:spAutoFit/>
          </a:bodyPr>
          <a:lstStyle/>
          <a:p>
            <a:pPr marL="3140710">
              <a:lnSpc>
                <a:spcPct val="100000"/>
              </a:lnSpc>
              <a:spcBef>
                <a:spcPts val="100"/>
              </a:spcBef>
            </a:pPr>
            <a:r>
              <a:rPr sz="2800" spc="-30" dirty="0"/>
              <a:t>Variety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913541" y="1713143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●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75694" y="1728256"/>
            <a:ext cx="314515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Different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types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data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that </a:t>
            </a:r>
            <a:r>
              <a:rPr sz="2100" dirty="0">
                <a:latin typeface="Arial MT"/>
                <a:cs typeface="Arial MT"/>
              </a:rPr>
              <a:t>we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use</a:t>
            </a:r>
            <a:endParaRPr sz="2100">
              <a:latin typeface="Arial MT"/>
              <a:cs typeface="Arial MT"/>
            </a:endParaRPr>
          </a:p>
          <a:p>
            <a:pPr marL="12700" marR="48133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Generated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different entities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3541" y="2353223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●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0741" y="2993303"/>
            <a:ext cx="18669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○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spc="-890" dirty="0">
                <a:latin typeface="Arial MT"/>
                <a:cs typeface="Arial MT"/>
              </a:rPr>
              <a:t>○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spc="-890" dirty="0">
                <a:latin typeface="Arial MT"/>
                <a:cs typeface="Arial MT"/>
              </a:rPr>
              <a:t>○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2894" y="3008415"/>
            <a:ext cx="259588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Arial MT"/>
                <a:cs typeface="Arial MT"/>
              </a:rPr>
              <a:t>Humans</a:t>
            </a: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Machines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(HW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+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SW) </a:t>
            </a:r>
            <a:r>
              <a:rPr sz="2100" spc="-10" dirty="0">
                <a:latin typeface="Arial MT"/>
                <a:cs typeface="Arial MT"/>
              </a:rPr>
              <a:t>Sensors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794" y="1054089"/>
            <a:ext cx="3888714" cy="39200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90897" y="4851617"/>
            <a:ext cx="436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Source: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https://</a:t>
            </a:r>
            <a:r>
              <a:rPr sz="1200" spc="-10" dirty="0">
                <a:latin typeface="Arial MT"/>
                <a:cs typeface="Arial MT"/>
                <a:hlinkClick r:id="rId2"/>
              </a:rPr>
              <a:t>www.domo.com/blog/data-never-sleeps-</a:t>
            </a:r>
            <a:r>
              <a:rPr sz="1200" spc="-25" dirty="0">
                <a:latin typeface="Arial MT"/>
                <a:cs typeface="Arial MT"/>
                <a:hlinkClick r:id="rId2"/>
              </a:rPr>
              <a:t>5/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1341" y="1542861"/>
            <a:ext cx="22212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 MT"/>
                <a:cs typeface="Arial MT"/>
              </a:rPr>
              <a:t>Additional</a:t>
            </a:r>
            <a:r>
              <a:rPr sz="2800" b="0" spc="-110" dirty="0">
                <a:latin typeface="Arial MT"/>
                <a:cs typeface="Arial MT"/>
              </a:rPr>
              <a:t> </a:t>
            </a:r>
            <a:r>
              <a:rPr sz="2800" b="0" i="1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800" b="0" spc="-10" dirty="0">
                <a:latin typeface="Arial MT"/>
                <a:cs typeface="Arial MT"/>
              </a:rPr>
              <a:t>-</a:t>
            </a:r>
            <a:r>
              <a:rPr sz="2800" b="0" spc="-50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137" rIns="0" bIns="0" rtlCol="0">
            <a:spAutoFit/>
          </a:bodyPr>
          <a:lstStyle/>
          <a:p>
            <a:pPr marL="3067685">
              <a:lnSpc>
                <a:spcPct val="100000"/>
              </a:lnSpc>
              <a:spcBef>
                <a:spcPts val="100"/>
              </a:spcBef>
            </a:pPr>
            <a:r>
              <a:rPr sz="2800" spc="-30" dirty="0"/>
              <a:t>Veracity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61255" y="1286537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●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3065" y="1301663"/>
            <a:ext cx="350583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26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Messiness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trustworthiness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data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Volumes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makes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up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for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quality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1255" y="1926617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●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8455" y="2886737"/>
            <a:ext cx="1866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90" dirty="0">
                <a:latin typeface="Arial MT"/>
                <a:cs typeface="Arial MT"/>
              </a:rPr>
              <a:t>○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18455" y="2261783"/>
            <a:ext cx="322516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 marR="5080" indent="-361950">
              <a:lnSpc>
                <a:spcPct val="100000"/>
              </a:lnSpc>
              <a:spcBef>
                <a:spcPts val="100"/>
              </a:spcBef>
              <a:buChar char="○"/>
              <a:tabLst>
                <a:tab pos="374015" algn="l"/>
              </a:tabLst>
            </a:pPr>
            <a:r>
              <a:rPr sz="2100" dirty="0">
                <a:latin typeface="Arial MT"/>
                <a:cs typeface="Arial MT"/>
              </a:rPr>
              <a:t>Eg.</a:t>
            </a:r>
            <a:r>
              <a:rPr sz="2100" spc="-8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Tweets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spelling </a:t>
            </a:r>
            <a:r>
              <a:rPr sz="2100" dirty="0">
                <a:latin typeface="Arial MT"/>
                <a:cs typeface="Arial MT"/>
              </a:rPr>
              <a:t>mistakes,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words </a:t>
            </a:r>
            <a:r>
              <a:rPr sz="2100" dirty="0">
                <a:latin typeface="Arial MT"/>
                <a:cs typeface="Arial MT"/>
              </a:rPr>
              <a:t>u→you,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thr→there, teh→the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794" y="1054089"/>
            <a:ext cx="3888714" cy="39200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90897" y="4851617"/>
            <a:ext cx="436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Source: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https://</a:t>
            </a:r>
            <a:r>
              <a:rPr sz="1200" spc="-10" dirty="0">
                <a:latin typeface="Arial MT"/>
                <a:cs typeface="Arial MT"/>
                <a:hlinkClick r:id="rId2"/>
              </a:rPr>
              <a:t>www.domo.com/blog/data-never-sleeps-</a:t>
            </a:r>
            <a:r>
              <a:rPr sz="1200" spc="-25" dirty="0">
                <a:latin typeface="Arial MT"/>
                <a:cs typeface="Arial MT"/>
                <a:hlinkClick r:id="rId2"/>
              </a:rPr>
              <a:t>5/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0" dirty="0"/>
              <a:t>Value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23104" y="2651660"/>
            <a:ext cx="36544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Getting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value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out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Big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Data!!!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794" y="1054089"/>
            <a:ext cx="3888714" cy="39200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90897" y="4851617"/>
            <a:ext cx="436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10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Source:</a:t>
            </a:r>
            <a:r>
              <a:rPr sz="1200" spc="1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https://</a:t>
            </a:r>
            <a:r>
              <a:rPr sz="1200" spc="-10" dirty="0">
                <a:latin typeface="Arial MT"/>
                <a:cs typeface="Arial MT"/>
                <a:hlinkClick r:id="rId2"/>
              </a:rPr>
              <a:t>www.domo.com/blog/data-never-sleeps-</a:t>
            </a:r>
            <a:r>
              <a:rPr sz="1200" spc="-25" dirty="0">
                <a:latin typeface="Arial MT"/>
                <a:cs typeface="Arial MT"/>
                <a:hlinkClick r:id="rId2"/>
              </a:rPr>
              <a:t>5/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137" rIns="0" bIns="0" rtlCol="0">
            <a:spAutoFit/>
          </a:bodyPr>
          <a:lstStyle/>
          <a:p>
            <a:pPr marL="293243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Definition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“Big</a:t>
            </a:r>
            <a:r>
              <a:rPr spc="-30" dirty="0"/>
              <a:t> </a:t>
            </a:r>
            <a:r>
              <a:rPr dirty="0"/>
              <a:t>data”</a:t>
            </a:r>
            <a:r>
              <a:rPr spc="-30" dirty="0"/>
              <a:t> </a:t>
            </a:r>
            <a:r>
              <a:rPr spc="-25" dirty="0"/>
              <a:t>is</a:t>
            </a:r>
            <a:endParaRPr spc="-25" dirty="0"/>
          </a:p>
          <a:p>
            <a:pPr>
              <a:lnSpc>
                <a:spcPct val="100000"/>
              </a:lnSpc>
              <a:spcBef>
                <a:spcPts val="110"/>
              </a:spcBef>
            </a:p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high-</a:t>
            </a:r>
            <a:r>
              <a:rPr dirty="0"/>
              <a:t>volume,</a:t>
            </a:r>
            <a:r>
              <a:rPr spc="-50" dirty="0"/>
              <a:t> </a:t>
            </a:r>
            <a:r>
              <a:rPr spc="-20" dirty="0"/>
              <a:t>-</a:t>
            </a: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-</a:t>
            </a:r>
            <a:r>
              <a:rPr dirty="0"/>
              <a:t>variety</a:t>
            </a:r>
            <a:r>
              <a:rPr spc="-40" dirty="0"/>
              <a:t> </a:t>
            </a:r>
            <a:r>
              <a:rPr dirty="0"/>
              <a:t>information</a:t>
            </a:r>
            <a:r>
              <a:rPr spc="-45" dirty="0"/>
              <a:t> </a:t>
            </a:r>
            <a:r>
              <a:rPr spc="-10" dirty="0"/>
              <a:t>assets</a:t>
            </a:r>
            <a:endParaRPr spc="-10" dirty="0"/>
          </a:p>
          <a:p>
            <a:pPr marL="469900" marR="441960">
              <a:lnSpc>
                <a:spcPct val="200000"/>
              </a:lnSpc>
            </a:pPr>
            <a:r>
              <a:rPr dirty="0">
                <a:solidFill>
                  <a:srgbClr val="FF2500"/>
                </a:solidFill>
              </a:rPr>
              <a:t>that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demand</a:t>
            </a:r>
            <a:r>
              <a:rPr spc="-50" dirty="0">
                <a:solidFill>
                  <a:srgbClr val="FF2500"/>
                </a:solidFill>
              </a:rPr>
              <a:t> </a:t>
            </a:r>
            <a:r>
              <a:rPr spc="-10" dirty="0">
                <a:solidFill>
                  <a:srgbClr val="FF2500"/>
                </a:solidFill>
              </a:rPr>
              <a:t>cost-</a:t>
            </a:r>
            <a:r>
              <a:rPr dirty="0">
                <a:solidFill>
                  <a:srgbClr val="FF2500"/>
                </a:solidFill>
              </a:rPr>
              <a:t>effective,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innovative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forms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of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information</a:t>
            </a:r>
            <a:r>
              <a:rPr spc="-50" dirty="0">
                <a:solidFill>
                  <a:srgbClr val="FF2500"/>
                </a:solidFill>
              </a:rPr>
              <a:t> </a:t>
            </a:r>
            <a:r>
              <a:rPr spc="-10" dirty="0">
                <a:solidFill>
                  <a:srgbClr val="FF2500"/>
                </a:solidFill>
              </a:rPr>
              <a:t>processing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enhanced</a:t>
            </a:r>
            <a:r>
              <a:rPr spc="-50" dirty="0"/>
              <a:t> </a:t>
            </a:r>
            <a:r>
              <a:rPr dirty="0"/>
              <a:t>insight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decision</a:t>
            </a:r>
            <a:r>
              <a:rPr spc="-50" dirty="0"/>
              <a:t> </a:t>
            </a:r>
            <a:r>
              <a:rPr spc="-10" dirty="0"/>
              <a:t>making</a:t>
            </a:r>
            <a:endParaRPr spc="-10" dirty="0"/>
          </a:p>
          <a:p>
            <a:pPr>
              <a:lnSpc>
                <a:spcPct val="100000"/>
              </a:lnSpc>
              <a:spcBef>
                <a:spcPts val="1785"/>
              </a:spcBef>
            </a:pPr>
          </a:p>
          <a:p>
            <a:pPr marR="5080" algn="r">
              <a:lnSpc>
                <a:spcPct val="100000"/>
              </a:lnSpc>
            </a:pPr>
            <a:r>
              <a:rPr sz="1600" dirty="0"/>
              <a:t>By</a:t>
            </a:r>
            <a:r>
              <a:rPr sz="1600" spc="-35" dirty="0"/>
              <a:t> </a:t>
            </a:r>
            <a:r>
              <a:rPr sz="1600" spc="-10" dirty="0"/>
              <a:t>Gartner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137" rIns="0" bIns="0" rtlCol="0">
            <a:spAutoFit/>
          </a:bodyPr>
          <a:lstStyle/>
          <a:p>
            <a:pPr marL="293243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Definition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“Big</a:t>
            </a:r>
            <a:r>
              <a:rPr spc="-30" dirty="0"/>
              <a:t> </a:t>
            </a:r>
            <a:r>
              <a:rPr dirty="0"/>
              <a:t>data”</a:t>
            </a:r>
            <a:r>
              <a:rPr spc="-30" dirty="0"/>
              <a:t> </a:t>
            </a:r>
            <a:r>
              <a:rPr spc="-25" dirty="0"/>
              <a:t>is</a:t>
            </a:r>
            <a:endParaRPr spc="-25" dirty="0"/>
          </a:p>
          <a:p>
            <a:pPr>
              <a:lnSpc>
                <a:spcPct val="100000"/>
              </a:lnSpc>
              <a:spcBef>
                <a:spcPts val="110"/>
              </a:spcBef>
            </a:p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high-</a:t>
            </a:r>
            <a:r>
              <a:rPr dirty="0"/>
              <a:t>volume,</a:t>
            </a:r>
            <a:r>
              <a:rPr spc="-50" dirty="0"/>
              <a:t> </a:t>
            </a:r>
            <a:r>
              <a:rPr spc="-20" dirty="0"/>
              <a:t>-</a:t>
            </a:r>
            <a:r>
              <a:rPr dirty="0"/>
              <a:t>velocity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-</a:t>
            </a:r>
            <a:r>
              <a:rPr dirty="0"/>
              <a:t>variety</a:t>
            </a:r>
            <a:r>
              <a:rPr spc="-40" dirty="0"/>
              <a:t> </a:t>
            </a:r>
            <a:r>
              <a:rPr dirty="0"/>
              <a:t>information</a:t>
            </a:r>
            <a:r>
              <a:rPr spc="-45" dirty="0"/>
              <a:t> </a:t>
            </a:r>
            <a:r>
              <a:rPr spc="-10" dirty="0"/>
              <a:t>assets</a:t>
            </a:r>
            <a:endParaRPr spc="-10" dirty="0"/>
          </a:p>
          <a:p>
            <a:pPr marL="469900" marR="441960">
              <a:lnSpc>
                <a:spcPct val="200000"/>
              </a:lnSpc>
            </a:pP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demand</a:t>
            </a:r>
            <a:r>
              <a:rPr spc="-50" dirty="0"/>
              <a:t> </a:t>
            </a:r>
            <a:r>
              <a:rPr spc="-10" dirty="0"/>
              <a:t>cost-</a:t>
            </a:r>
            <a:r>
              <a:rPr dirty="0"/>
              <a:t>effective,</a:t>
            </a:r>
            <a:r>
              <a:rPr spc="-45" dirty="0"/>
              <a:t> </a:t>
            </a:r>
            <a:r>
              <a:rPr dirty="0"/>
              <a:t>innovative</a:t>
            </a:r>
            <a:r>
              <a:rPr spc="-45" dirty="0"/>
              <a:t> </a:t>
            </a:r>
            <a:r>
              <a:rPr dirty="0"/>
              <a:t>forms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information</a:t>
            </a:r>
            <a:r>
              <a:rPr spc="-50" dirty="0"/>
              <a:t> </a:t>
            </a:r>
            <a:r>
              <a:rPr spc="-10" dirty="0"/>
              <a:t>processing </a:t>
            </a:r>
            <a:r>
              <a:rPr dirty="0">
                <a:solidFill>
                  <a:srgbClr val="FF2500"/>
                </a:solidFill>
              </a:rPr>
              <a:t>for</a:t>
            </a:r>
            <a:r>
              <a:rPr spc="-50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enhanced</a:t>
            </a:r>
            <a:r>
              <a:rPr spc="-50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insight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and</a:t>
            </a:r>
            <a:r>
              <a:rPr spc="-45" dirty="0">
                <a:solidFill>
                  <a:srgbClr val="FF2500"/>
                </a:solidFill>
              </a:rPr>
              <a:t> </a:t>
            </a:r>
            <a:r>
              <a:rPr dirty="0">
                <a:solidFill>
                  <a:srgbClr val="FF2500"/>
                </a:solidFill>
              </a:rPr>
              <a:t>decision</a:t>
            </a:r>
            <a:r>
              <a:rPr spc="-50" dirty="0">
                <a:solidFill>
                  <a:srgbClr val="FF2500"/>
                </a:solidFill>
              </a:rPr>
              <a:t> </a:t>
            </a:r>
            <a:r>
              <a:rPr spc="-10" dirty="0">
                <a:solidFill>
                  <a:srgbClr val="FF2500"/>
                </a:solidFill>
              </a:rPr>
              <a:t>making</a:t>
            </a:r>
            <a:endParaRPr spc="-10" dirty="0">
              <a:solidFill>
                <a:srgbClr val="FF2500"/>
              </a:solidFill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</a:p>
          <a:p>
            <a:pPr marR="5080" algn="r">
              <a:lnSpc>
                <a:spcPct val="100000"/>
              </a:lnSpc>
            </a:pPr>
            <a:r>
              <a:rPr sz="1600" dirty="0"/>
              <a:t>By</a:t>
            </a:r>
            <a:r>
              <a:rPr sz="1600" spc="-35" dirty="0"/>
              <a:t> </a:t>
            </a:r>
            <a:r>
              <a:rPr sz="1600" spc="-10" dirty="0"/>
              <a:t>Gartner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137" rIns="0" bIns="0" rtlCol="0">
            <a:spAutoFit/>
          </a:bodyPr>
          <a:lstStyle/>
          <a:p>
            <a:pPr marL="214757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Wikipedia</a:t>
            </a:r>
            <a:r>
              <a:rPr sz="2800" spc="-150" dirty="0"/>
              <a:t> </a:t>
            </a:r>
            <a:r>
              <a:rPr sz="2800" spc="-10" dirty="0"/>
              <a:t>Definition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44420" y="907743"/>
            <a:ext cx="8255000" cy="4222750"/>
            <a:chOff x="444420" y="907743"/>
            <a:chExt cx="8255000" cy="4222750"/>
          </a:xfrm>
        </p:grpSpPr>
        <p:sp>
          <p:nvSpPr>
            <p:cNvPr id="4" name="object 4"/>
            <p:cNvSpPr/>
            <p:nvPr/>
          </p:nvSpPr>
          <p:spPr>
            <a:xfrm>
              <a:off x="457200" y="943561"/>
              <a:ext cx="8228965" cy="4173854"/>
            </a:xfrm>
            <a:custGeom>
              <a:avLst/>
              <a:gdLst/>
              <a:ahLst/>
              <a:cxnLst/>
              <a:rect l="l" t="t" r="r" b="b"/>
              <a:pathLst>
                <a:path w="8228965" h="4173854">
                  <a:moveTo>
                    <a:pt x="8228876" y="0"/>
                  </a:moveTo>
                  <a:lnTo>
                    <a:pt x="0" y="0"/>
                  </a:lnTo>
                  <a:lnTo>
                    <a:pt x="0" y="4173842"/>
                  </a:lnTo>
                  <a:lnTo>
                    <a:pt x="4114444" y="4173842"/>
                  </a:lnTo>
                  <a:lnTo>
                    <a:pt x="8228876" y="4173842"/>
                  </a:lnTo>
                  <a:lnTo>
                    <a:pt x="8228876" y="0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943561"/>
              <a:ext cx="8228965" cy="4173854"/>
            </a:xfrm>
            <a:custGeom>
              <a:avLst/>
              <a:gdLst/>
              <a:ahLst/>
              <a:cxnLst/>
              <a:rect l="l" t="t" r="r" b="b"/>
              <a:pathLst>
                <a:path w="8228965" h="4173854">
                  <a:moveTo>
                    <a:pt x="4114444" y="4173842"/>
                  </a:moveTo>
                  <a:lnTo>
                    <a:pt x="0" y="4173842"/>
                  </a:lnTo>
                  <a:lnTo>
                    <a:pt x="0" y="0"/>
                  </a:lnTo>
                  <a:lnTo>
                    <a:pt x="8228876" y="0"/>
                  </a:lnTo>
                  <a:lnTo>
                    <a:pt x="8228876" y="4173842"/>
                  </a:lnTo>
                  <a:lnTo>
                    <a:pt x="4114444" y="4173842"/>
                  </a:lnTo>
                  <a:close/>
                </a:path>
              </a:pathLst>
            </a:custGeom>
            <a:ln w="25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425037" y="1318325"/>
              <a:ext cx="1136015" cy="0"/>
            </a:xfrm>
            <a:custGeom>
              <a:avLst/>
              <a:gdLst/>
              <a:ahLst/>
              <a:cxnLst/>
              <a:rect l="l" t="t" r="r" b="b"/>
              <a:pathLst>
                <a:path w="1136014">
                  <a:moveTo>
                    <a:pt x="0" y="0"/>
                  </a:moveTo>
                  <a:lnTo>
                    <a:pt x="1135443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04604" y="1653834"/>
              <a:ext cx="1975485" cy="0"/>
            </a:xfrm>
            <a:custGeom>
              <a:avLst/>
              <a:gdLst/>
              <a:ahLst/>
              <a:cxnLst/>
              <a:rect l="l" t="t" r="r" b="b"/>
              <a:pathLst>
                <a:path w="1975485">
                  <a:moveTo>
                    <a:pt x="0" y="0"/>
                  </a:moveTo>
                  <a:lnTo>
                    <a:pt x="1974964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10483" y="2103477"/>
              <a:ext cx="1012825" cy="0"/>
            </a:xfrm>
            <a:custGeom>
              <a:avLst/>
              <a:gdLst/>
              <a:ahLst/>
              <a:cxnLst/>
              <a:rect l="l" t="t" r="r" b="b"/>
              <a:pathLst>
                <a:path w="1012825">
                  <a:moveTo>
                    <a:pt x="0" y="0"/>
                  </a:moveTo>
                  <a:lnTo>
                    <a:pt x="1012316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66245" y="2103477"/>
              <a:ext cx="1617345" cy="0"/>
            </a:xfrm>
            <a:custGeom>
              <a:avLst/>
              <a:gdLst/>
              <a:ahLst/>
              <a:cxnLst/>
              <a:rect l="l" t="t" r="r" b="b"/>
              <a:pathLst>
                <a:path w="1617345">
                  <a:moveTo>
                    <a:pt x="0" y="0"/>
                  </a:moveTo>
                  <a:lnTo>
                    <a:pt x="1616760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9683" y="2437195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39">
                  <a:moveTo>
                    <a:pt x="0" y="0"/>
                  </a:moveTo>
                  <a:lnTo>
                    <a:pt x="916914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41398" y="2437195"/>
              <a:ext cx="934085" cy="0"/>
            </a:xfrm>
            <a:custGeom>
              <a:avLst/>
              <a:gdLst/>
              <a:ahLst/>
              <a:cxnLst/>
              <a:rect l="l" t="t" r="r" b="b"/>
              <a:pathLst>
                <a:path w="934085">
                  <a:moveTo>
                    <a:pt x="0" y="0"/>
                  </a:moveTo>
                  <a:lnTo>
                    <a:pt x="933475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930042" y="2437195"/>
              <a:ext cx="948690" cy="0"/>
            </a:xfrm>
            <a:custGeom>
              <a:avLst/>
              <a:gdLst/>
              <a:ahLst/>
              <a:cxnLst/>
              <a:rect l="l" t="t" r="r" b="b"/>
              <a:pathLst>
                <a:path w="948689">
                  <a:moveTo>
                    <a:pt x="0" y="0"/>
                  </a:moveTo>
                  <a:lnTo>
                    <a:pt x="948601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033443" y="2437195"/>
              <a:ext cx="1526540" cy="0"/>
            </a:xfrm>
            <a:custGeom>
              <a:avLst/>
              <a:gdLst/>
              <a:ahLst/>
              <a:cxnLst/>
              <a:rect l="l" t="t" r="r" b="b"/>
              <a:pathLst>
                <a:path w="1526539">
                  <a:moveTo>
                    <a:pt x="0" y="0"/>
                  </a:moveTo>
                  <a:lnTo>
                    <a:pt x="1526400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15000" y="2437195"/>
              <a:ext cx="1073785" cy="0"/>
            </a:xfrm>
            <a:custGeom>
              <a:avLst/>
              <a:gdLst/>
              <a:ahLst/>
              <a:cxnLst/>
              <a:rect l="l" t="t" r="r" b="b"/>
              <a:pathLst>
                <a:path w="1073784">
                  <a:moveTo>
                    <a:pt x="0" y="0"/>
                  </a:moveTo>
                  <a:lnTo>
                    <a:pt x="1073162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69683" y="2772716"/>
              <a:ext cx="2346960" cy="0"/>
            </a:xfrm>
            <a:custGeom>
              <a:avLst/>
              <a:gdLst/>
              <a:ahLst/>
              <a:cxnLst/>
              <a:rect l="l" t="t" r="r" b="b"/>
              <a:pathLst>
                <a:path w="2346960">
                  <a:moveTo>
                    <a:pt x="0" y="0"/>
                  </a:moveTo>
                  <a:lnTo>
                    <a:pt x="2346845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943600" y="3222004"/>
              <a:ext cx="2365375" cy="0"/>
            </a:xfrm>
            <a:custGeom>
              <a:avLst/>
              <a:gdLst/>
              <a:ahLst/>
              <a:cxnLst/>
              <a:rect l="l" t="t" r="r" b="b"/>
              <a:pathLst>
                <a:path w="2365375">
                  <a:moveTo>
                    <a:pt x="0" y="0"/>
                  </a:moveTo>
                  <a:lnTo>
                    <a:pt x="2364841" y="0"/>
                  </a:lnTo>
                </a:path>
              </a:pathLst>
            </a:custGeom>
            <a:ln w="15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7200" y="920523"/>
              <a:ext cx="8228965" cy="4173854"/>
            </a:xfrm>
            <a:custGeom>
              <a:avLst/>
              <a:gdLst/>
              <a:ahLst/>
              <a:cxnLst/>
              <a:rect l="l" t="t" r="r" b="b"/>
              <a:pathLst>
                <a:path w="8228965" h="4173854">
                  <a:moveTo>
                    <a:pt x="8228876" y="0"/>
                  </a:moveTo>
                  <a:lnTo>
                    <a:pt x="0" y="0"/>
                  </a:lnTo>
                  <a:lnTo>
                    <a:pt x="0" y="4173842"/>
                  </a:lnTo>
                  <a:lnTo>
                    <a:pt x="4114444" y="4173842"/>
                  </a:lnTo>
                  <a:lnTo>
                    <a:pt x="8228876" y="4173842"/>
                  </a:lnTo>
                  <a:lnTo>
                    <a:pt x="82288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7200" y="920523"/>
              <a:ext cx="8228965" cy="4173854"/>
            </a:xfrm>
            <a:custGeom>
              <a:avLst/>
              <a:gdLst/>
              <a:ahLst/>
              <a:cxnLst/>
              <a:rect l="l" t="t" r="r" b="b"/>
              <a:pathLst>
                <a:path w="8228965" h="4173854">
                  <a:moveTo>
                    <a:pt x="4114444" y="4173842"/>
                  </a:moveTo>
                  <a:lnTo>
                    <a:pt x="0" y="4173842"/>
                  </a:lnTo>
                  <a:lnTo>
                    <a:pt x="0" y="0"/>
                  </a:lnTo>
                  <a:lnTo>
                    <a:pt x="8228876" y="0"/>
                  </a:lnTo>
                  <a:lnTo>
                    <a:pt x="8228876" y="4173842"/>
                  </a:lnTo>
                  <a:lnTo>
                    <a:pt x="4114444" y="4173842"/>
                  </a:lnTo>
                  <a:close/>
                </a:path>
              </a:pathLst>
            </a:custGeom>
            <a:ln w="2555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35940" y="979095"/>
            <a:ext cx="8035925" cy="405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80" marR="208915" indent="-221615">
              <a:lnSpc>
                <a:spcPct val="100000"/>
              </a:lnSpc>
              <a:spcBef>
                <a:spcPts val="100"/>
              </a:spcBef>
              <a:buChar char="•"/>
              <a:tabLst>
                <a:tab pos="233045" algn="l"/>
              </a:tabLst>
            </a:pP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Big</a:t>
            </a:r>
            <a:r>
              <a:rPr sz="2200" spc="-3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data</a:t>
            </a:r>
            <a:r>
              <a:rPr sz="2200" spc="-3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is</a:t>
            </a:r>
            <a:r>
              <a:rPr sz="2200" spc="-3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</a:t>
            </a:r>
            <a:r>
              <a:rPr sz="2200" spc="-3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term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for</a:t>
            </a:r>
            <a:r>
              <a:rPr sz="2200" spc="-2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data</a:t>
            </a:r>
            <a:r>
              <a:rPr sz="2200" u="heavy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sets</a:t>
            </a:r>
            <a:r>
              <a:rPr sz="22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that</a:t>
            </a:r>
            <a:r>
              <a:rPr sz="2200" spc="-3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are</a:t>
            </a:r>
            <a:r>
              <a:rPr sz="2200" spc="-3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so</a:t>
            </a:r>
            <a:r>
              <a:rPr sz="2200" spc="-3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large</a:t>
            </a:r>
            <a:r>
              <a:rPr sz="2200" spc="-3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or</a:t>
            </a:r>
            <a:r>
              <a:rPr sz="2200" spc="-3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complex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that</a:t>
            </a:r>
            <a:r>
              <a:rPr sz="2200" spc="-7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traditional</a:t>
            </a:r>
            <a:r>
              <a:rPr sz="2200" spc="-5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data</a:t>
            </a:r>
            <a:r>
              <a:rPr sz="2200" u="heavy" spc="-7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processing</a:t>
            </a:r>
            <a:r>
              <a:rPr sz="2200" spc="-6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applications</a:t>
            </a:r>
            <a:r>
              <a:rPr sz="2200" spc="-7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are</a:t>
            </a:r>
            <a:r>
              <a:rPr sz="2200" spc="-7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inadequate…</a:t>
            </a:r>
            <a:endParaRPr sz="2200">
              <a:latin typeface="Arial MT"/>
              <a:cs typeface="Arial MT"/>
            </a:endParaRPr>
          </a:p>
          <a:p>
            <a:pPr marL="233680" marR="5080" indent="-221615">
              <a:lnSpc>
                <a:spcPct val="100000"/>
              </a:lnSpc>
              <a:spcBef>
                <a:spcPts val="900"/>
              </a:spcBef>
              <a:buChar char="•"/>
              <a:tabLst>
                <a:tab pos="233045" algn="l"/>
              </a:tabLst>
            </a:pP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Challenges</a:t>
            </a:r>
            <a:r>
              <a:rPr sz="2200" spc="-7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include</a:t>
            </a:r>
            <a:r>
              <a:rPr sz="2200" spc="-6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analysis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,</a:t>
            </a:r>
            <a:r>
              <a:rPr sz="2200" spc="-7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capture,</a:t>
            </a:r>
            <a:r>
              <a:rPr sz="2200" spc="-7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data</a:t>
            </a:r>
            <a:r>
              <a:rPr sz="2200" u="heavy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curation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,</a:t>
            </a:r>
            <a:r>
              <a:rPr sz="2200" spc="-7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search,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sharing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,</a:t>
            </a:r>
            <a:r>
              <a:rPr sz="2200" spc="-9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storage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,</a:t>
            </a:r>
            <a:r>
              <a:rPr sz="2200" spc="-9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transfer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,</a:t>
            </a:r>
            <a:r>
              <a:rPr sz="2200" spc="-9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visualization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,</a:t>
            </a:r>
            <a:r>
              <a:rPr sz="2200" spc="-9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querying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,</a:t>
            </a:r>
            <a:r>
              <a:rPr sz="2200" spc="-9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updating</a:t>
            </a:r>
            <a:r>
              <a:rPr sz="2200" spc="-8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E0E05"/>
                </a:solidFill>
                <a:latin typeface="Arial MT"/>
                <a:cs typeface="Arial MT"/>
              </a:rPr>
              <a:t>and</a:t>
            </a:r>
            <a:r>
              <a:rPr sz="2200" spc="-2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information</a:t>
            </a:r>
            <a:r>
              <a:rPr sz="2200" u="heavy" spc="-9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privacy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.</a:t>
            </a:r>
            <a:r>
              <a:rPr sz="2200" spc="-9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…</a:t>
            </a:r>
            <a:endParaRPr sz="2200">
              <a:latin typeface="Arial MT"/>
              <a:cs typeface="Arial MT"/>
            </a:endParaRPr>
          </a:p>
          <a:p>
            <a:pPr marL="233680" marR="167640" indent="-221615">
              <a:lnSpc>
                <a:spcPct val="100000"/>
              </a:lnSpc>
              <a:spcBef>
                <a:spcPts val="900"/>
              </a:spcBef>
              <a:buChar char="•"/>
              <a:tabLst>
                <a:tab pos="233045" algn="l"/>
              </a:tabLst>
            </a:pP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term</a:t>
            </a:r>
            <a:r>
              <a:rPr sz="2200" spc="-5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often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refers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simply</a:t>
            </a:r>
            <a:r>
              <a:rPr sz="2200" spc="-4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to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the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use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of</a:t>
            </a:r>
            <a:r>
              <a:rPr sz="2200" spc="-1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predictive</a:t>
            </a:r>
            <a:r>
              <a:rPr sz="22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2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analytics</a:t>
            </a:r>
            <a:r>
              <a:rPr sz="22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or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certain</a:t>
            </a:r>
            <a:r>
              <a:rPr sz="2200" spc="-5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other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advanced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methods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to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extract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value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from</a:t>
            </a:r>
            <a:r>
              <a:rPr sz="2200" spc="-7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data,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and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seldom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to</a:t>
            </a:r>
            <a:r>
              <a:rPr sz="2200" spc="-4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</a:t>
            </a:r>
            <a:r>
              <a:rPr sz="2200" spc="-4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particular</a:t>
            </a:r>
            <a:r>
              <a:rPr sz="2200" spc="-4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size</a:t>
            </a:r>
            <a:r>
              <a:rPr sz="2200" spc="-4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of</a:t>
            </a:r>
            <a:r>
              <a:rPr sz="2200" spc="-4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data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set.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…</a:t>
            </a:r>
            <a:endParaRPr sz="2200">
              <a:latin typeface="Arial MT"/>
              <a:cs typeface="Arial MT"/>
            </a:endParaRPr>
          </a:p>
          <a:p>
            <a:pPr marL="233680" marR="229235" indent="-221615">
              <a:lnSpc>
                <a:spcPct val="100000"/>
              </a:lnSpc>
              <a:spcBef>
                <a:spcPts val="900"/>
              </a:spcBef>
              <a:buChar char="•"/>
              <a:tabLst>
                <a:tab pos="233045" algn="l"/>
              </a:tabLst>
            </a:pP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Accuracy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in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big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data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may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lead</a:t>
            </a:r>
            <a:r>
              <a:rPr sz="2200" spc="-4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to</a:t>
            </a:r>
            <a:r>
              <a:rPr sz="2200" spc="-5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more</a:t>
            </a:r>
            <a:r>
              <a:rPr sz="2200" spc="-5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confident</a:t>
            </a:r>
            <a:r>
              <a:rPr sz="2200" spc="-5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decision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making,</a:t>
            </a:r>
            <a:r>
              <a:rPr sz="2200" spc="-6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and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better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decisions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can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result</a:t>
            </a:r>
            <a:r>
              <a:rPr sz="2200" spc="-5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in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greater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operational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E0E05"/>
                </a:solidFill>
                <a:latin typeface="Arial MT"/>
                <a:cs typeface="Arial MT"/>
              </a:rPr>
              <a:t>efficiency,</a:t>
            </a:r>
            <a:r>
              <a:rPr sz="2200" spc="-7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cost</a:t>
            </a:r>
            <a:r>
              <a:rPr sz="2200" spc="-5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reduction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and</a:t>
            </a:r>
            <a:r>
              <a:rPr sz="2200" spc="-65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E0E05"/>
                </a:solidFill>
                <a:latin typeface="Arial MT"/>
                <a:cs typeface="Arial MT"/>
              </a:rPr>
              <a:t>reduced</a:t>
            </a:r>
            <a:r>
              <a:rPr sz="2200" spc="-60" dirty="0">
                <a:solidFill>
                  <a:srgbClr val="0E0E05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E0E05"/>
                </a:solidFill>
                <a:latin typeface="Arial MT"/>
                <a:cs typeface="Arial MT"/>
              </a:rPr>
              <a:t>risk.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8105" y="1542861"/>
            <a:ext cx="1685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 MT"/>
                <a:cs typeface="Arial MT"/>
              </a:rPr>
              <a:t>Use</a:t>
            </a:r>
            <a:r>
              <a:rPr sz="2800" b="0" spc="-50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cases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137" rIns="0" bIns="0" rtlCol="0">
            <a:spAutoFit/>
          </a:bodyPr>
          <a:lstStyle/>
          <a:p>
            <a:pPr marL="83185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Use</a:t>
            </a:r>
            <a:r>
              <a:rPr sz="2800" spc="-50" dirty="0"/>
              <a:t> </a:t>
            </a:r>
            <a:r>
              <a:rPr sz="2800" dirty="0"/>
              <a:t>Case:</a:t>
            </a:r>
            <a:r>
              <a:rPr sz="2800" spc="-45" dirty="0"/>
              <a:t> </a:t>
            </a:r>
            <a:r>
              <a:rPr sz="2800" dirty="0"/>
              <a:t>Big</a:t>
            </a:r>
            <a:r>
              <a:rPr sz="2800" spc="-45" dirty="0"/>
              <a:t> </a:t>
            </a:r>
            <a:r>
              <a:rPr sz="2800" dirty="0"/>
              <a:t>Data</a:t>
            </a:r>
            <a:r>
              <a:rPr sz="2800" spc="-50" dirty="0"/>
              <a:t> </a:t>
            </a:r>
            <a:r>
              <a:rPr sz="2800" dirty="0"/>
              <a:t>in</a:t>
            </a:r>
            <a:r>
              <a:rPr sz="2800" spc="-45" dirty="0"/>
              <a:t> </a:t>
            </a:r>
            <a:r>
              <a:rPr sz="2800" dirty="0"/>
              <a:t>Oil</a:t>
            </a:r>
            <a:r>
              <a:rPr sz="2800" spc="-50" dirty="0"/>
              <a:t> </a:t>
            </a:r>
            <a:r>
              <a:rPr sz="2800" dirty="0"/>
              <a:t>&amp;</a:t>
            </a:r>
            <a:r>
              <a:rPr sz="2800" spc="-45" dirty="0"/>
              <a:t> </a:t>
            </a:r>
            <a:r>
              <a:rPr sz="2800" dirty="0"/>
              <a:t>Gas</a:t>
            </a:r>
            <a:r>
              <a:rPr sz="2800" spc="-35" dirty="0"/>
              <a:t> </a:t>
            </a:r>
            <a:r>
              <a:rPr sz="2800" spc="-10" dirty="0"/>
              <a:t>Drilling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90001" y="1063792"/>
            <a:ext cx="5362917" cy="35305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12935" y="4859187"/>
            <a:ext cx="48285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  <a:hlinkClick r:id="rId2"/>
              </a:rPr>
              <a:t>http://analytics-magazine.org/how-big-data-is-changing-the-oil-a-gas-industry/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2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30"/>
              </a:spcBef>
            </a:pPr>
            <a:r>
              <a:rPr sz="2600" dirty="0"/>
              <a:t>Use</a:t>
            </a:r>
            <a:r>
              <a:rPr sz="2600" spc="-20" dirty="0"/>
              <a:t> </a:t>
            </a:r>
            <a:r>
              <a:rPr sz="2600" dirty="0"/>
              <a:t>Case:</a:t>
            </a:r>
            <a:r>
              <a:rPr sz="2600" spc="-20" dirty="0"/>
              <a:t> </a:t>
            </a:r>
            <a:r>
              <a:rPr sz="2600" dirty="0"/>
              <a:t>Uber</a:t>
            </a:r>
            <a:r>
              <a:rPr sz="2600" spc="-10" dirty="0"/>
              <a:t> </a:t>
            </a:r>
            <a:r>
              <a:rPr sz="2600" dirty="0"/>
              <a:t>-</a:t>
            </a:r>
            <a:r>
              <a:rPr sz="2600" spc="-20" dirty="0"/>
              <a:t> </a:t>
            </a:r>
            <a:r>
              <a:rPr sz="2600" dirty="0"/>
              <a:t>Pay</a:t>
            </a:r>
            <a:r>
              <a:rPr sz="2600" spc="-25" dirty="0"/>
              <a:t> </a:t>
            </a:r>
            <a:r>
              <a:rPr sz="2600" dirty="0"/>
              <a:t>Surge</a:t>
            </a:r>
            <a:r>
              <a:rPr sz="2600" spc="-15" dirty="0"/>
              <a:t> </a:t>
            </a:r>
            <a:r>
              <a:rPr sz="2600" dirty="0"/>
              <a:t>Pricing</a:t>
            </a:r>
            <a:r>
              <a:rPr sz="2600" spc="-20" dirty="0"/>
              <a:t> </a:t>
            </a:r>
            <a:r>
              <a:rPr sz="2600" dirty="0"/>
              <a:t>if</a:t>
            </a:r>
            <a:r>
              <a:rPr sz="2600" spc="-15" dirty="0"/>
              <a:t> </a:t>
            </a:r>
            <a:r>
              <a:rPr sz="2600" dirty="0"/>
              <a:t>Battery</a:t>
            </a:r>
            <a:r>
              <a:rPr sz="2600" spc="-15" dirty="0"/>
              <a:t> </a:t>
            </a:r>
            <a:r>
              <a:rPr sz="2600" dirty="0"/>
              <a:t>is</a:t>
            </a:r>
            <a:r>
              <a:rPr sz="2600" spc="-15" dirty="0"/>
              <a:t> </a:t>
            </a:r>
            <a:r>
              <a:rPr sz="2600" spc="-25" dirty="0"/>
              <a:t>Low</a:t>
            </a:r>
            <a:endParaRPr sz="2600"/>
          </a:p>
        </p:txBody>
      </p:sp>
      <p:grpSp>
        <p:nvGrpSpPr>
          <p:cNvPr id="3" name="object 3"/>
          <p:cNvGrpSpPr/>
          <p:nvPr/>
        </p:nvGrpSpPr>
        <p:grpSpPr>
          <a:xfrm>
            <a:off x="3279597" y="848527"/>
            <a:ext cx="5803900" cy="4230370"/>
            <a:chOff x="3279597" y="848527"/>
            <a:chExt cx="5803900" cy="423037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79597" y="848527"/>
              <a:ext cx="2378875" cy="42292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16044" y="4853167"/>
              <a:ext cx="4767580" cy="225425"/>
            </a:xfrm>
            <a:custGeom>
              <a:avLst/>
              <a:gdLst/>
              <a:ahLst/>
              <a:cxnLst/>
              <a:rect l="l" t="t" r="r" b="b"/>
              <a:pathLst>
                <a:path w="4767580" h="225425">
                  <a:moveTo>
                    <a:pt x="4767110" y="0"/>
                  </a:moveTo>
                  <a:lnTo>
                    <a:pt x="0" y="0"/>
                  </a:lnTo>
                  <a:lnTo>
                    <a:pt x="0" y="225348"/>
                  </a:lnTo>
                  <a:lnTo>
                    <a:pt x="2383561" y="225348"/>
                  </a:lnTo>
                  <a:lnTo>
                    <a:pt x="4767110" y="225348"/>
                  </a:lnTo>
                  <a:lnTo>
                    <a:pt x="476711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394060" y="4884384"/>
            <a:ext cx="45567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https:/</a:t>
            </a:r>
            <a:r>
              <a:rPr sz="900" spc="-10" dirty="0">
                <a:latin typeface="Arial MT"/>
                <a:cs typeface="Arial MT"/>
                <a:hlinkClick r:id="rId2"/>
              </a:rPr>
              <a:t>/www.forbes.com/sites/amitchowdhry/2016/05/25/uber-low-battery/#19762c0474b3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6819" y="1542861"/>
            <a:ext cx="3264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Arial MT"/>
                <a:cs typeface="Arial MT"/>
              </a:rPr>
              <a:t>Big</a:t>
            </a:r>
            <a:r>
              <a:rPr sz="2800" b="0" spc="-55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Data</a:t>
            </a:r>
            <a:r>
              <a:rPr sz="2800" b="0" spc="-55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Challenges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420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Big</a:t>
            </a:r>
            <a:r>
              <a:rPr sz="2800" spc="-80" dirty="0"/>
              <a:t> </a:t>
            </a:r>
            <a:r>
              <a:rPr sz="2800" dirty="0"/>
              <a:t>Data</a:t>
            </a:r>
            <a:r>
              <a:rPr sz="2800" spc="-60" dirty="0"/>
              <a:t> </a:t>
            </a:r>
            <a:r>
              <a:rPr sz="2800" spc="-10" dirty="0"/>
              <a:t>Challenges:</a:t>
            </a:r>
            <a:r>
              <a:rPr sz="2800" spc="-75" dirty="0"/>
              <a:t> </a:t>
            </a:r>
            <a:r>
              <a:rPr sz="2800" dirty="0"/>
              <a:t>Size</a:t>
            </a:r>
            <a:r>
              <a:rPr sz="2800" spc="-65" dirty="0"/>
              <a:t> </a:t>
            </a:r>
            <a:r>
              <a:rPr sz="2800" dirty="0"/>
              <a:t>does</a:t>
            </a:r>
            <a:r>
              <a:rPr sz="2800" spc="-65" dirty="0"/>
              <a:t> </a:t>
            </a:r>
            <a:r>
              <a:rPr sz="2800" spc="-10" dirty="0"/>
              <a:t>matter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016876" y="2447641"/>
            <a:ext cx="3643629" cy="1445260"/>
            <a:chOff x="4016876" y="2447641"/>
            <a:chExt cx="3643629" cy="144526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21556" y="2475371"/>
              <a:ext cx="3634193" cy="141227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21556" y="2475371"/>
              <a:ext cx="3634740" cy="1412875"/>
            </a:xfrm>
            <a:custGeom>
              <a:avLst/>
              <a:gdLst/>
              <a:ahLst/>
              <a:cxnLst/>
              <a:rect l="l" t="t" r="r" b="b"/>
              <a:pathLst>
                <a:path w="3634740" h="1412875">
                  <a:moveTo>
                    <a:pt x="0" y="1412633"/>
                  </a:moveTo>
                  <a:lnTo>
                    <a:pt x="3634562" y="1412633"/>
                  </a:lnTo>
                  <a:lnTo>
                    <a:pt x="3634562" y="0"/>
                  </a:lnTo>
                  <a:lnTo>
                    <a:pt x="0" y="0"/>
                  </a:lnTo>
                  <a:lnTo>
                    <a:pt x="0" y="141263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21556" y="2475358"/>
              <a:ext cx="3634740" cy="1412875"/>
            </a:xfrm>
            <a:custGeom>
              <a:avLst/>
              <a:gdLst/>
              <a:ahLst/>
              <a:cxnLst/>
              <a:rect l="l" t="t" r="r" b="b"/>
              <a:pathLst>
                <a:path w="3634740" h="1412875">
                  <a:moveTo>
                    <a:pt x="1817281" y="1412278"/>
                  </a:moveTo>
                  <a:lnTo>
                    <a:pt x="0" y="1412278"/>
                  </a:lnTo>
                  <a:lnTo>
                    <a:pt x="0" y="0"/>
                  </a:lnTo>
                  <a:lnTo>
                    <a:pt x="3634206" y="0"/>
                  </a:lnTo>
                  <a:lnTo>
                    <a:pt x="3634206" y="1412278"/>
                  </a:lnTo>
                  <a:lnTo>
                    <a:pt x="1817281" y="1412278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1556" y="2452333"/>
              <a:ext cx="3634193" cy="14122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21556" y="2452321"/>
              <a:ext cx="3634740" cy="1412875"/>
            </a:xfrm>
            <a:custGeom>
              <a:avLst/>
              <a:gdLst/>
              <a:ahLst/>
              <a:cxnLst/>
              <a:rect l="l" t="t" r="r" b="b"/>
              <a:pathLst>
                <a:path w="3634740" h="1412875">
                  <a:moveTo>
                    <a:pt x="1817281" y="1412278"/>
                  </a:moveTo>
                  <a:lnTo>
                    <a:pt x="0" y="1412278"/>
                  </a:lnTo>
                  <a:lnTo>
                    <a:pt x="0" y="0"/>
                  </a:lnTo>
                  <a:lnTo>
                    <a:pt x="3634206" y="0"/>
                  </a:lnTo>
                  <a:lnTo>
                    <a:pt x="3634206" y="1412278"/>
                  </a:lnTo>
                  <a:lnTo>
                    <a:pt x="1817281" y="1412278"/>
                  </a:lnTo>
                  <a:close/>
                </a:path>
              </a:pathLst>
            </a:custGeom>
            <a:ln w="9359">
              <a:solidFill>
                <a:srgbClr val="2D2D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026236" y="2485341"/>
            <a:ext cx="362521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GB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hr</a:t>
            </a:r>
            <a:endParaRPr sz="2200">
              <a:latin typeface="Arial MT"/>
              <a:cs typeface="Arial MT"/>
            </a:endParaRPr>
          </a:p>
          <a:p>
            <a:pPr marL="41275">
              <a:lnSpc>
                <a:spcPts val="2640"/>
              </a:lnSpc>
            </a:pP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2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TB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1024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hrs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102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days</a:t>
            </a:r>
            <a:endParaRPr sz="220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PB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286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yrs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&gt;</a:t>
            </a:r>
            <a:r>
              <a:rPr sz="22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2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lifetime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1275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EB</a:t>
            </a:r>
            <a:r>
              <a:rPr sz="2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293K</a:t>
            </a:r>
            <a:r>
              <a:rPr sz="2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yrs</a:t>
            </a:r>
            <a:endParaRPr sz="22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9203" y="1644486"/>
          <a:ext cx="3571240" cy="315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575"/>
                <a:gridCol w="2184400"/>
              </a:tblGrid>
              <a:tr h="39497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1KB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Kilobyte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EBDC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1MB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5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Megabyte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5F5EE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>
                        <a:lnSpc>
                          <a:spcPts val="2095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1GB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95"/>
                        </a:lnSpc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Gigabyte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EBDC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>
                        <a:lnSpc>
                          <a:spcPts val="2090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1TB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5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90"/>
                        </a:lnSpc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Terabyte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5F5EE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1PB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Petabyte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EBDC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1EB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5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Exabyte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5F5EE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>
                        <a:lnSpc>
                          <a:spcPts val="2095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1ZB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EB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95"/>
                        </a:lnSpc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Zettabyte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9EBDC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>
                        <a:lnSpc>
                          <a:spcPts val="2090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1YB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5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90"/>
                        </a:lnSpc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Yottabyte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5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975" y="213360"/>
            <a:ext cx="8519160" cy="984885"/>
          </a:xfrm>
        </p:spPr>
        <p:txBody>
          <a:bodyPr wrap="square"/>
          <a:p>
            <a:r>
              <a:rPr lang="en-US" altLang="zh-CN"/>
              <a:t>data scale, storage, and the immense volume of information.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4980" y="1280160"/>
            <a:ext cx="8363585" cy="3780790"/>
          </a:xfrm>
        </p:spPr>
        <p:txBody>
          <a:bodyPr>
            <a:noAutofit/>
          </a:bodyPr>
          <a:p>
            <a:pPr algn="just"/>
            <a:r>
              <a:rPr lang="en-US" altLang="zh-CN" sz="1400"/>
              <a:t>To illustrate the shift from human-scale data to machine-scale data (the "Velocity" and "Volume" of Big Data) by converting digital storage units (GB, TB, PB, EB) into time-based, human-understandable terms. </a:t>
            </a:r>
            <a:endParaRPr lang="en-US" altLang="zh-CN" sz="1400"/>
          </a:p>
          <a:p>
            <a:pPr algn="just"/>
            <a:r>
              <a:rPr lang="en-US" altLang="zh-CN" sz="1400"/>
              <a:t>Breakdown of the Context</a:t>
            </a:r>
            <a:endParaRPr lang="en-US" altLang="zh-CN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400"/>
              <a:t>1 GB = 1 hr (Approx. 1 GB/hour): This represents a standard, relatively high-quality continuous stream, such as streaming HD video or high-definition logging.</a:t>
            </a:r>
            <a:endParaRPr lang="en-US" altLang="zh-CN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400"/>
              <a:t>1 TB = 1024 hrs = 102 days: Extrapolating the 1 GB/hr rate, a Terabyte of data represents roughly three months of continuous, 24/7, high-volume data generation (e.g., IoT sensor logs or security camera footage).</a:t>
            </a:r>
            <a:endParaRPr lang="en-US" altLang="zh-CN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400"/>
              <a:t>1 PB = 286 yrs &gt; 1 lifetime: A Petabyte represents a massive amount of data, exceeding a human lifespan at the same generation rate, illustrating the transition to data that requires automated, distributed processing (Big Data).</a:t>
            </a:r>
            <a:endParaRPr lang="en-US" altLang="zh-CN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400"/>
              <a:t>1 EB = 293K yrs: An Exabyte (1,000+ PB) represents an amount of data that would take nearly 300,000 years to generate at that same rate, emphasizing the enormous scale of modern data centers and internet traffic. </a:t>
            </a:r>
            <a:endParaRPr lang="en-US" altLang="zh-CN" sz="1400"/>
          </a:p>
          <a:p>
            <a:pPr algn="just"/>
            <a:r>
              <a:rPr lang="en-US" altLang="zh-CN" sz="1400"/>
              <a:t>The overall theme is to demonstrate that as data moves into Petabytes and Exabytes, it is no longer manageable by traditional means, requiring Big Data technologies like Hadoop or Spark. </a:t>
            </a:r>
            <a:endParaRPr lang="en-US" altLang="zh-CN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Big</a:t>
            </a:r>
            <a:r>
              <a:rPr sz="2800" spc="-90" dirty="0"/>
              <a:t> </a:t>
            </a:r>
            <a:r>
              <a:rPr sz="2800" dirty="0"/>
              <a:t>Data</a:t>
            </a:r>
            <a:r>
              <a:rPr sz="2800" spc="-85" dirty="0"/>
              <a:t> </a:t>
            </a:r>
            <a:r>
              <a:rPr sz="2800" spc="-10" dirty="0"/>
              <a:t>Challenges:</a:t>
            </a:r>
            <a:r>
              <a:rPr sz="2800" spc="-95" dirty="0"/>
              <a:t> </a:t>
            </a:r>
            <a:r>
              <a:rPr sz="2800" spc="-25" dirty="0"/>
              <a:t>Vertical</a:t>
            </a:r>
            <a:r>
              <a:rPr sz="2800" spc="-85" dirty="0"/>
              <a:t> </a:t>
            </a:r>
            <a:r>
              <a:rPr sz="2800" dirty="0"/>
              <a:t>Vs</a:t>
            </a:r>
            <a:r>
              <a:rPr sz="2800" spc="-80" dirty="0"/>
              <a:t> </a:t>
            </a:r>
            <a:r>
              <a:rPr sz="2800" spc="-10" dirty="0"/>
              <a:t>Horizontal</a:t>
            </a:r>
            <a:r>
              <a:rPr sz="2800" spc="-85" dirty="0"/>
              <a:t> </a:t>
            </a:r>
            <a:r>
              <a:rPr sz="2800" spc="-10" dirty="0"/>
              <a:t>Scaling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697674" y="1041833"/>
            <a:ext cx="2713355" cy="3216275"/>
            <a:chOff x="697674" y="1041833"/>
            <a:chExt cx="2713355" cy="3216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97674" y="3256205"/>
              <a:ext cx="778675" cy="7786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85200" y="3032647"/>
              <a:ext cx="1225435" cy="12254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67676" y="1041833"/>
              <a:ext cx="1938604" cy="19386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75994" y="3645727"/>
              <a:ext cx="638175" cy="1270"/>
            </a:xfrm>
            <a:custGeom>
              <a:avLst/>
              <a:gdLst/>
              <a:ahLst/>
              <a:cxnLst/>
              <a:rect l="l" t="t" r="r" b="b"/>
              <a:pathLst>
                <a:path w="638175" h="1270">
                  <a:moveTo>
                    <a:pt x="0" y="0"/>
                  </a:moveTo>
                  <a:lnTo>
                    <a:pt x="637920" y="71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08885" y="360864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95600" y="2639519"/>
              <a:ext cx="202565" cy="393700"/>
            </a:xfrm>
            <a:custGeom>
              <a:avLst/>
              <a:gdLst/>
              <a:ahLst/>
              <a:cxnLst/>
              <a:rect l="l" t="t" r="r" b="b"/>
              <a:pathLst>
                <a:path w="202564" h="393700">
                  <a:moveTo>
                    <a:pt x="202323" y="393484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63202" y="2576882"/>
              <a:ext cx="68580" cy="85090"/>
            </a:xfrm>
            <a:custGeom>
              <a:avLst/>
              <a:gdLst/>
              <a:ahLst/>
              <a:cxnLst/>
              <a:rect l="l" t="t" r="r" b="b"/>
              <a:pathLst>
                <a:path w="68580" h="85089">
                  <a:moveTo>
                    <a:pt x="0" y="0"/>
                  </a:moveTo>
                  <a:lnTo>
                    <a:pt x="1079" y="84594"/>
                  </a:lnTo>
                  <a:lnTo>
                    <a:pt x="68033" y="50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40344" y="4526180"/>
            <a:ext cx="11372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Calibri" panose="020F0502020204030204"/>
                <a:cs typeface="Calibri" panose="020F0502020204030204"/>
              </a:rPr>
              <a:t>Vertical</a:t>
            </a:r>
            <a:r>
              <a:rPr sz="14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latin typeface="Calibri" panose="020F0502020204030204"/>
                <a:cs typeface="Calibri" panose="020F0502020204030204"/>
              </a:rPr>
              <a:t>Scaling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98833" y="2090523"/>
            <a:ext cx="3098800" cy="1557655"/>
            <a:chOff x="5298833" y="2090523"/>
            <a:chExt cx="3098800" cy="155765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33" y="2090523"/>
              <a:ext cx="778675" cy="15573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36563" y="2807641"/>
              <a:ext cx="778675" cy="7786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7521" y="2090523"/>
              <a:ext cx="1557718" cy="7786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56564" y="2807641"/>
              <a:ext cx="778675" cy="7786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618678" y="2090523"/>
              <a:ext cx="778675" cy="7786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618678" y="2807641"/>
              <a:ext cx="778675" cy="77867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357520" y="1218960"/>
            <a:ext cx="3040380" cy="825500"/>
            <a:chOff x="5357520" y="1218960"/>
            <a:chExt cx="3040380" cy="825500"/>
          </a:xfrm>
        </p:grpSpPr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36563" y="1265404"/>
              <a:ext cx="778675" cy="7786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6564" y="1218960"/>
              <a:ext cx="1540789" cy="7786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357520" y="1265404"/>
              <a:ext cx="778675" cy="77867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289103" y="4580904"/>
            <a:ext cx="13462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 panose="020F0502020204030204"/>
                <a:cs typeface="Calibri" panose="020F0502020204030204"/>
              </a:rPr>
              <a:t>Horizontal</a:t>
            </a:r>
            <a:r>
              <a:rPr sz="140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latin typeface="Calibri" panose="020F0502020204030204"/>
                <a:cs typeface="Calibri" panose="020F0502020204030204"/>
              </a:rPr>
              <a:t>Scaling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0421" y="214466"/>
            <a:ext cx="29133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Big</a:t>
            </a:r>
            <a:r>
              <a:rPr sz="2800" spc="-85" dirty="0"/>
              <a:t> </a:t>
            </a:r>
            <a:r>
              <a:rPr sz="2800" dirty="0"/>
              <a:t>Data</a:t>
            </a:r>
            <a:r>
              <a:rPr sz="2800" spc="-75" dirty="0"/>
              <a:t> </a:t>
            </a:r>
            <a:r>
              <a:rPr sz="2800" spc="-10" dirty="0"/>
              <a:t>Challenges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954354" y="763382"/>
            <a:ext cx="7010400" cy="3665220"/>
            <a:chOff x="954354" y="763382"/>
            <a:chExt cx="7010400" cy="366522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54354" y="818644"/>
              <a:ext cx="7009917" cy="36097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32560" y="799200"/>
              <a:ext cx="6678930" cy="561340"/>
            </a:xfrm>
            <a:custGeom>
              <a:avLst/>
              <a:gdLst/>
              <a:ahLst/>
              <a:cxnLst/>
              <a:rect l="l" t="t" r="r" b="b"/>
              <a:pathLst>
                <a:path w="6678930" h="561340">
                  <a:moveTo>
                    <a:pt x="6678358" y="0"/>
                  </a:moveTo>
                  <a:lnTo>
                    <a:pt x="0" y="0"/>
                  </a:lnTo>
                  <a:lnTo>
                    <a:pt x="0" y="560882"/>
                  </a:lnTo>
                  <a:lnTo>
                    <a:pt x="3339363" y="560882"/>
                  </a:lnTo>
                  <a:lnTo>
                    <a:pt x="6678358" y="560882"/>
                  </a:lnTo>
                  <a:lnTo>
                    <a:pt x="6678358" y="0"/>
                  </a:lnTo>
                  <a:close/>
                </a:path>
              </a:pathLst>
            </a:custGeom>
            <a:solidFill>
              <a:srgbClr val="000000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32560" y="799200"/>
              <a:ext cx="6678930" cy="561340"/>
            </a:xfrm>
            <a:custGeom>
              <a:avLst/>
              <a:gdLst/>
              <a:ahLst/>
              <a:cxnLst/>
              <a:rect l="l" t="t" r="r" b="b"/>
              <a:pathLst>
                <a:path w="6678930" h="561340">
                  <a:moveTo>
                    <a:pt x="3339363" y="560882"/>
                  </a:moveTo>
                  <a:lnTo>
                    <a:pt x="0" y="560882"/>
                  </a:lnTo>
                  <a:lnTo>
                    <a:pt x="0" y="0"/>
                  </a:lnTo>
                  <a:lnTo>
                    <a:pt x="6678358" y="0"/>
                  </a:lnTo>
                  <a:lnTo>
                    <a:pt x="6678358" y="560882"/>
                  </a:lnTo>
                  <a:lnTo>
                    <a:pt x="3339363" y="560882"/>
                  </a:lnTo>
                  <a:close/>
                </a:path>
              </a:pathLst>
            </a:custGeom>
            <a:ln w="25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32560" y="776162"/>
              <a:ext cx="6678930" cy="561340"/>
            </a:xfrm>
            <a:custGeom>
              <a:avLst/>
              <a:gdLst/>
              <a:ahLst/>
              <a:cxnLst/>
              <a:rect l="l" t="t" r="r" b="b"/>
              <a:pathLst>
                <a:path w="6678930" h="561340">
                  <a:moveTo>
                    <a:pt x="6678358" y="0"/>
                  </a:moveTo>
                  <a:lnTo>
                    <a:pt x="0" y="0"/>
                  </a:lnTo>
                  <a:lnTo>
                    <a:pt x="0" y="560882"/>
                  </a:lnTo>
                  <a:lnTo>
                    <a:pt x="3339363" y="560882"/>
                  </a:lnTo>
                  <a:lnTo>
                    <a:pt x="6678358" y="560882"/>
                  </a:lnTo>
                  <a:lnTo>
                    <a:pt x="6678358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32560" y="776162"/>
              <a:ext cx="6678930" cy="561340"/>
            </a:xfrm>
            <a:custGeom>
              <a:avLst/>
              <a:gdLst/>
              <a:ahLst/>
              <a:cxnLst/>
              <a:rect l="l" t="t" r="r" b="b"/>
              <a:pathLst>
                <a:path w="6678930" h="561340">
                  <a:moveTo>
                    <a:pt x="3339363" y="560882"/>
                  </a:moveTo>
                  <a:lnTo>
                    <a:pt x="0" y="560882"/>
                  </a:lnTo>
                  <a:lnTo>
                    <a:pt x="0" y="0"/>
                  </a:lnTo>
                  <a:lnTo>
                    <a:pt x="6678358" y="0"/>
                  </a:lnTo>
                  <a:lnTo>
                    <a:pt x="6678358" y="560882"/>
                  </a:lnTo>
                  <a:lnTo>
                    <a:pt x="3339363" y="560882"/>
                  </a:lnTo>
                  <a:close/>
                </a:path>
              </a:pathLst>
            </a:custGeom>
            <a:ln w="25559">
              <a:solidFill>
                <a:srgbClr val="2424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45340" y="808826"/>
            <a:ext cx="665289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Scaling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9055" y="4797985"/>
            <a:ext cx="6005830" cy="359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15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Source: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315"/>
              </a:lnSpc>
            </a:pPr>
            <a:r>
              <a:rPr sz="1100" dirty="0">
                <a:latin typeface="Arial MT"/>
                <a:cs typeface="Arial MT"/>
              </a:rPr>
              <a:t>https://s-</a:t>
            </a:r>
            <a:r>
              <a:rPr sz="1100" spc="-10" dirty="0">
                <a:latin typeface="Arial MT"/>
                <a:cs typeface="Arial MT"/>
              </a:rPr>
              <a:t>media-cache-ak0.pinimg.com/736x/10/0c/d0/100cd0da1c19e5d6f850ed23c3633714.jpg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42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Big</a:t>
            </a:r>
            <a:r>
              <a:rPr sz="2800" spc="-80" dirty="0"/>
              <a:t> </a:t>
            </a:r>
            <a:r>
              <a:rPr sz="2800" dirty="0"/>
              <a:t>Data</a:t>
            </a:r>
            <a:r>
              <a:rPr sz="2800" spc="-70" dirty="0"/>
              <a:t> </a:t>
            </a:r>
            <a:r>
              <a:rPr sz="2800" spc="-10" dirty="0"/>
              <a:t>Challenges:</a:t>
            </a:r>
            <a:r>
              <a:rPr sz="2800" spc="-75" dirty="0"/>
              <a:t> </a:t>
            </a:r>
            <a:r>
              <a:rPr sz="2800" dirty="0"/>
              <a:t>Scale</a:t>
            </a:r>
            <a:r>
              <a:rPr sz="2800" spc="-70" dirty="0"/>
              <a:t> </a:t>
            </a:r>
            <a:r>
              <a:rPr sz="2800" dirty="0"/>
              <a:t>of</a:t>
            </a:r>
            <a:r>
              <a:rPr sz="2800" spc="-70" dirty="0"/>
              <a:t> </a:t>
            </a:r>
            <a:r>
              <a:rPr sz="2800" spc="-10" dirty="0"/>
              <a:t>infrastructure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771057" y="4697896"/>
            <a:ext cx="3116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Source: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https://datacenter.legrand.com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5721" y="717844"/>
            <a:ext cx="7614716" cy="39466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546" y="1089624"/>
            <a:ext cx="189230" cy="40030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  <a:p>
            <a:pPr marL="37465">
              <a:lnSpc>
                <a:spcPct val="100000"/>
              </a:lnSpc>
              <a:spcBef>
                <a:spcPts val="108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1255" y="1102222"/>
            <a:ext cx="7024370" cy="40030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A</a:t>
            </a:r>
            <a:r>
              <a:rPr sz="1800" u="sng" spc="-11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Brief</a:t>
            </a:r>
            <a:r>
              <a:rPr sz="18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History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of</a:t>
            </a:r>
            <a:r>
              <a:rPr sz="18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Big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Data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Everyone</a:t>
            </a:r>
            <a:r>
              <a:rPr sz="18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Should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 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"/>
              </a:rPr>
              <a:t>Read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50000"/>
              </a:lnSpc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Beyond</a:t>
            </a:r>
            <a:r>
              <a:rPr sz="18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Volume,</a:t>
            </a:r>
            <a:r>
              <a:rPr sz="18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Variety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and</a:t>
            </a:r>
            <a:r>
              <a:rPr sz="18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Velocity</a:t>
            </a:r>
            <a:r>
              <a:rPr sz="18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is</a:t>
            </a:r>
            <a:r>
              <a:rPr sz="18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the</a:t>
            </a:r>
            <a:r>
              <a:rPr sz="18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Issue</a:t>
            </a:r>
            <a:r>
              <a:rPr sz="18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of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Big</a:t>
            </a:r>
            <a:r>
              <a:rPr sz="18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Data</a:t>
            </a:r>
            <a:r>
              <a:rPr sz="18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Veracity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data?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OpenSource.com</a:t>
            </a:r>
            <a:r>
              <a:rPr sz="18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O’Reilly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Uber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Use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Case</a:t>
            </a:r>
            <a:endParaRPr sz="1800">
              <a:latin typeface="Arial MT"/>
              <a:cs typeface="Arial MT"/>
            </a:endParaRPr>
          </a:p>
          <a:p>
            <a:pPr marL="12700" marR="3400425">
              <a:lnSpc>
                <a:spcPct val="150000"/>
              </a:lnSpc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5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Big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Data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Use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Cases</a:t>
            </a:r>
            <a:r>
              <a:rPr sz="18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sng" spc="-9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To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Watch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Best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Big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Data</a:t>
            </a:r>
            <a:r>
              <a:rPr sz="1800" u="sng" spc="-1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Analytics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Use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Cases</a:t>
            </a:r>
            <a:r>
              <a:rPr sz="1800" u="sng" spc="5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endParaRPr sz="1800">
              <a:latin typeface="Arial MT"/>
              <a:cs typeface="Arial MT"/>
            </a:endParaRPr>
          </a:p>
          <a:p>
            <a:pPr marL="12700" marR="2745105" algn="just">
              <a:lnSpc>
                <a:spcPct val="150000"/>
              </a:lnSpc>
            </a:pP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The</a:t>
            </a:r>
            <a:r>
              <a:rPr sz="18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5</a:t>
            </a:r>
            <a:r>
              <a:rPr sz="18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game</a:t>
            </a:r>
            <a:r>
              <a:rPr sz="18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changing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big</a:t>
            </a:r>
            <a:r>
              <a:rPr sz="18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data</a:t>
            </a:r>
            <a:r>
              <a:rPr sz="18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use</a:t>
            </a:r>
            <a:r>
              <a:rPr sz="18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8"/>
              </a:rPr>
              <a:t>cases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Big</a:t>
            </a:r>
            <a:r>
              <a:rPr sz="18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Data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-</a:t>
            </a:r>
            <a:r>
              <a:rPr sz="18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The</a:t>
            </a:r>
            <a:r>
              <a:rPr sz="18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5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Vs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Everyone</a:t>
            </a:r>
            <a:r>
              <a:rPr sz="18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Must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9"/>
              </a:rPr>
              <a:t> Know</a:t>
            </a:r>
            <a:r>
              <a:rPr sz="18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Top</a:t>
            </a:r>
            <a:r>
              <a:rPr sz="18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SlideShare</a:t>
            </a:r>
            <a:r>
              <a:rPr sz="18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Presentations</a:t>
            </a:r>
            <a:r>
              <a:rPr sz="18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on</a:t>
            </a:r>
            <a:r>
              <a:rPr sz="18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Big</a:t>
            </a:r>
            <a:r>
              <a:rPr sz="18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0"/>
              </a:rPr>
              <a:t>Data</a:t>
            </a:r>
            <a:r>
              <a:rPr sz="18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Google</a:t>
            </a:r>
            <a:r>
              <a:rPr sz="18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Data</a:t>
            </a:r>
            <a:r>
              <a:rPr sz="18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Center</a:t>
            </a:r>
            <a:r>
              <a:rPr sz="18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360°</a:t>
            </a:r>
            <a:r>
              <a:rPr sz="1800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11"/>
              </a:rPr>
              <a:t>Tour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137" rIns="0" bIns="0" rtlCol="0">
            <a:spAutoFit/>
          </a:bodyPr>
          <a:lstStyle/>
          <a:p>
            <a:pPr marL="248158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Further</a:t>
            </a:r>
            <a:r>
              <a:rPr sz="2800" spc="-105" dirty="0"/>
              <a:t> </a:t>
            </a:r>
            <a:r>
              <a:rPr sz="2800" spc="-10" dirty="0"/>
              <a:t>Reading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8939" y="2340624"/>
            <a:ext cx="16713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 panose="020F0502020204030204"/>
                <a:cs typeface="Calibri" panose="020F0502020204030204"/>
              </a:rPr>
              <a:t>Questions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?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62714" y="1144792"/>
            <a:ext cx="2437917" cy="25120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265" y="1508660"/>
            <a:ext cx="69113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How</a:t>
            </a:r>
            <a:r>
              <a:rPr sz="5400" spc="-125" dirty="0"/>
              <a:t> </a:t>
            </a:r>
            <a:r>
              <a:rPr sz="5400" dirty="0"/>
              <a:t>to</a:t>
            </a:r>
            <a:r>
              <a:rPr sz="5400" spc="-114" dirty="0"/>
              <a:t> </a:t>
            </a:r>
            <a:r>
              <a:rPr sz="5400" dirty="0"/>
              <a:t>store</a:t>
            </a:r>
            <a:r>
              <a:rPr sz="5400" spc="-100" dirty="0"/>
              <a:t> </a:t>
            </a:r>
            <a:r>
              <a:rPr sz="5400" i="1" dirty="0">
                <a:latin typeface="Calibri" panose="020F0502020204030204"/>
                <a:cs typeface="Calibri" panose="020F0502020204030204"/>
              </a:rPr>
              <a:t>huge</a:t>
            </a:r>
            <a:r>
              <a:rPr sz="5400" i="1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5400" spc="-10" dirty="0"/>
              <a:t>files?</a:t>
            </a:r>
            <a:endParaRPr sz="5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370" rIns="0" bIns="0" rtlCol="0">
            <a:spAutoFit/>
          </a:bodyPr>
          <a:lstStyle/>
          <a:p>
            <a:pPr marL="144653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Arial" panose="020B0604020202020204"/>
                <a:cs typeface="Arial" panose="020B0604020202020204"/>
              </a:rPr>
              <a:t>Requirements?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118" y="1202666"/>
            <a:ext cx="7996555" cy="266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 indent="-469900">
              <a:lnSpc>
                <a:spcPts val="4190"/>
              </a:lnSpc>
              <a:spcBef>
                <a:spcPts val="100"/>
              </a:spcBef>
              <a:buChar char="●"/>
              <a:tabLst>
                <a:tab pos="480695" algn="l"/>
              </a:tabLst>
            </a:pPr>
            <a:r>
              <a:rPr sz="3600" spc="-10" dirty="0">
                <a:latin typeface="Arial MT"/>
                <a:cs typeface="Arial MT"/>
              </a:rPr>
              <a:t>Efficient</a:t>
            </a:r>
            <a:r>
              <a:rPr sz="3600" spc="-22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Access</a:t>
            </a:r>
            <a:endParaRPr sz="3600">
              <a:latin typeface="Arial MT"/>
              <a:cs typeface="Arial MT"/>
            </a:endParaRPr>
          </a:p>
          <a:p>
            <a:pPr marL="480695" indent="-469900">
              <a:lnSpc>
                <a:spcPts val="4060"/>
              </a:lnSpc>
              <a:buChar char="●"/>
              <a:tabLst>
                <a:tab pos="480695" algn="l"/>
              </a:tabLst>
            </a:pPr>
            <a:r>
              <a:rPr sz="3600" dirty="0">
                <a:latin typeface="Arial MT"/>
                <a:cs typeface="Arial MT"/>
              </a:rPr>
              <a:t>Effective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utilization</a:t>
            </a:r>
            <a:r>
              <a:rPr sz="3600" spc="-5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space</a:t>
            </a:r>
            <a:endParaRPr sz="3600">
              <a:latin typeface="Arial MT"/>
              <a:cs typeface="Arial MT"/>
            </a:endParaRPr>
          </a:p>
          <a:p>
            <a:pPr marL="480695" indent="-469900">
              <a:lnSpc>
                <a:spcPts val="4120"/>
              </a:lnSpc>
              <a:buChar char="●"/>
              <a:tabLst>
                <a:tab pos="480695" algn="l"/>
              </a:tabLst>
            </a:pPr>
            <a:r>
              <a:rPr sz="3600" dirty="0">
                <a:latin typeface="Arial MT"/>
                <a:cs typeface="Arial MT"/>
              </a:rPr>
              <a:t>Redundancy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(Failsafe)</a:t>
            </a:r>
            <a:endParaRPr sz="3600">
              <a:latin typeface="Arial MT"/>
              <a:cs typeface="Arial MT"/>
            </a:endParaRPr>
          </a:p>
          <a:p>
            <a:pPr marL="938530" lvl="1" indent="-379730">
              <a:lnSpc>
                <a:spcPts val="2725"/>
              </a:lnSpc>
              <a:buChar char="○"/>
              <a:tabLst>
                <a:tab pos="938530" algn="l"/>
              </a:tabLst>
            </a:pPr>
            <a:r>
              <a:rPr sz="2400" dirty="0">
                <a:latin typeface="Arial MT"/>
                <a:cs typeface="Arial MT"/>
              </a:rPr>
              <a:t>Given: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failing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1%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year</a:t>
            </a:r>
            <a:endParaRPr sz="2400">
              <a:latin typeface="Arial MT"/>
              <a:cs typeface="Arial MT"/>
            </a:endParaRPr>
          </a:p>
          <a:p>
            <a:pPr marL="938530" marR="17780" lvl="1" indent="-380365">
              <a:lnSpc>
                <a:spcPts val="2700"/>
              </a:lnSpc>
              <a:spcBef>
                <a:spcPts val="155"/>
              </a:spcBef>
              <a:buChar char="○"/>
              <a:tabLst>
                <a:tab pos="938530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chances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025" baseline="29000" dirty="0">
                <a:latin typeface="Arial MT"/>
                <a:cs typeface="Arial MT"/>
              </a:rPr>
              <a:t>3</a:t>
            </a:r>
            <a:r>
              <a:rPr sz="2025" spc="390" baseline="290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fails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center?</a:t>
            </a:r>
            <a:r>
              <a:rPr lang="en-US" altLang="" sz="2400" spc="-10" dirty="0">
                <a:latin typeface="Arial MT"/>
                <a:cs typeface="Arial MT"/>
              </a:rPr>
              <a:t> - </a:t>
            </a:r>
            <a:r>
              <a:rPr lang="en-US" altLang="" sz="2400" b="1" u="sng" spc="-10" dirty="0">
                <a:latin typeface="Arial MT"/>
                <a:cs typeface="Arial MT"/>
              </a:rPr>
              <a:t>Let’s calculate</a:t>
            </a:r>
            <a:endParaRPr lang="en-US" altLang="" sz="2400" b="1" u="sng" spc="-1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5094" y="212701"/>
            <a:ext cx="8193405" cy="4154805"/>
          </a:xfrm>
        </p:spPr>
        <p:txBody>
          <a:bodyPr/>
          <a:p>
            <a:r>
              <a:rPr lang="en-US" altLang="zh-CN"/>
              <a:t>from scipy.stats import binom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Parameters</a:t>
            </a:r>
            <a:endParaRPr lang="en-US" altLang="zh-CN"/>
          </a:p>
          <a:p>
            <a:r>
              <a:rPr lang="en-US" altLang="zh-CN"/>
              <a:t>n = 1000</a:t>
            </a:r>
            <a:endParaRPr lang="en-US" altLang="zh-CN"/>
          </a:p>
          <a:p>
            <a:r>
              <a:rPr lang="en-US" altLang="zh-CN"/>
              <a:t>p = 0.01</a:t>
            </a:r>
            <a:endParaRPr lang="en-US" altLang="zh-CN"/>
          </a:p>
          <a:p>
            <a:r>
              <a:rPr lang="en-US" altLang="zh-CN"/>
              <a:t>k = 1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Probability of exactly 1 failure</a:t>
            </a:r>
            <a:endParaRPr lang="en-US" altLang="zh-CN"/>
          </a:p>
          <a:p>
            <a:r>
              <a:rPr lang="en-US" altLang="zh-CN"/>
              <a:t>prob_exactly_1 = binom.pmf(k, n, p)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 Probability of at least 1 failure (often what users actually mean in reliability)</a:t>
            </a:r>
            <a:endParaRPr lang="en-US" altLang="zh-CN"/>
          </a:p>
          <a:p>
            <a:r>
              <a:rPr lang="en-US" altLang="zh-CN"/>
              <a:t>prob_at_least_1 = 1 - binom.pmf(0, n, p)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print(f"{prob_exactly_1=}")</a:t>
            </a:r>
            <a:endParaRPr lang="en-US" altLang="zh-CN"/>
          </a:p>
          <a:p>
            <a:r>
              <a:rPr lang="en-US" altLang="zh-CN"/>
              <a:t>print(f"{prob_at_least_1=}")</a:t>
            </a:r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984" y="1508660"/>
            <a:ext cx="4747895" cy="1268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6420"/>
              </a:lnSpc>
              <a:spcBef>
                <a:spcPts val="100"/>
              </a:spcBef>
            </a:pPr>
            <a:r>
              <a:rPr sz="5400" spc="-20" dirty="0"/>
              <a:t>HDFS</a:t>
            </a:r>
            <a:endParaRPr sz="5400"/>
          </a:p>
          <a:p>
            <a:pPr algn="ctr">
              <a:lnSpc>
                <a:spcPts val="3360"/>
              </a:lnSpc>
            </a:pPr>
            <a:r>
              <a:rPr sz="2850" dirty="0"/>
              <a:t>Hadoop</a:t>
            </a:r>
            <a:r>
              <a:rPr sz="2850" spc="-15" dirty="0"/>
              <a:t> </a:t>
            </a:r>
            <a:r>
              <a:rPr sz="2850" dirty="0"/>
              <a:t>distributed</a:t>
            </a:r>
            <a:r>
              <a:rPr sz="2850" spc="5" dirty="0"/>
              <a:t> </a:t>
            </a:r>
            <a:r>
              <a:rPr sz="2850" dirty="0"/>
              <a:t>File</a:t>
            </a:r>
            <a:r>
              <a:rPr sz="2850" spc="10" dirty="0"/>
              <a:t> </a:t>
            </a:r>
            <a:r>
              <a:rPr sz="2850" spc="-10" dirty="0"/>
              <a:t>System</a:t>
            </a:r>
            <a:endParaRPr sz="28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6265" y="91340"/>
            <a:ext cx="9112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HDFS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49440" y="740424"/>
            <a:ext cx="8030845" cy="285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190" indent="-351790">
              <a:lnSpc>
                <a:spcPts val="3260"/>
              </a:lnSpc>
              <a:spcBef>
                <a:spcPts val="100"/>
              </a:spcBef>
              <a:buClr>
                <a:srgbClr val="006FBF"/>
              </a:buClr>
              <a:buFont typeface="Segoe UI Symbol" panose="020B0502040204020203"/>
              <a:buChar char="●"/>
              <a:tabLst>
                <a:tab pos="377190" algn="l"/>
              </a:tabLst>
            </a:pPr>
            <a:r>
              <a:rPr sz="2800" spc="-150" dirty="0">
                <a:latin typeface="Tahoma" panose="020B0604030504040204"/>
                <a:cs typeface="Tahoma" panose="020B0604030504040204"/>
              </a:rPr>
              <a:t>Data</a:t>
            </a:r>
            <a:r>
              <a:rPr sz="2800" spc="-2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storage</a:t>
            </a:r>
            <a:r>
              <a:rPr sz="2800" spc="-2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45" dirty="0">
                <a:latin typeface="Tahoma" panose="020B0604030504040204"/>
                <a:cs typeface="Tahoma" panose="020B0604030504040204"/>
              </a:rPr>
              <a:t>system</a:t>
            </a:r>
            <a:r>
              <a:rPr sz="2800" spc="-21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used</a:t>
            </a:r>
            <a:r>
              <a:rPr sz="2800" spc="-21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by</a:t>
            </a:r>
            <a:r>
              <a:rPr sz="2800" spc="-2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Hadoop</a:t>
            </a:r>
            <a:endParaRPr sz="2800">
              <a:latin typeface="Tahoma" panose="020B0604030504040204"/>
              <a:cs typeface="Tahoma" panose="020B0604030504040204"/>
            </a:endParaRPr>
          </a:p>
          <a:p>
            <a:pPr marL="834390" marR="17780" lvl="1" indent="-342900">
              <a:lnSpc>
                <a:spcPts val="3150"/>
              </a:lnSpc>
              <a:spcBef>
                <a:spcPts val="180"/>
              </a:spcBef>
              <a:buClr>
                <a:srgbClr val="006FBF"/>
              </a:buClr>
              <a:buFont typeface="Segoe UI Symbol" panose="020B0502040204020203"/>
              <a:buChar char="○"/>
              <a:tabLst>
                <a:tab pos="835660" algn="l"/>
              </a:tabLst>
            </a:pPr>
            <a:r>
              <a:rPr sz="2800" spc="-135" dirty="0">
                <a:latin typeface="Tahoma" panose="020B0604030504040204"/>
                <a:cs typeface="Tahoma" panose="020B0604030504040204"/>
              </a:rPr>
              <a:t>Hadoop:</a:t>
            </a:r>
            <a:r>
              <a:rPr sz="2800" spc="-20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90" dirty="0">
                <a:latin typeface="Tahoma" panose="020B0604030504040204"/>
                <a:cs typeface="Tahoma" panose="020B0604030504040204"/>
              </a:rPr>
              <a:t>Project</a:t>
            </a:r>
            <a:r>
              <a:rPr sz="2800" spc="-19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5" dirty="0">
                <a:latin typeface="Tahoma" panose="020B0604030504040204"/>
                <a:cs typeface="Tahoma" panose="020B0604030504040204"/>
              </a:rPr>
              <a:t>to</a:t>
            </a:r>
            <a:r>
              <a:rPr sz="2800" spc="-20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0" dirty="0">
                <a:latin typeface="Tahoma" panose="020B0604030504040204"/>
                <a:cs typeface="Tahoma" panose="020B0604030504040204"/>
              </a:rPr>
              <a:t>develop</a:t>
            </a:r>
            <a:r>
              <a:rPr sz="2800" spc="-20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open-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source</a:t>
            </a:r>
            <a:r>
              <a:rPr sz="2800" spc="-20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0" dirty="0">
                <a:latin typeface="Tahoma" panose="020B0604030504040204"/>
                <a:cs typeface="Tahoma" panose="020B0604030504040204"/>
              </a:rPr>
              <a:t>software </a:t>
            </a:r>
            <a:r>
              <a:rPr sz="2800" spc="-50" dirty="0">
                <a:latin typeface="Tahoma" panose="020B0604030504040204"/>
                <a:cs typeface="Tahoma" panose="020B0604030504040204"/>
              </a:rPr>
              <a:t>	</a:t>
            </a:r>
            <a:r>
              <a:rPr sz="2800" spc="-80" dirty="0">
                <a:latin typeface="Tahoma" panose="020B0604030504040204"/>
                <a:cs typeface="Tahoma" panose="020B0604030504040204"/>
              </a:rPr>
              <a:t>for</a:t>
            </a:r>
            <a:r>
              <a:rPr sz="28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85" dirty="0">
                <a:latin typeface="Tahoma" panose="020B0604030504040204"/>
                <a:cs typeface="Tahoma" panose="020B0604030504040204"/>
              </a:rPr>
              <a:t>reliable,</a:t>
            </a:r>
            <a:r>
              <a:rPr sz="28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scalable,</a:t>
            </a:r>
            <a:r>
              <a:rPr sz="28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80" dirty="0">
                <a:latin typeface="Tahoma" panose="020B0604030504040204"/>
                <a:cs typeface="Tahoma" panose="020B0604030504040204"/>
              </a:rPr>
              <a:t>distributed</a:t>
            </a:r>
            <a:r>
              <a:rPr sz="28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computing</a:t>
            </a:r>
            <a:r>
              <a:rPr sz="2400" spc="-15" baseline="30000" dirty="0">
                <a:latin typeface="Microsoft JhengHei UI" panose="020B0604030504040204" charset="-120"/>
                <a:cs typeface="Microsoft JhengHei UI" panose="020B0604030504040204" charset="-120"/>
              </a:rPr>
              <a:t>★</a:t>
            </a:r>
            <a:endParaRPr sz="2400" baseline="30000">
              <a:latin typeface="Microsoft JhengHei UI" panose="020B0604030504040204" charset="-120"/>
              <a:cs typeface="Microsoft JhengHei UI" panose="020B0604030504040204" charset="-120"/>
            </a:endParaRPr>
          </a:p>
          <a:p>
            <a:pPr marL="834390" lvl="1" indent="-342900">
              <a:lnSpc>
                <a:spcPts val="2985"/>
              </a:lnSpc>
              <a:buClr>
                <a:srgbClr val="006FBF"/>
              </a:buClr>
              <a:buFont typeface="Segoe UI Symbol" panose="020B0502040204020203"/>
              <a:buChar char="○"/>
              <a:tabLst>
                <a:tab pos="834390" algn="l"/>
              </a:tabLst>
            </a:pPr>
            <a:r>
              <a:rPr sz="2800" spc="-30" dirty="0">
                <a:latin typeface="Tahoma" panose="020B0604030504040204"/>
                <a:cs typeface="Tahoma" panose="020B0604030504040204"/>
              </a:rPr>
              <a:t>Will</a:t>
            </a:r>
            <a:r>
              <a:rPr sz="2800" spc="-20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discuss</a:t>
            </a:r>
            <a:r>
              <a:rPr sz="2800" spc="-20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Hadoop</a:t>
            </a:r>
            <a:r>
              <a:rPr sz="2800" spc="-2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later</a:t>
            </a:r>
            <a:endParaRPr sz="2800">
              <a:latin typeface="Tahoma" panose="020B0604030504040204"/>
              <a:cs typeface="Tahoma" panose="020B0604030504040204"/>
            </a:endParaRPr>
          </a:p>
          <a:p>
            <a:pPr marL="377190" indent="-351790">
              <a:lnSpc>
                <a:spcPts val="3155"/>
              </a:lnSpc>
              <a:buClr>
                <a:srgbClr val="006FBF"/>
              </a:buClr>
              <a:buFont typeface="Segoe UI Symbol" panose="020B0502040204020203"/>
              <a:buChar char="●"/>
              <a:tabLst>
                <a:tab pos="377190" algn="l"/>
              </a:tabLst>
            </a:pPr>
            <a:r>
              <a:rPr sz="2800" spc="-10" dirty="0">
                <a:latin typeface="Tahoma" panose="020B0604030504040204"/>
                <a:cs typeface="Tahoma" panose="020B0604030504040204"/>
              </a:rPr>
              <a:t>Components</a:t>
            </a:r>
            <a:endParaRPr sz="2800">
              <a:latin typeface="Tahoma" panose="020B0604030504040204"/>
              <a:cs typeface="Tahoma" panose="020B0604030504040204"/>
            </a:endParaRPr>
          </a:p>
          <a:p>
            <a:pPr marL="377190" indent="-351790">
              <a:lnSpc>
                <a:spcPts val="3155"/>
              </a:lnSpc>
              <a:buClr>
                <a:srgbClr val="006FBF"/>
              </a:buClr>
              <a:buFont typeface="Segoe UI Symbol" panose="020B0502040204020203"/>
              <a:buChar char="●"/>
              <a:tabLst>
                <a:tab pos="377190" algn="l"/>
              </a:tabLst>
            </a:pPr>
            <a:r>
              <a:rPr sz="2800" spc="-10" dirty="0">
                <a:latin typeface="Tahoma" panose="020B0604030504040204"/>
                <a:cs typeface="Tahoma" panose="020B0604030504040204"/>
              </a:rPr>
              <a:t>Architecture</a:t>
            </a:r>
            <a:endParaRPr sz="2800">
              <a:latin typeface="Tahoma" panose="020B0604030504040204"/>
              <a:cs typeface="Tahoma" panose="020B0604030504040204"/>
            </a:endParaRPr>
          </a:p>
          <a:p>
            <a:pPr marL="377190" indent="-351790">
              <a:lnSpc>
                <a:spcPts val="3255"/>
              </a:lnSpc>
              <a:buClr>
                <a:srgbClr val="006FBF"/>
              </a:buClr>
              <a:buFont typeface="Segoe UI Symbol" panose="020B0502040204020203"/>
              <a:buChar char="●"/>
              <a:tabLst>
                <a:tab pos="377190" algn="l"/>
              </a:tabLst>
            </a:pPr>
            <a:r>
              <a:rPr sz="2800" spc="-240" dirty="0">
                <a:latin typeface="Tahoma" panose="020B0604030504040204"/>
                <a:cs typeface="Tahoma" panose="020B0604030504040204"/>
              </a:rPr>
              <a:t>Tasks</a:t>
            </a:r>
            <a:r>
              <a:rPr sz="2800" spc="-2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dirty="0">
                <a:latin typeface="Tahoma" panose="020B0604030504040204"/>
                <a:cs typeface="Tahoma" panose="020B0604030504040204"/>
              </a:rPr>
              <a:t>/</a:t>
            </a:r>
            <a:r>
              <a:rPr sz="2800" spc="-2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Services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259" y="4689985"/>
            <a:ext cx="2374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8930" algn="l"/>
              </a:tabLst>
            </a:pPr>
            <a:r>
              <a:rPr sz="2100" spc="315" baseline="2000" dirty="0">
                <a:latin typeface="Microsoft JhengHei UI" panose="020B0604030504040204" charset="-120"/>
                <a:cs typeface="Microsoft JhengHei UI" panose="020B0604030504040204" charset="-120"/>
              </a:rPr>
              <a:t>★</a:t>
            </a:r>
            <a:r>
              <a:rPr sz="2100" baseline="2000" dirty="0">
                <a:latin typeface="Microsoft JhengHei UI" panose="020B0604030504040204" charset="-120"/>
                <a:cs typeface="Microsoft JhengHei UI" panose="020B0604030504040204" charset="-120"/>
              </a:rPr>
              <a:t>	</a:t>
            </a:r>
            <a:r>
              <a:rPr sz="1400" spc="-10" dirty="0">
                <a:latin typeface="Arial MT"/>
                <a:cs typeface="Arial MT"/>
                <a:hlinkClick r:id="rId1"/>
              </a:rPr>
              <a:t>http://hadoop.apache.org/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52629" y="913926"/>
            <a:ext cx="1980713" cy="7427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01593" y="1121272"/>
            <a:ext cx="1243817" cy="46640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215" rIns="0" bIns="0" rtlCol="0">
            <a:spAutoFit/>
          </a:bodyPr>
          <a:lstStyle/>
          <a:p>
            <a:pPr marL="1577975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spc="-5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20" dirty="0"/>
              <a:t>HDFS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3585133" y="1698029"/>
            <a:ext cx="13627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Active</a:t>
            </a:r>
            <a:r>
              <a:rPr sz="14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NameNode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5825" y="4512502"/>
            <a:ext cx="721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DataNodes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57400" y="2057046"/>
            <a:ext cx="4219575" cy="2421890"/>
            <a:chOff x="2057400" y="2057046"/>
            <a:chExt cx="4219575" cy="24218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914" y="2857324"/>
              <a:ext cx="618878" cy="8068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914" y="2857324"/>
              <a:ext cx="618878" cy="8068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085" y="2057046"/>
              <a:ext cx="637921" cy="8211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4085" y="2057046"/>
              <a:ext cx="637920" cy="8211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400" y="2057046"/>
              <a:ext cx="637920" cy="8211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714" y="3657246"/>
              <a:ext cx="637921" cy="8211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2857324"/>
              <a:ext cx="637921" cy="8211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7800" y="2057046"/>
              <a:ext cx="637921" cy="8211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085" y="3657246"/>
              <a:ext cx="637921" cy="8211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685" y="2857324"/>
              <a:ext cx="637921" cy="8211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1485" y="3657246"/>
              <a:ext cx="637921" cy="82115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90664" y="1698029"/>
            <a:ext cx="16852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Secondary</a:t>
            </a:r>
            <a:r>
              <a:rPr sz="1400" b="1" spc="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NameNode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885" y="1999807"/>
            <a:ext cx="618878" cy="80687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62706" y="799804"/>
            <a:ext cx="1980713" cy="74270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010539" y="1698029"/>
            <a:ext cx="1506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Standby</a:t>
            </a:r>
            <a:r>
              <a:rPr sz="1400" b="1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NameNode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3980" y="91340"/>
            <a:ext cx="21139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Terminology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8375" y="618870"/>
            <a:ext cx="267970" cy="13360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●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●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●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939" y="667854"/>
            <a:ext cx="7051040" cy="13366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b="1" spc="-60" dirty="0">
                <a:latin typeface="Calibri" panose="020F0502020204030204"/>
                <a:cs typeface="Calibri" panose="020F0502020204030204"/>
              </a:rPr>
              <a:t>HDFS</a:t>
            </a:r>
            <a:r>
              <a:rPr sz="2400" spc="-60" dirty="0">
                <a:latin typeface="Tahoma" panose="020B0604030504040204"/>
                <a:cs typeface="Tahoma" panose="020B0604030504040204"/>
              </a:rPr>
              <a:t>: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Hadoop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Distributed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File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System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b="1" spc="-45" dirty="0">
                <a:latin typeface="Calibri" panose="020F0502020204030204"/>
                <a:cs typeface="Calibri" panose="020F0502020204030204"/>
              </a:rPr>
              <a:t>Datanode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:</a:t>
            </a:r>
            <a:r>
              <a:rPr sz="2400" spc="-204" dirty="0"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DataNode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HDFS.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b="1" spc="-30" dirty="0">
                <a:latin typeface="Calibri" panose="020F0502020204030204"/>
                <a:cs typeface="Calibri" panose="020F0502020204030204"/>
              </a:rPr>
              <a:t>Namenode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:</a:t>
            </a:r>
            <a:r>
              <a:rPr sz="24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centerpiece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HDFS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6261" y="1928913"/>
            <a:ext cx="267970" cy="89979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○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○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5763" y="1978951"/>
            <a:ext cx="7164070" cy="2211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43180">
              <a:lnSpc>
                <a:spcPct val="119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Keeps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directory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 </a:t>
            </a:r>
            <a:r>
              <a:rPr sz="2400" dirty="0">
                <a:latin typeface="Arial MT"/>
                <a:cs typeface="Arial MT"/>
              </a:rPr>
              <a:t>Tracks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across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cluster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kept.</a:t>
            </a:r>
            <a:endParaRPr sz="2400">
              <a:latin typeface="Arial MT"/>
              <a:cs typeface="Arial MT"/>
            </a:endParaRPr>
          </a:p>
          <a:p>
            <a:pPr marL="519430" indent="-468630">
              <a:lnSpc>
                <a:spcPct val="100000"/>
              </a:lnSpc>
              <a:spcBef>
                <a:spcPts val="570"/>
              </a:spcBef>
              <a:buClr>
                <a:srgbClr val="006FBF"/>
              </a:buClr>
              <a:buFont typeface="Segoe UI Symbol" panose="020B0502040204020203"/>
              <a:buChar char="■"/>
              <a:tabLst>
                <a:tab pos="519430" algn="l"/>
              </a:tabLst>
            </a:pP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itself.</a:t>
            </a:r>
            <a:endParaRPr sz="240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560"/>
              </a:spcBef>
            </a:pPr>
            <a:r>
              <a:rPr sz="2400" spc="-75" dirty="0">
                <a:latin typeface="Tahoma" panose="020B0604030504040204"/>
                <a:cs typeface="Tahoma" panose="020B0604030504040204"/>
              </a:rPr>
              <a:t>Active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20" dirty="0">
                <a:latin typeface="Tahoma" panose="020B0604030504040204"/>
                <a:cs typeface="Tahoma" panose="020B0604030504040204"/>
              </a:rPr>
              <a:t>:</a:t>
            </a:r>
            <a:r>
              <a:rPr sz="24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Actively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serving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request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14300">
              <a:lnSpc>
                <a:spcPct val="100000"/>
              </a:lnSpc>
              <a:spcBef>
                <a:spcPts val="560"/>
              </a:spcBef>
            </a:pPr>
            <a:r>
              <a:rPr sz="2400" spc="-130" dirty="0">
                <a:latin typeface="Tahoma" panose="020B0604030504040204"/>
                <a:cs typeface="Tahoma" panose="020B0604030504040204"/>
              </a:rPr>
              <a:t>Standby: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Becomes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Active</a:t>
            </a:r>
            <a:r>
              <a:rPr sz="24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if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the</a:t>
            </a:r>
            <a:r>
              <a:rPr sz="24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current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Active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node</a:t>
            </a:r>
            <a:r>
              <a:rPr sz="24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fails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6261" y="3240760"/>
            <a:ext cx="267970" cy="89979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○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○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3980" y="91340"/>
            <a:ext cx="21139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Terminology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8375" y="689662"/>
            <a:ext cx="2679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●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939" y="738989"/>
            <a:ext cx="2896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 panose="020F0502020204030204"/>
                <a:cs typeface="Calibri" panose="020F0502020204030204"/>
              </a:rPr>
              <a:t>Secondary</a:t>
            </a:r>
            <a:r>
              <a:rPr sz="24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Namenode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: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6261" y="1055216"/>
            <a:ext cx="267970" cy="89979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○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spc="-11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○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7578" y="1105229"/>
            <a:ext cx="6217285" cy="12649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400" dirty="0">
                <a:latin typeface="Arial MT"/>
                <a:cs typeface="Arial MT"/>
              </a:rPr>
              <a:t>helper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namenode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60"/>
              </a:spcBef>
            </a:pPr>
            <a:r>
              <a:rPr sz="2400" dirty="0">
                <a:latin typeface="Arial MT"/>
                <a:cs typeface="Arial MT"/>
              </a:rPr>
              <a:t>Puts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checkpoint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filesystem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help </a:t>
            </a:r>
            <a:r>
              <a:rPr sz="2400" spc="-10" dirty="0">
                <a:latin typeface="Arial MT"/>
                <a:cs typeface="Arial MT"/>
              </a:rPr>
              <a:t>Namenode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better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3064" y="466104"/>
            <a:ext cx="210185" cy="417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95"/>
              </a:lnSpc>
              <a:spcBef>
                <a:spcPts val="100"/>
              </a:spcBef>
            </a:pPr>
            <a:r>
              <a:rPr sz="2400" b="1" spc="-50" dirty="0">
                <a:latin typeface="Calibri" panose="020F0502020204030204"/>
                <a:cs typeface="Calibri" panose="020F0502020204030204"/>
              </a:rPr>
              <a:t>A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2860" marR="15240" indent="27305" algn="just">
              <a:lnSpc>
                <a:spcPct val="94000"/>
              </a:lnSpc>
              <a:spcBef>
                <a:spcPts val="85"/>
              </a:spcBef>
            </a:pPr>
            <a:r>
              <a:rPr sz="2400" b="1" spc="-50" dirty="0">
                <a:latin typeface="Calibri" panose="020F0502020204030204"/>
                <a:cs typeface="Calibri" panose="020F0502020204030204"/>
              </a:rPr>
              <a:t>r c h i t e c t u r e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38292" y="211534"/>
            <a:ext cx="7631011" cy="470189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3225" y="198261"/>
            <a:ext cx="3355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Storing</a:t>
            </a:r>
            <a:r>
              <a:rPr spc="-65" dirty="0"/>
              <a:t> </a:t>
            </a:r>
            <a:r>
              <a:rPr dirty="0"/>
              <a:t>file</a:t>
            </a:r>
            <a:r>
              <a:rPr spc="-60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spc="-20" dirty="0"/>
              <a:t>HDFS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685965" y="772098"/>
            <a:ext cx="7188834" cy="257302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473075" marR="588645" indent="-447675">
              <a:lnSpc>
                <a:spcPct val="80000"/>
              </a:lnSpc>
              <a:spcBef>
                <a:spcPts val="965"/>
              </a:spcBef>
            </a:pPr>
            <a:r>
              <a:rPr sz="3600" b="1" spc="-10" dirty="0">
                <a:latin typeface="Calibri" panose="020F0502020204030204"/>
                <a:cs typeface="Calibri" panose="020F0502020204030204"/>
              </a:rPr>
              <a:t>Motivation:</a:t>
            </a:r>
            <a:r>
              <a:rPr sz="36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25" dirty="0">
                <a:latin typeface="Tahoma" panose="020B0604030504040204"/>
                <a:cs typeface="Tahoma" panose="020B0604030504040204"/>
              </a:rPr>
              <a:t>Reliability,</a:t>
            </a:r>
            <a:r>
              <a:rPr sz="3600" spc="-32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90" dirty="0">
                <a:latin typeface="Tahoma" panose="020B0604030504040204"/>
                <a:cs typeface="Tahoma" panose="020B0604030504040204"/>
              </a:rPr>
              <a:t>Availability</a:t>
            </a:r>
            <a:r>
              <a:rPr sz="3600" spc="-31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60" dirty="0">
                <a:latin typeface="Tahoma" panose="020B0604030504040204"/>
                <a:cs typeface="Tahoma" panose="020B0604030504040204"/>
              </a:rPr>
              <a:t>, </a:t>
            </a:r>
            <a:r>
              <a:rPr sz="3600" spc="-100" dirty="0">
                <a:latin typeface="Tahoma" panose="020B0604030504040204"/>
                <a:cs typeface="Tahoma" panose="020B0604030504040204"/>
              </a:rPr>
              <a:t>Network</a:t>
            </a:r>
            <a:r>
              <a:rPr sz="3600" spc="-2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0" dirty="0">
                <a:latin typeface="Tahoma" panose="020B0604030504040204"/>
                <a:cs typeface="Tahoma" panose="020B0604030504040204"/>
              </a:rPr>
              <a:t>Bandwidth</a:t>
            </a:r>
            <a:endParaRPr sz="3600">
              <a:latin typeface="Tahoma" panose="020B0604030504040204"/>
              <a:cs typeface="Tahoma" panose="020B0604030504040204"/>
            </a:endParaRPr>
          </a:p>
          <a:p>
            <a:pPr marL="473075" marR="126365" indent="-448310">
              <a:lnSpc>
                <a:spcPct val="80000"/>
              </a:lnSpc>
              <a:spcBef>
                <a:spcPts val="400"/>
              </a:spcBef>
              <a:buClr>
                <a:srgbClr val="006FBF"/>
              </a:buClr>
              <a:buFont typeface="Segoe UI Symbol" panose="020B0502040204020203"/>
              <a:buChar char="➢"/>
              <a:tabLst>
                <a:tab pos="473075" algn="l"/>
              </a:tabLst>
            </a:pPr>
            <a:r>
              <a:rPr sz="3000" spc="-180" dirty="0">
                <a:latin typeface="Tahoma" panose="020B0604030504040204"/>
                <a:cs typeface="Tahoma" panose="020B0604030504040204"/>
              </a:rPr>
              <a:t>The</a:t>
            </a:r>
            <a:r>
              <a:rPr sz="3000" spc="-240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75" dirty="0">
                <a:latin typeface="Tahoma" panose="020B0604030504040204"/>
                <a:cs typeface="Tahoma" panose="020B0604030504040204"/>
              </a:rPr>
              <a:t>input</a:t>
            </a:r>
            <a:r>
              <a:rPr sz="3000" spc="-23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50" dirty="0">
                <a:latin typeface="Tahoma" panose="020B0604030504040204"/>
                <a:cs typeface="Tahoma" panose="020B0604030504040204"/>
              </a:rPr>
              <a:t>file</a:t>
            </a:r>
            <a:r>
              <a:rPr sz="3000" spc="-240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200" dirty="0">
                <a:latin typeface="Tahoma" panose="020B0604030504040204"/>
                <a:cs typeface="Tahoma" panose="020B0604030504040204"/>
              </a:rPr>
              <a:t>(say</a:t>
            </a:r>
            <a:r>
              <a:rPr sz="3000" spc="-23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40" dirty="0">
                <a:latin typeface="Tahoma" panose="020B0604030504040204"/>
                <a:cs typeface="Tahoma" panose="020B0604030504040204"/>
              </a:rPr>
              <a:t>1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245" dirty="0">
                <a:latin typeface="Tahoma" panose="020B0604030504040204"/>
                <a:cs typeface="Tahoma" panose="020B0604030504040204"/>
              </a:rPr>
              <a:t>TB)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00" dirty="0">
                <a:latin typeface="Tahoma" panose="020B0604030504040204"/>
                <a:cs typeface="Tahoma" panose="020B0604030504040204"/>
              </a:rPr>
              <a:t>is</a:t>
            </a:r>
            <a:r>
              <a:rPr sz="3000" spc="-23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65" dirty="0">
                <a:latin typeface="Tahoma" panose="020B0604030504040204"/>
                <a:cs typeface="Tahoma" panose="020B0604030504040204"/>
              </a:rPr>
              <a:t>split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65" dirty="0">
                <a:latin typeface="Tahoma" panose="020B0604030504040204"/>
                <a:cs typeface="Tahoma" panose="020B0604030504040204"/>
              </a:rPr>
              <a:t>into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50" dirty="0">
                <a:latin typeface="Tahoma" panose="020B0604030504040204"/>
                <a:cs typeface="Tahoma" panose="020B0604030504040204"/>
              </a:rPr>
              <a:t>smaller </a:t>
            </a:r>
            <a:r>
              <a:rPr sz="3000" spc="-120" dirty="0">
                <a:latin typeface="Tahoma" panose="020B0604030504040204"/>
                <a:cs typeface="Tahoma" panose="020B0604030504040204"/>
              </a:rPr>
              <a:t>chunks/blocks</a:t>
            </a:r>
            <a:r>
              <a:rPr sz="3000" spc="-21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50" dirty="0">
                <a:latin typeface="Tahoma" panose="020B0604030504040204"/>
                <a:cs typeface="Tahoma" panose="020B0604030504040204"/>
              </a:rPr>
              <a:t>of</a:t>
            </a:r>
            <a:r>
              <a:rPr sz="3000" spc="-22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40" dirty="0">
                <a:latin typeface="Tahoma" panose="020B0604030504040204"/>
                <a:cs typeface="Tahoma" panose="020B0604030504040204"/>
              </a:rPr>
              <a:t>128</a:t>
            </a:r>
            <a:r>
              <a:rPr sz="3000" spc="-204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25" dirty="0">
                <a:latin typeface="Tahoma" panose="020B0604030504040204"/>
                <a:cs typeface="Tahoma" panose="020B0604030504040204"/>
              </a:rPr>
              <a:t>MB</a:t>
            </a:r>
            <a:endParaRPr sz="3000">
              <a:latin typeface="Tahoma" panose="020B0604030504040204"/>
              <a:cs typeface="Tahoma" panose="020B0604030504040204"/>
            </a:endParaRPr>
          </a:p>
          <a:p>
            <a:pPr marL="473075" marR="17780" indent="-448310">
              <a:lnSpc>
                <a:spcPts val="2880"/>
              </a:lnSpc>
              <a:spcBef>
                <a:spcPts val="365"/>
              </a:spcBef>
              <a:buClr>
                <a:srgbClr val="006FBF"/>
              </a:buClr>
              <a:buFont typeface="Segoe UI Symbol" panose="020B0502040204020203"/>
              <a:buChar char="➢"/>
              <a:tabLst>
                <a:tab pos="473075" algn="l"/>
              </a:tabLst>
            </a:pPr>
            <a:r>
              <a:rPr sz="3000" spc="-180" dirty="0">
                <a:latin typeface="Tahoma" panose="020B0604030504040204"/>
                <a:cs typeface="Tahoma" panose="020B0604030504040204"/>
              </a:rPr>
              <a:t>The</a:t>
            </a:r>
            <a:r>
              <a:rPr sz="3000" spc="-23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45" dirty="0">
                <a:latin typeface="Tahoma" panose="020B0604030504040204"/>
                <a:cs typeface="Tahoma" panose="020B0604030504040204"/>
              </a:rPr>
              <a:t>chunks</a:t>
            </a:r>
            <a:r>
              <a:rPr sz="3000" spc="-22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14" dirty="0">
                <a:latin typeface="Tahoma" panose="020B0604030504040204"/>
                <a:cs typeface="Tahoma" panose="020B0604030504040204"/>
              </a:rPr>
              <a:t>are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00" dirty="0">
                <a:latin typeface="Tahoma" panose="020B0604030504040204"/>
                <a:cs typeface="Tahoma" panose="020B0604030504040204"/>
              </a:rPr>
              <a:t>stored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85" dirty="0">
                <a:latin typeface="Tahoma" panose="020B0604030504040204"/>
                <a:cs typeface="Tahoma" panose="020B0604030504040204"/>
              </a:rPr>
              <a:t>on</a:t>
            </a:r>
            <a:r>
              <a:rPr sz="3000" spc="-22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70" dirty="0">
                <a:latin typeface="Tahoma" panose="020B0604030504040204"/>
                <a:cs typeface="Tahoma" panose="020B0604030504040204"/>
              </a:rPr>
              <a:t>multiple</a:t>
            </a:r>
            <a:r>
              <a:rPr sz="3000" spc="-23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14" dirty="0">
                <a:latin typeface="Tahoma" panose="020B0604030504040204"/>
                <a:cs typeface="Tahoma" panose="020B0604030504040204"/>
              </a:rPr>
              <a:t>nodes</a:t>
            </a:r>
            <a:r>
              <a:rPr sz="3000" spc="-21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35" dirty="0">
                <a:latin typeface="Tahoma" panose="020B0604030504040204"/>
                <a:cs typeface="Tahoma" panose="020B0604030504040204"/>
              </a:rPr>
              <a:t>as </a:t>
            </a:r>
            <a:r>
              <a:rPr sz="3000" spc="-95" dirty="0">
                <a:latin typeface="Tahoma" panose="020B0604030504040204"/>
                <a:cs typeface="Tahoma" panose="020B0604030504040204"/>
              </a:rPr>
              <a:t>independent</a:t>
            </a:r>
            <a:r>
              <a:rPr sz="3000" spc="-22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80" dirty="0">
                <a:latin typeface="Tahoma" panose="020B0604030504040204"/>
                <a:cs typeface="Tahoma" panose="020B0604030504040204"/>
              </a:rPr>
              <a:t>files</a:t>
            </a:r>
            <a:r>
              <a:rPr sz="3000" spc="-220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80" dirty="0">
                <a:latin typeface="Tahoma" panose="020B0604030504040204"/>
                <a:cs typeface="Tahoma" panose="020B0604030504040204"/>
              </a:rPr>
              <a:t>on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25" dirty="0">
                <a:latin typeface="Tahoma" panose="020B0604030504040204"/>
                <a:cs typeface="Tahoma" panose="020B0604030504040204"/>
              </a:rPr>
              <a:t>data</a:t>
            </a:r>
            <a:r>
              <a:rPr sz="3000" spc="-21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0" dirty="0">
                <a:latin typeface="Tahoma" panose="020B0604030504040204"/>
                <a:cs typeface="Tahoma" panose="020B0604030504040204"/>
              </a:rPr>
              <a:t>nodes</a:t>
            </a:r>
            <a:endParaRPr sz="3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3225" y="198261"/>
            <a:ext cx="3355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Storing</a:t>
            </a:r>
            <a:r>
              <a:rPr spc="-65" dirty="0"/>
              <a:t> </a:t>
            </a:r>
            <a:r>
              <a:rPr dirty="0"/>
              <a:t>file</a:t>
            </a:r>
            <a:r>
              <a:rPr spc="-60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spc="-20" dirty="0"/>
              <a:t>HDFS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01738" y="772098"/>
            <a:ext cx="7745095" cy="101219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458470" marR="5080" indent="-450850">
              <a:lnSpc>
                <a:spcPct val="80000"/>
              </a:lnSpc>
              <a:spcBef>
                <a:spcPts val="965"/>
              </a:spcBef>
              <a:buClr>
                <a:srgbClr val="006FBF"/>
              </a:buClr>
              <a:buFont typeface="Segoe UI Symbol" panose="020B0502040204020203"/>
              <a:buChar char="➢"/>
              <a:tabLst>
                <a:tab pos="459740" algn="l"/>
              </a:tabLst>
            </a:pPr>
            <a:r>
              <a:rPr sz="3600" spc="-370" dirty="0">
                <a:latin typeface="Tahoma" panose="020B0604030504040204"/>
                <a:cs typeface="Tahoma" panose="020B0604030504040204"/>
              </a:rPr>
              <a:t>To</a:t>
            </a:r>
            <a:r>
              <a:rPr sz="3600" spc="-28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40" dirty="0">
                <a:latin typeface="Tahoma" panose="020B0604030504040204"/>
                <a:cs typeface="Tahoma" panose="020B0604030504040204"/>
              </a:rPr>
              <a:t>ensure</a:t>
            </a:r>
            <a:r>
              <a:rPr sz="3600" spc="-28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00" dirty="0">
                <a:latin typeface="Tahoma" panose="020B0604030504040204"/>
                <a:cs typeface="Tahoma" panose="020B0604030504040204"/>
              </a:rPr>
              <a:t>that</a:t>
            </a:r>
            <a:r>
              <a:rPr sz="3600" spc="-29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40" dirty="0">
                <a:latin typeface="Tahoma" panose="020B0604030504040204"/>
                <a:cs typeface="Tahoma" panose="020B0604030504040204"/>
              </a:rPr>
              <a:t>data</a:t>
            </a:r>
            <a:r>
              <a:rPr sz="3600" spc="-27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14" dirty="0">
                <a:latin typeface="Tahoma" panose="020B0604030504040204"/>
                <a:cs typeface="Tahoma" panose="020B0604030504040204"/>
              </a:rPr>
              <a:t>is</a:t>
            </a:r>
            <a:r>
              <a:rPr sz="3600" spc="-29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75" dirty="0">
                <a:latin typeface="Tahoma" panose="020B0604030504040204"/>
                <a:cs typeface="Tahoma" panose="020B0604030504040204"/>
              </a:rPr>
              <a:t>not</a:t>
            </a:r>
            <a:r>
              <a:rPr sz="3600" spc="-29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14" dirty="0">
                <a:latin typeface="Tahoma" panose="020B0604030504040204"/>
                <a:cs typeface="Tahoma" panose="020B0604030504040204"/>
              </a:rPr>
              <a:t>lost,</a:t>
            </a:r>
            <a:r>
              <a:rPr sz="3600" spc="-28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40" dirty="0">
                <a:latin typeface="Tahoma" panose="020B0604030504040204"/>
                <a:cs typeface="Tahoma" panose="020B0604030504040204"/>
              </a:rPr>
              <a:t>data</a:t>
            </a:r>
            <a:r>
              <a:rPr sz="3600" spc="-27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75" dirty="0">
                <a:latin typeface="Tahoma" panose="020B0604030504040204"/>
                <a:cs typeface="Tahoma" panose="020B0604030504040204"/>
              </a:rPr>
              <a:t>can </a:t>
            </a:r>
            <a:r>
              <a:rPr sz="3600" spc="-75" dirty="0">
                <a:latin typeface="Tahoma" panose="020B0604030504040204"/>
                <a:cs typeface="Tahoma" panose="020B0604030504040204"/>
              </a:rPr>
              <a:t>	</a:t>
            </a:r>
            <a:r>
              <a:rPr sz="3600" spc="-95" dirty="0">
                <a:latin typeface="Tahoma" panose="020B0604030504040204"/>
                <a:cs typeface="Tahoma" panose="020B0604030504040204"/>
              </a:rPr>
              <a:t>typically</a:t>
            </a:r>
            <a:r>
              <a:rPr sz="3600" spc="-2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10" dirty="0">
                <a:latin typeface="Tahoma" panose="020B0604030504040204"/>
                <a:cs typeface="Tahoma" panose="020B0604030504040204"/>
              </a:rPr>
              <a:t>be</a:t>
            </a:r>
            <a:r>
              <a:rPr sz="3600" spc="-28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10" dirty="0">
                <a:latin typeface="Tahoma" panose="020B0604030504040204"/>
                <a:cs typeface="Tahoma" panose="020B0604030504040204"/>
              </a:rPr>
              <a:t>replicated</a:t>
            </a:r>
            <a:r>
              <a:rPr sz="3600" spc="-2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25" dirty="0">
                <a:latin typeface="Tahoma" panose="020B0604030504040204"/>
                <a:cs typeface="Tahoma" panose="020B0604030504040204"/>
              </a:rPr>
              <a:t>on: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0573" y="1717092"/>
            <a:ext cx="5782310" cy="1311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35"/>
              </a:lnSpc>
              <a:spcBef>
                <a:spcPts val="100"/>
              </a:spcBef>
            </a:pPr>
            <a:r>
              <a:rPr sz="3000" spc="-8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local</a:t>
            </a:r>
            <a:r>
              <a:rPr sz="3000" spc="-22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rack</a:t>
            </a:r>
            <a:endParaRPr sz="300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ts val="3260"/>
              </a:lnSpc>
              <a:spcBef>
                <a:spcPts val="225"/>
              </a:spcBef>
            </a:pPr>
            <a:r>
              <a:rPr sz="3000" spc="-9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remote</a:t>
            </a:r>
            <a:r>
              <a:rPr sz="3000" spc="-24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000" spc="-13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rack</a:t>
            </a:r>
            <a:r>
              <a:rPr sz="3000" spc="-20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000" spc="-130" dirty="0">
                <a:latin typeface="Tahoma" panose="020B0604030504040204"/>
                <a:cs typeface="Tahoma" panose="020B0604030504040204"/>
              </a:rPr>
              <a:t>(in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50" dirty="0">
                <a:latin typeface="Tahoma" panose="020B0604030504040204"/>
                <a:cs typeface="Tahoma" panose="020B0604030504040204"/>
              </a:rPr>
              <a:t>case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85" dirty="0">
                <a:latin typeface="Tahoma" panose="020B0604030504040204"/>
                <a:cs typeface="Tahoma" panose="020B0604030504040204"/>
              </a:rPr>
              <a:t>local</a:t>
            </a:r>
            <a:r>
              <a:rPr sz="3000" spc="-23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35" dirty="0">
                <a:latin typeface="Tahoma" panose="020B0604030504040204"/>
                <a:cs typeface="Tahoma" panose="020B0604030504040204"/>
              </a:rPr>
              <a:t>rack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0" dirty="0">
                <a:latin typeface="Tahoma" panose="020B0604030504040204"/>
                <a:cs typeface="Tahoma" panose="020B0604030504040204"/>
              </a:rPr>
              <a:t>fails) </a:t>
            </a:r>
            <a:r>
              <a:rPr sz="3000" spc="-9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remote</a:t>
            </a:r>
            <a:r>
              <a:rPr sz="3000" spc="-23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000" spc="-9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node</a:t>
            </a:r>
            <a:r>
              <a:rPr sz="3000" spc="-21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3000" spc="-130" dirty="0">
                <a:latin typeface="Tahoma" panose="020B0604030504040204"/>
                <a:cs typeface="Tahoma" panose="020B0604030504040204"/>
              </a:rPr>
              <a:t>(in</a:t>
            </a:r>
            <a:r>
              <a:rPr sz="3000" spc="-240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50" dirty="0">
                <a:latin typeface="Tahoma" panose="020B0604030504040204"/>
                <a:cs typeface="Tahoma" panose="020B0604030504040204"/>
              </a:rPr>
              <a:t>case</a:t>
            </a:r>
            <a:r>
              <a:rPr sz="3000" spc="-23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85" dirty="0">
                <a:latin typeface="Tahoma" panose="020B0604030504040204"/>
                <a:cs typeface="Tahoma" panose="020B0604030504040204"/>
              </a:rPr>
              <a:t>local</a:t>
            </a:r>
            <a:r>
              <a:rPr sz="3000" spc="-229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95" dirty="0">
                <a:latin typeface="Tahoma" panose="020B0604030504040204"/>
                <a:cs typeface="Tahoma" panose="020B0604030504040204"/>
              </a:rPr>
              <a:t>node</a:t>
            </a:r>
            <a:r>
              <a:rPr sz="3000" spc="-235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75" dirty="0">
                <a:latin typeface="Tahoma" panose="020B0604030504040204"/>
                <a:cs typeface="Tahoma" panose="020B0604030504040204"/>
              </a:rPr>
              <a:t>fails)</a:t>
            </a:r>
            <a:endParaRPr sz="3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6904" y="1652297"/>
            <a:ext cx="328930" cy="172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30"/>
              </a:lnSpc>
              <a:spcBef>
                <a:spcPts val="100"/>
              </a:spcBef>
            </a:pPr>
            <a:r>
              <a:rPr sz="3000" spc="-54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30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ts val="3265"/>
              </a:lnSpc>
            </a:pPr>
            <a:r>
              <a:rPr sz="3000" spc="-54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30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ts val="3270"/>
              </a:lnSpc>
            </a:pPr>
            <a:r>
              <a:rPr sz="3000" spc="-54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30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ts val="3435"/>
              </a:lnSpc>
            </a:pPr>
            <a:r>
              <a:rPr sz="3000" spc="-540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30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0573" y="2961616"/>
            <a:ext cx="14954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95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randomly</a:t>
            </a:r>
            <a:endParaRPr sz="3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738" y="3359063"/>
            <a:ext cx="5818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9105" indent="-450850">
              <a:lnSpc>
                <a:spcPct val="100000"/>
              </a:lnSpc>
              <a:spcBef>
                <a:spcPts val="100"/>
              </a:spcBef>
              <a:buClr>
                <a:srgbClr val="006FBF"/>
              </a:buClr>
              <a:buFont typeface="Segoe UI Symbol" panose="020B0502040204020203"/>
              <a:buChar char="➢"/>
              <a:tabLst>
                <a:tab pos="459105" algn="l"/>
              </a:tabLst>
            </a:pPr>
            <a:r>
              <a:rPr sz="3600" spc="-125" dirty="0">
                <a:latin typeface="Tahoma" panose="020B0604030504040204"/>
                <a:cs typeface="Tahoma" panose="020B0604030504040204"/>
              </a:rPr>
              <a:t>Default</a:t>
            </a:r>
            <a:r>
              <a:rPr sz="3600" spc="-27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95" dirty="0">
                <a:latin typeface="Tahoma" panose="020B0604030504040204"/>
                <a:cs typeface="Tahoma" panose="020B0604030504040204"/>
              </a:rPr>
              <a:t>replication</a:t>
            </a:r>
            <a:r>
              <a:rPr sz="3600" spc="-2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05" dirty="0">
                <a:latin typeface="Tahoma" panose="020B0604030504040204"/>
                <a:cs typeface="Tahoma" panose="020B0604030504040204"/>
              </a:rPr>
              <a:t>factor</a:t>
            </a:r>
            <a:r>
              <a:rPr sz="3600" spc="-2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14" dirty="0">
                <a:latin typeface="Tahoma" panose="020B0604030504040204"/>
                <a:cs typeface="Tahoma" panose="020B0604030504040204"/>
              </a:rPr>
              <a:t>is</a:t>
            </a:r>
            <a:r>
              <a:rPr sz="3600" spc="-28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50" dirty="0">
                <a:latin typeface="Tahoma" panose="020B0604030504040204"/>
                <a:cs typeface="Tahoma" panose="020B0604030504040204"/>
              </a:rPr>
              <a:t>3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3225" y="198261"/>
            <a:ext cx="3355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Storing</a:t>
            </a:r>
            <a:r>
              <a:rPr spc="-65" dirty="0"/>
              <a:t> </a:t>
            </a:r>
            <a:r>
              <a:rPr dirty="0"/>
              <a:t>file</a:t>
            </a:r>
            <a:r>
              <a:rPr spc="-60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spc="-20" dirty="0"/>
              <a:t>HDFS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27202" y="560059"/>
            <a:ext cx="7896859" cy="318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865" indent="-418465">
              <a:lnSpc>
                <a:spcPts val="3310"/>
              </a:lnSpc>
              <a:spcBef>
                <a:spcPts val="100"/>
              </a:spcBef>
              <a:buChar char="●"/>
              <a:tabLst>
                <a:tab pos="443865" algn="l"/>
              </a:tabLst>
            </a:pPr>
            <a:r>
              <a:rPr sz="3000" spc="-110" dirty="0">
                <a:latin typeface="Tahoma" panose="020B0604030504040204"/>
                <a:cs typeface="Tahoma" panose="020B0604030504040204"/>
              </a:rPr>
              <a:t>Default</a:t>
            </a:r>
            <a:r>
              <a:rPr sz="3000" spc="-210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80" dirty="0">
                <a:latin typeface="Tahoma" panose="020B0604030504040204"/>
                <a:cs typeface="Tahoma" panose="020B0604030504040204"/>
              </a:rPr>
              <a:t>replication</a:t>
            </a:r>
            <a:r>
              <a:rPr sz="3000" spc="-204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95" dirty="0">
                <a:latin typeface="Tahoma" panose="020B0604030504040204"/>
                <a:cs typeface="Tahoma" panose="020B0604030504040204"/>
              </a:rPr>
              <a:t>factor</a:t>
            </a:r>
            <a:r>
              <a:rPr sz="3000" spc="-210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00" dirty="0">
                <a:latin typeface="Tahoma" panose="020B0604030504040204"/>
                <a:cs typeface="Tahoma" panose="020B0604030504040204"/>
              </a:rPr>
              <a:t>is</a:t>
            </a:r>
            <a:r>
              <a:rPr sz="3000" spc="-200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50" dirty="0">
                <a:latin typeface="Tahoma" panose="020B0604030504040204"/>
                <a:cs typeface="Tahoma" panose="020B0604030504040204"/>
              </a:rPr>
              <a:t>3</a:t>
            </a:r>
            <a:endParaRPr sz="3000">
              <a:latin typeface="Tahoma" panose="020B0604030504040204"/>
              <a:cs typeface="Tahoma" panose="020B0604030504040204"/>
            </a:endParaRPr>
          </a:p>
          <a:p>
            <a:pPr marL="901065" lvl="1" indent="-381000">
              <a:lnSpc>
                <a:spcPts val="2300"/>
              </a:lnSpc>
              <a:buClr>
                <a:srgbClr val="006FBF"/>
              </a:buClr>
              <a:buFont typeface="Segoe UI Symbol" panose="020B0502040204020203"/>
              <a:buChar char="○"/>
              <a:tabLst>
                <a:tab pos="901065" algn="l"/>
              </a:tabLst>
            </a:pPr>
            <a:r>
              <a:rPr sz="2400" spc="-70" dirty="0">
                <a:latin typeface="Tahoma" panose="020B0604030504040204"/>
                <a:cs typeface="Tahoma" panose="020B0604030504040204"/>
              </a:rPr>
              <a:t>first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replica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of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20" dirty="0">
                <a:latin typeface="Tahoma" panose="020B0604030504040204"/>
                <a:cs typeface="Tahoma" panose="020B0604030504040204"/>
              </a:rPr>
              <a:t>a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block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will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be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stored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on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20" dirty="0">
                <a:latin typeface="Tahoma" panose="020B0604030504040204"/>
                <a:cs typeface="Tahoma" panose="020B0604030504040204"/>
              </a:rPr>
              <a:t>a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local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rack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901065" lvl="1" indent="-381000">
              <a:lnSpc>
                <a:spcPts val="2300"/>
              </a:lnSpc>
              <a:buClr>
                <a:srgbClr val="006FBF"/>
              </a:buClr>
              <a:buFont typeface="Segoe UI Symbol" panose="020B0502040204020203"/>
              <a:buChar char="○"/>
              <a:tabLst>
                <a:tab pos="901065" algn="l"/>
              </a:tabLst>
            </a:pPr>
            <a:r>
              <a:rPr sz="2400" spc="-65" dirty="0">
                <a:latin typeface="Tahoma" panose="020B0604030504040204"/>
                <a:cs typeface="Tahoma" panose="020B0604030504040204"/>
              </a:rPr>
              <a:t>the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next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replica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will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be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stored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on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20" dirty="0">
                <a:latin typeface="Tahoma" panose="020B0604030504040204"/>
                <a:cs typeface="Tahoma" panose="020B0604030504040204"/>
              </a:rPr>
              <a:t>a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remote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rack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901065" marR="118110" lvl="1" indent="-381635">
              <a:lnSpc>
                <a:spcPct val="80000"/>
              </a:lnSpc>
              <a:spcBef>
                <a:spcPts val="290"/>
              </a:spcBef>
              <a:buClr>
                <a:srgbClr val="006FBF"/>
              </a:buClr>
              <a:buFont typeface="Segoe UI Symbol" panose="020B0502040204020203"/>
              <a:buChar char="○"/>
              <a:tabLst>
                <a:tab pos="901065" algn="l"/>
              </a:tabLst>
            </a:pPr>
            <a:r>
              <a:rPr sz="2400" spc="-65" dirty="0">
                <a:latin typeface="Tahoma" panose="020B0604030504040204"/>
                <a:cs typeface="Tahoma" panose="020B0604030504040204"/>
              </a:rPr>
              <a:t>the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5" dirty="0">
                <a:latin typeface="Tahoma" panose="020B0604030504040204"/>
                <a:cs typeface="Tahoma" panose="020B0604030504040204"/>
              </a:rPr>
              <a:t>third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replica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will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be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stored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on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the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14" dirty="0">
                <a:latin typeface="Tahoma" panose="020B0604030504040204"/>
                <a:cs typeface="Tahoma" panose="020B0604030504040204"/>
              </a:rPr>
              <a:t>same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remote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5" dirty="0">
                <a:latin typeface="Tahoma" panose="020B0604030504040204"/>
                <a:cs typeface="Tahoma" panose="020B0604030504040204"/>
              </a:rPr>
              <a:t>rack </a:t>
            </a:r>
            <a:r>
              <a:rPr sz="2400" spc="-55" dirty="0">
                <a:latin typeface="Tahoma" panose="020B0604030504040204"/>
                <a:cs typeface="Tahoma" panose="020B0604030504040204"/>
              </a:rPr>
              <a:t>but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on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20" dirty="0">
                <a:latin typeface="Tahoma" panose="020B0604030504040204"/>
                <a:cs typeface="Tahoma" panose="020B0604030504040204"/>
              </a:rPr>
              <a:t>a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different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Datanode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901065" lvl="1" indent="-381000">
              <a:lnSpc>
                <a:spcPts val="1950"/>
              </a:lnSpc>
              <a:buClr>
                <a:srgbClr val="006FBF"/>
              </a:buClr>
              <a:buFont typeface="Segoe UI Symbol" panose="020B0502040204020203"/>
              <a:buChar char="○"/>
              <a:tabLst>
                <a:tab pos="901065" algn="l"/>
              </a:tabLst>
            </a:pPr>
            <a:r>
              <a:rPr sz="2400" spc="-20" dirty="0">
                <a:latin typeface="Tahoma" panose="020B0604030504040204"/>
                <a:cs typeface="Tahoma" panose="020B0604030504040204"/>
              </a:rPr>
              <a:t>Why?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443865" indent="-418465">
              <a:lnSpc>
                <a:spcPts val="2950"/>
              </a:lnSpc>
              <a:buClr>
                <a:srgbClr val="006FBF"/>
              </a:buClr>
              <a:buFont typeface="Segoe UI Symbol" panose="020B0502040204020203"/>
              <a:buChar char="●"/>
              <a:tabLst>
                <a:tab pos="443865" algn="l"/>
              </a:tabLst>
            </a:pPr>
            <a:r>
              <a:rPr sz="3000" dirty="0">
                <a:latin typeface="Tahoma" panose="020B0604030504040204"/>
                <a:cs typeface="Tahoma" panose="020B0604030504040204"/>
              </a:rPr>
              <a:t>More</a:t>
            </a:r>
            <a:r>
              <a:rPr sz="3000" spc="-250" dirty="0">
                <a:latin typeface="Tahoma" panose="020B0604030504040204"/>
                <a:cs typeface="Tahoma" panose="020B0604030504040204"/>
              </a:rPr>
              <a:t> </a:t>
            </a:r>
            <a:r>
              <a:rPr sz="3000" spc="-10" dirty="0">
                <a:latin typeface="Tahoma" panose="020B0604030504040204"/>
                <a:cs typeface="Tahoma" panose="020B0604030504040204"/>
              </a:rPr>
              <a:t>replicas?</a:t>
            </a:r>
            <a:endParaRPr sz="3000">
              <a:latin typeface="Tahoma" panose="020B0604030504040204"/>
              <a:cs typeface="Tahoma" panose="020B0604030504040204"/>
            </a:endParaRPr>
          </a:p>
          <a:p>
            <a:pPr marL="901065" lvl="1" indent="-418465">
              <a:lnSpc>
                <a:spcPts val="2300"/>
              </a:lnSpc>
              <a:buClr>
                <a:srgbClr val="006FBF"/>
              </a:buClr>
              <a:buFont typeface="Segoe UI Symbol" panose="020B0502040204020203"/>
              <a:buChar char="○"/>
              <a:tabLst>
                <a:tab pos="901065" algn="l"/>
              </a:tabLst>
            </a:pPr>
            <a:r>
              <a:rPr sz="2400" spc="-65" dirty="0">
                <a:latin typeface="Tahoma" panose="020B0604030504040204"/>
                <a:cs typeface="Tahoma" panose="020B0604030504040204"/>
              </a:rPr>
              <a:t>the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rest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will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be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placed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on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random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Datanodes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901065" marR="17780" lvl="1" indent="-381635">
              <a:lnSpc>
                <a:spcPct val="80000"/>
              </a:lnSpc>
              <a:spcBef>
                <a:spcPts val="290"/>
              </a:spcBef>
              <a:buClr>
                <a:srgbClr val="006FBF"/>
              </a:buClr>
              <a:buFont typeface="Segoe UI Symbol" panose="020B0502040204020203"/>
              <a:buChar char="○"/>
              <a:tabLst>
                <a:tab pos="901065" algn="l"/>
              </a:tabLst>
            </a:pPr>
            <a:r>
              <a:rPr sz="2400" spc="-110" dirty="0">
                <a:latin typeface="Tahoma" panose="020B0604030504040204"/>
                <a:cs typeface="Tahoma" panose="020B0604030504040204"/>
              </a:rPr>
              <a:t>As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far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40" dirty="0">
                <a:latin typeface="Tahoma" panose="020B0604030504040204"/>
                <a:cs typeface="Tahoma" panose="020B0604030504040204"/>
              </a:rPr>
              <a:t>as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possible,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no</a:t>
            </a:r>
            <a:r>
              <a:rPr sz="2400" spc="-1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more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than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0" dirty="0">
                <a:latin typeface="Tahoma" panose="020B0604030504040204"/>
                <a:cs typeface="Tahoma" panose="020B0604030504040204"/>
              </a:rPr>
              <a:t>two</a:t>
            </a:r>
            <a:r>
              <a:rPr sz="2400" spc="-1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replicas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are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kept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latin typeface="Tahoma" panose="020B0604030504040204"/>
                <a:cs typeface="Tahoma" panose="020B0604030504040204"/>
              </a:rPr>
              <a:t>on 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the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14" dirty="0">
                <a:latin typeface="Tahoma" panose="020B0604030504040204"/>
                <a:cs typeface="Tahoma" panose="020B0604030504040204"/>
              </a:rPr>
              <a:t>same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rack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9864" y="2101861"/>
            <a:ext cx="3225800" cy="2711450"/>
            <a:chOff x="1129864" y="2101861"/>
            <a:chExt cx="3225800" cy="2711450"/>
          </a:xfrm>
        </p:grpSpPr>
        <p:sp>
          <p:nvSpPr>
            <p:cNvPr id="3" name="object 3"/>
            <p:cNvSpPr/>
            <p:nvPr/>
          </p:nvSpPr>
          <p:spPr>
            <a:xfrm>
              <a:off x="1142644" y="2114640"/>
              <a:ext cx="3200400" cy="2686050"/>
            </a:xfrm>
            <a:custGeom>
              <a:avLst/>
              <a:gdLst/>
              <a:ahLst/>
              <a:cxnLst/>
              <a:rect l="l" t="t" r="r" b="b"/>
              <a:pathLst>
                <a:path w="3200400" h="2686050">
                  <a:moveTo>
                    <a:pt x="3200031" y="0"/>
                  </a:moveTo>
                  <a:lnTo>
                    <a:pt x="0" y="0"/>
                  </a:lnTo>
                  <a:lnTo>
                    <a:pt x="0" y="2685605"/>
                  </a:lnTo>
                  <a:lnTo>
                    <a:pt x="1600200" y="2685605"/>
                  </a:lnTo>
                  <a:lnTo>
                    <a:pt x="3200031" y="2685605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78C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142644" y="2114640"/>
              <a:ext cx="3200400" cy="2686050"/>
            </a:xfrm>
            <a:custGeom>
              <a:avLst/>
              <a:gdLst/>
              <a:ahLst/>
              <a:cxnLst/>
              <a:rect l="l" t="t" r="r" b="b"/>
              <a:pathLst>
                <a:path w="3200400" h="2686050">
                  <a:moveTo>
                    <a:pt x="1600200" y="2685605"/>
                  </a:moveTo>
                  <a:lnTo>
                    <a:pt x="0" y="2685605"/>
                  </a:lnTo>
                  <a:lnTo>
                    <a:pt x="0" y="0"/>
                  </a:lnTo>
                  <a:lnTo>
                    <a:pt x="3200031" y="0"/>
                  </a:lnTo>
                  <a:lnTo>
                    <a:pt x="3200031" y="2685605"/>
                  </a:lnTo>
                  <a:lnTo>
                    <a:pt x="1600200" y="2685605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23885" y="2571840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2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23885" y="2571840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2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2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76714" y="2571840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71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85" y="342722"/>
                  </a:lnTo>
                  <a:lnTo>
                    <a:pt x="761771" y="342722"/>
                  </a:lnTo>
                  <a:lnTo>
                    <a:pt x="761771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76714" y="2571840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85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71" y="0"/>
                  </a:lnTo>
                  <a:lnTo>
                    <a:pt x="761771" y="342722"/>
                  </a:lnTo>
                  <a:lnTo>
                    <a:pt x="380885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23885" y="3371763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2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23885" y="3371763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2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2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52685" y="3371763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3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52685" y="3371763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3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3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23885" y="4114802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2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23885" y="4114802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2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2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52685" y="4114802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3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52685" y="4114802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3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3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4635179" y="2101861"/>
            <a:ext cx="3225800" cy="2711450"/>
            <a:chOff x="4635179" y="2101861"/>
            <a:chExt cx="3225800" cy="2711450"/>
          </a:xfrm>
        </p:grpSpPr>
        <p:sp>
          <p:nvSpPr>
            <p:cNvPr id="18" name="object 18"/>
            <p:cNvSpPr/>
            <p:nvPr/>
          </p:nvSpPr>
          <p:spPr>
            <a:xfrm>
              <a:off x="4647958" y="2114640"/>
              <a:ext cx="3200400" cy="2686050"/>
            </a:xfrm>
            <a:custGeom>
              <a:avLst/>
              <a:gdLst/>
              <a:ahLst/>
              <a:cxnLst/>
              <a:rect l="l" t="t" r="r" b="b"/>
              <a:pathLst>
                <a:path w="3200400" h="2686050">
                  <a:moveTo>
                    <a:pt x="3200044" y="0"/>
                  </a:moveTo>
                  <a:lnTo>
                    <a:pt x="0" y="0"/>
                  </a:lnTo>
                  <a:lnTo>
                    <a:pt x="0" y="2685605"/>
                  </a:lnTo>
                  <a:lnTo>
                    <a:pt x="1600200" y="2685605"/>
                  </a:lnTo>
                  <a:lnTo>
                    <a:pt x="3200044" y="2685605"/>
                  </a:lnTo>
                  <a:lnTo>
                    <a:pt x="3200044" y="0"/>
                  </a:lnTo>
                  <a:close/>
                </a:path>
              </a:pathLst>
            </a:custGeom>
            <a:solidFill>
              <a:srgbClr val="78C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647958" y="2114640"/>
              <a:ext cx="3200400" cy="2686050"/>
            </a:xfrm>
            <a:custGeom>
              <a:avLst/>
              <a:gdLst/>
              <a:ahLst/>
              <a:cxnLst/>
              <a:rect l="l" t="t" r="r" b="b"/>
              <a:pathLst>
                <a:path w="3200400" h="2686050">
                  <a:moveTo>
                    <a:pt x="1600200" y="2685605"/>
                  </a:moveTo>
                  <a:lnTo>
                    <a:pt x="0" y="2685605"/>
                  </a:lnTo>
                  <a:lnTo>
                    <a:pt x="0" y="0"/>
                  </a:lnTo>
                  <a:lnTo>
                    <a:pt x="3200044" y="0"/>
                  </a:lnTo>
                  <a:lnTo>
                    <a:pt x="3200044" y="2685605"/>
                  </a:lnTo>
                  <a:lnTo>
                    <a:pt x="1600200" y="2685605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781685" y="4057563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3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781685" y="4057563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3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3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952885" y="4057563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3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952885" y="4057563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3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3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781685" y="3314879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3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781685" y="3314879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3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3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952885" y="3314879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3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52885" y="3314879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3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3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781685" y="2629079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3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781685" y="2629079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3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3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52885" y="2629079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761758" y="0"/>
                  </a:moveTo>
                  <a:lnTo>
                    <a:pt x="0" y="0"/>
                  </a:lnTo>
                  <a:lnTo>
                    <a:pt x="0" y="342722"/>
                  </a:lnTo>
                  <a:lnTo>
                    <a:pt x="380873" y="342722"/>
                  </a:lnTo>
                  <a:lnTo>
                    <a:pt x="761758" y="342722"/>
                  </a:lnTo>
                  <a:lnTo>
                    <a:pt x="761758" y="0"/>
                  </a:lnTo>
                  <a:close/>
                </a:path>
              </a:pathLst>
            </a:custGeom>
            <a:solidFill>
              <a:srgbClr val="B9D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952885" y="2629079"/>
              <a:ext cx="762000" cy="342900"/>
            </a:xfrm>
            <a:custGeom>
              <a:avLst/>
              <a:gdLst/>
              <a:ahLst/>
              <a:cxnLst/>
              <a:rect l="l" t="t" r="r" b="b"/>
              <a:pathLst>
                <a:path w="762000" h="342900">
                  <a:moveTo>
                    <a:pt x="380873" y="342722"/>
                  </a:moveTo>
                  <a:lnTo>
                    <a:pt x="0" y="342722"/>
                  </a:lnTo>
                  <a:lnTo>
                    <a:pt x="0" y="0"/>
                  </a:lnTo>
                  <a:lnTo>
                    <a:pt x="761758" y="0"/>
                  </a:lnTo>
                  <a:lnTo>
                    <a:pt x="761758" y="342722"/>
                  </a:lnTo>
                  <a:lnTo>
                    <a:pt x="380873" y="342722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/>
          <p:nvPr/>
        </p:nvSpPr>
        <p:spPr>
          <a:xfrm>
            <a:off x="1447558" y="914402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158" y="0"/>
                </a:moveTo>
                <a:lnTo>
                  <a:pt x="0" y="0"/>
                </a:lnTo>
                <a:lnTo>
                  <a:pt x="0" y="228244"/>
                </a:lnTo>
                <a:lnTo>
                  <a:pt x="266763" y="228244"/>
                </a:lnTo>
                <a:lnTo>
                  <a:pt x="533158" y="228244"/>
                </a:lnTo>
                <a:lnTo>
                  <a:pt x="533158" y="0"/>
                </a:lnTo>
                <a:close/>
              </a:path>
            </a:pathLst>
          </a:custGeom>
          <a:solidFill>
            <a:srgbClr val="78C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447558" y="914402"/>
            <a:ext cx="533400" cy="228600"/>
          </a:xfrm>
          <a:prstGeom prst="rect">
            <a:avLst/>
          </a:prstGeom>
          <a:ln w="25559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5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B1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952517" y="2629079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158" y="0"/>
                </a:moveTo>
                <a:lnTo>
                  <a:pt x="0" y="0"/>
                </a:lnTo>
                <a:lnTo>
                  <a:pt x="0" y="228244"/>
                </a:lnTo>
                <a:lnTo>
                  <a:pt x="266763" y="228244"/>
                </a:lnTo>
                <a:lnTo>
                  <a:pt x="533158" y="228244"/>
                </a:lnTo>
                <a:lnTo>
                  <a:pt x="533158" y="0"/>
                </a:lnTo>
                <a:close/>
              </a:path>
            </a:pathLst>
          </a:custGeom>
          <a:solidFill>
            <a:srgbClr val="78C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952701" y="2629079"/>
            <a:ext cx="533400" cy="228600"/>
          </a:xfrm>
          <a:prstGeom prst="rect">
            <a:avLst/>
          </a:prstGeom>
          <a:ln w="25559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5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B1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352317" y="337176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158" y="0"/>
                </a:moveTo>
                <a:lnTo>
                  <a:pt x="0" y="0"/>
                </a:lnTo>
                <a:lnTo>
                  <a:pt x="0" y="228244"/>
                </a:lnTo>
                <a:lnTo>
                  <a:pt x="266763" y="228244"/>
                </a:lnTo>
                <a:lnTo>
                  <a:pt x="533158" y="228244"/>
                </a:lnTo>
                <a:lnTo>
                  <a:pt x="533158" y="0"/>
                </a:lnTo>
                <a:close/>
              </a:path>
            </a:pathLst>
          </a:custGeom>
          <a:solidFill>
            <a:srgbClr val="78C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352501" y="3371763"/>
            <a:ext cx="533400" cy="228600"/>
          </a:xfrm>
          <a:prstGeom prst="rect">
            <a:avLst/>
          </a:prstGeom>
          <a:ln w="25559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5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B1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057044" y="914402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158" y="0"/>
                </a:moveTo>
                <a:lnTo>
                  <a:pt x="0" y="0"/>
                </a:lnTo>
                <a:lnTo>
                  <a:pt x="0" y="228244"/>
                </a:lnTo>
                <a:lnTo>
                  <a:pt x="266750" y="228244"/>
                </a:lnTo>
                <a:lnTo>
                  <a:pt x="533158" y="228244"/>
                </a:lnTo>
                <a:lnTo>
                  <a:pt x="533158" y="0"/>
                </a:lnTo>
                <a:close/>
              </a:path>
            </a:pathLst>
          </a:custGeom>
          <a:solidFill>
            <a:srgbClr val="78C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057044" y="914402"/>
            <a:ext cx="533400" cy="228600"/>
          </a:xfrm>
          <a:prstGeom prst="rect">
            <a:avLst/>
          </a:prstGeom>
          <a:ln w="25559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5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B2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52517" y="3314879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158" y="0"/>
                </a:moveTo>
                <a:lnTo>
                  <a:pt x="0" y="0"/>
                </a:lnTo>
                <a:lnTo>
                  <a:pt x="0" y="228244"/>
                </a:lnTo>
                <a:lnTo>
                  <a:pt x="266763" y="228244"/>
                </a:lnTo>
                <a:lnTo>
                  <a:pt x="533158" y="228244"/>
                </a:lnTo>
                <a:lnTo>
                  <a:pt x="533158" y="0"/>
                </a:lnTo>
                <a:close/>
              </a:path>
            </a:pathLst>
          </a:custGeom>
          <a:solidFill>
            <a:srgbClr val="78C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952701" y="3314879"/>
            <a:ext cx="533400" cy="228600"/>
          </a:xfrm>
          <a:prstGeom prst="rect">
            <a:avLst/>
          </a:prstGeom>
          <a:ln w="25559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5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B2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666517" y="914402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158" y="0"/>
                </a:moveTo>
                <a:lnTo>
                  <a:pt x="0" y="0"/>
                </a:lnTo>
                <a:lnTo>
                  <a:pt x="0" y="228244"/>
                </a:lnTo>
                <a:lnTo>
                  <a:pt x="266763" y="228244"/>
                </a:lnTo>
                <a:lnTo>
                  <a:pt x="533158" y="228244"/>
                </a:lnTo>
                <a:lnTo>
                  <a:pt x="533158" y="0"/>
                </a:lnTo>
                <a:close/>
              </a:path>
            </a:pathLst>
          </a:custGeom>
          <a:solidFill>
            <a:srgbClr val="78C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666517" y="914402"/>
            <a:ext cx="533400" cy="228600"/>
          </a:xfrm>
          <a:prstGeom prst="rect">
            <a:avLst/>
          </a:prstGeom>
          <a:ln w="25559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5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B3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346919" y="914402"/>
            <a:ext cx="2901315" cy="228600"/>
            <a:chOff x="3346919" y="914402"/>
            <a:chExt cx="2901315" cy="228600"/>
          </a:xfrm>
        </p:grpSpPr>
        <p:sp>
          <p:nvSpPr>
            <p:cNvPr id="45" name="object 45"/>
            <p:cNvSpPr/>
            <p:nvPr/>
          </p:nvSpPr>
          <p:spPr>
            <a:xfrm>
              <a:off x="3352317" y="1029419"/>
              <a:ext cx="2199640" cy="0"/>
            </a:xfrm>
            <a:custGeom>
              <a:avLst/>
              <a:gdLst/>
              <a:ahLst/>
              <a:cxnLst/>
              <a:rect l="l" t="t" r="r" b="b"/>
              <a:pathLst>
                <a:path w="2199640">
                  <a:moveTo>
                    <a:pt x="0" y="0"/>
                  </a:moveTo>
                  <a:lnTo>
                    <a:pt x="2199601" y="0"/>
                  </a:lnTo>
                </a:path>
              </a:pathLst>
            </a:custGeom>
            <a:ln w="10439">
              <a:solidFill>
                <a:srgbClr val="005AA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714644" y="914402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533158" y="0"/>
                  </a:moveTo>
                  <a:lnTo>
                    <a:pt x="0" y="0"/>
                  </a:lnTo>
                  <a:lnTo>
                    <a:pt x="0" y="228244"/>
                  </a:lnTo>
                  <a:lnTo>
                    <a:pt x="266750" y="228244"/>
                  </a:lnTo>
                  <a:lnTo>
                    <a:pt x="533158" y="228244"/>
                  </a:lnTo>
                  <a:lnTo>
                    <a:pt x="533158" y="0"/>
                  </a:lnTo>
                  <a:close/>
                </a:path>
              </a:pathLst>
            </a:custGeom>
            <a:solidFill>
              <a:srgbClr val="78C0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5714644" y="914402"/>
            <a:ext cx="533400" cy="228600"/>
          </a:xfrm>
          <a:prstGeom prst="rect">
            <a:avLst/>
          </a:prstGeom>
          <a:ln w="25559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351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Bn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78939" y="4547783"/>
            <a:ext cx="625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Tahoma" panose="020B0604030504040204"/>
                <a:cs typeface="Tahoma" panose="020B0604030504040204"/>
              </a:rPr>
              <a:t>Rack</a:t>
            </a:r>
            <a:r>
              <a:rPr sz="1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50" dirty="0">
                <a:latin typeface="Tahoma" panose="020B0604030504040204"/>
                <a:cs typeface="Tahoma" panose="020B0604030504040204"/>
              </a:rPr>
              <a:t>1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70054" y="4547783"/>
            <a:ext cx="625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Tahoma" panose="020B0604030504040204"/>
                <a:cs typeface="Tahoma" panose="020B0604030504040204"/>
              </a:rPr>
              <a:t>Rack</a:t>
            </a:r>
            <a:r>
              <a:rPr sz="1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50" dirty="0">
                <a:latin typeface="Tahoma" panose="020B0604030504040204"/>
                <a:cs typeface="Tahoma" panose="020B0604030504040204"/>
              </a:rPr>
              <a:t>2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90714" y="285840"/>
            <a:ext cx="7543800" cy="971550"/>
          </a:xfrm>
          <a:custGeom>
            <a:avLst/>
            <a:gdLst/>
            <a:ahLst/>
            <a:cxnLst/>
            <a:rect l="l" t="t" r="r" b="b"/>
            <a:pathLst>
              <a:path w="7543800" h="971550">
                <a:moveTo>
                  <a:pt x="3771722" y="971283"/>
                </a:moveTo>
                <a:lnTo>
                  <a:pt x="0" y="971283"/>
                </a:lnTo>
                <a:lnTo>
                  <a:pt x="0" y="0"/>
                </a:lnTo>
                <a:lnTo>
                  <a:pt x="7543444" y="0"/>
                </a:lnTo>
                <a:lnTo>
                  <a:pt x="7543444" y="971283"/>
                </a:lnTo>
                <a:lnTo>
                  <a:pt x="3771722" y="971283"/>
                </a:lnTo>
                <a:close/>
              </a:path>
            </a:pathLst>
          </a:custGeom>
          <a:ln w="25559">
            <a:solidFill>
              <a:srgbClr val="02437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8195386" y="2936121"/>
            <a:ext cx="255904" cy="10718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20"/>
              </a:lnSpc>
            </a:pPr>
            <a:r>
              <a:rPr sz="1800" spc="-105" dirty="0">
                <a:latin typeface="Tahoma" panose="020B0604030504040204"/>
                <a:cs typeface="Tahoma" panose="020B0604030504040204"/>
              </a:rPr>
              <a:t>Data</a:t>
            </a:r>
            <a:r>
              <a:rPr sz="18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40" dirty="0">
                <a:latin typeface="Tahoma" panose="020B0604030504040204"/>
                <a:cs typeface="Tahoma" panose="020B0604030504040204"/>
              </a:rPr>
              <a:t>nodes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447914" y="399607"/>
            <a:ext cx="4800600" cy="285750"/>
            <a:chOff x="1447914" y="399607"/>
            <a:chExt cx="4800600" cy="285750"/>
          </a:xfrm>
        </p:grpSpPr>
        <p:sp>
          <p:nvSpPr>
            <p:cNvPr id="53" name="object 53"/>
            <p:cNvSpPr/>
            <p:nvPr/>
          </p:nvSpPr>
          <p:spPr>
            <a:xfrm>
              <a:off x="1447914" y="399607"/>
              <a:ext cx="4800600" cy="285750"/>
            </a:xfrm>
            <a:custGeom>
              <a:avLst/>
              <a:gdLst/>
              <a:ahLst/>
              <a:cxnLst/>
              <a:rect l="l" t="t" r="r" b="b"/>
              <a:pathLst>
                <a:path w="4800600" h="285750">
                  <a:moveTo>
                    <a:pt x="4800244" y="0"/>
                  </a:moveTo>
                  <a:lnTo>
                    <a:pt x="0" y="0"/>
                  </a:lnTo>
                  <a:lnTo>
                    <a:pt x="0" y="285470"/>
                  </a:lnTo>
                  <a:lnTo>
                    <a:pt x="2400122" y="285470"/>
                  </a:lnTo>
                  <a:lnTo>
                    <a:pt x="4800244" y="285470"/>
                  </a:lnTo>
                  <a:lnTo>
                    <a:pt x="4800244" y="0"/>
                  </a:lnTo>
                  <a:close/>
                </a:path>
              </a:pathLst>
            </a:custGeom>
            <a:solidFill>
              <a:srgbClr val="78C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86400" y="4777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30238" y="37795"/>
                  </a:ln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1435134" y="386827"/>
          <a:ext cx="4902200" cy="28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4035"/>
                <a:gridCol w="685800"/>
                <a:gridCol w="610235"/>
                <a:gridCol w="2213610"/>
                <a:gridCol w="148589"/>
                <a:gridCol w="608964"/>
              </a:tblGrid>
              <a:tr h="0">
                <a:tc rowSpan="2">
                  <a:txBody>
                    <a:bodyPr/>
                    <a:lstStyle/>
                    <a:p>
                      <a:pPr marL="91440">
                        <a:lnSpc>
                          <a:spcPts val="1785"/>
                        </a:lnSpc>
                        <a:spcBef>
                          <a:spcPts val="360"/>
                        </a:spcBef>
                      </a:pPr>
                      <a:r>
                        <a:rPr sz="1800" spc="-20" dirty="0">
                          <a:latin typeface="Tahoma" panose="020B0604030504040204"/>
                          <a:cs typeface="Tahoma" panose="020B0604030504040204"/>
                        </a:rPr>
                        <a:t>File</a:t>
                      </a:r>
                      <a:endParaRPr sz="18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B="0">
                    <a:lnL w="28575">
                      <a:solidFill>
                        <a:srgbClr val="02437A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02437A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2437A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</a:tr>
              <a:tr h="170180">
                <a:tc vMerge="1">
                  <a:tcPr marL="0" marR="0" marB="0">
                    <a:lnL w="28575">
                      <a:solidFill>
                        <a:srgbClr val="02437A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2437A"/>
                      </a:solidFill>
                      <a:prstDash val="solid"/>
                    </a:lnR>
                    <a:lnT w="28575">
                      <a:solidFill>
                        <a:srgbClr val="02437A"/>
                      </a:solidFill>
                      <a:prstDash val="solid"/>
                    </a:lnT>
                    <a:lnB w="28575">
                      <a:solidFill>
                        <a:srgbClr val="02437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6" name="object 56"/>
          <p:cNvGrpSpPr/>
          <p:nvPr/>
        </p:nvGrpSpPr>
        <p:grpSpPr>
          <a:xfrm>
            <a:off x="990714" y="399607"/>
            <a:ext cx="7010400" cy="1830070"/>
            <a:chOff x="990714" y="399607"/>
            <a:chExt cx="7010400" cy="1830070"/>
          </a:xfrm>
        </p:grpSpPr>
        <p:pic>
          <p:nvPicPr>
            <p:cNvPr id="57" name="object 5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90714" y="399607"/>
              <a:ext cx="313918" cy="31391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9885" y="1199872"/>
              <a:ext cx="1378445" cy="44964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2714" y="1542594"/>
              <a:ext cx="1378445" cy="44964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485" y="1542594"/>
              <a:ext cx="1378445" cy="44964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2511361" y="1433882"/>
              <a:ext cx="1304290" cy="104139"/>
            </a:xfrm>
            <a:custGeom>
              <a:avLst/>
              <a:gdLst/>
              <a:ahLst/>
              <a:cxnLst/>
              <a:rect l="l" t="t" r="r" b="b"/>
              <a:pathLst>
                <a:path w="1304289" h="104140">
                  <a:moveTo>
                    <a:pt x="1303921" y="0"/>
                  </a:moveTo>
                  <a:lnTo>
                    <a:pt x="0" y="103682"/>
                  </a:lnTo>
                </a:path>
              </a:pathLst>
            </a:custGeom>
            <a:ln w="93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441156" y="1396798"/>
              <a:ext cx="1444625" cy="178435"/>
            </a:xfrm>
            <a:custGeom>
              <a:avLst/>
              <a:gdLst/>
              <a:ahLst/>
              <a:cxnLst/>
              <a:rect l="l" t="t" r="r" b="b"/>
              <a:pathLst>
                <a:path w="1444625" h="178434">
                  <a:moveTo>
                    <a:pt x="78486" y="177838"/>
                  </a:moveTo>
                  <a:lnTo>
                    <a:pt x="45364" y="142557"/>
                  </a:lnTo>
                  <a:lnTo>
                    <a:pt x="72364" y="102603"/>
                  </a:lnTo>
                  <a:lnTo>
                    <a:pt x="0" y="146164"/>
                  </a:lnTo>
                  <a:lnTo>
                    <a:pt x="78486" y="177838"/>
                  </a:lnTo>
                  <a:close/>
                </a:path>
                <a:path w="1444625" h="178434">
                  <a:moveTo>
                    <a:pt x="1444320" y="31686"/>
                  </a:moveTo>
                  <a:lnTo>
                    <a:pt x="1365846" y="0"/>
                  </a:lnTo>
                  <a:lnTo>
                    <a:pt x="1398968" y="35280"/>
                  </a:lnTo>
                  <a:lnTo>
                    <a:pt x="1371968" y="75247"/>
                  </a:lnTo>
                  <a:lnTo>
                    <a:pt x="1444320" y="3168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257076" y="1441439"/>
              <a:ext cx="846455" cy="200025"/>
            </a:xfrm>
            <a:custGeom>
              <a:avLst/>
              <a:gdLst/>
              <a:ahLst/>
              <a:cxnLst/>
              <a:rect l="l" t="t" r="r" b="b"/>
              <a:pathLst>
                <a:path w="846454" h="200025">
                  <a:moveTo>
                    <a:pt x="0" y="0"/>
                  </a:moveTo>
                  <a:lnTo>
                    <a:pt x="845997" y="199796"/>
                  </a:lnTo>
                </a:path>
              </a:pathLst>
            </a:custGeom>
            <a:ln w="93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188318" y="1405802"/>
              <a:ext cx="983615" cy="271145"/>
            </a:xfrm>
            <a:custGeom>
              <a:avLst/>
              <a:gdLst/>
              <a:ahLst/>
              <a:cxnLst/>
              <a:rect l="l" t="t" r="r" b="b"/>
              <a:pathLst>
                <a:path w="983614" h="271144">
                  <a:moveTo>
                    <a:pt x="82435" y="0"/>
                  </a:moveTo>
                  <a:lnTo>
                    <a:pt x="0" y="19443"/>
                  </a:lnTo>
                  <a:lnTo>
                    <a:pt x="64795" y="73444"/>
                  </a:lnTo>
                  <a:lnTo>
                    <a:pt x="44284" y="29883"/>
                  </a:lnTo>
                  <a:lnTo>
                    <a:pt x="82435" y="0"/>
                  </a:lnTo>
                  <a:close/>
                </a:path>
                <a:path w="983614" h="271144">
                  <a:moveTo>
                    <a:pt x="983526" y="251637"/>
                  </a:moveTo>
                  <a:lnTo>
                    <a:pt x="918718" y="197637"/>
                  </a:lnTo>
                  <a:lnTo>
                    <a:pt x="939241" y="241198"/>
                  </a:lnTo>
                  <a:lnTo>
                    <a:pt x="901077" y="271081"/>
                  </a:lnTo>
                  <a:lnTo>
                    <a:pt x="983526" y="2516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133358" y="1899718"/>
              <a:ext cx="1270" cy="259715"/>
            </a:xfrm>
            <a:custGeom>
              <a:avLst/>
              <a:gdLst/>
              <a:ahLst/>
              <a:cxnLst/>
              <a:rect l="l" t="t" r="r" b="b"/>
              <a:pathLst>
                <a:path w="1269" h="259714">
                  <a:moveTo>
                    <a:pt x="723" y="0"/>
                  </a:moveTo>
                  <a:lnTo>
                    <a:pt x="0" y="259206"/>
                  </a:lnTo>
                </a:path>
              </a:pathLst>
            </a:custGeom>
            <a:ln w="22319">
              <a:solidFill>
                <a:srgbClr val="00A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095563" y="1829157"/>
              <a:ext cx="76835" cy="400685"/>
            </a:xfrm>
            <a:custGeom>
              <a:avLst/>
              <a:gdLst/>
              <a:ahLst/>
              <a:cxnLst/>
              <a:rect l="l" t="t" r="r" b="b"/>
              <a:pathLst>
                <a:path w="76835" h="400685">
                  <a:moveTo>
                    <a:pt x="75590" y="324726"/>
                  </a:moveTo>
                  <a:lnTo>
                    <a:pt x="37439" y="354965"/>
                  </a:lnTo>
                  <a:lnTo>
                    <a:pt x="0" y="324726"/>
                  </a:lnTo>
                  <a:lnTo>
                    <a:pt x="37439" y="400329"/>
                  </a:lnTo>
                  <a:lnTo>
                    <a:pt x="75590" y="324726"/>
                  </a:lnTo>
                  <a:close/>
                </a:path>
                <a:path w="76835" h="400685">
                  <a:moveTo>
                    <a:pt x="76314" y="75603"/>
                  </a:moveTo>
                  <a:lnTo>
                    <a:pt x="38874" y="0"/>
                  </a:lnTo>
                  <a:lnTo>
                    <a:pt x="711" y="75603"/>
                  </a:lnTo>
                  <a:lnTo>
                    <a:pt x="38874" y="45364"/>
                  </a:lnTo>
                  <a:lnTo>
                    <a:pt x="76314" y="75603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324485" y="1899718"/>
              <a:ext cx="1270" cy="259715"/>
            </a:xfrm>
            <a:custGeom>
              <a:avLst/>
              <a:gdLst/>
              <a:ahLst/>
              <a:cxnLst/>
              <a:rect l="l" t="t" r="r" b="b"/>
              <a:pathLst>
                <a:path w="1270" h="259714">
                  <a:moveTo>
                    <a:pt x="711" y="0"/>
                  </a:moveTo>
                  <a:lnTo>
                    <a:pt x="0" y="259206"/>
                  </a:lnTo>
                </a:path>
              </a:pathLst>
            </a:custGeom>
            <a:ln w="22319">
              <a:solidFill>
                <a:srgbClr val="00A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286678" y="1829157"/>
              <a:ext cx="76835" cy="400685"/>
            </a:xfrm>
            <a:custGeom>
              <a:avLst/>
              <a:gdLst/>
              <a:ahLst/>
              <a:cxnLst/>
              <a:rect l="l" t="t" r="r" b="b"/>
              <a:pathLst>
                <a:path w="76835" h="400685">
                  <a:moveTo>
                    <a:pt x="75603" y="324726"/>
                  </a:moveTo>
                  <a:lnTo>
                    <a:pt x="37439" y="354965"/>
                  </a:lnTo>
                  <a:lnTo>
                    <a:pt x="0" y="324726"/>
                  </a:lnTo>
                  <a:lnTo>
                    <a:pt x="37439" y="400329"/>
                  </a:lnTo>
                  <a:lnTo>
                    <a:pt x="75603" y="324726"/>
                  </a:lnTo>
                  <a:close/>
                </a:path>
                <a:path w="76835" h="400685">
                  <a:moveTo>
                    <a:pt x="76327" y="75603"/>
                  </a:moveTo>
                  <a:lnTo>
                    <a:pt x="38887" y="0"/>
                  </a:lnTo>
                  <a:lnTo>
                    <a:pt x="723" y="75603"/>
                  </a:lnTo>
                  <a:lnTo>
                    <a:pt x="38887" y="45364"/>
                  </a:lnTo>
                  <a:lnTo>
                    <a:pt x="76327" y="75603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537678" y="1542963"/>
              <a:ext cx="392430" cy="1270"/>
            </a:xfrm>
            <a:custGeom>
              <a:avLst/>
              <a:gdLst/>
              <a:ahLst/>
              <a:cxnLst/>
              <a:rect l="l" t="t" r="r" b="b"/>
              <a:pathLst>
                <a:path w="392429" h="1269">
                  <a:moveTo>
                    <a:pt x="0" y="0"/>
                  </a:moveTo>
                  <a:lnTo>
                    <a:pt x="392404" y="1079"/>
                  </a:lnTo>
                </a:path>
              </a:pathLst>
            </a:custGeom>
            <a:ln w="93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7467117" y="1505167"/>
              <a:ext cx="534035" cy="76835"/>
            </a:xfrm>
            <a:custGeom>
              <a:avLst/>
              <a:gdLst/>
              <a:ahLst/>
              <a:cxnLst/>
              <a:rect l="l" t="t" r="r" b="b"/>
              <a:pathLst>
                <a:path w="534034" h="76834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45364" y="37795"/>
                  </a:lnTo>
                  <a:lnTo>
                    <a:pt x="75603" y="0"/>
                  </a:lnTo>
                  <a:close/>
                </a:path>
                <a:path w="534034" h="76834">
                  <a:moveTo>
                    <a:pt x="533527" y="38874"/>
                  </a:moveTo>
                  <a:lnTo>
                    <a:pt x="457923" y="1079"/>
                  </a:lnTo>
                  <a:lnTo>
                    <a:pt x="488162" y="38874"/>
                  </a:lnTo>
                  <a:lnTo>
                    <a:pt x="457923" y="76669"/>
                  </a:lnTo>
                  <a:lnTo>
                    <a:pt x="533527" y="388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537678" y="1714679"/>
              <a:ext cx="392430" cy="1270"/>
            </a:xfrm>
            <a:custGeom>
              <a:avLst/>
              <a:gdLst/>
              <a:ahLst/>
              <a:cxnLst/>
              <a:rect l="l" t="t" r="r" b="b"/>
              <a:pathLst>
                <a:path w="392429" h="1269">
                  <a:moveTo>
                    <a:pt x="0" y="0"/>
                  </a:moveTo>
                  <a:lnTo>
                    <a:pt x="392404" y="1079"/>
                  </a:lnTo>
                </a:path>
              </a:pathLst>
            </a:custGeom>
            <a:ln w="15839">
              <a:solidFill>
                <a:srgbClr val="00A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467117" y="1676884"/>
              <a:ext cx="534035" cy="76835"/>
            </a:xfrm>
            <a:custGeom>
              <a:avLst/>
              <a:gdLst/>
              <a:ahLst/>
              <a:cxnLst/>
              <a:rect l="l" t="t" r="r" b="b"/>
              <a:pathLst>
                <a:path w="534034" h="76835">
                  <a:moveTo>
                    <a:pt x="75603" y="0"/>
                  </a:moveTo>
                  <a:lnTo>
                    <a:pt x="0" y="37795"/>
                  </a:lnTo>
                  <a:lnTo>
                    <a:pt x="75603" y="75603"/>
                  </a:lnTo>
                  <a:lnTo>
                    <a:pt x="45364" y="37795"/>
                  </a:lnTo>
                  <a:lnTo>
                    <a:pt x="75603" y="0"/>
                  </a:lnTo>
                  <a:close/>
                </a:path>
                <a:path w="534034" h="76835">
                  <a:moveTo>
                    <a:pt x="533527" y="38874"/>
                  </a:moveTo>
                  <a:lnTo>
                    <a:pt x="457923" y="1079"/>
                  </a:lnTo>
                  <a:lnTo>
                    <a:pt x="488162" y="38874"/>
                  </a:lnTo>
                  <a:lnTo>
                    <a:pt x="457923" y="76682"/>
                  </a:lnTo>
                  <a:lnTo>
                    <a:pt x="533527" y="38874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>
            <a:spLocks noGrp="1"/>
          </p:cNvSpPr>
          <p:nvPr>
            <p:ph type="title"/>
          </p:nvPr>
        </p:nvSpPr>
        <p:spPr>
          <a:xfrm>
            <a:off x="6936740" y="604699"/>
            <a:ext cx="685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0" spc="-35" dirty="0">
                <a:latin typeface="Tahoma" panose="020B0604030504040204"/>
                <a:cs typeface="Tahoma" panose="020B0604030504040204"/>
              </a:rPr>
              <a:t>Master </a:t>
            </a:r>
            <a:r>
              <a:rPr sz="1800" b="0" spc="-20" dirty="0">
                <a:latin typeface="Tahoma" panose="020B0604030504040204"/>
                <a:cs typeface="Tahoma" panose="020B0604030504040204"/>
              </a:rPr>
              <a:t>Node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009917" y="3314879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158" y="0"/>
                </a:moveTo>
                <a:lnTo>
                  <a:pt x="0" y="0"/>
                </a:lnTo>
                <a:lnTo>
                  <a:pt x="0" y="228244"/>
                </a:lnTo>
                <a:lnTo>
                  <a:pt x="266763" y="228244"/>
                </a:lnTo>
                <a:lnTo>
                  <a:pt x="533158" y="228244"/>
                </a:lnTo>
                <a:lnTo>
                  <a:pt x="533158" y="0"/>
                </a:lnTo>
                <a:close/>
              </a:path>
            </a:pathLst>
          </a:custGeom>
          <a:solidFill>
            <a:srgbClr val="78C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009917" y="3314879"/>
            <a:ext cx="533400" cy="228600"/>
          </a:xfrm>
          <a:prstGeom prst="rect">
            <a:avLst/>
          </a:prstGeom>
          <a:ln w="25927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5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B2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156054" y="1484756"/>
            <a:ext cx="419734" cy="3683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900" spc="-40" dirty="0">
                <a:latin typeface="Tahoma" panose="020B0604030504040204"/>
                <a:cs typeface="Tahoma" panose="020B0604030504040204"/>
              </a:rPr>
              <a:t>8</a:t>
            </a:r>
            <a:r>
              <a:rPr sz="9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900" spc="-35" dirty="0">
                <a:latin typeface="Tahoma" panose="020B0604030504040204"/>
                <a:cs typeface="Tahoma" panose="020B0604030504040204"/>
              </a:rPr>
              <a:t>gigabit</a:t>
            </a:r>
            <a:endParaRPr sz="9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00" spc="-40" dirty="0">
                <a:latin typeface="Tahoma" panose="020B0604030504040204"/>
                <a:cs typeface="Tahoma" panose="020B0604030504040204"/>
              </a:rPr>
              <a:t>1</a:t>
            </a:r>
            <a:r>
              <a:rPr sz="9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900" spc="-35" dirty="0">
                <a:latin typeface="Tahoma" panose="020B0604030504040204"/>
                <a:cs typeface="Tahoma" panose="020B0604030504040204"/>
              </a:rPr>
              <a:t>gigabit</a:t>
            </a:r>
            <a:endParaRPr sz="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9625" y="1480936"/>
            <a:ext cx="610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ahoma" panose="020B0604030504040204"/>
                <a:cs typeface="Tahoma" panose="020B0604030504040204"/>
              </a:rPr>
              <a:t>Blocks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58421" y="1123558"/>
            <a:ext cx="589280" cy="417830"/>
            <a:chOff x="858421" y="1123558"/>
            <a:chExt cx="589280" cy="417830"/>
          </a:xfrm>
        </p:grpSpPr>
        <p:sp>
          <p:nvSpPr>
            <p:cNvPr id="79" name="object 79"/>
            <p:cNvSpPr/>
            <p:nvPr/>
          </p:nvSpPr>
          <p:spPr>
            <a:xfrm>
              <a:off x="875880" y="1179717"/>
              <a:ext cx="492125" cy="344170"/>
            </a:xfrm>
            <a:custGeom>
              <a:avLst/>
              <a:gdLst/>
              <a:ahLst/>
              <a:cxnLst/>
              <a:rect l="l" t="t" r="r" b="b"/>
              <a:pathLst>
                <a:path w="492125" h="344169">
                  <a:moveTo>
                    <a:pt x="0" y="344169"/>
                  </a:moveTo>
                  <a:lnTo>
                    <a:pt x="491756" y="0"/>
                  </a:lnTo>
                </a:path>
              </a:pathLst>
            </a:custGeom>
            <a:ln w="34919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331645" y="1123558"/>
              <a:ext cx="116205" cy="103505"/>
            </a:xfrm>
            <a:custGeom>
              <a:avLst/>
              <a:gdLst/>
              <a:ahLst/>
              <a:cxnLst/>
              <a:rect l="l" t="t" r="r" b="b"/>
              <a:pathLst>
                <a:path w="116205" h="103505">
                  <a:moveTo>
                    <a:pt x="115912" y="0"/>
                  </a:moveTo>
                  <a:lnTo>
                    <a:pt x="0" y="17284"/>
                  </a:lnTo>
                  <a:lnTo>
                    <a:pt x="64439" y="36004"/>
                  </a:lnTo>
                  <a:lnTo>
                    <a:pt x="60109" y="102958"/>
                  </a:lnTo>
                  <a:lnTo>
                    <a:pt x="115912" y="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/>
          <p:cNvGrpSpPr/>
          <p:nvPr/>
        </p:nvGrpSpPr>
        <p:grpSpPr>
          <a:xfrm>
            <a:off x="7543800" y="2800440"/>
            <a:ext cx="703580" cy="704850"/>
            <a:chOff x="7543800" y="2800440"/>
            <a:chExt cx="703580" cy="704850"/>
          </a:xfrm>
        </p:grpSpPr>
        <p:sp>
          <p:nvSpPr>
            <p:cNvPr id="82" name="object 82"/>
            <p:cNvSpPr/>
            <p:nvPr/>
          </p:nvSpPr>
          <p:spPr>
            <a:xfrm>
              <a:off x="7612926" y="2869566"/>
              <a:ext cx="617220" cy="617855"/>
            </a:xfrm>
            <a:custGeom>
              <a:avLst/>
              <a:gdLst/>
              <a:ahLst/>
              <a:cxnLst/>
              <a:rect l="l" t="t" r="r" b="b"/>
              <a:pathLst>
                <a:path w="617220" h="617854">
                  <a:moveTo>
                    <a:pt x="616673" y="617753"/>
                  </a:moveTo>
                  <a:lnTo>
                    <a:pt x="0" y="0"/>
                  </a:lnTo>
                </a:path>
              </a:pathLst>
            </a:custGeom>
            <a:ln w="34919">
              <a:solidFill>
                <a:srgbClr val="005AA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543800" y="2800440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60">
                  <a:moveTo>
                    <a:pt x="0" y="0"/>
                  </a:moveTo>
                  <a:lnTo>
                    <a:pt x="37083" y="111239"/>
                  </a:lnTo>
                  <a:lnTo>
                    <a:pt x="44284" y="44640"/>
                  </a:lnTo>
                  <a:lnTo>
                    <a:pt x="111239" y="370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AA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4" name="object 84"/>
          <p:cNvGrpSpPr/>
          <p:nvPr/>
        </p:nvGrpSpPr>
        <p:grpSpPr>
          <a:xfrm>
            <a:off x="1510737" y="4121097"/>
            <a:ext cx="558800" cy="254000"/>
            <a:chOff x="1510737" y="4121097"/>
            <a:chExt cx="558800" cy="254000"/>
          </a:xfrm>
        </p:grpSpPr>
        <p:sp>
          <p:nvSpPr>
            <p:cNvPr id="85" name="object 85"/>
            <p:cNvSpPr/>
            <p:nvPr/>
          </p:nvSpPr>
          <p:spPr>
            <a:xfrm>
              <a:off x="1523517" y="4133877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533158" y="0"/>
                  </a:moveTo>
                  <a:lnTo>
                    <a:pt x="0" y="0"/>
                  </a:lnTo>
                  <a:lnTo>
                    <a:pt x="0" y="228244"/>
                  </a:lnTo>
                  <a:lnTo>
                    <a:pt x="266763" y="228244"/>
                  </a:lnTo>
                  <a:lnTo>
                    <a:pt x="533158" y="228244"/>
                  </a:lnTo>
                  <a:lnTo>
                    <a:pt x="533158" y="0"/>
                  </a:lnTo>
                  <a:close/>
                </a:path>
              </a:pathLst>
            </a:custGeom>
            <a:solidFill>
              <a:srgbClr val="78C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523517" y="4133877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266763" y="228244"/>
                  </a:moveTo>
                  <a:lnTo>
                    <a:pt x="0" y="228244"/>
                  </a:lnTo>
                  <a:lnTo>
                    <a:pt x="0" y="0"/>
                  </a:lnTo>
                  <a:lnTo>
                    <a:pt x="533158" y="0"/>
                  </a:lnTo>
                  <a:lnTo>
                    <a:pt x="533158" y="228244"/>
                  </a:lnTo>
                  <a:lnTo>
                    <a:pt x="266763" y="228244"/>
                  </a:lnTo>
                  <a:close/>
                </a:path>
              </a:pathLst>
            </a:custGeom>
            <a:ln w="25559">
              <a:solidFill>
                <a:srgbClr val="0243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1536665" y="4098139"/>
            <a:ext cx="507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B1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523517" y="337176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158" y="0"/>
                </a:moveTo>
                <a:lnTo>
                  <a:pt x="0" y="0"/>
                </a:lnTo>
                <a:lnTo>
                  <a:pt x="0" y="228244"/>
                </a:lnTo>
                <a:lnTo>
                  <a:pt x="266763" y="228244"/>
                </a:lnTo>
                <a:lnTo>
                  <a:pt x="533158" y="228244"/>
                </a:lnTo>
                <a:lnTo>
                  <a:pt x="533158" y="0"/>
                </a:lnTo>
                <a:close/>
              </a:path>
            </a:pathLst>
          </a:custGeom>
          <a:solidFill>
            <a:srgbClr val="78C0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523701" y="3371763"/>
            <a:ext cx="533400" cy="228600"/>
          </a:xfrm>
          <a:prstGeom prst="rect">
            <a:avLst/>
          </a:prstGeom>
          <a:ln w="25559">
            <a:solidFill>
              <a:srgbClr val="02437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6050">
              <a:lnSpc>
                <a:spcPts val="1795"/>
              </a:lnSpc>
            </a:pPr>
            <a:r>
              <a:rPr sz="18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B2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1777" y="198261"/>
            <a:ext cx="335787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Tasks</a:t>
            </a:r>
            <a:r>
              <a:rPr spc="-8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10" dirty="0"/>
              <a:t>NameNode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2600" y="838351"/>
            <a:ext cx="6957695" cy="180467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97840" indent="-447040">
              <a:lnSpc>
                <a:spcPct val="100000"/>
              </a:lnSpc>
              <a:spcBef>
                <a:spcPts val="565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97840" algn="l"/>
              </a:tabLst>
            </a:pPr>
            <a:r>
              <a:rPr sz="2800" spc="-110" dirty="0">
                <a:latin typeface="Tahoma" panose="020B0604030504040204"/>
                <a:cs typeface="Tahoma" panose="020B0604030504040204"/>
              </a:rPr>
              <a:t>Manages</a:t>
            </a:r>
            <a:r>
              <a:rPr sz="2800" spc="-2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80" dirty="0">
                <a:latin typeface="Tahoma" panose="020B0604030504040204"/>
                <a:cs typeface="Tahoma" panose="020B0604030504040204"/>
              </a:rPr>
              <a:t>File</a:t>
            </a:r>
            <a:r>
              <a:rPr sz="2800" spc="-21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System</a:t>
            </a:r>
            <a:endParaRPr sz="2800">
              <a:latin typeface="Tahoma" panose="020B0604030504040204"/>
              <a:cs typeface="Tahoma" panose="020B0604030504040204"/>
            </a:endParaRPr>
          </a:p>
          <a:p>
            <a:pPr marL="939800" lvl="1" indent="-497840">
              <a:lnSpc>
                <a:spcPct val="100000"/>
              </a:lnSpc>
              <a:spcBef>
                <a:spcPts val="405"/>
              </a:spcBef>
              <a:buClr>
                <a:srgbClr val="006FBF"/>
              </a:buClr>
              <a:buFont typeface="Segoe UI Symbol" panose="020B0502040204020203"/>
              <a:buChar char="➢"/>
              <a:tabLst>
                <a:tab pos="939800" algn="l"/>
              </a:tabLst>
            </a:pPr>
            <a:r>
              <a:rPr sz="2400" spc="-105" dirty="0">
                <a:latin typeface="Tahoma" panose="020B0604030504040204"/>
                <a:cs typeface="Tahoma" panose="020B0604030504040204"/>
              </a:rPr>
              <a:t>mapping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files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0" dirty="0">
                <a:latin typeface="Tahoma" panose="020B0604030504040204"/>
                <a:cs typeface="Tahoma" panose="020B0604030504040204"/>
              </a:rPr>
              <a:t>to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blocks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and</a:t>
            </a:r>
            <a:r>
              <a:rPr sz="24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blocks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0" dirty="0">
                <a:latin typeface="Tahoma" panose="020B0604030504040204"/>
                <a:cs typeface="Tahoma" panose="020B0604030504040204"/>
              </a:rPr>
              <a:t>to</a:t>
            </a:r>
            <a:r>
              <a:rPr sz="2400" spc="-1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data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nodes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497840" indent="-447040">
              <a:lnSpc>
                <a:spcPct val="100000"/>
              </a:lnSpc>
              <a:spcBef>
                <a:spcPts val="345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97840" algn="l"/>
              </a:tabLst>
            </a:pPr>
            <a:r>
              <a:rPr sz="2800" spc="-75" dirty="0">
                <a:latin typeface="Tahoma" panose="020B0604030504040204"/>
                <a:cs typeface="Tahoma" panose="020B0604030504040204"/>
              </a:rPr>
              <a:t>Maintaining</a:t>
            </a:r>
            <a:r>
              <a:rPr sz="2800" spc="-21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status</a:t>
            </a:r>
            <a:r>
              <a:rPr sz="2800" spc="-20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60" dirty="0">
                <a:latin typeface="Tahoma" panose="020B0604030504040204"/>
                <a:cs typeface="Tahoma" panose="020B0604030504040204"/>
              </a:rPr>
              <a:t>of</a:t>
            </a:r>
            <a:r>
              <a:rPr sz="2800" spc="-20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data</a:t>
            </a:r>
            <a:r>
              <a:rPr sz="2800" spc="-20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nodes</a:t>
            </a:r>
            <a:endParaRPr sz="2800">
              <a:latin typeface="Tahoma" panose="020B0604030504040204"/>
              <a:cs typeface="Tahoma" panose="020B0604030504040204"/>
            </a:endParaRPr>
          </a:p>
          <a:p>
            <a:pPr marL="939800" lvl="1" indent="-444500">
              <a:lnSpc>
                <a:spcPct val="100000"/>
              </a:lnSpc>
              <a:spcBef>
                <a:spcPts val="315"/>
              </a:spcBef>
              <a:buClr>
                <a:srgbClr val="006FBF"/>
              </a:buClr>
              <a:buFont typeface="Segoe UI Symbol" panose="020B0502040204020203"/>
              <a:buChar char="➢"/>
              <a:tabLst>
                <a:tab pos="939800" algn="l"/>
              </a:tabLst>
            </a:pPr>
            <a:r>
              <a:rPr sz="2400" spc="-10" dirty="0">
                <a:latin typeface="Tahoma" panose="020B0604030504040204"/>
                <a:cs typeface="Tahoma" panose="020B0604030504040204"/>
              </a:rPr>
              <a:t>Heartbeat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903" y="2586225"/>
            <a:ext cx="215900" cy="6978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000" spc="-17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■</a:t>
            </a:r>
            <a:endParaRPr sz="20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000" spc="-17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■</a:t>
            </a:r>
            <a:endParaRPr sz="20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4893" y="2620057"/>
            <a:ext cx="5652770" cy="69913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000" spc="-85" dirty="0">
                <a:latin typeface="Tahoma" panose="020B0604030504040204"/>
                <a:cs typeface="Tahoma" panose="020B0604030504040204"/>
              </a:rPr>
              <a:t>Datanode</a:t>
            </a:r>
            <a:r>
              <a:rPr sz="20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90" dirty="0">
                <a:latin typeface="Tahoma" panose="020B0604030504040204"/>
                <a:cs typeface="Tahoma" panose="020B0604030504040204"/>
              </a:rPr>
              <a:t>sends</a:t>
            </a:r>
            <a:r>
              <a:rPr sz="20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65" dirty="0">
                <a:latin typeface="Tahoma" panose="020B0604030504040204"/>
                <a:cs typeface="Tahoma" panose="020B0604030504040204"/>
              </a:rPr>
              <a:t>heartbeat</a:t>
            </a:r>
            <a:r>
              <a:rPr sz="20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75" dirty="0">
                <a:latin typeface="Tahoma" panose="020B0604030504040204"/>
                <a:cs typeface="Tahoma" panose="020B0604030504040204"/>
              </a:rPr>
              <a:t>at</a:t>
            </a:r>
            <a:r>
              <a:rPr sz="20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80" dirty="0">
                <a:latin typeface="Tahoma" panose="020B0604030504040204"/>
                <a:cs typeface="Tahoma" panose="020B0604030504040204"/>
              </a:rPr>
              <a:t>regular</a:t>
            </a:r>
            <a:r>
              <a:rPr sz="20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latin typeface="Tahoma" panose="020B0604030504040204"/>
                <a:cs typeface="Tahoma" panose="020B0604030504040204"/>
              </a:rPr>
              <a:t>intervals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000" spc="-150" dirty="0">
                <a:latin typeface="Tahoma" panose="020B0604030504040204"/>
                <a:cs typeface="Tahoma" panose="020B0604030504040204"/>
              </a:rPr>
              <a:t>If</a:t>
            </a:r>
            <a:r>
              <a:rPr sz="20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65" dirty="0">
                <a:latin typeface="Tahoma" panose="020B0604030504040204"/>
                <a:cs typeface="Tahoma" panose="020B0604030504040204"/>
              </a:rPr>
              <a:t>heartbeat</a:t>
            </a:r>
            <a:r>
              <a:rPr sz="20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70" dirty="0">
                <a:latin typeface="Tahoma" panose="020B0604030504040204"/>
                <a:cs typeface="Tahoma" panose="020B0604030504040204"/>
              </a:rPr>
              <a:t>is</a:t>
            </a:r>
            <a:r>
              <a:rPr sz="20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50" dirty="0">
                <a:latin typeface="Tahoma" panose="020B0604030504040204"/>
                <a:cs typeface="Tahoma" panose="020B0604030504040204"/>
              </a:rPr>
              <a:t>not</a:t>
            </a:r>
            <a:r>
              <a:rPr sz="20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75" dirty="0">
                <a:latin typeface="Tahoma" panose="020B0604030504040204"/>
                <a:cs typeface="Tahoma" panose="020B0604030504040204"/>
              </a:rPr>
              <a:t>received,</a:t>
            </a:r>
            <a:r>
              <a:rPr sz="20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70" dirty="0">
                <a:latin typeface="Tahoma" panose="020B0604030504040204"/>
                <a:cs typeface="Tahoma" panose="020B0604030504040204"/>
              </a:rPr>
              <a:t>datanode</a:t>
            </a:r>
            <a:r>
              <a:rPr sz="20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70" dirty="0">
                <a:latin typeface="Tahoma" panose="020B0604030504040204"/>
                <a:cs typeface="Tahoma" panose="020B0604030504040204"/>
              </a:rPr>
              <a:t>is</a:t>
            </a:r>
            <a:r>
              <a:rPr sz="20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70" dirty="0">
                <a:latin typeface="Tahoma" panose="020B0604030504040204"/>
                <a:cs typeface="Tahoma" panose="020B0604030504040204"/>
              </a:rPr>
              <a:t>declared</a:t>
            </a:r>
            <a:r>
              <a:rPr sz="20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20" dirty="0">
                <a:latin typeface="Tahoma" panose="020B0604030504040204"/>
                <a:cs typeface="Tahoma" panose="020B0604030504040204"/>
              </a:rPr>
              <a:t>dead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301" y="3289225"/>
            <a:ext cx="2686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9903" y="3330983"/>
            <a:ext cx="14719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latin typeface="Tahoma" panose="020B0604030504040204"/>
                <a:cs typeface="Tahoma" panose="020B0604030504040204"/>
              </a:rPr>
              <a:t>Blockreport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9903" y="3665128"/>
            <a:ext cx="215900" cy="69913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000" spc="-17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■</a:t>
            </a:r>
            <a:endParaRPr sz="20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000" spc="-17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■</a:t>
            </a:r>
            <a:endParaRPr sz="20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4893" y="3699329"/>
            <a:ext cx="3569335" cy="69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spc="-80" dirty="0">
                <a:latin typeface="Tahoma" panose="020B0604030504040204"/>
                <a:cs typeface="Tahoma" panose="020B0604030504040204"/>
              </a:rPr>
              <a:t>DataNode</a:t>
            </a:r>
            <a:r>
              <a:rPr sz="20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90" dirty="0">
                <a:latin typeface="Tahoma" panose="020B0604030504040204"/>
                <a:cs typeface="Tahoma" panose="020B0604030504040204"/>
              </a:rPr>
              <a:t>sends</a:t>
            </a:r>
            <a:r>
              <a:rPr sz="20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50" dirty="0">
                <a:latin typeface="Tahoma" panose="020B0604030504040204"/>
                <a:cs typeface="Tahoma" panose="020B0604030504040204"/>
              </a:rPr>
              <a:t>list</a:t>
            </a:r>
            <a:r>
              <a:rPr sz="20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40" dirty="0">
                <a:latin typeface="Tahoma" panose="020B0604030504040204"/>
                <a:cs typeface="Tahoma" panose="020B0604030504040204"/>
              </a:rPr>
              <a:t>of</a:t>
            </a:r>
            <a:r>
              <a:rPr sz="20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75" dirty="0">
                <a:latin typeface="Tahoma" panose="020B0604030504040204"/>
                <a:cs typeface="Tahoma" panose="020B0604030504040204"/>
              </a:rPr>
              <a:t>blocks</a:t>
            </a:r>
            <a:r>
              <a:rPr sz="20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55" dirty="0">
                <a:latin typeface="Tahoma" panose="020B0604030504040204"/>
                <a:cs typeface="Tahoma" panose="020B0604030504040204"/>
              </a:rPr>
              <a:t>on</a:t>
            </a:r>
            <a:r>
              <a:rPr sz="20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latin typeface="Tahoma" panose="020B0604030504040204"/>
                <a:cs typeface="Tahoma" panose="020B0604030504040204"/>
              </a:rPr>
              <a:t>it </a:t>
            </a:r>
            <a:r>
              <a:rPr sz="2000" spc="-75" dirty="0">
                <a:latin typeface="Tahoma" panose="020B0604030504040204"/>
                <a:cs typeface="Tahoma" panose="020B0604030504040204"/>
              </a:rPr>
              <a:t>Used</a:t>
            </a:r>
            <a:r>
              <a:rPr sz="20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35" dirty="0">
                <a:latin typeface="Tahoma" panose="020B0604030504040204"/>
                <a:cs typeface="Tahoma" panose="020B0604030504040204"/>
              </a:rPr>
              <a:t>to</a:t>
            </a:r>
            <a:r>
              <a:rPr sz="20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90" dirty="0">
                <a:latin typeface="Tahoma" panose="020B0604030504040204"/>
                <a:cs typeface="Tahoma" panose="020B0604030504040204"/>
              </a:rPr>
              <a:t>check</a:t>
            </a:r>
            <a:r>
              <a:rPr sz="20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60" dirty="0">
                <a:latin typeface="Tahoma" panose="020B0604030504040204"/>
                <a:cs typeface="Tahoma" panose="020B0604030504040204"/>
              </a:rPr>
              <a:t>health</a:t>
            </a:r>
            <a:r>
              <a:rPr sz="20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40" dirty="0">
                <a:latin typeface="Tahoma" panose="020B0604030504040204"/>
                <a:cs typeface="Tahoma" panose="020B0604030504040204"/>
              </a:rPr>
              <a:t>of</a:t>
            </a:r>
            <a:r>
              <a:rPr sz="20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20" dirty="0">
                <a:latin typeface="Tahoma" panose="020B0604030504040204"/>
                <a:cs typeface="Tahoma" panose="020B0604030504040204"/>
              </a:rPr>
              <a:t>HDFS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215" rIns="0" bIns="0" rtlCol="0">
            <a:spAutoFit/>
          </a:bodyPr>
          <a:lstStyle/>
          <a:p>
            <a:pPr marL="1845310">
              <a:lnSpc>
                <a:spcPct val="100000"/>
              </a:lnSpc>
              <a:spcBef>
                <a:spcPts val="100"/>
              </a:spcBef>
            </a:pPr>
            <a:r>
              <a:rPr dirty="0"/>
              <a:t>NameNode</a:t>
            </a:r>
            <a:r>
              <a:rPr spc="-120" dirty="0"/>
              <a:t> </a:t>
            </a:r>
            <a:r>
              <a:rPr spc="-10" dirty="0"/>
              <a:t>Functions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066586"/>
            <a:ext cx="18453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indent="-447675">
              <a:lnSpc>
                <a:spcPct val="100000"/>
              </a:lnSpc>
              <a:spcBef>
                <a:spcPts val="100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60375" algn="l"/>
              </a:tabLst>
            </a:pPr>
            <a:r>
              <a:rPr sz="2400" spc="-70" dirty="0">
                <a:latin typeface="Tahoma" panose="020B0604030504040204"/>
                <a:cs typeface="Tahoma" panose="020B0604030504040204"/>
              </a:rPr>
              <a:t>Replication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341" y="1389658"/>
            <a:ext cx="268605" cy="124079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7574" y="1431403"/>
            <a:ext cx="2518410" cy="123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100"/>
              </a:spcBef>
            </a:pPr>
            <a:r>
              <a:rPr sz="2400" spc="-110" dirty="0">
                <a:latin typeface="Tahoma" panose="020B0604030504040204"/>
                <a:cs typeface="Tahoma" panose="020B0604030504040204"/>
              </a:rPr>
              <a:t>On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Datanode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5" dirty="0">
                <a:latin typeface="Tahoma" panose="020B0604030504040204"/>
                <a:cs typeface="Tahoma" panose="020B0604030504040204"/>
              </a:rPr>
              <a:t>failure </a:t>
            </a:r>
            <a:r>
              <a:rPr sz="2400" spc="-110" dirty="0">
                <a:latin typeface="Tahoma" panose="020B0604030504040204"/>
                <a:cs typeface="Tahoma" panose="020B0604030504040204"/>
              </a:rPr>
              <a:t>On</a:t>
            </a:r>
            <a:r>
              <a:rPr sz="2400" spc="-1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14" dirty="0">
                <a:latin typeface="Tahoma" panose="020B0604030504040204"/>
                <a:cs typeface="Tahoma" panose="020B0604030504040204"/>
              </a:rPr>
              <a:t>Disk</a:t>
            </a:r>
            <a:r>
              <a:rPr sz="2400" spc="-1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failure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spc="-110" dirty="0">
                <a:latin typeface="Tahoma" panose="020B0604030504040204"/>
                <a:cs typeface="Tahoma" panose="020B0604030504040204"/>
              </a:rPr>
              <a:t>On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Block</a:t>
            </a:r>
            <a:r>
              <a:rPr sz="2400" spc="-1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latin typeface="Tahoma" panose="020B0604030504040204"/>
                <a:cs typeface="Tahoma" panose="020B0604030504040204"/>
              </a:rPr>
              <a:t>corruption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39" y="2645676"/>
            <a:ext cx="3460750" cy="158369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73075" indent="-447675">
              <a:lnSpc>
                <a:spcPct val="100000"/>
              </a:lnSpc>
              <a:spcBef>
                <a:spcPts val="405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73075" algn="l"/>
              </a:tabLst>
            </a:pPr>
            <a:r>
              <a:rPr sz="2400" spc="-120" dirty="0">
                <a:latin typeface="Tahoma" panose="020B0604030504040204"/>
                <a:cs typeface="Tahoma" panose="020B0604030504040204"/>
              </a:rPr>
              <a:t>Data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integrity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913765" marR="198120" lvl="1" indent="-444500">
              <a:lnSpc>
                <a:spcPts val="2700"/>
              </a:lnSpc>
              <a:spcBef>
                <a:spcPts val="550"/>
              </a:spcBef>
              <a:buClr>
                <a:srgbClr val="006FBF"/>
              </a:buClr>
              <a:buFont typeface="Segoe UI Symbol" panose="020B0502040204020203"/>
              <a:buChar char="➢"/>
              <a:tabLst>
                <a:tab pos="913765" algn="l"/>
              </a:tabLst>
            </a:pPr>
            <a:r>
              <a:rPr sz="2400" spc="-120" dirty="0">
                <a:latin typeface="Tahoma" panose="020B0604030504040204"/>
                <a:cs typeface="Tahoma" panose="020B0604030504040204"/>
              </a:rPr>
              <a:t>Checksum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0" dirty="0">
                <a:latin typeface="Tahoma" panose="020B0604030504040204"/>
                <a:cs typeface="Tahoma" panose="020B0604030504040204"/>
              </a:rPr>
              <a:t>for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each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block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913765" lvl="1" indent="-443865">
              <a:lnSpc>
                <a:spcPct val="100000"/>
              </a:lnSpc>
              <a:spcBef>
                <a:spcPts val="250"/>
              </a:spcBef>
              <a:buClr>
                <a:srgbClr val="006FBF"/>
              </a:buClr>
              <a:buFont typeface="Segoe UI Symbol" panose="020B0502040204020203"/>
              <a:buChar char="➢"/>
              <a:tabLst>
                <a:tab pos="913765" algn="l"/>
              </a:tabLst>
            </a:pPr>
            <a:r>
              <a:rPr sz="2400" spc="-95" dirty="0">
                <a:latin typeface="Tahoma" panose="020B0604030504040204"/>
                <a:cs typeface="Tahoma" panose="020B0604030504040204"/>
              </a:rPr>
              <a:t>Stored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5" dirty="0">
                <a:latin typeface="Tahoma" panose="020B0604030504040204"/>
                <a:cs typeface="Tahoma" panose="020B0604030504040204"/>
              </a:rPr>
              <a:t>in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hidden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file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5781" y="1566391"/>
            <a:ext cx="268605" cy="12382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1180" y="1201724"/>
            <a:ext cx="3828415" cy="164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10" marR="5080" indent="-448945">
              <a:lnSpc>
                <a:spcPct val="111000"/>
              </a:lnSpc>
              <a:spcBef>
                <a:spcPts val="100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901700" algn="l"/>
              </a:tabLst>
            </a:pPr>
            <a:r>
              <a:rPr sz="2400" spc="-110" dirty="0">
                <a:latin typeface="Tahoma" panose="020B0604030504040204"/>
                <a:cs typeface="Tahoma" panose="020B0604030504040204"/>
              </a:rPr>
              <a:t>Rebalancing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55" dirty="0">
                <a:latin typeface="Tahoma" panose="020B0604030504040204"/>
                <a:cs typeface="Tahoma" panose="020B0604030504040204"/>
              </a:rPr>
              <a:t>-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balancer</a:t>
            </a:r>
            <a:r>
              <a:rPr sz="24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tool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	</a:t>
            </a:r>
            <a:r>
              <a:rPr sz="2400" spc="-60" dirty="0">
                <a:latin typeface="Tahoma" panose="020B0604030504040204"/>
                <a:cs typeface="Tahoma" panose="020B0604030504040204"/>
              </a:rPr>
              <a:t>Addition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of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new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nodes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	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Decommissioning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	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Deletion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of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some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files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215" rIns="0" bIns="0" rtlCol="0">
            <a:spAutoFit/>
          </a:bodyPr>
          <a:lstStyle/>
          <a:p>
            <a:pPr marL="2212340">
              <a:lnSpc>
                <a:spcPct val="100000"/>
              </a:lnSpc>
              <a:spcBef>
                <a:spcPts val="100"/>
              </a:spcBef>
            </a:pPr>
            <a:r>
              <a:rPr dirty="0"/>
              <a:t>HDFS</a:t>
            </a:r>
            <a:r>
              <a:rPr spc="-125" dirty="0"/>
              <a:t> </a:t>
            </a:r>
            <a:r>
              <a:rPr spc="-10" dirty="0"/>
              <a:t>Robustness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140386"/>
            <a:ext cx="19126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9740" indent="-447040">
              <a:lnSpc>
                <a:spcPct val="100000"/>
              </a:lnSpc>
              <a:spcBef>
                <a:spcPts val="100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59740" algn="l"/>
              </a:tabLst>
            </a:pPr>
            <a:r>
              <a:rPr sz="2800" spc="-120" dirty="0">
                <a:latin typeface="Tahoma" panose="020B0604030504040204"/>
                <a:cs typeface="Tahoma" panose="020B0604030504040204"/>
              </a:rPr>
              <a:t>Safemode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341" y="1526819"/>
            <a:ext cx="268605" cy="123952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7574" y="1568563"/>
            <a:ext cx="7796530" cy="123952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spc="-65" dirty="0">
                <a:latin typeface="Tahoma" panose="020B0604030504040204"/>
                <a:cs typeface="Tahoma" panose="020B0604030504040204"/>
              </a:rPr>
              <a:t>At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startup: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5" dirty="0">
                <a:latin typeface="Tahoma" panose="020B0604030504040204"/>
                <a:cs typeface="Tahoma" panose="020B0604030504040204"/>
              </a:rPr>
              <a:t>No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replication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possible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spc="-114" dirty="0">
                <a:latin typeface="Tahoma" panose="020B0604030504040204"/>
                <a:cs typeface="Tahoma" panose="020B0604030504040204"/>
              </a:rPr>
              <a:t>Receives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Heartbeats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and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Blockreports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from</a:t>
            </a:r>
            <a:r>
              <a:rPr sz="24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Datanodes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spc="-95" dirty="0">
                <a:latin typeface="Tahoma" panose="020B0604030504040204"/>
                <a:cs typeface="Tahoma" panose="020B0604030504040204"/>
              </a:rPr>
              <a:t>Only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20" dirty="0">
                <a:latin typeface="Tahoma" panose="020B0604030504040204"/>
                <a:cs typeface="Tahoma" panose="020B0604030504040204"/>
              </a:rPr>
              <a:t>a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percentage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0" dirty="0">
                <a:latin typeface="Tahoma" panose="020B0604030504040204"/>
                <a:cs typeface="Tahoma" panose="020B0604030504040204"/>
              </a:rPr>
              <a:t>of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blocks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are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10" dirty="0">
                <a:latin typeface="Tahoma" panose="020B0604030504040204"/>
                <a:cs typeface="Tahoma" panose="020B0604030504040204"/>
              </a:rPr>
              <a:t>checked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0" dirty="0">
                <a:latin typeface="Tahoma" panose="020B0604030504040204"/>
                <a:cs typeface="Tahoma" panose="020B0604030504040204"/>
              </a:rPr>
              <a:t>for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defined</a:t>
            </a:r>
            <a:r>
              <a:rPr sz="2400" spc="-1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replication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39" y="2760753"/>
            <a:ext cx="7483475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>
              <a:lnSpc>
                <a:spcPts val="2770"/>
              </a:lnSpc>
              <a:spcBef>
                <a:spcPts val="100"/>
              </a:spcBef>
            </a:pPr>
            <a:r>
              <a:rPr sz="2400" spc="-10" dirty="0">
                <a:latin typeface="Tahoma" panose="020B0604030504040204"/>
                <a:cs typeface="Tahoma" panose="020B0604030504040204"/>
              </a:rPr>
              <a:t>factor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485140" indent="-447040">
              <a:lnSpc>
                <a:spcPts val="3250"/>
              </a:lnSpc>
              <a:buClr>
                <a:srgbClr val="006FBF"/>
              </a:buClr>
              <a:buFont typeface="Segoe UI Symbol" panose="020B0502040204020203"/>
              <a:buChar char="❑"/>
              <a:tabLst>
                <a:tab pos="485140" algn="l"/>
              </a:tabLst>
            </a:pPr>
            <a:r>
              <a:rPr sz="2800" spc="-110" dirty="0">
                <a:latin typeface="Tahoma" panose="020B0604030504040204"/>
                <a:cs typeface="Tahoma" panose="020B0604030504040204"/>
              </a:rPr>
              <a:t>Replicate</a:t>
            </a:r>
            <a:r>
              <a:rPr sz="28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blocks</a:t>
            </a:r>
            <a:r>
              <a:rPr sz="28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5" dirty="0">
                <a:latin typeface="Tahoma" panose="020B0604030504040204"/>
                <a:cs typeface="Tahoma" panose="020B0604030504040204"/>
              </a:rPr>
              <a:t>wherever</a:t>
            </a:r>
            <a:r>
              <a:rPr sz="2800" spc="-18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necessary</a:t>
            </a:r>
            <a:endParaRPr sz="2800">
              <a:latin typeface="Tahoma" panose="020B0604030504040204"/>
              <a:cs typeface="Tahoma" panose="020B0604030504040204"/>
            </a:endParaRPr>
          </a:p>
          <a:p>
            <a:pPr marL="2030095">
              <a:lnSpc>
                <a:spcPct val="100000"/>
              </a:lnSpc>
              <a:spcBef>
                <a:spcPts val="1900"/>
              </a:spcBef>
            </a:pPr>
            <a:r>
              <a:rPr sz="3600" spc="-35" dirty="0">
                <a:latin typeface="Tahoma" panose="020B0604030504040204"/>
                <a:cs typeface="Tahoma" panose="020B0604030504040204"/>
              </a:rPr>
              <a:t>All</a:t>
            </a:r>
            <a:r>
              <a:rPr sz="3600" spc="-31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10" dirty="0">
                <a:latin typeface="Tahoma" panose="020B0604030504040204"/>
                <a:cs typeface="Tahoma" panose="020B0604030504040204"/>
              </a:rPr>
              <a:t>is</a:t>
            </a:r>
            <a:r>
              <a:rPr sz="3600" spc="-320" dirty="0">
                <a:latin typeface="Tahoma" panose="020B0604030504040204"/>
                <a:cs typeface="Tahoma" panose="020B0604030504040204"/>
              </a:rPr>
              <a:t> </a:t>
            </a:r>
            <a:r>
              <a:rPr sz="3600" dirty="0">
                <a:latin typeface="Tahoma" panose="020B0604030504040204"/>
                <a:cs typeface="Tahoma" panose="020B0604030504040204"/>
              </a:rPr>
              <a:t>well</a:t>
            </a:r>
            <a:r>
              <a:rPr sz="3600" spc="30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875" dirty="0">
                <a:latin typeface="Tahoma" panose="020B0604030504040204"/>
                <a:cs typeface="Tahoma" panose="020B0604030504040204"/>
              </a:rPr>
              <a:t>☺</a:t>
            </a:r>
            <a:r>
              <a:rPr sz="3600" spc="-29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400" dirty="0"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3600" spc="-204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sz="3600" spc="-140" dirty="0">
                <a:latin typeface="Tahoma" panose="020B0604030504040204"/>
                <a:cs typeface="Tahoma" panose="020B0604030504040204"/>
              </a:rPr>
              <a:t>Exit</a:t>
            </a:r>
            <a:r>
              <a:rPr sz="3600" spc="-31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-110" dirty="0">
                <a:latin typeface="Tahoma" panose="020B0604030504040204"/>
                <a:cs typeface="Tahoma" panose="020B0604030504040204"/>
              </a:rPr>
              <a:t>Safemode</a:t>
            </a:r>
            <a:endParaRPr sz="36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215" rIns="0" bIns="0" rtlCol="0">
            <a:spAutoFit/>
          </a:bodyPr>
          <a:lstStyle/>
          <a:p>
            <a:pPr marL="1912620">
              <a:lnSpc>
                <a:spcPct val="100000"/>
              </a:lnSpc>
              <a:spcBef>
                <a:spcPts val="100"/>
              </a:spcBef>
            </a:pPr>
            <a:r>
              <a:rPr dirty="0"/>
              <a:t>HDFS</a:t>
            </a:r>
            <a:r>
              <a:rPr spc="-114" dirty="0"/>
              <a:t> </a:t>
            </a:r>
            <a:r>
              <a:rPr spc="-10" dirty="0"/>
              <a:t>Summary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86854" y="1058075"/>
            <a:ext cx="5091430" cy="17310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85775" indent="-447675">
              <a:lnSpc>
                <a:spcPct val="100000"/>
              </a:lnSpc>
              <a:spcBef>
                <a:spcPts val="575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85775" algn="l"/>
              </a:tabLst>
            </a:pPr>
            <a:r>
              <a:rPr sz="2400" spc="-90" dirty="0">
                <a:latin typeface="Tahoma" panose="020B0604030504040204"/>
                <a:cs typeface="Tahoma" panose="020B0604030504040204"/>
              </a:rPr>
              <a:t>Fault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latin typeface="Tahoma" panose="020B0604030504040204"/>
                <a:cs typeface="Tahoma" panose="020B0604030504040204"/>
              </a:rPr>
              <a:t>tolerant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485775" indent="-447675">
              <a:lnSpc>
                <a:spcPct val="100000"/>
              </a:lnSpc>
              <a:spcBef>
                <a:spcPts val="480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85775" algn="l"/>
              </a:tabLst>
            </a:pPr>
            <a:r>
              <a:rPr sz="2400" spc="-10" dirty="0">
                <a:latin typeface="Tahoma" panose="020B0604030504040204"/>
                <a:cs typeface="Tahoma" panose="020B0604030504040204"/>
              </a:rPr>
              <a:t>Scalable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485775" indent="-447675">
              <a:lnSpc>
                <a:spcPct val="100000"/>
              </a:lnSpc>
              <a:spcBef>
                <a:spcPts val="485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85775" algn="l"/>
              </a:tabLst>
            </a:pPr>
            <a:r>
              <a:rPr sz="2400" spc="-10" dirty="0">
                <a:latin typeface="Tahoma" panose="020B0604030504040204"/>
                <a:cs typeface="Tahoma" panose="020B0604030504040204"/>
              </a:rPr>
              <a:t>Reliable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485775" indent="-447675">
              <a:lnSpc>
                <a:spcPct val="100000"/>
              </a:lnSpc>
              <a:spcBef>
                <a:spcPts val="465"/>
              </a:spcBef>
              <a:buClr>
                <a:srgbClr val="006FBF"/>
              </a:buClr>
              <a:buFont typeface="Segoe UI Symbol" panose="020B0502040204020203"/>
              <a:buChar char="❑"/>
              <a:tabLst>
                <a:tab pos="485775" algn="l"/>
              </a:tabLst>
            </a:pPr>
            <a:r>
              <a:rPr sz="2400" spc="-65" dirty="0">
                <a:latin typeface="Tahoma" panose="020B0604030504040204"/>
                <a:cs typeface="Tahoma" panose="020B0604030504040204"/>
              </a:rPr>
              <a:t>File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are</a:t>
            </a:r>
            <a:r>
              <a:rPr sz="24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distributed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55" dirty="0">
                <a:latin typeface="Tahoma" panose="020B0604030504040204"/>
                <a:cs typeface="Tahoma" panose="020B0604030504040204"/>
              </a:rPr>
              <a:t>in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large</a:t>
            </a:r>
            <a:r>
              <a:rPr sz="24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blocks</a:t>
            </a:r>
            <a:r>
              <a:rPr sz="2400" spc="-17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latin typeface="Tahoma" panose="020B0604030504040204"/>
                <a:cs typeface="Tahoma" panose="020B0604030504040204"/>
              </a:rPr>
              <a:t>for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454" y="2714078"/>
            <a:ext cx="268605" cy="8788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-445" dirty="0">
                <a:solidFill>
                  <a:srgbClr val="006FBF"/>
                </a:solidFill>
                <a:latin typeface="Segoe UI Symbol" panose="020B0502040204020203"/>
                <a:cs typeface="Segoe UI Symbol" panose="020B0502040204020203"/>
              </a:rPr>
              <a:t>➢</a:t>
            </a:r>
            <a:endParaRPr sz="2400">
              <a:latin typeface="Segoe UI Symbol" panose="020B0502040204020203"/>
              <a:cs typeface="Segoe UI Symbol" panose="020B050204020402020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662" y="2763773"/>
            <a:ext cx="17951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sz="2400" spc="-90" dirty="0">
                <a:latin typeface="Tahoma" panose="020B0604030504040204"/>
                <a:cs typeface="Tahoma" panose="020B0604030504040204"/>
              </a:rPr>
              <a:t>Efficient</a:t>
            </a:r>
            <a:r>
              <a:rPr sz="24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reads </a:t>
            </a:r>
            <a:r>
              <a:rPr sz="2400" spc="-75" dirty="0">
                <a:latin typeface="Tahoma" panose="020B0604030504040204"/>
                <a:cs typeface="Tahoma" panose="020B0604030504040204"/>
              </a:rPr>
              <a:t>Parallel</a:t>
            </a:r>
            <a:r>
              <a:rPr sz="24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14" dirty="0">
                <a:latin typeface="Tahoma" panose="020B0604030504040204"/>
                <a:cs typeface="Tahoma" panose="020B0604030504040204"/>
              </a:rPr>
              <a:t>access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8939" y="2340624"/>
            <a:ext cx="16713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Calibri" panose="020F0502020204030204"/>
                <a:cs typeface="Calibri" panose="020F0502020204030204"/>
              </a:rPr>
              <a:t>Questions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?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62714" y="1144792"/>
            <a:ext cx="2437917" cy="2512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8429</Words>
  <Application>WPS 演示</Application>
  <PresentationFormat>On-screen Show (4:3)</PresentationFormat>
  <Paragraphs>447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Arial</vt:lpstr>
      <vt:lpstr>SimSun</vt:lpstr>
      <vt:lpstr>Wingdings</vt:lpstr>
      <vt:lpstr>Calibri</vt:lpstr>
      <vt:lpstr>Georgia</vt:lpstr>
      <vt:lpstr>Arial MT</vt:lpstr>
      <vt:lpstr>Arial</vt:lpstr>
      <vt:lpstr>Microsoft YaHei</vt:lpstr>
      <vt:lpstr>Arial Unicode MS</vt:lpstr>
      <vt:lpstr>Tahoma</vt:lpstr>
      <vt:lpstr>Segoe UI Symbol</vt:lpstr>
      <vt:lpstr>Microsoft JhengHei UI</vt:lpstr>
      <vt:lpstr>Times New Roman</vt:lpstr>
      <vt:lpstr>Calibri</vt:lpstr>
      <vt:lpstr>Office Theme</vt:lpstr>
      <vt:lpstr>PowerPoint 演示文稿</vt:lpstr>
      <vt:lpstr>What is Big Data?</vt:lpstr>
      <vt:lpstr>Definition</vt:lpstr>
      <vt:lpstr>Definition</vt:lpstr>
      <vt:lpstr>The Three V-s</vt:lpstr>
      <vt:lpstr>Volume</vt:lpstr>
      <vt:lpstr>Velocity</vt:lpstr>
      <vt:lpstr>Variety</vt:lpstr>
      <vt:lpstr>Additional V-s</vt:lpstr>
      <vt:lpstr>Veracity</vt:lpstr>
      <vt:lpstr>Value</vt:lpstr>
      <vt:lpstr>Definition</vt:lpstr>
      <vt:lpstr>Definition</vt:lpstr>
      <vt:lpstr>Wikipedia Definition</vt:lpstr>
      <vt:lpstr>Use cases</vt:lpstr>
      <vt:lpstr>Use Case: Big Data in Oil &amp; Gas Drilling</vt:lpstr>
      <vt:lpstr>Use Case: Uber - Pay Surge Pricing if Battery is Low</vt:lpstr>
      <vt:lpstr>Big Data Challenges</vt:lpstr>
      <vt:lpstr>Big Data Challenges: Size does matter</vt:lpstr>
      <vt:lpstr>data scale, storage, and the immense volume of information.</vt:lpstr>
      <vt:lpstr>Big Data Challenges: Vertical Vs Horizontal Scaling</vt:lpstr>
      <vt:lpstr>Big Data Challenges</vt:lpstr>
      <vt:lpstr>Big Data Challenges: Scale of infrastructure</vt:lpstr>
      <vt:lpstr>Further Reading</vt:lpstr>
      <vt:lpstr>PowerPoint 演示文稿</vt:lpstr>
      <vt:lpstr>How to store huge files?</vt:lpstr>
      <vt:lpstr>Requirements?</vt:lpstr>
      <vt:lpstr>PowerPoint 演示文稿</vt:lpstr>
      <vt:lpstr>Hadoop distributed File System</vt:lpstr>
      <vt:lpstr>HDFS</vt:lpstr>
      <vt:lpstr>Components of HDFS</vt:lpstr>
      <vt:lpstr>Terminology</vt:lpstr>
      <vt:lpstr>Terminology</vt:lpstr>
      <vt:lpstr>PowerPoint 演示文稿</vt:lpstr>
      <vt:lpstr>Storing file on HDFS</vt:lpstr>
      <vt:lpstr>Storing file on HDFS</vt:lpstr>
      <vt:lpstr>Storing file on HDFS</vt:lpstr>
      <vt:lpstr>Master Node</vt:lpstr>
      <vt:lpstr>Tasks of NameNode</vt:lpstr>
      <vt:lpstr>NameNode Functions</vt:lpstr>
      <vt:lpstr>HDFS Robustness</vt:lpstr>
      <vt:lpstr>HDFS 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WPS_1671077781</cp:lastModifiedBy>
  <cp:revision>9</cp:revision>
  <dcterms:created xsi:type="dcterms:W3CDTF">2026-03-10T04:06:00Z</dcterms:created>
  <dcterms:modified xsi:type="dcterms:W3CDTF">2026-03-10T04:14:31Z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2022-04-11T16:00:00Z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6.4</vt:lpwstr>
  </property>
  <property fmtid="{D5CDD505-2E9C-101B-9397-08002B2CF9AE}" pid="5" name="LastSaved">
    <vt:filetime>2022-04-11T16:00:00Z</vt:filetime>
  </property>
  <property fmtid="{D5CDD505-2E9C-101B-9397-08002B2CF9AE}" pid="6" name="KSOProductBuildVer">
    <vt:lpwstr>2052-12.1.0.25225</vt:lpwstr>
  </property>
  <property fmtid="{D5CDD505-2E9C-101B-9397-08002B2CF9AE}" pid="7" name="ICV">
    <vt:lpwstr>436E09371356445C937275A681C7A54B_12</vt:lpwstr>
  </property>
</Properties>
</file>