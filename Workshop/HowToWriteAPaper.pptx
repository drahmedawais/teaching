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72" r:id="rId3"/>
    <p:sldId id="268" r:id="rId4"/>
    <p:sldId id="270" r:id="rId5"/>
    <p:sldId id="262" r:id="rId6"/>
    <p:sldId id="257" r:id="rId7"/>
    <p:sldId id="274" r:id="rId8"/>
    <p:sldId id="288" r:id="rId9"/>
    <p:sldId id="289" r:id="rId10"/>
    <p:sldId id="258" r:id="rId11"/>
    <p:sldId id="263" r:id="rId12"/>
    <p:sldId id="282" r:id="rId13"/>
    <p:sldId id="283" r:id="rId14"/>
    <p:sldId id="264" r:id="rId15"/>
    <p:sldId id="284" r:id="rId17"/>
    <p:sldId id="265" r:id="rId18"/>
    <p:sldId id="267" r:id="rId19"/>
    <p:sldId id="281" r:id="rId20"/>
    <p:sldId id="271" r:id="rId21"/>
    <p:sldId id="278" r:id="rId22"/>
    <p:sldId id="275" r:id="rId23"/>
    <p:sldId id="279" r:id="rId24"/>
    <p:sldId id="280" r:id="rId25"/>
    <p:sldId id="273" r:id="rId26"/>
    <p:sldId id="285"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56" d="100"/>
          <a:sy n="56" d="100"/>
        </p:scale>
        <p:origin x="537"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endParaRPr lang="en-US" altLang="zh-CN"/>
          </a:p>
        </p:txBody>
      </p:sp>
      <p:sp>
        <p:nvSpPr>
          <p:cNvPr id="4" name="Date Placeholder 3"/>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Date Placeholder 4"/>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Date Placeholder 6"/>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sp>
        <p:nvSpPr>
          <p:cNvPr id="5" name="Date Placeholder 4"/>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10"/>
          </p:nvPr>
        </p:nvSpPr>
        <p:spPr/>
        <p:txBody>
          <a:body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C596925-C4F0-4173-BBAE-F01BD611D6A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37DDAA-FF3A-4ACF-90DB-F30021C2C1E0}"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596925-C4F0-4173-BBAE-F01BD611D6A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link.springer.com/article/10.1007/s13224-018-1133-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ahmedawais@cwnu.edu.c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zh-CN" sz="5400" dirty="0">
                <a:latin typeface="Times" panose="02020603050405020304" pitchFamily="18" charset="0"/>
              </a:rPr>
              <a:t>How to Draft a Research Paper</a:t>
            </a:r>
            <a:endParaRPr lang="zh-CN" altLang="en-US" sz="5400" dirty="0">
              <a:latin typeface="Times" panose="02020603050405020304" pitchFamily="18" charset="0"/>
            </a:endParaRPr>
          </a:p>
        </p:txBody>
      </p:sp>
      <p:sp>
        <p:nvSpPr>
          <p:cNvPr id="3" name="Subtitle 2"/>
          <p:cNvSpPr>
            <a:spLocks noGrp="1"/>
          </p:cNvSpPr>
          <p:nvPr>
            <p:ph type="subTitle" idx="1"/>
          </p:nvPr>
        </p:nvSpPr>
        <p:spPr/>
        <p:txBody>
          <a:bodyPr>
            <a:normAutofit/>
          </a:bodyPr>
          <a:lstStyle/>
          <a:p>
            <a:r>
              <a:rPr lang="en-US" altLang="zh-CN" sz="3200" b="1" dirty="0">
                <a:latin typeface="Times" panose="02020603050405020304" pitchFamily="18" charset="0"/>
              </a:rPr>
              <a:t>Dr. Ahmed Awais</a:t>
            </a:r>
            <a:endParaRPr lang="zh-CN" altLang="en-US" sz="3200" b="1" dirty="0">
              <a:latin typeface="Times"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normAutofit lnSpcReduction="20000"/>
          </a:bodyPr>
          <a:lstStyle/>
          <a:p>
            <a:r>
              <a:rPr lang="en-US" altLang="zh-CN" dirty="0">
                <a:latin typeface="Arial" panose="020B0604020202020204" pitchFamily="34" charset="0"/>
              </a:rPr>
              <a:t>Overview of Process (The art and craft of making a draft)</a:t>
            </a:r>
            <a:endParaRPr lang="en-US" altLang="zh-CN" dirty="0">
              <a:latin typeface="Arial" panose="020B0604020202020204" pitchFamily="34" charset="0"/>
            </a:endParaRPr>
          </a:p>
          <a:p>
            <a:r>
              <a:rPr lang="en-US" altLang="zh-CN" dirty="0">
                <a:latin typeface="Arial" panose="020B0604020202020204" pitchFamily="34" charset="0"/>
              </a:rPr>
              <a:t>Informal hacks</a:t>
            </a:r>
            <a:endParaRPr lang="en-US" altLang="zh-CN" dirty="0">
              <a:latin typeface="Arial" panose="020B0604020202020204" pitchFamily="34" charset="0"/>
            </a:endParaRPr>
          </a:p>
          <a:p>
            <a:r>
              <a:rPr lang="en-US" altLang="zh-CN" dirty="0">
                <a:latin typeface="Arial" panose="020B0604020202020204" pitchFamily="34" charset="0"/>
              </a:rPr>
              <a:t>The abstract</a:t>
            </a:r>
            <a:endParaRPr lang="en-US" altLang="zh-CN" dirty="0">
              <a:latin typeface="Arial" panose="020B0604020202020204" pitchFamily="34" charset="0"/>
            </a:endParaRPr>
          </a:p>
          <a:p>
            <a:r>
              <a:rPr lang="en-US" altLang="zh-CN" dirty="0">
                <a:latin typeface="Arial" panose="020B0604020202020204" pitchFamily="34" charset="0"/>
              </a:rPr>
              <a:t>IMRaD</a:t>
            </a:r>
            <a:endParaRPr lang="en-US" altLang="zh-CN" dirty="0">
              <a:latin typeface="Arial" panose="020B0604020202020204" pitchFamily="34" charset="0"/>
            </a:endParaRPr>
          </a:p>
          <a:p>
            <a:r>
              <a:rPr lang="en-US" altLang="zh-CN" dirty="0">
                <a:latin typeface="Arial" panose="020B0604020202020204" pitchFamily="34" charset="0"/>
              </a:rPr>
              <a:t>My own method LR-IMRaD</a:t>
            </a:r>
            <a:endParaRPr lang="en-US" altLang="zh-CN" dirty="0">
              <a:latin typeface="Arial" panose="020B0604020202020204" pitchFamily="34" charset="0"/>
            </a:endParaRPr>
          </a:p>
          <a:p>
            <a:pPr marL="0" indent="0">
              <a:buNone/>
            </a:pPr>
            <a:r>
              <a:rPr lang="en-US" altLang="zh-CN" dirty="0">
                <a:latin typeface="Arial" panose="020B0604020202020204" pitchFamily="34" charset="0"/>
              </a:rPr>
              <a:t>Overview of:</a:t>
            </a:r>
            <a:endParaRPr lang="en-US" altLang="zh-CN" dirty="0">
              <a:latin typeface="Arial" panose="020B0604020202020204" pitchFamily="34" charset="0"/>
            </a:endParaRPr>
          </a:p>
          <a:p>
            <a:pPr lvl="1"/>
            <a:r>
              <a:rPr lang="en-US" altLang="zh-CN" dirty="0">
                <a:latin typeface="Arial" panose="020B0604020202020204" pitchFamily="34" charset="0"/>
              </a:rPr>
              <a:t>Google Scholar</a:t>
            </a:r>
            <a:endParaRPr lang="en-US" altLang="zh-CN" dirty="0">
              <a:latin typeface="Arial" panose="020B0604020202020204" pitchFamily="34" charset="0"/>
            </a:endParaRPr>
          </a:p>
          <a:p>
            <a:pPr lvl="1"/>
            <a:r>
              <a:rPr lang="en-US" altLang="zh-CN" dirty="0">
                <a:latin typeface="Arial" panose="020B0604020202020204" pitchFamily="34" charset="0"/>
              </a:rPr>
              <a:t>Overleaf</a:t>
            </a:r>
            <a:endParaRPr lang="en-US" altLang="zh-CN" dirty="0">
              <a:latin typeface="Arial" panose="020B0604020202020204" pitchFamily="34" charset="0"/>
            </a:endParaRPr>
          </a:p>
          <a:p>
            <a:r>
              <a:rPr lang="en-US" altLang="zh-CN" dirty="0">
                <a:latin typeface="Arial" panose="020B0604020202020204" pitchFamily="34" charset="0"/>
              </a:rPr>
              <a:t>Conclusion</a:t>
            </a:r>
            <a:endParaRPr lang="en-US" altLang="zh-CN" dirty="0">
              <a:latin typeface="Arial" panose="020B0604020202020204" pitchFamily="34" charset="0"/>
            </a:endParaRPr>
          </a:p>
          <a:p>
            <a:r>
              <a:rPr lang="en-US" altLang="zh-CN" dirty="0">
                <a:latin typeface="Arial" panose="020B0604020202020204" pitchFamily="34" charset="0"/>
              </a:rPr>
              <a:t>Q&amp;A ~15 minutes</a:t>
            </a:r>
            <a:endParaRPr lang="en-US" altLang="zh-CN"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0" i="0" u="none" strike="noStrike" dirty="0">
                <a:solidFill>
                  <a:srgbClr val="467886"/>
                </a:solidFill>
                <a:effectLst/>
                <a:latin typeface="Arial" panose="020B0604020202020204" pitchFamily="34" charset="0"/>
                <a:hlinkClick r:id="rId1"/>
              </a:rPr>
              <a:t>The </a:t>
            </a:r>
            <a:r>
              <a:rPr lang="en-US" altLang="zh-CN" b="0" i="0" u="none" strike="noStrike" dirty="0">
                <a:solidFill>
                  <a:srgbClr val="467886"/>
                </a:solidFill>
                <a:effectLst/>
                <a:highlight>
                  <a:srgbClr val="FFFF00"/>
                </a:highlight>
                <a:latin typeface="Arial" panose="020B0604020202020204" pitchFamily="34" charset="0"/>
                <a:hlinkClick r:id="rId1"/>
              </a:rPr>
              <a:t>art</a:t>
            </a:r>
            <a:r>
              <a:rPr lang="en-US" altLang="zh-CN" b="0" i="0" u="none" strike="noStrike" dirty="0">
                <a:solidFill>
                  <a:srgbClr val="467886"/>
                </a:solidFill>
                <a:effectLst/>
                <a:latin typeface="Arial" panose="020B0604020202020204" pitchFamily="34" charset="0"/>
                <a:hlinkClick r:id="rId1"/>
              </a:rPr>
              <a:t> and </a:t>
            </a:r>
            <a:r>
              <a:rPr lang="en-US" altLang="zh-CN" b="0" i="0" u="none" strike="noStrike" dirty="0">
                <a:solidFill>
                  <a:srgbClr val="467886"/>
                </a:solidFill>
                <a:effectLst/>
                <a:highlight>
                  <a:srgbClr val="00FF00"/>
                </a:highlight>
                <a:latin typeface="Arial" panose="020B0604020202020204" pitchFamily="34" charset="0"/>
                <a:hlinkClick r:id="rId1"/>
              </a:rPr>
              <a:t>craft</a:t>
            </a:r>
            <a:r>
              <a:rPr lang="en-US" altLang="zh-CN" b="0" i="0" u="none" strike="noStrike" dirty="0">
                <a:solidFill>
                  <a:srgbClr val="467886"/>
                </a:solidFill>
                <a:effectLst/>
                <a:latin typeface="Arial" panose="020B0604020202020204" pitchFamily="34" charset="0"/>
                <a:hlinkClick r:id="rId1"/>
              </a:rPr>
              <a:t> of making a </a:t>
            </a:r>
            <a:r>
              <a:rPr lang="en-US" altLang="zh-CN" b="1" i="0" u="none" strike="noStrike" dirty="0">
                <a:solidFill>
                  <a:srgbClr val="467886"/>
                </a:solidFill>
                <a:effectLst/>
                <a:latin typeface="Arial" panose="020B0604020202020204" pitchFamily="34" charset="0"/>
                <a:hlinkClick r:id="rId1"/>
              </a:rPr>
              <a:t>draft</a:t>
            </a:r>
            <a:r>
              <a:rPr lang="en-US" altLang="zh-CN" b="0" i="0" u="none" strike="noStrike" dirty="0">
                <a:solidFill>
                  <a:srgbClr val="FF0000"/>
                </a:solidFill>
                <a:effectLst/>
                <a:latin typeface="Arial" panose="020B0604020202020204" pitchFamily="34" charset="0"/>
                <a:hlinkClick r:id="rId1"/>
              </a:rPr>
              <a:t>: writing a good-quality research paper</a:t>
            </a:r>
            <a:endParaRPr lang="zh-CN" altLang="en-US" dirty="0"/>
          </a:p>
        </p:txBody>
      </p:sp>
      <p:sp>
        <p:nvSpPr>
          <p:cNvPr id="3" name="Content Placeholder 2"/>
          <p:cNvSpPr>
            <a:spLocks noGrp="1"/>
          </p:cNvSpPr>
          <p:nvPr>
            <p:ph idx="1"/>
          </p:nvPr>
        </p:nvSpPr>
        <p:spPr/>
        <p:txBody>
          <a:bodyPr/>
          <a:lstStyle/>
          <a:p>
            <a:pPr algn="l"/>
            <a:r>
              <a:rPr lang="en-US" altLang="zh-CN" b="1" i="0" dirty="0">
                <a:solidFill>
                  <a:srgbClr val="0F1115"/>
                </a:solidFill>
                <a:effectLst/>
                <a:latin typeface="quote-cjk-patch"/>
              </a:rPr>
              <a:t>The Big Picture: Art &amp; Craft of Drafting</a:t>
            </a:r>
            <a:endParaRPr lang="en-US" altLang="zh-CN" b="1" i="0" dirty="0">
              <a:solidFill>
                <a:srgbClr val="0F1115"/>
              </a:solidFill>
              <a:effectLst/>
              <a:latin typeface="quote-cjk-patch"/>
            </a:endParaRPr>
          </a:p>
          <a:p>
            <a:pPr lvl="1"/>
            <a:r>
              <a:rPr lang="en-US" altLang="zh-CN" b="0" i="0" dirty="0">
                <a:solidFill>
                  <a:srgbClr val="0F1115"/>
                </a:solidFill>
                <a:effectLst/>
                <a:latin typeface="quote-cjk-patch"/>
              </a:rPr>
              <a:t>Why writing is both </a:t>
            </a:r>
            <a:r>
              <a:rPr lang="en-US" altLang="zh-CN" sz="4000" b="0" i="1" dirty="0">
                <a:solidFill>
                  <a:srgbClr val="FF0000"/>
                </a:solidFill>
                <a:effectLst/>
                <a:latin typeface="quote-cjk-patch"/>
              </a:rPr>
              <a:t>creative</a:t>
            </a:r>
            <a:r>
              <a:rPr lang="en-US" altLang="zh-CN" sz="4000" b="0" i="0" dirty="0">
                <a:solidFill>
                  <a:srgbClr val="FF0000"/>
                </a:solidFill>
                <a:effectLst/>
                <a:latin typeface="quote-cjk-patch"/>
              </a:rPr>
              <a:t> and </a:t>
            </a:r>
            <a:r>
              <a:rPr lang="en-US" altLang="zh-CN" sz="4000" b="0" i="1" dirty="0">
                <a:solidFill>
                  <a:srgbClr val="FF0000"/>
                </a:solidFill>
                <a:effectLst/>
                <a:latin typeface="quote-cjk-patch"/>
              </a:rPr>
              <a:t>systematic</a:t>
            </a:r>
            <a:endParaRPr lang="en-US" altLang="zh-CN" b="0" i="0" dirty="0">
              <a:solidFill>
                <a:srgbClr val="0F1115"/>
              </a:solidFill>
              <a:effectLst/>
              <a:latin typeface="quote-cjk-patch"/>
            </a:endParaRPr>
          </a:p>
          <a:p>
            <a:pPr lvl="1"/>
            <a:r>
              <a:rPr lang="en-US" altLang="zh-CN" b="0" i="0" dirty="0">
                <a:solidFill>
                  <a:srgbClr val="0F1115"/>
                </a:solidFill>
                <a:effectLst/>
                <a:latin typeface="quote-cjk-patch"/>
              </a:rPr>
              <a:t>Mental shift: from</a:t>
            </a:r>
            <a:r>
              <a:rPr lang="en-US" altLang="zh-CN" sz="3200" b="0" i="0" dirty="0">
                <a:solidFill>
                  <a:schemeClr val="tx1"/>
                </a:solidFill>
                <a:effectLst/>
                <a:latin typeface="quote-cjk-patch"/>
              </a:rPr>
              <a:t> </a:t>
            </a:r>
            <a:r>
              <a:rPr lang="en-US" altLang="zh-CN" sz="4400" b="0" i="0" dirty="0">
                <a:solidFill>
                  <a:schemeClr val="tx1"/>
                </a:solidFill>
                <a:effectLst/>
                <a:latin typeface="quote-cjk-patch"/>
              </a:rPr>
              <a:t>“perfect first draft”</a:t>
            </a:r>
            <a:r>
              <a:rPr lang="en-US" altLang="zh-CN" sz="3200" b="0" i="0" dirty="0">
                <a:solidFill>
                  <a:schemeClr val="tx1"/>
                </a:solidFill>
                <a:effectLst/>
                <a:latin typeface="quote-cjk-patch"/>
              </a:rPr>
              <a:t> to </a:t>
            </a:r>
            <a:r>
              <a:rPr lang="en-US" altLang="zh-CN" sz="4400" b="0" i="0" dirty="0">
                <a:solidFill>
                  <a:schemeClr val="tx1"/>
                </a:solidFill>
                <a:effectLst/>
                <a:latin typeface="quote-cjk-patch"/>
              </a:rPr>
              <a:t>“iterative drafting”</a:t>
            </a:r>
            <a:endParaRPr lang="en-US" altLang="zh-CN" sz="4400" b="0" i="0" dirty="0">
              <a:solidFill>
                <a:schemeClr val="tx1"/>
              </a:solidFill>
              <a:effectLst/>
              <a:latin typeface="quote-cjk-patch"/>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Informally Quick Hacks</a:t>
            </a:r>
            <a:endParaRPr lang="zh-CN" altLang="en-US" dirty="0"/>
          </a:p>
        </p:txBody>
      </p:sp>
      <p:sp>
        <p:nvSpPr>
          <p:cNvPr id="3" name="Content Placeholder 2"/>
          <p:cNvSpPr>
            <a:spLocks noGrp="1"/>
          </p:cNvSpPr>
          <p:nvPr>
            <p:ph idx="1"/>
          </p:nvPr>
        </p:nvSpPr>
        <p:spPr>
          <a:xfrm>
            <a:off x="772326" y="1782896"/>
            <a:ext cx="10647348" cy="4429896"/>
          </a:xfrm>
        </p:spPr>
        <p:txBody>
          <a:bodyPr>
            <a:normAutofit/>
          </a:bodyPr>
          <a:lstStyle/>
          <a:p>
            <a:r>
              <a:rPr lang="en-US" altLang="zh-CN" sz="4000" dirty="0"/>
              <a:t>Reading</a:t>
            </a:r>
            <a:endParaRPr lang="en-US" altLang="zh-CN" sz="4000" dirty="0"/>
          </a:p>
          <a:p>
            <a:pPr lvl="1"/>
            <a:r>
              <a:rPr lang="en-US" altLang="zh-CN" sz="3600" dirty="0"/>
              <a:t>Are you good at reading</a:t>
            </a:r>
            <a:endParaRPr lang="en-US" altLang="zh-CN" sz="3600" dirty="0"/>
          </a:p>
          <a:p>
            <a:pPr lvl="2"/>
            <a:r>
              <a:rPr lang="en-US" altLang="zh-CN" sz="3200" b="0" i="0" dirty="0">
                <a:solidFill>
                  <a:srgbClr val="0F1115"/>
                </a:solidFill>
                <a:effectLst/>
                <a:latin typeface="quote-cjk-patch"/>
              </a:rPr>
              <a:t>How to read papers – an art</a:t>
            </a:r>
            <a:endParaRPr lang="en-US" altLang="zh-CN" sz="3200" dirty="0"/>
          </a:p>
          <a:p>
            <a:r>
              <a:rPr lang="en-US" altLang="zh-CN" sz="4000" dirty="0"/>
              <a:t>Understanding</a:t>
            </a:r>
            <a:endParaRPr lang="en-US" altLang="zh-CN" sz="4000" dirty="0"/>
          </a:p>
          <a:p>
            <a:pPr lvl="1"/>
            <a:r>
              <a:rPr lang="en-US" altLang="zh-CN" sz="2800" b="0" i="0" dirty="0">
                <a:solidFill>
                  <a:srgbClr val="0F1115"/>
                </a:solidFill>
                <a:effectLst/>
                <a:latin typeface="quote-cjk-patch"/>
              </a:rPr>
              <a:t>Summarize in your own words</a:t>
            </a:r>
            <a:endParaRPr lang="en-US" altLang="zh-CN" sz="3600" dirty="0"/>
          </a:p>
          <a:p>
            <a:r>
              <a:rPr lang="en-US" altLang="zh-CN" sz="4000" dirty="0"/>
              <a:t>Brainstorming (Visualization)</a:t>
            </a:r>
            <a:endParaRPr lang="en-US" altLang="zh-CN" sz="4000" dirty="0"/>
          </a:p>
          <a:p>
            <a:pPr lvl="1"/>
            <a:r>
              <a:rPr lang="en-US" altLang="zh-CN" sz="2800" b="0" i="0" dirty="0">
                <a:solidFill>
                  <a:srgbClr val="0F1115"/>
                </a:solidFill>
                <a:effectLst/>
                <a:highlight>
                  <a:srgbClr val="FFFF00"/>
                </a:highlight>
                <a:latin typeface="quote-cjk-patch"/>
              </a:rPr>
              <a:t>Mind maps, bullet lists, free-writing</a:t>
            </a:r>
            <a:endParaRPr lang="zh-CN" altLang="en-US" sz="3600"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Abstract</a:t>
            </a:r>
            <a:endParaRPr lang="zh-CN" altLang="en-US" dirty="0"/>
          </a:p>
        </p:txBody>
      </p:sp>
      <p:sp>
        <p:nvSpPr>
          <p:cNvPr id="3" name="Content Placeholder 2"/>
          <p:cNvSpPr>
            <a:spLocks noGrp="1"/>
          </p:cNvSpPr>
          <p:nvPr>
            <p:ph idx="1"/>
          </p:nvPr>
        </p:nvSpPr>
        <p:spPr>
          <a:xfrm>
            <a:off x="838200" y="1825624"/>
            <a:ext cx="10515600" cy="4506809"/>
          </a:xfrm>
        </p:spPr>
        <p:txBody>
          <a:bodyPr>
            <a:normAutofit/>
          </a:bodyPr>
          <a:lstStyle/>
          <a:p>
            <a:pPr marL="0" indent="0" algn="l">
              <a:buNone/>
            </a:pPr>
            <a:r>
              <a:rPr lang="en-US" altLang="zh-CN" b="0" i="0" dirty="0">
                <a:solidFill>
                  <a:srgbClr val="0F1115"/>
                </a:solidFill>
                <a:effectLst/>
                <a:latin typeface="Times" panose="02020603050405020304" pitchFamily="18" charset="0"/>
              </a:rPr>
              <a:t>What is an abstract: </a:t>
            </a:r>
            <a:r>
              <a:rPr lang="en-US" altLang="zh-CN" dirty="0">
                <a:solidFill>
                  <a:srgbClr val="0F1115"/>
                </a:solidFill>
                <a:latin typeface="Times" panose="02020603050405020304" pitchFamily="18" charset="0"/>
              </a:rPr>
              <a:t>Key points of paper?</a:t>
            </a:r>
            <a:endParaRPr lang="en-US" altLang="zh-CN" b="0" i="0" dirty="0">
              <a:solidFill>
                <a:srgbClr val="0F1115"/>
              </a:solidFill>
              <a:effectLst/>
              <a:latin typeface="Times" panose="02020603050405020304" pitchFamily="18" charset="0"/>
            </a:endParaRPr>
          </a:p>
          <a:p>
            <a:pPr marL="0" indent="0" algn="l">
              <a:buNone/>
            </a:pPr>
            <a:r>
              <a:rPr lang="en-US" altLang="zh-CN" b="0" i="0" dirty="0">
                <a:solidFill>
                  <a:srgbClr val="0F1115"/>
                </a:solidFill>
                <a:effectLst/>
                <a:latin typeface="Times" panose="02020603050405020304" pitchFamily="18" charset="0"/>
              </a:rPr>
              <a:t>There are two types of Abstract:</a:t>
            </a:r>
            <a:endParaRPr lang="en-US" altLang="zh-CN" b="0" i="0" dirty="0">
              <a:solidFill>
                <a:srgbClr val="0F1115"/>
              </a:solidFill>
              <a:effectLst/>
              <a:latin typeface="Times" panose="02020603050405020304" pitchFamily="18" charset="0"/>
            </a:endParaRPr>
          </a:p>
          <a:p>
            <a:r>
              <a:rPr lang="en-US" altLang="zh-CN" b="0" i="0" dirty="0">
                <a:solidFill>
                  <a:srgbClr val="0F1115"/>
                </a:solidFill>
                <a:effectLst/>
                <a:latin typeface="Times" panose="02020603050405020304" pitchFamily="18" charset="0"/>
              </a:rPr>
              <a:t>Simplify and clearly state: (1) problem, (2) method in one sentence, (3) anticipated results, (4) implication.</a:t>
            </a:r>
            <a:endParaRPr lang="en-US" altLang="zh-CN" b="0" i="0" dirty="0">
              <a:solidFill>
                <a:srgbClr val="0F1115"/>
              </a:solidFill>
              <a:effectLst/>
              <a:latin typeface="Times" panose="02020603050405020304" pitchFamily="18" charset="0"/>
            </a:endParaRPr>
          </a:p>
          <a:p>
            <a:pPr marL="0" indent="0">
              <a:buNone/>
            </a:pPr>
            <a:r>
              <a:rPr lang="en-US" altLang="zh-CN" sz="2200" b="1" i="0" dirty="0">
                <a:effectLst/>
                <a:latin typeface="Roboto" panose="02000000000000000000" pitchFamily="2" charset="0"/>
              </a:rPr>
              <a:t>Descriptive abstracts:</a:t>
            </a:r>
            <a:r>
              <a:rPr lang="en-US" altLang="zh-CN" sz="2200" b="0" i="0" dirty="0">
                <a:effectLst/>
                <a:latin typeface="Roboto" panose="02000000000000000000" pitchFamily="2" charset="0"/>
              </a:rPr>
              <a:t> brief, highlight purpose and scope, do not include results.</a:t>
            </a:r>
            <a:endParaRPr lang="en-US" altLang="zh-CN" sz="2200" b="0" i="0" dirty="0">
              <a:solidFill>
                <a:srgbClr val="0F1115"/>
              </a:solidFill>
              <a:effectLst/>
              <a:latin typeface="Times" panose="02020603050405020304" pitchFamily="18" charset="0"/>
            </a:endParaRPr>
          </a:p>
          <a:p>
            <a:pPr algn="l">
              <a:buFont typeface="Arial" panose="020B0604020202020204" pitchFamily="34" charset="0"/>
              <a:buChar char="•"/>
            </a:pPr>
            <a:r>
              <a:rPr lang="en-US" altLang="zh-CN" b="0" i="0" dirty="0">
                <a:solidFill>
                  <a:srgbClr val="0F1115"/>
                </a:solidFill>
                <a:effectLst/>
                <a:latin typeface="Times" panose="02020603050405020304" pitchFamily="18" charset="0"/>
              </a:rPr>
              <a:t>Simplify and clearly state: (1) problem, (2) method, (3) key results, (4) implication.</a:t>
            </a:r>
            <a:endParaRPr lang="en-US" altLang="zh-CN" b="0" i="0" dirty="0">
              <a:solidFill>
                <a:srgbClr val="0F1115"/>
              </a:solidFill>
              <a:effectLst/>
              <a:latin typeface="Times" panose="02020603050405020304" pitchFamily="18" charset="0"/>
            </a:endParaRPr>
          </a:p>
          <a:p>
            <a:pPr marL="0" indent="0">
              <a:buNone/>
            </a:pPr>
            <a:r>
              <a:rPr lang="en-US" altLang="zh-CN" sz="2000" b="1" i="0" dirty="0">
                <a:effectLst/>
                <a:latin typeface="Roboto" panose="02000000000000000000" pitchFamily="2" charset="0"/>
              </a:rPr>
              <a:t>Informative abstracts:</a:t>
            </a:r>
            <a:r>
              <a:rPr lang="en-US" altLang="zh-CN" sz="2000" b="0" i="0" dirty="0">
                <a:effectLst/>
                <a:latin typeface="Roboto" panose="02000000000000000000" pitchFamily="2" charset="0"/>
              </a:rPr>
              <a:t> detailed, include purpose, methods, results, and conclusions.</a:t>
            </a:r>
            <a:endParaRPr lang="en-US" altLang="zh-CN" sz="2000" b="0" i="0" dirty="0">
              <a:effectLst/>
              <a:latin typeface="Roboto" panose="02000000000000000000" pitchFamily="2" charset="0"/>
            </a:endParaRPr>
          </a:p>
        </p:txBody>
      </p:sp>
      <p:sp>
        <p:nvSpPr>
          <p:cNvPr id="4" name="文本框 3"/>
          <p:cNvSpPr txBox="1"/>
          <p:nvPr/>
        </p:nvSpPr>
        <p:spPr>
          <a:xfrm>
            <a:off x="2813050" y="5995035"/>
            <a:ext cx="5768975" cy="337185"/>
          </a:xfrm>
          <a:prstGeom prst="rect">
            <a:avLst/>
          </a:prstGeom>
        </p:spPr>
        <p:txBody>
          <a:bodyPr wrap="square">
            <a:spAutoFit/>
          </a:bodyPr>
          <a:p>
            <a:pPr marL="0" indent="0" algn="l"/>
            <a:r>
              <a:rPr lang="en-US" altLang="zh-CN" sz="1600" b="0" i="0">
                <a:solidFill>
                  <a:srgbClr val="0F1115"/>
                </a:solidFill>
                <a:latin typeface="quote-cjk-patch"/>
                <a:ea typeface="quote-cjk-patch"/>
              </a:rPr>
              <a:t>IMRAD: Problem → Method → Results → Implication</a:t>
            </a:r>
            <a:endParaRPr lang="en-US" altLang="zh-CN" sz="1600" b="0" i="0">
              <a:solidFill>
                <a:srgbClr val="0F1115"/>
              </a:solidFill>
              <a:latin typeface="quote-cjk-patch"/>
              <a:ea typeface="quote-cjk-patch"/>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Abstract</a:t>
            </a:r>
            <a:endParaRPr lang="zh-CN" altLang="en-US" dirty="0"/>
          </a:p>
        </p:txBody>
      </p:sp>
      <p:sp>
        <p:nvSpPr>
          <p:cNvPr id="3" name="Content Placeholder 2"/>
          <p:cNvSpPr>
            <a:spLocks noGrp="1"/>
          </p:cNvSpPr>
          <p:nvPr>
            <p:ph idx="1"/>
          </p:nvPr>
        </p:nvSpPr>
        <p:spPr>
          <a:xfrm>
            <a:off x="838200" y="1825625"/>
            <a:ext cx="10515600" cy="3549680"/>
          </a:xfrm>
        </p:spPr>
        <p:txBody>
          <a:bodyPr>
            <a:normAutofit/>
          </a:bodyPr>
          <a:lstStyle/>
          <a:p>
            <a:pPr algn="just"/>
            <a:r>
              <a:rPr lang="en-US" altLang="zh-CN" b="0" i="0" dirty="0">
                <a:solidFill>
                  <a:srgbClr val="0E1227"/>
                </a:solidFill>
                <a:effectLst/>
                <a:latin typeface="Times" panose="02020603050405020304" pitchFamily="18" charset="0"/>
              </a:rPr>
              <a:t>Abstract provides a brief overview of work being proposed.</a:t>
            </a:r>
            <a:endParaRPr lang="en-US" altLang="zh-CN" b="0" i="0" dirty="0">
              <a:solidFill>
                <a:srgbClr val="0E1227"/>
              </a:solidFill>
              <a:effectLst/>
              <a:latin typeface="Times" panose="02020603050405020304" pitchFamily="18" charset="0"/>
            </a:endParaRPr>
          </a:p>
          <a:p>
            <a:pPr algn="just"/>
            <a:r>
              <a:rPr lang="en-US" altLang="zh-CN" dirty="0">
                <a:solidFill>
                  <a:srgbClr val="0E1227"/>
                </a:solidFill>
                <a:latin typeface="Times" panose="02020603050405020304" pitchFamily="18" charset="0"/>
              </a:rPr>
              <a:t>A</a:t>
            </a:r>
            <a:r>
              <a:rPr lang="en-US" altLang="zh-CN" b="0" i="0" dirty="0">
                <a:solidFill>
                  <a:srgbClr val="0E1227"/>
                </a:solidFill>
                <a:effectLst/>
                <a:latin typeface="Times" panose="02020603050405020304" pitchFamily="18" charset="0"/>
              </a:rPr>
              <a:t>bstract can enable readers to judge whether they want to read the larger body paragraphs of the paper. </a:t>
            </a:r>
            <a:endParaRPr lang="en-US" altLang="zh-CN" b="0" i="0" dirty="0">
              <a:solidFill>
                <a:srgbClr val="0E1227"/>
              </a:solidFill>
              <a:effectLst/>
              <a:latin typeface="Times" panose="02020603050405020304" pitchFamily="18" charset="0"/>
            </a:endParaRPr>
          </a:p>
          <a:p>
            <a:pPr algn="just"/>
            <a:r>
              <a:rPr lang="en-US" altLang="zh-CN" b="0" i="0" dirty="0">
                <a:solidFill>
                  <a:srgbClr val="0E1227"/>
                </a:solidFill>
                <a:effectLst/>
                <a:latin typeface="Times" panose="02020603050405020304" pitchFamily="18" charset="0"/>
              </a:rPr>
              <a:t>Additionally, an abstract introduces your topic and includes your argument about the topic. </a:t>
            </a:r>
            <a:endParaRPr lang="en-US" altLang="zh-CN" b="0" i="0" dirty="0">
              <a:solidFill>
                <a:srgbClr val="0E1227"/>
              </a:solidFill>
              <a:effectLst/>
              <a:latin typeface="Times" panose="02020603050405020304" pitchFamily="18" charset="0"/>
            </a:endParaRPr>
          </a:p>
          <a:p>
            <a:pPr algn="just"/>
            <a:r>
              <a:rPr lang="en-US" altLang="zh-CN" b="0" i="0" dirty="0">
                <a:solidFill>
                  <a:srgbClr val="0E1227"/>
                </a:solidFill>
                <a:effectLst/>
                <a:latin typeface="Times" panose="02020603050405020304" pitchFamily="18" charset="0"/>
              </a:rPr>
              <a:t>This way, readers can understand your approach to the topic and your writing tone and use it for their own research.</a:t>
            </a:r>
            <a:endParaRPr lang="en-US" altLang="zh-CN" b="0" i="0" dirty="0">
              <a:solidFill>
                <a:srgbClr val="0F1115"/>
              </a:solidFill>
              <a:effectLst/>
              <a:latin typeface="Times"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Abstract</a:t>
            </a:r>
            <a:endParaRPr lang="zh-CN" altLang="en-US" dirty="0"/>
          </a:p>
        </p:txBody>
      </p:sp>
      <p:sp>
        <p:nvSpPr>
          <p:cNvPr id="3" name="Content Placeholder 2"/>
          <p:cNvSpPr>
            <a:spLocks noGrp="1"/>
          </p:cNvSpPr>
          <p:nvPr>
            <p:ph idx="1"/>
          </p:nvPr>
        </p:nvSpPr>
        <p:spPr>
          <a:xfrm>
            <a:off x="838200" y="1825625"/>
            <a:ext cx="10515600" cy="1603375"/>
          </a:xfrm>
        </p:spPr>
        <p:txBody>
          <a:bodyPr>
            <a:normAutofit lnSpcReduction="10000"/>
          </a:bodyPr>
          <a:lstStyle/>
          <a:p>
            <a:pPr algn="just"/>
            <a:r>
              <a:rPr lang="en-US" altLang="zh-CN" b="0" i="0" dirty="0">
                <a:solidFill>
                  <a:srgbClr val="0F1115"/>
                </a:solidFill>
                <a:effectLst/>
                <a:latin typeface="Times" panose="02020603050405020304" pitchFamily="18" charset="0"/>
              </a:rPr>
              <a:t>This paper talks about exercise and mental health. We did a study with some college students. They exercised and then we asked them questions. The results showed that exercise is good. This is important for students and schools. More research could be done.</a:t>
            </a:r>
            <a:endParaRPr lang="en-US" altLang="zh-CN" b="0" i="0" dirty="0">
              <a:solidFill>
                <a:srgbClr val="0F1115"/>
              </a:solidFill>
              <a:effectLst/>
              <a:latin typeface="Times" panose="02020603050405020304" pitchFamily="18" charset="0"/>
            </a:endParaRPr>
          </a:p>
        </p:txBody>
      </p:sp>
      <p:sp>
        <p:nvSpPr>
          <p:cNvPr id="4" name="文本框 3"/>
          <p:cNvSpPr txBox="1"/>
          <p:nvPr/>
        </p:nvSpPr>
        <p:spPr>
          <a:xfrm>
            <a:off x="1083310" y="3429000"/>
            <a:ext cx="10208260" cy="1322070"/>
          </a:xfrm>
          <a:prstGeom prst="rect">
            <a:avLst/>
          </a:prstGeom>
        </p:spPr>
        <p:txBody>
          <a:bodyPr wrap="square">
            <a:spAutoFit/>
          </a:bodyPr>
          <a:p>
            <a:pPr marL="0" indent="0">
              <a:spcBef>
                <a:spcPct val="0"/>
              </a:spcBef>
              <a:spcAft>
                <a:spcPct val="0"/>
              </a:spcAft>
              <a:buFont typeface="Arial" panose="020B0604020202020204"/>
              <a:buChar char="•"/>
            </a:pPr>
            <a:r>
              <a:rPr lang="en-US" altLang="zh-CN" sz="1600" b="0" i="0">
                <a:solidFill>
                  <a:srgbClr val="0F1115"/>
                </a:solidFill>
                <a:latin typeface="quote-cjk-patch"/>
                <a:ea typeface="quote-cjk-patch"/>
              </a:rPr>
              <a:t>✅ Too vague – “some college students,” “asked them questions”</a:t>
            </a:r>
            <a:endParaRPr lang="en-US" altLang="zh-CN"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lang="en-US" altLang="zh-CN" sz="1600" b="0" i="0">
                <a:solidFill>
                  <a:srgbClr val="0F1115"/>
                </a:solidFill>
                <a:latin typeface="quote-cjk-patch"/>
                <a:ea typeface="quote-cjk-patch"/>
              </a:rPr>
              <a:t>✅ No structure – Missing clear IMRAD flow</a:t>
            </a:r>
            <a:endParaRPr lang="en-US" altLang="zh-CN"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lang="en-US" altLang="zh-CN" sz="1600" b="0" i="0">
                <a:solidFill>
                  <a:srgbClr val="0F1115"/>
                </a:solidFill>
                <a:latin typeface="quote-cjk-patch"/>
                <a:ea typeface="quote-cjk-patch"/>
              </a:rPr>
              <a:t>✅ No specifics – No sample size, method, or measurable results</a:t>
            </a:r>
            <a:endParaRPr lang="en-US" altLang="zh-CN"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lang="en-US" altLang="zh-CN" sz="1600" b="0" i="0">
                <a:solidFill>
                  <a:srgbClr val="0F1115"/>
                </a:solidFill>
                <a:latin typeface="quote-cjk-patch"/>
                <a:ea typeface="quote-cjk-patch"/>
              </a:rPr>
              <a:t>✅ Weak implication – “Important for students and schools” is not concrete</a:t>
            </a:r>
            <a:endParaRPr lang="en-US" altLang="zh-CN" sz="1600" b="0" i="0">
              <a:solidFill>
                <a:srgbClr val="0F1115"/>
              </a:solidFill>
              <a:latin typeface="quote-cjk-patch"/>
              <a:ea typeface="quote-cjk-patch"/>
            </a:endParaRPr>
          </a:p>
          <a:p>
            <a:pPr marL="0" indent="0">
              <a:spcBef>
                <a:spcPct val="0"/>
              </a:spcBef>
              <a:spcAft>
                <a:spcPct val="0"/>
              </a:spcAft>
              <a:buFont typeface="Arial" panose="020B0604020202020204"/>
              <a:buChar char="•"/>
            </a:pPr>
            <a:r>
              <a:rPr lang="en-US" altLang="zh-CN" sz="1600" b="0" i="0">
                <a:solidFill>
                  <a:srgbClr val="0F1115"/>
                </a:solidFill>
                <a:latin typeface="quote-cjk-patch"/>
                <a:ea typeface="quote-cjk-patch"/>
              </a:rPr>
              <a:t>✅ Informal language – “talks about,” “good”</a:t>
            </a:r>
            <a:endParaRPr lang="en-US" altLang="zh-CN" sz="1600" b="0" i="0">
              <a:solidFill>
                <a:srgbClr val="0F1115"/>
              </a:solidFill>
              <a:latin typeface="quote-cjk-patch"/>
              <a:ea typeface="quote-cjk-patch"/>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Abstract</a:t>
            </a:r>
            <a:endParaRPr lang="zh-CN" altLang="en-US" dirty="0"/>
          </a:p>
        </p:txBody>
      </p:sp>
      <p:sp>
        <p:nvSpPr>
          <p:cNvPr id="3" name="Content Placeholder 2"/>
          <p:cNvSpPr>
            <a:spLocks noGrp="1"/>
          </p:cNvSpPr>
          <p:nvPr>
            <p:ph idx="1"/>
          </p:nvPr>
        </p:nvSpPr>
        <p:spPr>
          <a:xfrm>
            <a:off x="838200" y="1825625"/>
            <a:ext cx="10515600" cy="2821305"/>
          </a:xfrm>
        </p:spPr>
        <p:txBody>
          <a:bodyPr>
            <a:noAutofit/>
          </a:bodyPr>
          <a:lstStyle/>
          <a:p>
            <a:pPr algn="just"/>
            <a:r>
              <a:rPr lang="en-US" altLang="zh-CN" sz="2000" b="0" i="0" dirty="0">
                <a:solidFill>
                  <a:srgbClr val="0F1115"/>
                </a:solidFill>
                <a:effectLst/>
                <a:latin typeface="Times" panose="02020603050405020304" pitchFamily="18" charset="0"/>
              </a:rPr>
              <a:t>This study investigates the impact of a 30-minute daily aerobic exercise regimen on anxiety and depression levels among college students. A sample of 200 undergraduate students was randomly assigned to either an exercise group or a control group over eight weeks. Anxiety and depression were measured using the GAD-7 and PHQ-9 scales pre- and post-intervention. Results indicated a statistically significant reduction in anxiety (p &lt; 0.01) and depression scores (p &lt; 0.05) in the exercise group compared to controls. These findings suggest that integrating structured daily exercise into campus wellness programs could improve student mental health outcomes. Further research is needed to explore long-term effects across diverse populations.</a:t>
            </a:r>
            <a:endParaRPr lang="en-US" altLang="zh-CN" sz="2000" b="0" i="0" dirty="0">
              <a:solidFill>
                <a:srgbClr val="0F1115"/>
              </a:solidFill>
              <a:effectLst/>
              <a:latin typeface="Times"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IMRAD</a:t>
            </a:r>
            <a:endParaRPr lang="zh-CN" altLang="en-US" dirty="0"/>
          </a:p>
        </p:txBody>
      </p:sp>
      <p:sp>
        <p:nvSpPr>
          <p:cNvPr id="3" name="Content Placeholder 2"/>
          <p:cNvSpPr>
            <a:spLocks noGrp="1"/>
          </p:cNvSpPr>
          <p:nvPr>
            <p:ph idx="1"/>
          </p:nvPr>
        </p:nvSpPr>
        <p:spPr>
          <a:xfrm>
            <a:off x="838200" y="1825625"/>
            <a:ext cx="10515600" cy="1908887"/>
          </a:xfrm>
        </p:spPr>
        <p:txBody>
          <a:bodyPr>
            <a:normAutofit fontScale="92500" lnSpcReduction="20000"/>
          </a:bodyPr>
          <a:lstStyle/>
          <a:p>
            <a:r>
              <a:rPr lang="en-US" altLang="zh-CN" sz="3600" dirty="0"/>
              <a:t>IMRAD is short for Introduction, Methodology, Results and Discussion</a:t>
            </a:r>
            <a:endParaRPr lang="en-US" altLang="zh-CN" sz="3600" dirty="0"/>
          </a:p>
          <a:p>
            <a:r>
              <a:rPr lang="en-US" altLang="zh-CN" sz="3600" dirty="0"/>
              <a:t>The most common method.</a:t>
            </a:r>
            <a:endParaRPr lang="en-US" altLang="zh-CN" sz="3600" dirty="0"/>
          </a:p>
          <a:p>
            <a:r>
              <a:rPr lang="en-US" altLang="zh-CN" sz="3600" dirty="0"/>
              <a:t>Let’s Discuss each component</a:t>
            </a:r>
            <a:endParaRPr lang="en-US" altLang="zh-CN" sz="3600" dirty="0"/>
          </a:p>
          <a:p>
            <a:pPr marL="0" indent="0">
              <a:buNone/>
            </a:pPr>
            <a:endParaRPr lang="zh-CN" alt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 for Introduction</a:t>
            </a:r>
            <a:endParaRPr lang="zh-CN" altLang="en-US" dirty="0"/>
          </a:p>
        </p:txBody>
      </p:sp>
      <p:sp>
        <p:nvSpPr>
          <p:cNvPr id="3" name="Content Placeholder 2"/>
          <p:cNvSpPr>
            <a:spLocks noGrp="1"/>
          </p:cNvSpPr>
          <p:nvPr>
            <p:ph idx="1"/>
          </p:nvPr>
        </p:nvSpPr>
        <p:spPr/>
        <p:txBody>
          <a:bodyPr/>
          <a:lstStyle/>
          <a:p>
            <a:pPr marL="0" indent="0" algn="just">
              <a:buNone/>
            </a:pPr>
            <a:r>
              <a:rPr lang="en-US" altLang="zh-CN" b="1"/>
              <a:t>A good introduction captures the reader's attention, provides necessary background information, and presents a clear thesis statement that outlines the main argument of your essay.</a:t>
            </a:r>
            <a:endParaRPr lang="en-US" altLang="zh-CN" b="1"/>
          </a:p>
          <a:p>
            <a:pPr marL="0" indent="0" algn="just">
              <a:buNone/>
            </a:pPr>
            <a:endParaRPr lang="en-US" altLang="zh-CN" b="1"/>
          </a:p>
          <a:p>
            <a:pPr marL="0" indent="0" algn="just">
              <a:buNone/>
            </a:pPr>
            <a:r>
              <a:rPr lang="en-US" altLang="zh-CN" b="1"/>
              <a:t>The Hook</a:t>
            </a:r>
            <a:endParaRPr lang="en-US" altLang="zh-CN" b="1"/>
          </a:p>
          <a:p>
            <a:pPr marL="0" indent="0" algn="just">
              <a:buNone/>
            </a:pPr>
            <a:r>
              <a:rPr lang="en-US" altLang="zh-CN" b="1"/>
              <a:t>The Background Information</a:t>
            </a:r>
            <a:endParaRPr lang="en-US" altLang="zh-CN" b="1"/>
          </a:p>
          <a:p>
            <a:pPr marL="0" indent="0" algn="just">
              <a:buNone/>
            </a:pPr>
            <a:r>
              <a:rPr lang="en-US" altLang="zh-CN" b="1"/>
              <a:t>Clearlu state main argument</a:t>
            </a:r>
            <a:endParaRPr lang="en-US" altLang="zh-CN"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sym typeface="+mn-ea"/>
              </a:rPr>
              <a:t>Strategies for Writing an Effective Introduction</a:t>
            </a:r>
            <a:endParaRPr lang="zh-CN" altLang="en-US" dirty="0"/>
          </a:p>
        </p:txBody>
      </p:sp>
      <p:sp>
        <p:nvSpPr>
          <p:cNvPr id="3" name="Content Placeholder 2"/>
          <p:cNvSpPr>
            <a:spLocks noGrp="1"/>
          </p:cNvSpPr>
          <p:nvPr>
            <p:ph idx="1"/>
          </p:nvPr>
        </p:nvSpPr>
        <p:spPr/>
        <p:txBody>
          <a:bodyPr>
            <a:normAutofit lnSpcReduction="10000"/>
          </a:bodyPr>
          <a:lstStyle/>
          <a:p>
            <a:pPr marL="0" indent="0" algn="just">
              <a:buNone/>
            </a:pPr>
            <a:r>
              <a:rPr lang="en-US" altLang="zh-CN" b="1"/>
              <a:t>Be Concise: Avoid long, dense sentences. Aim for clarity and brevity to maintain the reader's interest. </a:t>
            </a:r>
            <a:endParaRPr lang="en-US" altLang="zh-CN" b="1"/>
          </a:p>
          <a:p>
            <a:pPr marL="0" indent="0" algn="just">
              <a:buNone/>
            </a:pPr>
            <a:endParaRPr lang="en-US" altLang="zh-CN" b="1"/>
          </a:p>
          <a:p>
            <a:pPr marL="0" indent="0" algn="just">
              <a:buNone/>
            </a:pPr>
            <a:r>
              <a:rPr lang="en-US" altLang="zh-CN" b="1"/>
              <a:t>Engage the Reader: Use a compelling hook to make the reader want to continue. An interesting introduction sets the tone for the rest of the essay and encourages engagement. </a:t>
            </a:r>
            <a:endParaRPr lang="en-US" altLang="zh-CN" b="1"/>
          </a:p>
          <a:p>
            <a:pPr marL="0" indent="0" algn="just">
              <a:buNone/>
            </a:pPr>
            <a:endParaRPr lang="en-US" altLang="zh-CN" b="1"/>
          </a:p>
          <a:p>
            <a:pPr marL="0" indent="0" algn="just">
              <a:buNone/>
            </a:pPr>
            <a:r>
              <a:rPr lang="en-US" altLang="zh-CN" b="1"/>
              <a:t>Tailor to Your Audience: Consider the expectations of your audience and the conventions of your discipline. Different types of essays may require different approaches to introductions. </a:t>
            </a:r>
            <a:endParaRPr lang="en-US" altLang="zh-CN"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sym typeface="+mn-ea"/>
              </a:rPr>
              <a:t>Common Mistakes</a:t>
            </a:r>
            <a:endParaRPr lang="zh-CN" altLang="en-US" dirty="0"/>
          </a:p>
        </p:txBody>
      </p:sp>
      <p:sp>
        <p:nvSpPr>
          <p:cNvPr id="3" name="Content Placeholder 2"/>
          <p:cNvSpPr>
            <a:spLocks noGrp="1"/>
          </p:cNvSpPr>
          <p:nvPr>
            <p:ph idx="1"/>
          </p:nvPr>
        </p:nvSpPr>
        <p:spPr/>
        <p:txBody>
          <a:bodyPr>
            <a:normAutofit fontScale="97500" lnSpcReduction="10000"/>
          </a:bodyPr>
          <a:lstStyle/>
          <a:p>
            <a:pPr marL="0" indent="0" algn="just">
              <a:buNone/>
            </a:pPr>
            <a:r>
              <a:rPr lang="en-US" altLang="zh-CN" b="1" dirty="0"/>
              <a:t>Vagueness: Avoid general statements that do not provide specific information about your topic. Be clear and direct in your introduction. </a:t>
            </a:r>
            <a:endParaRPr lang="en-US" altLang="zh-CN" b="1" dirty="0"/>
          </a:p>
          <a:p>
            <a:pPr marL="0" indent="0" algn="just">
              <a:buNone/>
            </a:pPr>
            <a:endParaRPr lang="en-US" altLang="zh-CN" b="1" dirty="0"/>
          </a:p>
          <a:p>
            <a:pPr marL="0" indent="0" algn="just">
              <a:buNone/>
            </a:pPr>
            <a:r>
              <a:rPr lang="en-US" altLang="zh-CN" b="1" dirty="0"/>
              <a:t>Overloading with Information: While context is important, too much detail can overwhelm the reader. Focus on what is essential for understanding your thesis. </a:t>
            </a:r>
            <a:endParaRPr lang="en-US" altLang="zh-CN" b="1" dirty="0"/>
          </a:p>
          <a:p>
            <a:pPr marL="0" indent="0" algn="just">
              <a:buNone/>
            </a:pPr>
            <a:endParaRPr lang="en-US" altLang="zh-CN" b="1" dirty="0"/>
          </a:p>
          <a:p>
            <a:pPr marL="0" indent="0" algn="just">
              <a:buNone/>
            </a:pPr>
            <a:r>
              <a:rPr lang="en-US" altLang="zh-CN" b="1" dirty="0"/>
              <a:t>Neglecting the topic: Ensure that your key statement is present and clearly articulated. This is crucial for guiding the reader through your argument. </a:t>
            </a:r>
            <a:endParaRPr lang="en-US" altLang="zh-CN" b="1" dirty="0"/>
          </a:p>
          <a:p>
            <a:pPr marL="0" indent="0" algn="just">
              <a:buNone/>
            </a:pPr>
            <a:endParaRPr lang="en-US" altLang="zh-CN"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 for Methodology</a:t>
            </a:r>
            <a:endParaRPr lang="zh-CN" altLang="en-US" dirty="0"/>
          </a:p>
        </p:txBody>
      </p:sp>
      <p:sp>
        <p:nvSpPr>
          <p:cNvPr id="3" name="Content Placeholder 2"/>
          <p:cNvSpPr>
            <a:spLocks noGrp="1"/>
          </p:cNvSpPr>
          <p:nvPr>
            <p:ph idx="1"/>
          </p:nvPr>
        </p:nvSpPr>
        <p:spPr>
          <a:xfrm>
            <a:off x="838200" y="1825625"/>
            <a:ext cx="10515600" cy="2657475"/>
          </a:xfrm>
        </p:spPr>
        <p:txBody>
          <a:bodyPr>
            <a:normAutofit/>
          </a:bodyPr>
          <a:lstStyle/>
          <a:p>
            <a:pPr marL="0" indent="0" algn="just">
              <a:buNone/>
            </a:pPr>
            <a:r>
              <a:rPr lang="en-US" altLang="zh-CN" b="1"/>
              <a:t>Briefly, here we should focus on the the key method being proposed</a:t>
            </a:r>
            <a:endParaRPr lang="en-US" altLang="zh-CN" b="1"/>
          </a:p>
          <a:p>
            <a:pPr lvl="1" algn="just"/>
            <a:r>
              <a:rPr lang="en-US" altLang="zh-CN" b="1"/>
              <a:t>Detailed design of your work</a:t>
            </a:r>
            <a:endParaRPr lang="en-US" altLang="zh-CN" b="1"/>
          </a:p>
          <a:p>
            <a:pPr lvl="0" algn="just"/>
            <a:endParaRPr lang="en-US" altLang="zh-CN" b="1"/>
          </a:p>
        </p:txBody>
      </p:sp>
      <p:sp>
        <p:nvSpPr>
          <p:cNvPr id="7" name="文本框 6"/>
          <p:cNvSpPr txBox="1"/>
          <p:nvPr/>
        </p:nvSpPr>
        <p:spPr>
          <a:xfrm>
            <a:off x="1629754" y="4160520"/>
            <a:ext cx="9246235" cy="645160"/>
          </a:xfrm>
          <a:prstGeom prst="rect">
            <a:avLst/>
          </a:prstGeom>
          <a:noFill/>
        </p:spPr>
        <p:txBody>
          <a:bodyPr wrap="square" rtlCol="0" anchor="t">
            <a:spAutoFit/>
          </a:bodyPr>
          <a:lstStyle/>
          <a:p>
            <a:pPr marL="0" indent="0" algn="just">
              <a:buNone/>
            </a:pPr>
            <a:r>
              <a:rPr lang="en-US" altLang="zh-CN" b="1" dirty="0">
                <a:sym typeface="+mn-ea"/>
              </a:rPr>
              <a:t>A</a:t>
            </a:r>
            <a:r>
              <a:rPr lang="en-US" altLang="en-US" b="1" dirty="0">
                <a:sym typeface="+mn-ea"/>
              </a:rPr>
              <a:t> </a:t>
            </a:r>
            <a:r>
              <a:rPr lang="en-US" altLang="zh-CN" b="1" dirty="0">
                <a:sym typeface="+mn-ea"/>
              </a:rPr>
              <a:t>well-crafted</a:t>
            </a:r>
            <a:r>
              <a:rPr lang="en-US" altLang="en-US" b="1" dirty="0">
                <a:sym typeface="+mn-ea"/>
              </a:rPr>
              <a:t> </a:t>
            </a:r>
            <a:r>
              <a:rPr lang="en-US" altLang="zh-CN" b="1" dirty="0">
                <a:sym typeface="+mn-ea"/>
              </a:rPr>
              <a:t>methodology</a:t>
            </a:r>
            <a:r>
              <a:rPr lang="en-US" altLang="en-US" b="1" dirty="0">
                <a:sym typeface="+mn-ea"/>
              </a:rPr>
              <a:t> </a:t>
            </a:r>
            <a:r>
              <a:rPr lang="en-US" altLang="zh-CN" b="1" dirty="0">
                <a:sym typeface="+mn-ea"/>
              </a:rPr>
              <a:t>is</a:t>
            </a:r>
            <a:r>
              <a:rPr lang="en-US" altLang="en-US" b="1" dirty="0">
                <a:sym typeface="+mn-ea"/>
              </a:rPr>
              <a:t> </a:t>
            </a:r>
            <a:r>
              <a:rPr lang="en-US" altLang="zh-CN" b="1" dirty="0">
                <a:sym typeface="+mn-ea"/>
              </a:rPr>
              <a:t>essential</a:t>
            </a:r>
            <a:r>
              <a:rPr lang="en-US" altLang="en-US" b="1" dirty="0">
                <a:sym typeface="+mn-ea"/>
              </a:rPr>
              <a:t> </a:t>
            </a:r>
            <a:r>
              <a:rPr lang="en-US" altLang="zh-CN" b="1" dirty="0">
                <a:sym typeface="+mn-ea"/>
              </a:rPr>
              <a:t>for</a:t>
            </a:r>
            <a:r>
              <a:rPr lang="en-US" altLang="en-US" b="1" dirty="0">
                <a:sym typeface="+mn-ea"/>
              </a:rPr>
              <a:t> </a:t>
            </a:r>
            <a:r>
              <a:rPr lang="en-US" altLang="zh-CN" b="1" dirty="0">
                <a:sym typeface="+mn-ea"/>
              </a:rPr>
              <a:t>any</a:t>
            </a:r>
            <a:r>
              <a:rPr lang="en-US" altLang="en-US" b="1" dirty="0">
                <a:sym typeface="+mn-ea"/>
              </a:rPr>
              <a:t> </a:t>
            </a:r>
            <a:r>
              <a:rPr lang="en-US" altLang="zh-CN" b="1" dirty="0">
                <a:sym typeface="+mn-ea"/>
              </a:rPr>
              <a:t>research</a:t>
            </a:r>
            <a:r>
              <a:rPr lang="en-US" altLang="en-US" b="1" dirty="0">
                <a:sym typeface="+mn-ea"/>
              </a:rPr>
              <a:t> </a:t>
            </a:r>
            <a:r>
              <a:rPr lang="en-US" altLang="zh-CN" b="1" dirty="0">
                <a:sym typeface="+mn-ea"/>
              </a:rPr>
              <a:t>project,</a:t>
            </a:r>
            <a:r>
              <a:rPr lang="en-US" altLang="en-US" b="1" dirty="0">
                <a:sym typeface="+mn-ea"/>
              </a:rPr>
              <a:t> </a:t>
            </a:r>
            <a:r>
              <a:rPr lang="en-US" altLang="zh-CN" b="1" dirty="0">
                <a:sym typeface="+mn-ea"/>
              </a:rPr>
              <a:t>providing</a:t>
            </a:r>
            <a:r>
              <a:rPr lang="en-US" altLang="en-US" b="1" dirty="0">
                <a:sym typeface="+mn-ea"/>
              </a:rPr>
              <a:t> </a:t>
            </a:r>
            <a:r>
              <a:rPr lang="en-US" altLang="zh-CN" b="1" dirty="0">
                <a:sym typeface="+mn-ea"/>
              </a:rPr>
              <a:t>a</a:t>
            </a:r>
            <a:r>
              <a:rPr lang="en-US" altLang="en-US" b="1" dirty="0">
                <a:sym typeface="+mn-ea"/>
              </a:rPr>
              <a:t> </a:t>
            </a:r>
            <a:r>
              <a:rPr lang="en-US" altLang="zh-CN" b="1" dirty="0">
                <a:sym typeface="+mn-ea"/>
              </a:rPr>
              <a:t>clear framework</a:t>
            </a:r>
            <a:r>
              <a:rPr lang="en-US" altLang="en-US" b="1" dirty="0">
                <a:sym typeface="+mn-ea"/>
              </a:rPr>
              <a:t> </a:t>
            </a:r>
            <a:r>
              <a:rPr lang="en-US" altLang="zh-CN" b="1" dirty="0">
                <a:sym typeface="+mn-ea"/>
              </a:rPr>
              <a:t>for</a:t>
            </a:r>
            <a:r>
              <a:rPr lang="en-US" altLang="en-US" b="1" dirty="0">
                <a:sym typeface="+mn-ea"/>
              </a:rPr>
              <a:t> </a:t>
            </a:r>
            <a:r>
              <a:rPr lang="en-US" altLang="zh-CN" b="1" dirty="0">
                <a:sym typeface="+mn-ea"/>
              </a:rPr>
              <a:t>how you</a:t>
            </a:r>
            <a:r>
              <a:rPr lang="en-US" altLang="en-US" b="1" dirty="0">
                <a:sym typeface="+mn-ea"/>
              </a:rPr>
              <a:t> </a:t>
            </a:r>
            <a:r>
              <a:rPr lang="en-US" altLang="zh-CN" b="1" dirty="0">
                <a:sym typeface="+mn-ea"/>
              </a:rPr>
              <a:t>will</a:t>
            </a:r>
            <a:r>
              <a:rPr lang="en-US" altLang="en-US" b="1" dirty="0">
                <a:sym typeface="+mn-ea"/>
              </a:rPr>
              <a:t> </a:t>
            </a:r>
            <a:r>
              <a:rPr lang="en-US" altLang="zh-CN" b="1" dirty="0">
                <a:sym typeface="+mn-ea"/>
              </a:rPr>
              <a:t>collect</a:t>
            </a:r>
            <a:r>
              <a:rPr lang="en-US" altLang="en-US" b="1" dirty="0">
                <a:sym typeface="+mn-ea"/>
              </a:rPr>
              <a:t> </a:t>
            </a:r>
            <a:r>
              <a:rPr lang="en-US" altLang="zh-CN" b="1" dirty="0">
                <a:sym typeface="+mn-ea"/>
              </a:rPr>
              <a:t>and</a:t>
            </a:r>
            <a:r>
              <a:rPr lang="en-US" altLang="en-US" b="1" dirty="0">
                <a:sym typeface="+mn-ea"/>
              </a:rPr>
              <a:t> </a:t>
            </a:r>
            <a:r>
              <a:rPr lang="en-US" altLang="zh-CN" b="1" dirty="0">
                <a:sym typeface="+mn-ea"/>
              </a:rPr>
              <a:t>analyze</a:t>
            </a:r>
            <a:r>
              <a:rPr lang="en-US" altLang="en-US" b="1" dirty="0">
                <a:sym typeface="+mn-ea"/>
              </a:rPr>
              <a:t> </a:t>
            </a:r>
            <a:r>
              <a:rPr lang="en-US" altLang="zh-CN" b="1" dirty="0">
                <a:sym typeface="+mn-ea"/>
              </a:rPr>
              <a:t>data</a:t>
            </a:r>
            <a:r>
              <a:rPr lang="en-US" altLang="en-US" b="1" dirty="0">
                <a:sym typeface="+mn-ea"/>
              </a:rPr>
              <a:t> </a:t>
            </a:r>
            <a:r>
              <a:rPr lang="en-US" altLang="zh-CN" b="1" dirty="0">
                <a:sym typeface="+mn-ea"/>
              </a:rPr>
              <a:t>to</a:t>
            </a:r>
            <a:r>
              <a:rPr lang="en-US" altLang="en-US" b="1" dirty="0">
                <a:sym typeface="+mn-ea"/>
              </a:rPr>
              <a:t> </a:t>
            </a:r>
            <a:r>
              <a:rPr lang="en-US" altLang="zh-CN" b="1" dirty="0">
                <a:sym typeface="+mn-ea"/>
              </a:rPr>
              <a:t>answer</a:t>
            </a:r>
            <a:r>
              <a:rPr lang="en-US" altLang="en-US" b="1" dirty="0">
                <a:sym typeface="+mn-ea"/>
              </a:rPr>
              <a:t> </a:t>
            </a:r>
            <a:r>
              <a:rPr lang="en-US" b="1" dirty="0">
                <a:sym typeface="+mn-ea"/>
              </a:rPr>
              <a:t>your research questions</a:t>
            </a:r>
            <a:endParaRPr lang="en-US" altLang="en-US" b="1" dirty="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a:sym typeface="+mn-ea"/>
              </a:rPr>
              <a:t>Key Components of a Good Methodology</a:t>
            </a:r>
            <a:endParaRPr lang="zh-CN" altLang="en-US" dirty="0"/>
          </a:p>
        </p:txBody>
      </p:sp>
      <p:sp>
        <p:nvSpPr>
          <p:cNvPr id="3" name="Content Placeholder 2"/>
          <p:cNvSpPr>
            <a:spLocks noGrp="1"/>
          </p:cNvSpPr>
          <p:nvPr>
            <p:ph idx="1"/>
          </p:nvPr>
        </p:nvSpPr>
        <p:spPr>
          <a:xfrm>
            <a:off x="838200" y="1825625"/>
            <a:ext cx="10515600" cy="2657475"/>
          </a:xfrm>
        </p:spPr>
        <p:txBody>
          <a:bodyPr>
            <a:noAutofit/>
          </a:bodyPr>
          <a:lstStyle/>
          <a:p>
            <a:pPr marL="0" indent="0" algn="just">
              <a:buNone/>
            </a:pPr>
            <a:r>
              <a:rPr lang="en-US" altLang="zh-CN" sz="2400" b="1"/>
              <a:t>Mostly we focus:</a:t>
            </a:r>
            <a:endParaRPr lang="en-US" altLang="zh-CN" sz="2400" b="1"/>
          </a:p>
          <a:p>
            <a:pPr marL="0" indent="0" algn="just">
              <a:buNone/>
            </a:pPr>
            <a:r>
              <a:rPr lang="en-US" altLang="zh-CN" sz="2400" b="1"/>
              <a:t>Introduction-&gt;Research Design-&gt; Data Collection Methods-&gt; Sampling-&gt; Brief Data Analysis </a:t>
            </a:r>
            <a:endParaRPr lang="en-US" altLang="zh-CN" sz="2400" b="1"/>
          </a:p>
          <a:p>
            <a:pPr marL="0" indent="0" algn="just">
              <a:buNone/>
            </a:pPr>
            <a:endParaRPr lang="en-US" altLang="zh-CN" sz="2400" b="1"/>
          </a:p>
          <a:p>
            <a:pPr marL="0" indent="0" algn="just">
              <a:buNone/>
            </a:pPr>
            <a:r>
              <a:rPr lang="en-US" altLang="zh-CN" sz="2400" b="1"/>
              <a:t>Sometime we prefer to introduce a seperate section about Data Processing</a:t>
            </a:r>
            <a:endParaRPr lang="en-US" altLang="zh-CN" sz="2400" b="1"/>
          </a:p>
          <a:p>
            <a:pPr marL="0" indent="0" algn="just">
              <a:buNone/>
            </a:pPr>
            <a:br>
              <a:rPr lang="en-US" altLang="zh-CN" sz="2400" b="1"/>
            </a:br>
            <a:r>
              <a:rPr lang="en-US" altLang="zh-CN" sz="2400" b="1"/>
              <a:t>Sometimes, we also consider discussing </a:t>
            </a:r>
            <a:endParaRPr lang="en-US" altLang="zh-CN" sz="2400" b="1"/>
          </a:p>
          <a:p>
            <a:pPr marL="0" indent="0" algn="just">
              <a:buNone/>
            </a:pPr>
            <a:r>
              <a:rPr lang="en-US" altLang="zh-CN" sz="2400" b="1"/>
              <a:t>Ethical Considerations: Limitations</a:t>
            </a:r>
            <a:endParaRPr lang="en-US" altLang="zh-CN" sz="2400"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 for Results and D for Discussion</a:t>
            </a:r>
            <a:endParaRPr lang="zh-CN" altLang="en-US" dirty="0"/>
          </a:p>
        </p:txBody>
      </p:sp>
      <p:sp>
        <p:nvSpPr>
          <p:cNvPr id="3" name="Content Placeholder 2"/>
          <p:cNvSpPr>
            <a:spLocks noGrp="1"/>
          </p:cNvSpPr>
          <p:nvPr>
            <p:ph idx="1"/>
          </p:nvPr>
        </p:nvSpPr>
        <p:spPr/>
        <p:txBody>
          <a:bodyPr/>
          <a:lstStyle/>
          <a:p>
            <a:pPr algn="just"/>
            <a:r>
              <a:rPr lang="en-US" altLang="zh-CN"/>
              <a:t>Think of Results as </a:t>
            </a:r>
            <a:r>
              <a:rPr lang="en-US" altLang="zh-CN">
                <a:highlight>
                  <a:srgbClr val="FFFF00"/>
                </a:highlight>
              </a:rPr>
              <a:t>“Here’s what we found”</a:t>
            </a:r>
            <a:r>
              <a:rPr lang="en-US" altLang="zh-CN"/>
              <a:t> and Discussion as </a:t>
            </a:r>
            <a:r>
              <a:rPr lang="en-US" altLang="zh-CN">
                <a:highlight>
                  <a:srgbClr val="FFFF00"/>
                </a:highlight>
              </a:rPr>
              <a:t>“Here’s what it means and why it matters.”</a:t>
            </a:r>
            <a:r>
              <a:rPr lang="en-US" altLang="zh-CN"/>
              <a:t> Keeping that separation clear makes your paper sharper and more persuasive.</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t>My proposed method for research</a:t>
            </a:r>
            <a:endParaRPr lang="zh-CN" altLang="en-US" b="1" dirty="0"/>
          </a:p>
        </p:txBody>
      </p:sp>
      <p:sp>
        <p:nvSpPr>
          <p:cNvPr id="3" name="Content Placeholder 2"/>
          <p:cNvSpPr>
            <a:spLocks noGrp="1"/>
          </p:cNvSpPr>
          <p:nvPr>
            <p:ph idx="1"/>
          </p:nvPr>
        </p:nvSpPr>
        <p:spPr>
          <a:xfrm>
            <a:off x="838200" y="1825625"/>
            <a:ext cx="10515600" cy="1097037"/>
          </a:xfrm>
        </p:spPr>
        <p:txBody>
          <a:bodyPr>
            <a:normAutofit/>
          </a:bodyPr>
          <a:lstStyle/>
          <a:p>
            <a:r>
              <a:rPr lang="en-US" altLang="zh-CN" b="1" dirty="0">
                <a:highlight>
                  <a:srgbClr val="00FF00"/>
                </a:highlight>
              </a:rPr>
              <a:t>LR – IMRaD ---</a:t>
            </a:r>
            <a:r>
              <a:rPr lang="en-US" altLang="zh-CN" b="1" dirty="0"/>
              <a:t> Do the detailed literature work before proceeding with your desired task</a:t>
            </a:r>
            <a:endParaRPr lang="zh-CN" altLang="en-US" b="1" dirty="0"/>
          </a:p>
        </p:txBody>
      </p:sp>
      <p:graphicFrame>
        <p:nvGraphicFramePr>
          <p:cNvPr id="4" name="Table 3"/>
          <p:cNvGraphicFramePr>
            <a:graphicFrameLocks noGrp="1"/>
          </p:cNvGraphicFramePr>
          <p:nvPr/>
        </p:nvGraphicFramePr>
        <p:xfrm>
          <a:off x="1275224" y="3368862"/>
          <a:ext cx="9180080" cy="566477"/>
        </p:xfrm>
        <a:graphic>
          <a:graphicData uri="http://schemas.openxmlformats.org/drawingml/2006/table">
            <a:tbl>
              <a:tblPr firstRow="1" bandRow="1">
                <a:tableStyleId>{5C22544A-7EE6-4342-B048-85BDC9FD1C3A}</a:tableStyleId>
              </a:tblPr>
              <a:tblGrid>
                <a:gridCol w="1836016"/>
                <a:gridCol w="1836016"/>
                <a:gridCol w="1836016"/>
                <a:gridCol w="1836016"/>
                <a:gridCol w="1836016"/>
              </a:tblGrid>
              <a:tr h="566477">
                <a:tc>
                  <a:txBody>
                    <a:bodyPr/>
                    <a:lstStyle/>
                    <a:p>
                      <a:r>
                        <a:rPr lang="en-US" altLang="zh-CN" dirty="0" err="1"/>
                        <a:t>PaperID</a:t>
                      </a:r>
                      <a:endParaRPr lang="zh-CN" altLang="en-US" dirty="0"/>
                    </a:p>
                  </a:txBody>
                  <a:tcPr/>
                </a:tc>
                <a:tc>
                  <a:txBody>
                    <a:bodyPr/>
                    <a:lstStyle/>
                    <a:p>
                      <a:r>
                        <a:rPr lang="en-US" altLang="zh-CN" dirty="0" err="1"/>
                        <a:t>KeyMethod</a:t>
                      </a:r>
                      <a:r>
                        <a:rPr lang="en-US" altLang="zh-CN" dirty="0"/>
                        <a:t> </a:t>
                      </a:r>
                      <a:endParaRPr lang="zh-CN" altLang="en-US" dirty="0"/>
                    </a:p>
                  </a:txBody>
                  <a:tcPr/>
                </a:tc>
                <a:tc>
                  <a:txBody>
                    <a:bodyPr/>
                    <a:lstStyle/>
                    <a:p>
                      <a:r>
                        <a:rPr lang="en-US" altLang="zh-CN" dirty="0"/>
                        <a:t>Results</a:t>
                      </a:r>
                      <a:endParaRPr lang="zh-CN" altLang="en-US" dirty="0"/>
                    </a:p>
                  </a:txBody>
                  <a:tcPr/>
                </a:tc>
                <a:tc>
                  <a:txBody>
                    <a:bodyPr/>
                    <a:lstStyle/>
                    <a:p>
                      <a:r>
                        <a:rPr lang="en-US" altLang="zh-CN" dirty="0"/>
                        <a:t>Limitations</a:t>
                      </a:r>
                      <a:endParaRPr lang="zh-CN" altLang="en-US" dirty="0"/>
                    </a:p>
                  </a:txBody>
                  <a:tcPr/>
                </a:tc>
                <a:tc>
                  <a:txBody>
                    <a:bodyPr/>
                    <a:lstStyle/>
                    <a:p>
                      <a:r>
                        <a:rPr lang="en-US" altLang="zh-CN" dirty="0"/>
                        <a:t>Future Work</a:t>
                      </a:r>
                      <a:endParaRPr lang="zh-CN" altLang="en-US" dirty="0"/>
                    </a:p>
                  </a:txBody>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Tools</a:t>
            </a:r>
            <a:endParaRPr lang="en-US" altLang="zh-CN"/>
          </a:p>
        </p:txBody>
      </p:sp>
      <p:sp>
        <p:nvSpPr>
          <p:cNvPr id="3" name="内容占位符 2"/>
          <p:cNvSpPr>
            <a:spLocks noGrp="1"/>
          </p:cNvSpPr>
          <p:nvPr>
            <p:ph idx="1"/>
          </p:nvPr>
        </p:nvSpPr>
        <p:spPr/>
        <p:txBody>
          <a:bodyPr/>
          <a:lstStyle/>
          <a:p>
            <a:r>
              <a:rPr lang="en-US" altLang="zh-CN"/>
              <a:t>Google Scholar - Paper Searching</a:t>
            </a:r>
            <a:endParaRPr lang="en-US" altLang="zh-CN"/>
          </a:p>
          <a:p>
            <a:r>
              <a:rPr lang="en-US" altLang="zh-CN"/>
              <a:t>Overleaf - Collaborative LaTeX Writing (Kind of Markup based language)</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Key takeaway</a:t>
            </a:r>
            <a:endParaRPr lang="en-US" altLang="zh-CN" b="1"/>
          </a:p>
        </p:txBody>
      </p:sp>
      <p:sp>
        <p:nvSpPr>
          <p:cNvPr id="3" name="内容占位符 2"/>
          <p:cNvSpPr>
            <a:spLocks noGrp="1"/>
          </p:cNvSpPr>
          <p:nvPr>
            <p:ph idx="1"/>
          </p:nvPr>
        </p:nvSpPr>
        <p:spPr>
          <a:xfrm>
            <a:off x="838200" y="1825625"/>
            <a:ext cx="10515600" cy="533014"/>
          </a:xfrm>
        </p:spPr>
        <p:txBody>
          <a:bodyPr/>
          <a:lstStyle/>
          <a:p>
            <a:r>
              <a:rPr lang="en-US" altLang="zh-CN" b="1" dirty="0"/>
              <a:t>Start messy, refine systematically.</a:t>
            </a:r>
            <a:endParaRPr lang="en-US" altLang="zh-CN"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417179" cy="1325563"/>
          </a:xfrm>
        </p:spPr>
        <p:txBody>
          <a:bodyPr>
            <a:normAutofit/>
          </a:bodyPr>
          <a:lstStyle/>
          <a:p>
            <a:r>
              <a:rPr lang="en-US" altLang="zh-CN" dirty="0"/>
              <a:t>Step-by-Step Guide to Writing a Research Paper</a:t>
            </a:r>
            <a:endParaRPr lang="zh-CN" altLang="en-US" dirty="0"/>
          </a:p>
        </p:txBody>
      </p:sp>
      <p:sp>
        <p:nvSpPr>
          <p:cNvPr id="3" name="Content Placeholder 2"/>
          <p:cNvSpPr>
            <a:spLocks noGrp="1"/>
          </p:cNvSpPr>
          <p:nvPr>
            <p:ph idx="1"/>
          </p:nvPr>
        </p:nvSpPr>
        <p:spPr>
          <a:xfrm>
            <a:off x="838200" y="1825625"/>
            <a:ext cx="5733516" cy="4351338"/>
          </a:xfrm>
        </p:spPr>
        <p:txBody>
          <a:bodyPr>
            <a:normAutofit fontScale="92500" lnSpcReduction="20000"/>
          </a:bodyPr>
          <a:lstStyle/>
          <a:p>
            <a:pPr marL="0" indent="0" algn="just">
              <a:buNone/>
            </a:pPr>
            <a:r>
              <a:rPr lang="en-US" altLang="zh-CN" sz="2000" b="1" dirty="0"/>
              <a:t>Choose a Topic:</a:t>
            </a:r>
            <a:endParaRPr lang="en-US" altLang="zh-CN" sz="2000" b="1" dirty="0"/>
          </a:p>
          <a:p>
            <a:pPr algn="just"/>
            <a:r>
              <a:rPr lang="en-US" altLang="zh-CN" sz="2000" b="1" dirty="0"/>
              <a:t>Select a topic that interests you and is manageable within your timeframe. Ensure it has enough depth for exploration and aligns with your academic goals. </a:t>
            </a:r>
            <a:endParaRPr lang="en-US" altLang="zh-CN" sz="2000" b="1" dirty="0"/>
          </a:p>
          <a:p>
            <a:pPr marL="0" indent="0" algn="just">
              <a:buNone/>
            </a:pPr>
            <a:r>
              <a:rPr lang="en-US" altLang="zh-CN" sz="2000" b="1" dirty="0"/>
              <a:t>Conduct Preliminary Research:</a:t>
            </a:r>
            <a:endParaRPr lang="en-US" altLang="zh-CN" sz="2000" b="1" dirty="0"/>
          </a:p>
          <a:p>
            <a:pPr algn="just"/>
            <a:r>
              <a:rPr lang="en-US" altLang="zh-CN" sz="2000" b="1" dirty="0"/>
              <a:t>Gather background information to refine your topic and formulate a research question or thesis statement. Use reliable sources such as academic journals, books, and reputable websites. </a:t>
            </a:r>
            <a:endParaRPr lang="en-US" altLang="zh-CN" sz="2000" b="1" dirty="0"/>
          </a:p>
          <a:p>
            <a:pPr marL="0" indent="0" algn="just">
              <a:buNone/>
            </a:pPr>
            <a:r>
              <a:rPr lang="en-US" altLang="zh-CN" sz="2000" b="1" dirty="0"/>
              <a:t>Develop a Thesis/Paper Statement:</a:t>
            </a:r>
            <a:endParaRPr lang="en-US" altLang="zh-CN" sz="2000" b="1" dirty="0"/>
          </a:p>
          <a:p>
            <a:pPr algn="just"/>
            <a:r>
              <a:rPr lang="en-US" altLang="zh-CN" sz="2000" b="1" dirty="0"/>
              <a:t>Create a clear and concise thesis/paper statement that presents the main argument or focus of your paper. This will guide your research and writing. </a:t>
            </a:r>
            <a:endParaRPr lang="en-US" altLang="zh-CN" sz="2000" b="1" dirty="0"/>
          </a:p>
        </p:txBody>
      </p:sp>
      <p:pic>
        <p:nvPicPr>
          <p:cNvPr id="5" name="Content Placeholder 4" descr="A screenshot of a computer screen&#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2670" y="100206"/>
            <a:ext cx="3748855" cy="64928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417179" cy="1325563"/>
          </a:xfrm>
        </p:spPr>
        <p:txBody>
          <a:bodyPr>
            <a:normAutofit/>
          </a:bodyPr>
          <a:lstStyle/>
          <a:p>
            <a:r>
              <a:rPr lang="en-US" altLang="zh-CN" dirty="0"/>
              <a:t>Step-by-Step Guide to Writing a Research Paper</a:t>
            </a:r>
            <a:endParaRPr lang="zh-CN" altLang="en-US" dirty="0"/>
          </a:p>
        </p:txBody>
      </p:sp>
      <p:sp>
        <p:nvSpPr>
          <p:cNvPr id="3" name="Content Placeholder 2"/>
          <p:cNvSpPr>
            <a:spLocks noGrp="1"/>
          </p:cNvSpPr>
          <p:nvPr>
            <p:ph idx="1"/>
          </p:nvPr>
        </p:nvSpPr>
        <p:spPr>
          <a:xfrm>
            <a:off x="838200" y="1825625"/>
            <a:ext cx="5733516" cy="4351338"/>
          </a:xfrm>
        </p:spPr>
        <p:txBody>
          <a:bodyPr>
            <a:normAutofit/>
          </a:bodyPr>
          <a:lstStyle/>
          <a:p>
            <a:pPr marL="0" indent="0" algn="just">
              <a:buNone/>
            </a:pPr>
            <a:r>
              <a:rPr lang="en-US" altLang="zh-CN" sz="2000" b="1" dirty="0"/>
              <a:t>Create an Outline:</a:t>
            </a:r>
            <a:endParaRPr lang="en-US" altLang="zh-CN" sz="2000" b="1" dirty="0"/>
          </a:p>
          <a:p>
            <a:pPr algn="just"/>
            <a:r>
              <a:rPr lang="en-US" altLang="zh-CN" sz="2000" b="1" dirty="0"/>
              <a:t>Organize your ideas into a structured outline. This should include sections for the introduction, body, and conclusion, along with key points and supporting evidence for each section. </a:t>
            </a:r>
            <a:endParaRPr lang="en-US" altLang="zh-CN" sz="2000" b="1" dirty="0"/>
          </a:p>
          <a:p>
            <a:pPr marL="0" indent="0" algn="just">
              <a:buNone/>
            </a:pPr>
            <a:r>
              <a:rPr lang="en-US" altLang="zh-CN" sz="2000" b="1" dirty="0"/>
              <a:t>Conduct In-Depth Research:</a:t>
            </a:r>
            <a:endParaRPr lang="en-US" altLang="zh-CN" sz="2000" b="1" dirty="0"/>
          </a:p>
          <a:p>
            <a:pPr algn="just"/>
            <a:r>
              <a:rPr lang="en-US" altLang="zh-CN" sz="2000" b="1" dirty="0"/>
              <a:t>Dive deeper into your topic by collecting data and evidence from various sources. Take notes and keep track of your references for citations. </a:t>
            </a:r>
            <a:endParaRPr lang="en-US" altLang="zh-CN" sz="2000" b="1" dirty="0"/>
          </a:p>
        </p:txBody>
      </p:sp>
      <p:pic>
        <p:nvPicPr>
          <p:cNvPr id="5" name="Content Placeholder 4" descr="A screenshot of a computer screen&#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2670" y="100206"/>
            <a:ext cx="3748855" cy="64928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417179" cy="1325563"/>
          </a:xfrm>
        </p:spPr>
        <p:txBody>
          <a:bodyPr>
            <a:normAutofit/>
          </a:bodyPr>
          <a:lstStyle/>
          <a:p>
            <a:r>
              <a:rPr lang="en-US" altLang="zh-CN" dirty="0"/>
              <a:t>Step-by-Step Guide to Writing a Research Paper</a:t>
            </a:r>
            <a:endParaRPr lang="zh-CN" altLang="en-US" dirty="0"/>
          </a:p>
        </p:txBody>
      </p:sp>
      <p:sp>
        <p:nvSpPr>
          <p:cNvPr id="3" name="Content Placeholder 2"/>
          <p:cNvSpPr>
            <a:spLocks noGrp="1"/>
          </p:cNvSpPr>
          <p:nvPr>
            <p:ph idx="1"/>
          </p:nvPr>
        </p:nvSpPr>
        <p:spPr>
          <a:xfrm>
            <a:off x="838200" y="1825625"/>
            <a:ext cx="5733516" cy="4351338"/>
          </a:xfrm>
        </p:spPr>
        <p:txBody>
          <a:bodyPr>
            <a:normAutofit/>
          </a:bodyPr>
          <a:lstStyle/>
          <a:p>
            <a:pPr marL="0" indent="0" algn="just">
              <a:buNone/>
            </a:pPr>
            <a:r>
              <a:rPr lang="en-US" altLang="zh-CN" sz="2000" b="1" dirty="0"/>
              <a:t>Write the Draft:</a:t>
            </a:r>
            <a:endParaRPr lang="en-US" altLang="zh-CN" sz="2000" b="1" dirty="0"/>
          </a:p>
          <a:p>
            <a:pPr algn="just"/>
            <a:r>
              <a:rPr lang="en-US" altLang="zh-CN" sz="2000" b="1" dirty="0"/>
              <a:t>Begin writing your paper based on your outline. Start with the introduction, which should provide background information and state your thesis. The body should present your arguments and evidence, while the conclusion should summarize your findings and suggest further research. </a:t>
            </a:r>
            <a:endParaRPr lang="en-US" altLang="zh-CN" sz="2000" b="1" dirty="0"/>
          </a:p>
          <a:p>
            <a:pPr marL="0" indent="0" algn="just">
              <a:buNone/>
            </a:pPr>
            <a:r>
              <a:rPr lang="en-US" altLang="zh-CN" sz="2000" b="1" dirty="0"/>
              <a:t>Revise and Edit:</a:t>
            </a:r>
            <a:endParaRPr lang="en-US" altLang="zh-CN" sz="2000" b="1" dirty="0"/>
          </a:p>
          <a:p>
            <a:pPr algn="just"/>
            <a:r>
              <a:rPr lang="en-US" altLang="zh-CN" sz="2000" b="1" dirty="0"/>
              <a:t>After completing your draft, take time to revise for clarity, coherence, and logical flow. Check for grammatical errors and ensure proper citation of sources. Consider seeking feedback from peers or mentors. </a:t>
            </a:r>
            <a:endParaRPr lang="en-US" altLang="zh-CN" sz="2000" b="1" dirty="0"/>
          </a:p>
        </p:txBody>
      </p:sp>
      <p:pic>
        <p:nvPicPr>
          <p:cNvPr id="5" name="Content Placeholder 4" descr="A screenshot of a computer screen&#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2670" y="100206"/>
            <a:ext cx="3748855" cy="64928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417179" cy="1325563"/>
          </a:xfrm>
        </p:spPr>
        <p:txBody>
          <a:bodyPr>
            <a:normAutofit/>
          </a:bodyPr>
          <a:lstStyle/>
          <a:p>
            <a:r>
              <a:rPr lang="en-US" altLang="zh-CN" dirty="0"/>
              <a:t>Step-by-Step Guide to Writing a Research Paper</a:t>
            </a:r>
            <a:endParaRPr lang="zh-CN" altLang="en-US" dirty="0"/>
          </a:p>
        </p:txBody>
      </p:sp>
      <p:sp>
        <p:nvSpPr>
          <p:cNvPr id="3" name="Content Placeholder 2"/>
          <p:cNvSpPr>
            <a:spLocks noGrp="1"/>
          </p:cNvSpPr>
          <p:nvPr>
            <p:ph idx="1"/>
          </p:nvPr>
        </p:nvSpPr>
        <p:spPr>
          <a:xfrm>
            <a:off x="838200" y="1825625"/>
            <a:ext cx="5733516" cy="4351338"/>
          </a:xfrm>
        </p:spPr>
        <p:txBody>
          <a:bodyPr>
            <a:normAutofit fontScale="92500" lnSpcReduction="20000"/>
          </a:bodyPr>
          <a:lstStyle/>
          <a:p>
            <a:pPr marL="0" indent="0" algn="just">
              <a:buNone/>
            </a:pPr>
            <a:r>
              <a:rPr lang="en-US" altLang="zh-CN" sz="2000" b="1" u="sng" dirty="0"/>
              <a:t>Structure of a Research Paper</a:t>
            </a:r>
            <a:endParaRPr lang="en-US" altLang="zh-CN" sz="2000" b="1" u="sng" dirty="0"/>
          </a:p>
          <a:p>
            <a:pPr algn="just"/>
            <a:r>
              <a:rPr lang="en-US" altLang="zh-CN" sz="2000" b="1" dirty="0"/>
              <a:t>Title Page: Includes the title, author’s name, and affiliation.</a:t>
            </a:r>
            <a:endParaRPr lang="en-US" altLang="zh-CN" sz="2000" b="1" dirty="0"/>
          </a:p>
          <a:p>
            <a:pPr algn="just"/>
            <a:r>
              <a:rPr lang="en-US" altLang="zh-CN" sz="2000" b="1" dirty="0"/>
              <a:t>Abstract: A brief summary of the research, typically 150-300 words.</a:t>
            </a:r>
            <a:endParaRPr lang="en-US" altLang="zh-CN" sz="2000" b="1" dirty="0"/>
          </a:p>
          <a:p>
            <a:pPr algn="just"/>
            <a:r>
              <a:rPr lang="en-US" altLang="zh-CN" sz="2000" b="1" dirty="0"/>
              <a:t>Introduction: Sets the context, explains the significance, and presents the thesis statement.</a:t>
            </a:r>
            <a:endParaRPr lang="en-US" altLang="zh-CN" sz="2000" b="1" dirty="0"/>
          </a:p>
          <a:p>
            <a:pPr algn="just"/>
            <a:r>
              <a:rPr lang="en-US" altLang="zh-CN" sz="2000" b="1" dirty="0"/>
              <a:t>Body: Contains the main arguments, evidence, and analysis.</a:t>
            </a:r>
            <a:endParaRPr lang="en-US" altLang="zh-CN" sz="2000" b="1" dirty="0"/>
          </a:p>
          <a:p>
            <a:pPr algn="just"/>
            <a:r>
              <a:rPr lang="en-US" altLang="zh-CN" sz="2000" b="1" dirty="0"/>
              <a:t>Conclusion: Summarizes the findings and discusses implications or future research directions. </a:t>
            </a:r>
            <a:endParaRPr lang="en-US" altLang="zh-CN" sz="2000" b="1" dirty="0"/>
          </a:p>
          <a:p>
            <a:pPr algn="just"/>
            <a:r>
              <a:rPr lang="en-US" altLang="zh-CN" sz="2000" b="1" dirty="0"/>
              <a:t>By following these steps and maintaining a structured approach, one can effectively draft a research paper that meets academic standards and contributes to your field of study.</a:t>
            </a:r>
            <a:endParaRPr lang="en-US" altLang="zh-CN" sz="2000" b="1" dirty="0"/>
          </a:p>
        </p:txBody>
      </p:sp>
      <p:pic>
        <p:nvPicPr>
          <p:cNvPr id="5" name="Content Placeholder 4" descr="A screenshot of a computer screen&#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2670" y="100206"/>
            <a:ext cx="3748855" cy="64928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Icebreaker Questions </a:t>
            </a:r>
            <a:r>
              <a:rPr lang="en-US" altLang="zh-CN" dirty="0">
                <a:sym typeface="Wingdings" panose="05000000000000000000" pitchFamily="2" charset="2"/>
              </a:rPr>
              <a:t></a:t>
            </a:r>
            <a:endParaRPr lang="zh-CN" altLang="en-US" dirty="0"/>
          </a:p>
        </p:txBody>
      </p:sp>
      <p:sp>
        <p:nvSpPr>
          <p:cNvPr id="3" name="Content Placeholder 2"/>
          <p:cNvSpPr>
            <a:spLocks noGrp="1"/>
          </p:cNvSpPr>
          <p:nvPr>
            <p:ph idx="1"/>
          </p:nvPr>
        </p:nvSpPr>
        <p:spPr>
          <a:xfrm>
            <a:off x="838200" y="1825625"/>
            <a:ext cx="10515600" cy="1952625"/>
          </a:xfrm>
        </p:spPr>
        <p:txBody>
          <a:bodyPr>
            <a:normAutofit fontScale="67500" lnSpcReduction="10000"/>
          </a:bodyPr>
          <a:lstStyle/>
          <a:p>
            <a:r>
              <a:rPr lang="en-US" altLang="zh-CN" sz="4400" b="0" dirty="0">
                <a:solidFill>
                  <a:srgbClr val="0F1115"/>
                </a:solidFill>
                <a:effectLst/>
                <a:latin typeface="Times" panose="02020603050405020304" pitchFamily="18" charset="0"/>
              </a:rPr>
              <a:t>Raise your hand if you’ve ever struggled starting a paper</a:t>
            </a:r>
            <a:endParaRPr lang="en-US" altLang="zh-CN" sz="4400" b="0" dirty="0">
              <a:solidFill>
                <a:srgbClr val="0F1115"/>
              </a:solidFill>
              <a:effectLst/>
              <a:latin typeface="Times" panose="02020603050405020304" pitchFamily="18" charset="0"/>
            </a:endParaRPr>
          </a:p>
          <a:p>
            <a:pPr lvl="1"/>
            <a:r>
              <a:rPr lang="en-US" altLang="zh-CN" sz="3200" b="0" i="0" dirty="0">
                <a:solidFill>
                  <a:srgbClr val="0F1115"/>
                </a:solidFill>
                <a:effectLst/>
                <a:latin typeface="quote-cjk-patch"/>
              </a:rPr>
              <a:t>Which section do you dread writing?</a:t>
            </a:r>
            <a:endParaRPr lang="en-US" altLang="zh-CN" sz="3200" b="0" i="0" dirty="0">
              <a:solidFill>
                <a:srgbClr val="0F1115"/>
              </a:solidFill>
              <a:effectLst/>
              <a:latin typeface="quote-cjk-patch"/>
            </a:endParaRPr>
          </a:p>
          <a:p>
            <a:pPr lvl="0"/>
            <a:r>
              <a:rPr lang="en-US" altLang="zh-CN" sz="4665" dirty="0">
                <a:latin typeface="Times" panose="02020603050405020304" pitchFamily="18" charset="0"/>
              </a:rPr>
              <a:t>What does IMRaD mean?</a:t>
            </a:r>
            <a:endParaRPr lang="en-US" altLang="zh-CN" sz="4665" dirty="0">
              <a:latin typeface="Times" panose="02020603050405020304" pitchFamily="18" charset="0"/>
            </a:endParaRPr>
          </a:p>
          <a:p>
            <a:pPr lvl="0"/>
            <a:r>
              <a:rPr lang="en-US" altLang="zh-CN" sz="4665" dirty="0">
                <a:latin typeface="Times" panose="02020603050405020304" pitchFamily="18" charset="0"/>
              </a:rPr>
              <a:t>What is my preferred method?</a:t>
            </a:r>
            <a:endParaRPr lang="en-US" altLang="zh-CN" sz="4665" dirty="0">
              <a:latin typeface="Times"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2402" y="2766218"/>
            <a:ext cx="10515600" cy="1325563"/>
          </a:xfrm>
        </p:spPr>
        <p:txBody>
          <a:bodyPr>
            <a:normAutofit fontScale="90000"/>
          </a:bodyPr>
          <a:lstStyle/>
          <a:p>
            <a:r>
              <a:rPr lang="en-US" altLang="zh-CN" dirty="0"/>
              <a:t>Thank you for your attention</a:t>
            </a:r>
            <a:br>
              <a:rPr lang="en-US" altLang="zh-CN" dirty="0"/>
            </a:br>
            <a:br>
              <a:rPr lang="en-US" altLang="zh-CN" dirty="0"/>
            </a:br>
            <a:r>
              <a:rPr lang="en-US" altLang="zh-CN" dirty="0"/>
              <a:t>Any Questions? </a:t>
            </a:r>
            <a:r>
              <a:rPr lang="en-US" altLang="zh-CN" dirty="0">
                <a:hlinkClick r:id="rId1"/>
              </a:rPr>
              <a:t>ahmedawais@cwnu.edu.cn</a:t>
            </a:r>
            <a:r>
              <a:rPr lang="en-US" altLang="zh-CN" dirty="0"/>
              <a:t> </a:t>
            </a:r>
            <a:endParaRPr lang="zh-CN"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7692</Words>
  <Application>WPS 演示</Application>
  <PresentationFormat>Widescreen</PresentationFormat>
  <Paragraphs>183</Paragraphs>
  <Slides>24</Slides>
  <Notes>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24</vt:i4>
      </vt:variant>
    </vt:vector>
  </HeadingPairs>
  <TitlesOfParts>
    <vt:vector size="42" baseType="lpstr">
      <vt:lpstr>Arial</vt:lpstr>
      <vt:lpstr>SimSun</vt:lpstr>
      <vt:lpstr>Wingdings</vt:lpstr>
      <vt:lpstr>Times</vt:lpstr>
      <vt:lpstr>Times New Roman Cyr</vt:lpstr>
      <vt:lpstr>quote-cjk-patch</vt:lpstr>
      <vt:lpstr>Segoe Print</vt:lpstr>
      <vt:lpstr>Roboto</vt:lpstr>
      <vt:lpstr>Arial</vt:lpstr>
      <vt:lpstr>Microsoft YaHei</vt:lpstr>
      <vt:lpstr>Arial Unicode MS</vt:lpstr>
      <vt:lpstr>DengXian Light</vt:lpstr>
      <vt:lpstr>DengXian</vt:lpstr>
      <vt:lpstr>Calibri</vt:lpstr>
      <vt:lpstr>Times New Roman</vt:lpstr>
      <vt:lpstr>Wingdings</vt:lpstr>
      <vt:lpstr>quote-cjk-patch</vt:lpstr>
      <vt:lpstr>Office Theme</vt:lpstr>
      <vt:lpstr>How to Draft a Research Paper</vt:lpstr>
      <vt:lpstr>Outline</vt:lpstr>
      <vt:lpstr>The art and craft of making a draft: writing a good-quality research paper</vt:lpstr>
      <vt:lpstr>Informally Quick Hacks</vt:lpstr>
      <vt:lpstr>Abstract</vt:lpstr>
      <vt:lpstr>Abstract</vt:lpstr>
      <vt:lpstr>Abstract</vt:lpstr>
      <vt:lpstr>Abstract</vt:lpstr>
      <vt:lpstr>IMRAD</vt:lpstr>
      <vt:lpstr>I for Introduction</vt:lpstr>
      <vt:lpstr>Strategies for Writing an Effective Introduction</vt:lpstr>
      <vt:lpstr>Common Mistakes</vt:lpstr>
      <vt:lpstr>M for Methodology</vt:lpstr>
      <vt:lpstr>Key Components of a Good Methodology</vt:lpstr>
      <vt:lpstr>R for Results and D for Discussion</vt:lpstr>
      <vt:lpstr>My proposed method for research</vt:lpstr>
      <vt:lpstr>Tools</vt:lpstr>
      <vt:lpstr>Key takeaway</vt:lpstr>
      <vt:lpstr>Step-by-Step Guide to Writing a Research Paper</vt:lpstr>
      <vt:lpstr>Step-by-Step Guide to Writing a Research Paper</vt:lpstr>
      <vt:lpstr>Step-by-Step Guide to Writing a Research Paper</vt:lpstr>
      <vt:lpstr>Step-by-Step Guide to Writing a Research Paper</vt:lpstr>
      <vt:lpstr>Icebreaker Questions </vt:lpstr>
      <vt:lpstr>Thank you for your attention  Any Questions? ahmedawais@cwnu.edu.cn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awais ahmed</dc:creator>
  <cp:lastModifiedBy>WPS_1671077781</cp:lastModifiedBy>
  <cp:revision>139</cp:revision>
  <dcterms:created xsi:type="dcterms:W3CDTF">2025-12-04T03:10:00Z</dcterms:created>
  <dcterms:modified xsi:type="dcterms:W3CDTF">2025-12-12T11:10:42Z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77ED3D853557489D95491A847834ACBA_12</vt:lpwstr>
  </property>
  <property fmtid="{D5CDD505-2E9C-101B-9397-08002B2CF9AE}" pid="3" name="KSOProductBuildVer">
    <vt:lpwstr>2052-12.1.0.24034</vt:lpwstr>
  </property>
</Properties>
</file>